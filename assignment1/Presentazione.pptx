
<file path=[Content_Types].xml><?xml version="1.0" encoding="utf-8"?>
<Types xmlns="http://schemas.openxmlformats.org/package/2006/content-types">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96" r:id="rId1"/>
  </p:sldMasterIdLst>
  <p:sldIdLst>
    <p:sldId id="291" r:id="rId2"/>
    <p:sldId id="286" r:id="rId3"/>
    <p:sldId id="289" r:id="rId4"/>
    <p:sldId id="290" r:id="rId5"/>
    <p:sldId id="285" r:id="rId6"/>
    <p:sldId id="400" r:id="rId7"/>
    <p:sldId id="401" r:id="rId8"/>
    <p:sldId id="398" r:id="rId9"/>
    <p:sldId id="278" r:id="rId10"/>
    <p:sldId id="337" r:id="rId11"/>
    <p:sldId id="390" r:id="rId12"/>
    <p:sldId id="388" r:id="rId13"/>
    <p:sldId id="340" r:id="rId14"/>
    <p:sldId id="394" r:id="rId15"/>
    <p:sldId id="341" r:id="rId16"/>
    <p:sldId id="342" r:id="rId17"/>
    <p:sldId id="343" r:id="rId18"/>
    <p:sldId id="345" r:id="rId19"/>
    <p:sldId id="346" r:id="rId20"/>
    <p:sldId id="389" r:id="rId21"/>
    <p:sldId id="347" r:id="rId22"/>
    <p:sldId id="405" r:id="rId23"/>
    <p:sldId id="397" r:id="rId24"/>
    <p:sldId id="406" r:id="rId25"/>
    <p:sldId id="356" r:id="rId26"/>
    <p:sldId id="386" r:id="rId27"/>
    <p:sldId id="385" r:id="rId28"/>
    <p:sldId id="373" r:id="rId29"/>
    <p:sldId id="374" r:id="rId30"/>
    <p:sldId id="375" r:id="rId31"/>
    <p:sldId id="376" r:id="rId32"/>
    <p:sldId id="377" r:id="rId33"/>
    <p:sldId id="378" r:id="rId34"/>
    <p:sldId id="379" r:id="rId35"/>
    <p:sldId id="380" r:id="rId36"/>
    <p:sldId id="381" r:id="rId37"/>
    <p:sldId id="382" r:id="rId38"/>
    <p:sldId id="383" r:id="rId39"/>
    <p:sldId id="402" r:id="rId40"/>
    <p:sldId id="269" r:id="rId41"/>
    <p:sldId id="282" r:id="rId42"/>
    <p:sldId id="293" r:id="rId43"/>
    <p:sldId id="271" r:id="rId44"/>
    <p:sldId id="395" r:id="rId45"/>
    <p:sldId id="294" r:id="rId46"/>
    <p:sldId id="273" r:id="rId47"/>
    <p:sldId id="403" r:id="rId48"/>
    <p:sldId id="296" r:id="rId49"/>
    <p:sldId id="297" r:id="rId50"/>
  </p:sldIdLst>
  <p:sldSz cx="12192000" cy="6858000"/>
  <p:notesSz cx="6858000" cy="9144000"/>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9DCE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le medio 2 - Color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725"/>
    <p:restoredTop sz="94604"/>
  </p:normalViewPr>
  <p:slideViewPr>
    <p:cSldViewPr snapToGrid="0">
      <p:cViewPr varScale="1">
        <p:scale>
          <a:sx n="162" d="100"/>
          <a:sy n="162" d="100"/>
        </p:scale>
        <p:origin x="2464" y="20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Diapositiva titol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0ADF1478-C56B-BAC0-6B71-471C8C328985}"/>
              </a:ext>
            </a:extLst>
          </p:cNvPr>
          <p:cNvSpPr>
            <a:spLocks noGrp="1"/>
          </p:cNvSpPr>
          <p:nvPr>
            <p:ph type="ctrTitle"/>
          </p:nvPr>
        </p:nvSpPr>
        <p:spPr>
          <a:xfrm>
            <a:off x="1524000" y="1122363"/>
            <a:ext cx="9144000" cy="2387600"/>
          </a:xfrm>
        </p:spPr>
        <p:txBody>
          <a:bodyPr anchor="b"/>
          <a:lstStyle>
            <a:lvl1pPr algn="ctr">
              <a:defRPr sz="6000"/>
            </a:lvl1pPr>
          </a:lstStyle>
          <a:p>
            <a:r>
              <a:rPr lang="it-IT"/>
              <a:t>Fare clic per modificare lo stile del titolo dello schema</a:t>
            </a:r>
          </a:p>
        </p:txBody>
      </p:sp>
      <p:sp>
        <p:nvSpPr>
          <p:cNvPr id="3" name="Sottotitolo 2">
            <a:extLst>
              <a:ext uri="{FF2B5EF4-FFF2-40B4-BE49-F238E27FC236}">
                <a16:creationId xmlns:a16="http://schemas.microsoft.com/office/drawing/2014/main" id="{3869318D-C65E-E6F5-31C3-BA15845EF67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it-IT"/>
              <a:t>Fare clic per modificare lo stile del sottotitolo dello schema</a:t>
            </a:r>
          </a:p>
        </p:txBody>
      </p:sp>
      <p:sp>
        <p:nvSpPr>
          <p:cNvPr id="4" name="Segnaposto data 3">
            <a:extLst>
              <a:ext uri="{FF2B5EF4-FFF2-40B4-BE49-F238E27FC236}">
                <a16:creationId xmlns:a16="http://schemas.microsoft.com/office/drawing/2014/main" id="{55D45289-193D-C115-A400-8474F8BD8591}"/>
              </a:ext>
            </a:extLst>
          </p:cNvPr>
          <p:cNvSpPr>
            <a:spLocks noGrp="1"/>
          </p:cNvSpPr>
          <p:nvPr>
            <p:ph type="dt" sz="half" idx="10"/>
          </p:nvPr>
        </p:nvSpPr>
        <p:spPr/>
        <p:txBody>
          <a:bodyPr/>
          <a:lstStyle/>
          <a:p>
            <a:fld id="{B66BB764-33E8-6842-9624-09828376102D}" type="datetimeFigureOut">
              <a:rPr lang="it-IT" smtClean="0"/>
              <a:t>13/10/26</a:t>
            </a:fld>
            <a:endParaRPr lang="it-IT"/>
          </a:p>
        </p:txBody>
      </p:sp>
      <p:sp>
        <p:nvSpPr>
          <p:cNvPr id="5" name="Segnaposto piè di pagina 4">
            <a:extLst>
              <a:ext uri="{FF2B5EF4-FFF2-40B4-BE49-F238E27FC236}">
                <a16:creationId xmlns:a16="http://schemas.microsoft.com/office/drawing/2014/main" id="{588AC2FB-CDE8-185E-DCBB-992587AA1AC6}"/>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1B0E09D9-41FE-B065-6044-D2AF35F09E30}"/>
              </a:ext>
            </a:extLst>
          </p:cNvPr>
          <p:cNvSpPr>
            <a:spLocks noGrp="1"/>
          </p:cNvSpPr>
          <p:nvPr>
            <p:ph type="sldNum" sz="quarter" idx="12"/>
          </p:nvPr>
        </p:nvSpPr>
        <p:spPr/>
        <p:txBody>
          <a:bodyPr/>
          <a:lstStyle/>
          <a:p>
            <a:fld id="{1A6077A6-0527-1D47-A9F6-4A89A549CCF2}" type="slidenum">
              <a:rPr lang="it-IT" smtClean="0"/>
              <a:t>‹N›</a:t>
            </a:fld>
            <a:endParaRPr lang="it-IT"/>
          </a:p>
        </p:txBody>
      </p:sp>
    </p:spTree>
    <p:extLst>
      <p:ext uri="{BB962C8B-B14F-4D97-AF65-F5344CB8AC3E}">
        <p14:creationId xmlns:p14="http://schemas.microsoft.com/office/powerpoint/2010/main" val="40330792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Titolo e contenu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2ED84018-4030-EFD1-B83C-21AAC582715C}"/>
              </a:ext>
            </a:extLst>
          </p:cNvPr>
          <p:cNvSpPr>
            <a:spLocks noGrp="1"/>
          </p:cNvSpPr>
          <p:nvPr>
            <p:ph type="title"/>
          </p:nvPr>
        </p:nvSpPr>
        <p:spPr/>
        <p:txBody>
          <a:body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E575308A-D461-4BB4-363B-259F0D3DA76B}"/>
              </a:ext>
            </a:extLst>
          </p:cNvPr>
          <p:cNvSpPr>
            <a:spLocks noGrp="1"/>
          </p:cNvSpPr>
          <p:nvPr>
            <p:ph idx="1"/>
          </p:nvPr>
        </p:nvSpPr>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D077C762-A830-47E7-0AAD-4F54FF8B28ED}"/>
              </a:ext>
            </a:extLst>
          </p:cNvPr>
          <p:cNvSpPr>
            <a:spLocks noGrp="1"/>
          </p:cNvSpPr>
          <p:nvPr>
            <p:ph type="dt" sz="half" idx="10"/>
          </p:nvPr>
        </p:nvSpPr>
        <p:spPr/>
        <p:txBody>
          <a:bodyPr/>
          <a:lstStyle/>
          <a:p>
            <a:fld id="{B66BB764-33E8-6842-9624-09828376102D}" type="datetimeFigureOut">
              <a:rPr lang="it-IT" smtClean="0"/>
              <a:t>13/10/26</a:t>
            </a:fld>
            <a:endParaRPr lang="it-IT"/>
          </a:p>
        </p:txBody>
      </p:sp>
      <p:sp>
        <p:nvSpPr>
          <p:cNvPr id="5" name="Segnaposto piè di pagina 4">
            <a:extLst>
              <a:ext uri="{FF2B5EF4-FFF2-40B4-BE49-F238E27FC236}">
                <a16:creationId xmlns:a16="http://schemas.microsoft.com/office/drawing/2014/main" id="{DD326F01-B82E-EF71-A165-6D80D6B538F1}"/>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A0ED35DD-04C2-3CD0-2FFF-F332AABC96A8}"/>
              </a:ext>
            </a:extLst>
          </p:cNvPr>
          <p:cNvSpPr>
            <a:spLocks noGrp="1"/>
          </p:cNvSpPr>
          <p:nvPr>
            <p:ph type="sldNum" sz="quarter" idx="12"/>
          </p:nvPr>
        </p:nvSpPr>
        <p:spPr/>
        <p:txBody>
          <a:bodyPr/>
          <a:lstStyle/>
          <a:p>
            <a:fld id="{1A6077A6-0527-1D47-A9F6-4A89A549CCF2}" type="slidenum">
              <a:rPr lang="it-IT" smtClean="0"/>
              <a:t>‹N›</a:t>
            </a:fld>
            <a:endParaRPr lang="it-IT"/>
          </a:p>
        </p:txBody>
      </p:sp>
    </p:spTree>
    <p:extLst>
      <p:ext uri="{BB962C8B-B14F-4D97-AF65-F5344CB8AC3E}">
        <p14:creationId xmlns:p14="http://schemas.microsoft.com/office/powerpoint/2010/main" val="6283687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cSld name="Intestazione sezione">
    <p:bg>
      <p:bgPr>
        <a:solidFill>
          <a:srgbClr val="41002F"/>
        </a:solidFill>
        <a:effectLst/>
      </p:bgPr>
    </p:bg>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D49A198E-B449-67E7-E94D-15E3F5F5C742}"/>
              </a:ext>
            </a:extLst>
          </p:cNvPr>
          <p:cNvSpPr>
            <a:spLocks noGrp="1"/>
          </p:cNvSpPr>
          <p:nvPr>
            <p:ph type="title"/>
          </p:nvPr>
        </p:nvSpPr>
        <p:spPr>
          <a:xfrm>
            <a:off x="831850" y="1709738"/>
            <a:ext cx="10515600" cy="2852737"/>
          </a:xfrm>
        </p:spPr>
        <p:txBody>
          <a:bodyPr anchor="b"/>
          <a:lstStyle>
            <a:lvl1pPr>
              <a:defRPr sz="4400" b="1">
                <a:solidFill>
                  <a:srgbClr val="FFFFFF"/>
                </a:solidFill>
              </a:defRPr>
            </a:lvl1pPr>
          </a:lstStyle>
          <a:p>
            <a:r>
              <a:rPr lang="it-IT"/>
              <a:t>Fare clic per modificare lo stile del titolo dello schema</a:t>
            </a:r>
          </a:p>
        </p:txBody>
      </p:sp>
      <p:sp>
        <p:nvSpPr>
          <p:cNvPr id="3" name="Segnaposto testo 2">
            <a:extLst>
              <a:ext uri="{FF2B5EF4-FFF2-40B4-BE49-F238E27FC236}">
                <a16:creationId xmlns:a16="http://schemas.microsoft.com/office/drawing/2014/main" id="{60C5284E-3DAD-17E8-A1FA-5471E77D6E84}"/>
              </a:ext>
            </a:extLst>
          </p:cNvPr>
          <p:cNvSpPr>
            <a:spLocks noGrp="1"/>
          </p:cNvSpPr>
          <p:nvPr>
            <p:ph type="body" idx="1"/>
          </p:nvPr>
        </p:nvSpPr>
        <p:spPr>
          <a:xfrm>
            <a:off x="831850" y="4589463"/>
            <a:ext cx="10515600" cy="1500187"/>
          </a:xfrm>
        </p:spPr>
        <p:txBody>
          <a:bodyPr/>
          <a:lstStyle>
            <a:lvl1pPr marL="0" indent="0">
              <a:buNone/>
              <a:defRPr sz="2400">
                <a:solidFill>
                  <a:srgbClr val="E9DCE5"/>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it-IT"/>
              <a:t>Fare clic per modificare gli stili del testo dello schema</a:t>
            </a:r>
          </a:p>
        </p:txBody>
      </p:sp>
      <p:sp>
        <p:nvSpPr>
          <p:cNvPr id="4" name="Segnaposto data 3">
            <a:extLst>
              <a:ext uri="{FF2B5EF4-FFF2-40B4-BE49-F238E27FC236}">
                <a16:creationId xmlns:a16="http://schemas.microsoft.com/office/drawing/2014/main" id="{28C9341E-CC73-45A9-C19A-1D0CCC6C11E8}"/>
              </a:ext>
            </a:extLst>
          </p:cNvPr>
          <p:cNvSpPr>
            <a:spLocks noGrp="1"/>
          </p:cNvSpPr>
          <p:nvPr>
            <p:ph type="dt" sz="half" idx="10"/>
          </p:nvPr>
        </p:nvSpPr>
        <p:spPr/>
        <p:txBody>
          <a:bodyPr/>
          <a:lstStyle/>
          <a:p>
            <a:fld id="{B66BB764-33E8-6842-9624-09828376102D}" type="datetimeFigureOut">
              <a:rPr lang="it-IT" smtClean="0"/>
              <a:t>13/10/26</a:t>
            </a:fld>
            <a:endParaRPr lang="it-IT"/>
          </a:p>
        </p:txBody>
      </p:sp>
      <p:sp>
        <p:nvSpPr>
          <p:cNvPr id="5" name="Segnaposto piè di pagina 4">
            <a:extLst>
              <a:ext uri="{FF2B5EF4-FFF2-40B4-BE49-F238E27FC236}">
                <a16:creationId xmlns:a16="http://schemas.microsoft.com/office/drawing/2014/main" id="{D3879EA5-2741-0E92-CAFE-1E8B1D17BCF8}"/>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359FA548-2F8D-DE86-932C-8341A6706966}"/>
              </a:ext>
            </a:extLst>
          </p:cNvPr>
          <p:cNvSpPr>
            <a:spLocks noGrp="1"/>
          </p:cNvSpPr>
          <p:nvPr>
            <p:ph type="sldNum" sz="quarter" idx="12"/>
          </p:nvPr>
        </p:nvSpPr>
        <p:spPr/>
        <p:txBody>
          <a:bodyPr/>
          <a:lstStyle/>
          <a:p>
            <a:fld id="{1A6077A6-0527-1D47-A9F6-4A89A549CCF2}" type="slidenum">
              <a:rPr lang="it-IT" smtClean="0"/>
              <a:t>‹N›</a:t>
            </a:fld>
            <a:endParaRPr lang="it-IT"/>
          </a:p>
        </p:txBody>
      </p:sp>
    </p:spTree>
    <p:extLst>
      <p:ext uri="{BB962C8B-B14F-4D97-AF65-F5344CB8AC3E}">
        <p14:creationId xmlns:p14="http://schemas.microsoft.com/office/powerpoint/2010/main" val="29016655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cSld name="Due contenuti">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3FDD694D-598C-501A-A8FC-F2625F32683B}"/>
              </a:ext>
            </a:extLst>
          </p:cNvPr>
          <p:cNvSpPr>
            <a:spLocks noGrp="1"/>
          </p:cNvSpPr>
          <p:nvPr>
            <p:ph type="title"/>
          </p:nvPr>
        </p:nvSpPr>
        <p:spPr/>
        <p:txBody>
          <a:body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11AC3E67-2843-9C7E-D006-FC0936A38A18}"/>
              </a:ext>
            </a:extLst>
          </p:cNvPr>
          <p:cNvSpPr>
            <a:spLocks noGrp="1"/>
          </p:cNvSpPr>
          <p:nvPr>
            <p:ph sz="half" idx="1"/>
          </p:nvPr>
        </p:nvSpPr>
        <p:spPr>
          <a:xfrm>
            <a:off x="838200" y="1825625"/>
            <a:ext cx="5181600" cy="435133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contenuto 3">
            <a:extLst>
              <a:ext uri="{FF2B5EF4-FFF2-40B4-BE49-F238E27FC236}">
                <a16:creationId xmlns:a16="http://schemas.microsoft.com/office/drawing/2014/main" id="{3BDDB987-2370-E240-EE88-F5F307BF8991}"/>
              </a:ext>
            </a:extLst>
          </p:cNvPr>
          <p:cNvSpPr>
            <a:spLocks noGrp="1"/>
          </p:cNvSpPr>
          <p:nvPr>
            <p:ph sz="half" idx="2"/>
          </p:nvPr>
        </p:nvSpPr>
        <p:spPr>
          <a:xfrm>
            <a:off x="6172200" y="1825625"/>
            <a:ext cx="5181600" cy="435133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data 4">
            <a:extLst>
              <a:ext uri="{FF2B5EF4-FFF2-40B4-BE49-F238E27FC236}">
                <a16:creationId xmlns:a16="http://schemas.microsoft.com/office/drawing/2014/main" id="{07E1CD27-10A8-DC09-C7D5-1E12A6F068C2}"/>
              </a:ext>
            </a:extLst>
          </p:cNvPr>
          <p:cNvSpPr>
            <a:spLocks noGrp="1"/>
          </p:cNvSpPr>
          <p:nvPr>
            <p:ph type="dt" sz="half" idx="10"/>
          </p:nvPr>
        </p:nvSpPr>
        <p:spPr/>
        <p:txBody>
          <a:bodyPr/>
          <a:lstStyle/>
          <a:p>
            <a:fld id="{B66BB764-33E8-6842-9624-09828376102D}" type="datetimeFigureOut">
              <a:rPr lang="it-IT" smtClean="0"/>
              <a:t>13/10/26</a:t>
            </a:fld>
            <a:endParaRPr lang="it-IT"/>
          </a:p>
        </p:txBody>
      </p:sp>
      <p:sp>
        <p:nvSpPr>
          <p:cNvPr id="6" name="Segnaposto piè di pagina 5">
            <a:extLst>
              <a:ext uri="{FF2B5EF4-FFF2-40B4-BE49-F238E27FC236}">
                <a16:creationId xmlns:a16="http://schemas.microsoft.com/office/drawing/2014/main" id="{1693C8F7-86E7-A87B-AEC2-F06EEA3A270D}"/>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EDF098A5-CD72-6E32-98C3-6B3BC92C4B80}"/>
              </a:ext>
            </a:extLst>
          </p:cNvPr>
          <p:cNvSpPr>
            <a:spLocks noGrp="1"/>
          </p:cNvSpPr>
          <p:nvPr>
            <p:ph type="sldNum" sz="quarter" idx="12"/>
          </p:nvPr>
        </p:nvSpPr>
        <p:spPr/>
        <p:txBody>
          <a:bodyPr/>
          <a:lstStyle/>
          <a:p>
            <a:fld id="{1A6077A6-0527-1D47-A9F6-4A89A549CCF2}" type="slidenum">
              <a:rPr lang="it-IT" smtClean="0"/>
              <a:t>‹N›</a:t>
            </a:fld>
            <a:endParaRPr lang="it-IT"/>
          </a:p>
        </p:txBody>
      </p:sp>
    </p:spTree>
    <p:extLst>
      <p:ext uri="{BB962C8B-B14F-4D97-AF65-F5344CB8AC3E}">
        <p14:creationId xmlns:p14="http://schemas.microsoft.com/office/powerpoint/2010/main" val="30151550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cSld name="Confron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B20840DC-3E66-F242-34CF-AE344B65B256}"/>
              </a:ext>
            </a:extLst>
          </p:cNvPr>
          <p:cNvSpPr>
            <a:spLocks noGrp="1"/>
          </p:cNvSpPr>
          <p:nvPr>
            <p:ph type="title"/>
          </p:nvPr>
        </p:nvSpPr>
        <p:spPr/>
        <p:txBody>
          <a:bodyPr/>
          <a:lstStyle/>
          <a:p>
            <a:r>
              <a:rPr lang="it-IT"/>
              <a:t>Fare clic per modificare lo stile del titolo dello schema</a:t>
            </a:r>
          </a:p>
        </p:txBody>
      </p:sp>
      <p:sp>
        <p:nvSpPr>
          <p:cNvPr id="3" name="Segnaposto testo 2">
            <a:extLst>
              <a:ext uri="{FF2B5EF4-FFF2-40B4-BE49-F238E27FC236}">
                <a16:creationId xmlns:a16="http://schemas.microsoft.com/office/drawing/2014/main" id="{59B4BD8A-13FF-26F8-4505-C391A38DD51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4" name="Segnaposto contenuto 3">
            <a:extLst>
              <a:ext uri="{FF2B5EF4-FFF2-40B4-BE49-F238E27FC236}">
                <a16:creationId xmlns:a16="http://schemas.microsoft.com/office/drawing/2014/main" id="{91956381-F5BF-6282-5190-3A2DB43EBBEE}"/>
              </a:ext>
            </a:extLst>
          </p:cNvPr>
          <p:cNvSpPr>
            <a:spLocks noGrp="1"/>
          </p:cNvSpPr>
          <p:nvPr>
            <p:ph sz="half" idx="2"/>
          </p:nvPr>
        </p:nvSpPr>
        <p:spPr>
          <a:xfrm>
            <a:off x="839788" y="2505075"/>
            <a:ext cx="5157787" cy="368458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testo 4">
            <a:extLst>
              <a:ext uri="{FF2B5EF4-FFF2-40B4-BE49-F238E27FC236}">
                <a16:creationId xmlns:a16="http://schemas.microsoft.com/office/drawing/2014/main" id="{19418715-3EA9-14C8-45A5-050AEC95FD4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6" name="Segnaposto contenuto 5">
            <a:extLst>
              <a:ext uri="{FF2B5EF4-FFF2-40B4-BE49-F238E27FC236}">
                <a16:creationId xmlns:a16="http://schemas.microsoft.com/office/drawing/2014/main" id="{12856C5D-CB15-D114-6921-8890C6CDB734}"/>
              </a:ext>
            </a:extLst>
          </p:cNvPr>
          <p:cNvSpPr>
            <a:spLocks noGrp="1"/>
          </p:cNvSpPr>
          <p:nvPr>
            <p:ph sz="quarter" idx="4"/>
          </p:nvPr>
        </p:nvSpPr>
        <p:spPr>
          <a:xfrm>
            <a:off x="6172200" y="2505075"/>
            <a:ext cx="5183188" cy="368458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7" name="Segnaposto data 6">
            <a:extLst>
              <a:ext uri="{FF2B5EF4-FFF2-40B4-BE49-F238E27FC236}">
                <a16:creationId xmlns:a16="http://schemas.microsoft.com/office/drawing/2014/main" id="{047365D0-1F83-04DD-3897-7261719A7D2E}"/>
              </a:ext>
            </a:extLst>
          </p:cNvPr>
          <p:cNvSpPr>
            <a:spLocks noGrp="1"/>
          </p:cNvSpPr>
          <p:nvPr>
            <p:ph type="dt" sz="half" idx="10"/>
          </p:nvPr>
        </p:nvSpPr>
        <p:spPr/>
        <p:txBody>
          <a:bodyPr/>
          <a:lstStyle/>
          <a:p>
            <a:fld id="{B66BB764-33E8-6842-9624-09828376102D}" type="datetimeFigureOut">
              <a:rPr lang="it-IT" smtClean="0"/>
              <a:t>13/10/26</a:t>
            </a:fld>
            <a:endParaRPr lang="it-IT"/>
          </a:p>
        </p:txBody>
      </p:sp>
      <p:sp>
        <p:nvSpPr>
          <p:cNvPr id="8" name="Segnaposto piè di pagina 7">
            <a:extLst>
              <a:ext uri="{FF2B5EF4-FFF2-40B4-BE49-F238E27FC236}">
                <a16:creationId xmlns:a16="http://schemas.microsoft.com/office/drawing/2014/main" id="{81675AEE-5492-F19E-92EA-7ACD4A57225C}"/>
              </a:ext>
            </a:extLst>
          </p:cNvPr>
          <p:cNvSpPr>
            <a:spLocks noGrp="1"/>
          </p:cNvSpPr>
          <p:nvPr>
            <p:ph type="ftr" sz="quarter" idx="11"/>
          </p:nvPr>
        </p:nvSpPr>
        <p:spPr/>
        <p:txBody>
          <a:bodyPr/>
          <a:lstStyle/>
          <a:p>
            <a:endParaRPr lang="it-IT"/>
          </a:p>
        </p:txBody>
      </p:sp>
      <p:sp>
        <p:nvSpPr>
          <p:cNvPr id="9" name="Segnaposto numero diapositiva 8">
            <a:extLst>
              <a:ext uri="{FF2B5EF4-FFF2-40B4-BE49-F238E27FC236}">
                <a16:creationId xmlns:a16="http://schemas.microsoft.com/office/drawing/2014/main" id="{E9391AE0-9EB8-EEAF-CED7-D65F0486D4CE}"/>
              </a:ext>
            </a:extLst>
          </p:cNvPr>
          <p:cNvSpPr>
            <a:spLocks noGrp="1"/>
          </p:cNvSpPr>
          <p:nvPr>
            <p:ph type="sldNum" sz="quarter" idx="12"/>
          </p:nvPr>
        </p:nvSpPr>
        <p:spPr/>
        <p:txBody>
          <a:bodyPr/>
          <a:lstStyle/>
          <a:p>
            <a:fld id="{1A6077A6-0527-1D47-A9F6-4A89A549CCF2}" type="slidenum">
              <a:rPr lang="it-IT" smtClean="0"/>
              <a:t>‹N›</a:t>
            </a:fld>
            <a:endParaRPr lang="it-IT"/>
          </a:p>
        </p:txBody>
      </p:sp>
    </p:spTree>
    <p:extLst>
      <p:ext uri="{BB962C8B-B14F-4D97-AF65-F5344CB8AC3E}">
        <p14:creationId xmlns:p14="http://schemas.microsoft.com/office/powerpoint/2010/main" val="21200156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cSld name="Solo titol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C3E17F2B-C322-EBB1-B327-AD14F09E5B8E}"/>
              </a:ext>
            </a:extLst>
          </p:cNvPr>
          <p:cNvSpPr>
            <a:spLocks noGrp="1"/>
          </p:cNvSpPr>
          <p:nvPr>
            <p:ph type="title"/>
          </p:nvPr>
        </p:nvSpPr>
        <p:spPr/>
        <p:txBody>
          <a:bodyPr/>
          <a:lstStyle/>
          <a:p>
            <a:r>
              <a:rPr lang="it-IT"/>
              <a:t>Fare clic per modificare lo stile del titolo dello schema</a:t>
            </a:r>
          </a:p>
        </p:txBody>
      </p:sp>
      <p:sp>
        <p:nvSpPr>
          <p:cNvPr id="3" name="Segnaposto data 2">
            <a:extLst>
              <a:ext uri="{FF2B5EF4-FFF2-40B4-BE49-F238E27FC236}">
                <a16:creationId xmlns:a16="http://schemas.microsoft.com/office/drawing/2014/main" id="{58A2210F-8722-3C7E-87A8-6CB853CF914E}"/>
              </a:ext>
            </a:extLst>
          </p:cNvPr>
          <p:cNvSpPr>
            <a:spLocks noGrp="1"/>
          </p:cNvSpPr>
          <p:nvPr>
            <p:ph type="dt" sz="half" idx="10"/>
          </p:nvPr>
        </p:nvSpPr>
        <p:spPr/>
        <p:txBody>
          <a:bodyPr/>
          <a:lstStyle/>
          <a:p>
            <a:fld id="{B66BB764-33E8-6842-9624-09828376102D}" type="datetimeFigureOut">
              <a:rPr lang="it-IT" smtClean="0"/>
              <a:t>13/10/26</a:t>
            </a:fld>
            <a:endParaRPr lang="it-IT"/>
          </a:p>
        </p:txBody>
      </p:sp>
      <p:sp>
        <p:nvSpPr>
          <p:cNvPr id="4" name="Segnaposto piè di pagina 3">
            <a:extLst>
              <a:ext uri="{FF2B5EF4-FFF2-40B4-BE49-F238E27FC236}">
                <a16:creationId xmlns:a16="http://schemas.microsoft.com/office/drawing/2014/main" id="{CB53D9D1-A55C-F912-B3D2-211ADF1AE566}"/>
              </a:ext>
            </a:extLst>
          </p:cNvPr>
          <p:cNvSpPr>
            <a:spLocks noGrp="1"/>
          </p:cNvSpPr>
          <p:nvPr>
            <p:ph type="ftr" sz="quarter" idx="11"/>
          </p:nvPr>
        </p:nvSpPr>
        <p:spPr/>
        <p:txBody>
          <a:bodyPr/>
          <a:lstStyle/>
          <a:p>
            <a:endParaRPr lang="it-IT"/>
          </a:p>
        </p:txBody>
      </p:sp>
      <p:sp>
        <p:nvSpPr>
          <p:cNvPr id="5" name="Segnaposto numero diapositiva 4">
            <a:extLst>
              <a:ext uri="{FF2B5EF4-FFF2-40B4-BE49-F238E27FC236}">
                <a16:creationId xmlns:a16="http://schemas.microsoft.com/office/drawing/2014/main" id="{22FE2E2D-52D6-FE84-9037-CB211A112F0E}"/>
              </a:ext>
            </a:extLst>
          </p:cNvPr>
          <p:cNvSpPr>
            <a:spLocks noGrp="1"/>
          </p:cNvSpPr>
          <p:nvPr>
            <p:ph type="sldNum" sz="quarter" idx="12"/>
          </p:nvPr>
        </p:nvSpPr>
        <p:spPr/>
        <p:txBody>
          <a:bodyPr/>
          <a:lstStyle/>
          <a:p>
            <a:fld id="{1A6077A6-0527-1D47-A9F6-4A89A549CCF2}" type="slidenum">
              <a:rPr lang="it-IT" smtClean="0"/>
              <a:t>‹N›</a:t>
            </a:fld>
            <a:endParaRPr lang="it-IT"/>
          </a:p>
        </p:txBody>
      </p:sp>
    </p:spTree>
    <p:extLst>
      <p:ext uri="{BB962C8B-B14F-4D97-AF65-F5344CB8AC3E}">
        <p14:creationId xmlns:p14="http://schemas.microsoft.com/office/powerpoint/2010/main" val="7038623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cSld name="Vuota">
    <p:spTree>
      <p:nvGrpSpPr>
        <p:cNvPr id="1" name=""/>
        <p:cNvGrpSpPr/>
        <p:nvPr/>
      </p:nvGrpSpPr>
      <p:grpSpPr>
        <a:xfrm>
          <a:off x="0" y="0"/>
          <a:ext cx="0" cy="0"/>
          <a:chOff x="0" y="0"/>
          <a:chExt cx="0" cy="0"/>
        </a:xfrm>
      </p:grpSpPr>
      <p:sp>
        <p:nvSpPr>
          <p:cNvPr id="2" name="Segnaposto data 1">
            <a:extLst>
              <a:ext uri="{FF2B5EF4-FFF2-40B4-BE49-F238E27FC236}">
                <a16:creationId xmlns:a16="http://schemas.microsoft.com/office/drawing/2014/main" id="{D5FD6268-4B47-F89F-DF9C-70F312E6C155}"/>
              </a:ext>
            </a:extLst>
          </p:cNvPr>
          <p:cNvSpPr>
            <a:spLocks noGrp="1"/>
          </p:cNvSpPr>
          <p:nvPr>
            <p:ph type="dt" sz="half" idx="10"/>
          </p:nvPr>
        </p:nvSpPr>
        <p:spPr/>
        <p:txBody>
          <a:bodyPr/>
          <a:lstStyle/>
          <a:p>
            <a:fld id="{B66BB764-33E8-6842-9624-09828376102D}" type="datetimeFigureOut">
              <a:rPr lang="it-IT" smtClean="0"/>
              <a:t>13/10/26</a:t>
            </a:fld>
            <a:endParaRPr lang="it-IT"/>
          </a:p>
        </p:txBody>
      </p:sp>
      <p:sp>
        <p:nvSpPr>
          <p:cNvPr id="3" name="Segnaposto piè di pagina 2">
            <a:extLst>
              <a:ext uri="{FF2B5EF4-FFF2-40B4-BE49-F238E27FC236}">
                <a16:creationId xmlns:a16="http://schemas.microsoft.com/office/drawing/2014/main" id="{CE3C6457-4336-BF3B-58A5-714093970D49}"/>
              </a:ext>
            </a:extLst>
          </p:cNvPr>
          <p:cNvSpPr>
            <a:spLocks noGrp="1"/>
          </p:cNvSpPr>
          <p:nvPr>
            <p:ph type="ftr" sz="quarter" idx="11"/>
          </p:nvPr>
        </p:nvSpPr>
        <p:spPr/>
        <p:txBody>
          <a:bodyPr/>
          <a:lstStyle/>
          <a:p>
            <a:endParaRPr lang="it-IT"/>
          </a:p>
        </p:txBody>
      </p:sp>
      <p:sp>
        <p:nvSpPr>
          <p:cNvPr id="4" name="Segnaposto numero diapositiva 3">
            <a:extLst>
              <a:ext uri="{FF2B5EF4-FFF2-40B4-BE49-F238E27FC236}">
                <a16:creationId xmlns:a16="http://schemas.microsoft.com/office/drawing/2014/main" id="{F6763FAF-0F0D-69BA-FA98-86E30B69866E}"/>
              </a:ext>
            </a:extLst>
          </p:cNvPr>
          <p:cNvSpPr>
            <a:spLocks noGrp="1"/>
          </p:cNvSpPr>
          <p:nvPr>
            <p:ph type="sldNum" sz="quarter" idx="12"/>
          </p:nvPr>
        </p:nvSpPr>
        <p:spPr/>
        <p:txBody>
          <a:bodyPr/>
          <a:lstStyle/>
          <a:p>
            <a:fld id="{1A6077A6-0527-1D47-A9F6-4A89A549CCF2}" type="slidenum">
              <a:rPr lang="it-IT" smtClean="0"/>
              <a:t>‹N›</a:t>
            </a:fld>
            <a:endParaRPr lang="it-IT"/>
          </a:p>
        </p:txBody>
      </p:sp>
    </p:spTree>
    <p:extLst>
      <p:ext uri="{BB962C8B-B14F-4D97-AF65-F5344CB8AC3E}">
        <p14:creationId xmlns:p14="http://schemas.microsoft.com/office/powerpoint/2010/main" val="19133516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cSld name="Contenuto con didascalia">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6E78A431-699C-56F7-04A9-F08AB6B211E9}"/>
              </a:ext>
            </a:extLst>
          </p:cNvPr>
          <p:cNvSpPr>
            <a:spLocks noGrp="1"/>
          </p:cNvSpPr>
          <p:nvPr>
            <p:ph type="title"/>
          </p:nvPr>
        </p:nvSpPr>
        <p:spPr>
          <a:xfrm>
            <a:off x="839788" y="457200"/>
            <a:ext cx="3932237" cy="1600200"/>
          </a:xfrm>
        </p:spPr>
        <p:txBody>
          <a:bodyPr anchor="b"/>
          <a:lstStyle>
            <a:lvl1pPr>
              <a:defRPr sz="3200"/>
            </a:lvl1p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C3066022-F22D-6484-8038-E8C3E3AEB32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testo 3">
            <a:extLst>
              <a:ext uri="{FF2B5EF4-FFF2-40B4-BE49-F238E27FC236}">
                <a16:creationId xmlns:a16="http://schemas.microsoft.com/office/drawing/2014/main" id="{C8B16488-EE7B-9C27-E2C7-17EE3946C2D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Segnaposto data 4">
            <a:extLst>
              <a:ext uri="{FF2B5EF4-FFF2-40B4-BE49-F238E27FC236}">
                <a16:creationId xmlns:a16="http://schemas.microsoft.com/office/drawing/2014/main" id="{0AC11375-5138-DBE0-1381-53F00B07C573}"/>
              </a:ext>
            </a:extLst>
          </p:cNvPr>
          <p:cNvSpPr>
            <a:spLocks noGrp="1"/>
          </p:cNvSpPr>
          <p:nvPr>
            <p:ph type="dt" sz="half" idx="10"/>
          </p:nvPr>
        </p:nvSpPr>
        <p:spPr/>
        <p:txBody>
          <a:bodyPr/>
          <a:lstStyle/>
          <a:p>
            <a:fld id="{B66BB764-33E8-6842-9624-09828376102D}" type="datetimeFigureOut">
              <a:rPr lang="it-IT" smtClean="0"/>
              <a:t>13/10/26</a:t>
            </a:fld>
            <a:endParaRPr lang="it-IT"/>
          </a:p>
        </p:txBody>
      </p:sp>
      <p:sp>
        <p:nvSpPr>
          <p:cNvPr id="6" name="Segnaposto piè di pagina 5">
            <a:extLst>
              <a:ext uri="{FF2B5EF4-FFF2-40B4-BE49-F238E27FC236}">
                <a16:creationId xmlns:a16="http://schemas.microsoft.com/office/drawing/2014/main" id="{BB4F19C6-1560-432E-D517-D1A2CB0D6FD2}"/>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EF9998F4-7FC9-93C6-9649-F9617525B865}"/>
              </a:ext>
            </a:extLst>
          </p:cNvPr>
          <p:cNvSpPr>
            <a:spLocks noGrp="1"/>
          </p:cNvSpPr>
          <p:nvPr>
            <p:ph type="sldNum" sz="quarter" idx="12"/>
          </p:nvPr>
        </p:nvSpPr>
        <p:spPr/>
        <p:txBody>
          <a:bodyPr/>
          <a:lstStyle/>
          <a:p>
            <a:fld id="{1A6077A6-0527-1D47-A9F6-4A89A549CCF2}" type="slidenum">
              <a:rPr lang="it-IT" smtClean="0"/>
              <a:t>‹N›</a:t>
            </a:fld>
            <a:endParaRPr lang="it-IT"/>
          </a:p>
        </p:txBody>
      </p:sp>
    </p:spTree>
    <p:extLst>
      <p:ext uri="{BB962C8B-B14F-4D97-AF65-F5344CB8AC3E}">
        <p14:creationId xmlns:p14="http://schemas.microsoft.com/office/powerpoint/2010/main" val="22353473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cSld name="Immagine con didascalia">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8D870162-49F3-74BA-9001-78080F9B1C7D}"/>
              </a:ext>
            </a:extLst>
          </p:cNvPr>
          <p:cNvSpPr>
            <a:spLocks noGrp="1"/>
          </p:cNvSpPr>
          <p:nvPr>
            <p:ph type="title"/>
          </p:nvPr>
        </p:nvSpPr>
        <p:spPr>
          <a:xfrm>
            <a:off x="839788" y="457200"/>
            <a:ext cx="3932237" cy="1600200"/>
          </a:xfrm>
        </p:spPr>
        <p:txBody>
          <a:bodyPr anchor="b"/>
          <a:lstStyle>
            <a:lvl1pPr>
              <a:defRPr sz="3200"/>
            </a:lvl1pPr>
          </a:lstStyle>
          <a:p>
            <a:r>
              <a:rPr lang="it-IT"/>
              <a:t>Fare clic per modificare lo stile del titolo dello schema</a:t>
            </a:r>
          </a:p>
        </p:txBody>
      </p:sp>
      <p:sp>
        <p:nvSpPr>
          <p:cNvPr id="3" name="Segnaposto immagine 2">
            <a:extLst>
              <a:ext uri="{FF2B5EF4-FFF2-40B4-BE49-F238E27FC236}">
                <a16:creationId xmlns:a16="http://schemas.microsoft.com/office/drawing/2014/main" id="{8D87EDA2-0B43-0522-A9F8-206E5595EFE0}"/>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it-IT"/>
          </a:p>
        </p:txBody>
      </p:sp>
      <p:sp>
        <p:nvSpPr>
          <p:cNvPr id="4" name="Segnaposto testo 3">
            <a:extLst>
              <a:ext uri="{FF2B5EF4-FFF2-40B4-BE49-F238E27FC236}">
                <a16:creationId xmlns:a16="http://schemas.microsoft.com/office/drawing/2014/main" id="{EC6E7686-3430-9602-9BC7-EF23FB684CB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Segnaposto data 4">
            <a:extLst>
              <a:ext uri="{FF2B5EF4-FFF2-40B4-BE49-F238E27FC236}">
                <a16:creationId xmlns:a16="http://schemas.microsoft.com/office/drawing/2014/main" id="{B61DE8C4-6262-2383-C261-8EEDA1B70A18}"/>
              </a:ext>
            </a:extLst>
          </p:cNvPr>
          <p:cNvSpPr>
            <a:spLocks noGrp="1"/>
          </p:cNvSpPr>
          <p:nvPr>
            <p:ph type="dt" sz="half" idx="10"/>
          </p:nvPr>
        </p:nvSpPr>
        <p:spPr/>
        <p:txBody>
          <a:bodyPr/>
          <a:lstStyle/>
          <a:p>
            <a:fld id="{B66BB764-33E8-6842-9624-09828376102D}" type="datetimeFigureOut">
              <a:rPr lang="it-IT" smtClean="0"/>
              <a:t>13/10/26</a:t>
            </a:fld>
            <a:endParaRPr lang="it-IT"/>
          </a:p>
        </p:txBody>
      </p:sp>
      <p:sp>
        <p:nvSpPr>
          <p:cNvPr id="6" name="Segnaposto piè di pagina 5">
            <a:extLst>
              <a:ext uri="{FF2B5EF4-FFF2-40B4-BE49-F238E27FC236}">
                <a16:creationId xmlns:a16="http://schemas.microsoft.com/office/drawing/2014/main" id="{9D57EF57-939B-76AD-9A1D-CBD3E44CE0A4}"/>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E6426772-C929-28B4-3686-6504C1E30A4D}"/>
              </a:ext>
            </a:extLst>
          </p:cNvPr>
          <p:cNvSpPr>
            <a:spLocks noGrp="1"/>
          </p:cNvSpPr>
          <p:nvPr>
            <p:ph type="sldNum" sz="quarter" idx="12"/>
          </p:nvPr>
        </p:nvSpPr>
        <p:spPr/>
        <p:txBody>
          <a:bodyPr/>
          <a:lstStyle/>
          <a:p>
            <a:fld id="{1A6077A6-0527-1D47-A9F6-4A89A549CCF2}" type="slidenum">
              <a:rPr lang="it-IT" smtClean="0"/>
              <a:t>‹N›</a:t>
            </a:fld>
            <a:endParaRPr lang="it-IT"/>
          </a:p>
        </p:txBody>
      </p:sp>
    </p:spTree>
    <p:extLst>
      <p:ext uri="{BB962C8B-B14F-4D97-AF65-F5344CB8AC3E}">
        <p14:creationId xmlns:p14="http://schemas.microsoft.com/office/powerpoint/2010/main" val="34024304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cSld name="Titolo e testo verticale">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78540D0F-FF62-26AA-CC64-1B45115879CB}"/>
              </a:ext>
            </a:extLst>
          </p:cNvPr>
          <p:cNvSpPr>
            <a:spLocks noGrp="1"/>
          </p:cNvSpPr>
          <p:nvPr>
            <p:ph type="title"/>
          </p:nvPr>
        </p:nvSpPr>
        <p:spPr/>
        <p:txBody>
          <a:bodyPr/>
          <a:lstStyle/>
          <a:p>
            <a:r>
              <a:rPr lang="it-IT"/>
              <a:t>Fare clic per modificare lo stile del titolo dello schema</a:t>
            </a:r>
          </a:p>
        </p:txBody>
      </p:sp>
      <p:sp>
        <p:nvSpPr>
          <p:cNvPr id="3" name="Segnaposto testo verticale 2">
            <a:extLst>
              <a:ext uri="{FF2B5EF4-FFF2-40B4-BE49-F238E27FC236}">
                <a16:creationId xmlns:a16="http://schemas.microsoft.com/office/drawing/2014/main" id="{21B1947A-C42E-C2D0-0C06-D9C38C48EDB6}"/>
              </a:ext>
            </a:extLst>
          </p:cNvPr>
          <p:cNvSpPr>
            <a:spLocks noGrp="1"/>
          </p:cNvSpPr>
          <p:nvPr>
            <p:ph type="body" orient="vert" idx="1"/>
          </p:nvPr>
        </p:nvSpPr>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ACAF04ED-F623-AFE3-08AC-B2FEC7A1CC35}"/>
              </a:ext>
            </a:extLst>
          </p:cNvPr>
          <p:cNvSpPr>
            <a:spLocks noGrp="1"/>
          </p:cNvSpPr>
          <p:nvPr>
            <p:ph type="dt" sz="half" idx="10"/>
          </p:nvPr>
        </p:nvSpPr>
        <p:spPr/>
        <p:txBody>
          <a:bodyPr/>
          <a:lstStyle/>
          <a:p>
            <a:fld id="{B66BB764-33E8-6842-9624-09828376102D}" type="datetimeFigureOut">
              <a:rPr lang="it-IT" smtClean="0"/>
              <a:t>13/10/26</a:t>
            </a:fld>
            <a:endParaRPr lang="it-IT"/>
          </a:p>
        </p:txBody>
      </p:sp>
      <p:sp>
        <p:nvSpPr>
          <p:cNvPr id="5" name="Segnaposto piè di pagina 4">
            <a:extLst>
              <a:ext uri="{FF2B5EF4-FFF2-40B4-BE49-F238E27FC236}">
                <a16:creationId xmlns:a16="http://schemas.microsoft.com/office/drawing/2014/main" id="{D00C5B0B-BE6B-FF91-D3F5-3E3F3A237B08}"/>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A194D8B5-8D24-0E4D-81EB-D4F2841829F3}"/>
              </a:ext>
            </a:extLst>
          </p:cNvPr>
          <p:cNvSpPr>
            <a:spLocks noGrp="1"/>
          </p:cNvSpPr>
          <p:nvPr>
            <p:ph type="sldNum" sz="quarter" idx="12"/>
          </p:nvPr>
        </p:nvSpPr>
        <p:spPr/>
        <p:txBody>
          <a:bodyPr/>
          <a:lstStyle/>
          <a:p>
            <a:fld id="{1A6077A6-0527-1D47-A9F6-4A89A549CCF2}" type="slidenum">
              <a:rPr lang="it-IT" smtClean="0"/>
              <a:t>‹N›</a:t>
            </a:fld>
            <a:endParaRPr lang="it-IT"/>
          </a:p>
        </p:txBody>
      </p:sp>
    </p:spTree>
    <p:extLst>
      <p:ext uri="{BB962C8B-B14F-4D97-AF65-F5344CB8AC3E}">
        <p14:creationId xmlns:p14="http://schemas.microsoft.com/office/powerpoint/2010/main" val="28206240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cSld name="1_Titolo e testo verticale">
    <p:spTree>
      <p:nvGrpSpPr>
        <p:cNvPr id="1" name=""/>
        <p:cNvGrpSpPr/>
        <p:nvPr/>
      </p:nvGrpSpPr>
      <p:grpSpPr>
        <a:xfrm>
          <a:off x="0" y="0"/>
          <a:ext cx="0" cy="0"/>
          <a:chOff x="0" y="0"/>
          <a:chExt cx="0" cy="0"/>
        </a:xfrm>
      </p:grpSpPr>
      <p:sp>
        <p:nvSpPr>
          <p:cNvPr id="2" name="Titolo verticale 1">
            <a:extLst>
              <a:ext uri="{FF2B5EF4-FFF2-40B4-BE49-F238E27FC236}">
                <a16:creationId xmlns:a16="http://schemas.microsoft.com/office/drawing/2014/main" id="{2A687831-0942-5A3E-549B-EF9DF7A50396}"/>
              </a:ext>
            </a:extLst>
          </p:cNvPr>
          <p:cNvSpPr>
            <a:spLocks noGrp="1"/>
          </p:cNvSpPr>
          <p:nvPr>
            <p:ph type="title" orient="vert"/>
          </p:nvPr>
        </p:nvSpPr>
        <p:spPr>
          <a:xfrm>
            <a:off x="8724900" y="365125"/>
            <a:ext cx="2628900" cy="5811838"/>
          </a:xfrm>
        </p:spPr>
        <p:txBody>
          <a:bodyPr vert="eaVert"/>
          <a:lstStyle/>
          <a:p>
            <a:r>
              <a:rPr lang="it-IT"/>
              <a:t>Fare clic per modificare lo stile del titolo dello schema</a:t>
            </a:r>
          </a:p>
        </p:txBody>
      </p:sp>
      <p:sp>
        <p:nvSpPr>
          <p:cNvPr id="3" name="Segnaposto testo verticale 2">
            <a:extLst>
              <a:ext uri="{FF2B5EF4-FFF2-40B4-BE49-F238E27FC236}">
                <a16:creationId xmlns:a16="http://schemas.microsoft.com/office/drawing/2014/main" id="{7237EE21-C301-F805-7138-1E9663AB1D3B}"/>
              </a:ext>
            </a:extLst>
          </p:cNvPr>
          <p:cNvSpPr>
            <a:spLocks noGrp="1"/>
          </p:cNvSpPr>
          <p:nvPr>
            <p:ph type="body" orient="vert" idx="1"/>
          </p:nvPr>
        </p:nvSpPr>
        <p:spPr>
          <a:xfrm>
            <a:off x="838200" y="365125"/>
            <a:ext cx="7734300" cy="5811838"/>
          </a:xfrm>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34679EBF-0720-722E-36AD-57D8D5D25D4E}"/>
              </a:ext>
            </a:extLst>
          </p:cNvPr>
          <p:cNvSpPr>
            <a:spLocks noGrp="1"/>
          </p:cNvSpPr>
          <p:nvPr>
            <p:ph type="dt" sz="half" idx="10"/>
          </p:nvPr>
        </p:nvSpPr>
        <p:spPr/>
        <p:txBody>
          <a:bodyPr/>
          <a:lstStyle/>
          <a:p>
            <a:fld id="{B66BB764-33E8-6842-9624-09828376102D}" type="datetimeFigureOut">
              <a:rPr lang="it-IT" smtClean="0"/>
              <a:t>13/10/26</a:t>
            </a:fld>
            <a:endParaRPr lang="it-IT"/>
          </a:p>
        </p:txBody>
      </p:sp>
      <p:sp>
        <p:nvSpPr>
          <p:cNvPr id="5" name="Segnaposto piè di pagina 4">
            <a:extLst>
              <a:ext uri="{FF2B5EF4-FFF2-40B4-BE49-F238E27FC236}">
                <a16:creationId xmlns:a16="http://schemas.microsoft.com/office/drawing/2014/main" id="{22F4A238-339E-D0AB-3B08-93821E933273}"/>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16047463-557D-94B8-3292-153B8BC75E81}"/>
              </a:ext>
            </a:extLst>
          </p:cNvPr>
          <p:cNvSpPr>
            <a:spLocks noGrp="1"/>
          </p:cNvSpPr>
          <p:nvPr>
            <p:ph type="sldNum" sz="quarter" idx="12"/>
          </p:nvPr>
        </p:nvSpPr>
        <p:spPr/>
        <p:txBody>
          <a:bodyPr/>
          <a:lstStyle/>
          <a:p>
            <a:fld id="{1A6077A6-0527-1D47-A9F6-4A89A549CCF2}" type="slidenum">
              <a:rPr lang="it-IT" smtClean="0"/>
              <a:t>‹N›</a:t>
            </a:fld>
            <a:endParaRPr lang="it-IT"/>
          </a:p>
        </p:txBody>
      </p:sp>
    </p:spTree>
    <p:extLst>
      <p:ext uri="{BB962C8B-B14F-4D97-AF65-F5344CB8AC3E}">
        <p14:creationId xmlns:p14="http://schemas.microsoft.com/office/powerpoint/2010/main" val="27019908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CFBFC"/>
        </a:solidFill>
        <a:effectLst/>
      </p:bgPr>
    </p:bg>
    <p:spTree>
      <p:nvGrpSpPr>
        <p:cNvPr id="1" name=""/>
        <p:cNvGrpSpPr/>
        <p:nvPr/>
      </p:nvGrpSpPr>
      <p:grpSpPr>
        <a:xfrm>
          <a:off x="0" y="0"/>
          <a:ext cx="0" cy="0"/>
          <a:chOff x="0" y="0"/>
          <a:chExt cx="0" cy="0"/>
        </a:xfrm>
      </p:grpSpPr>
      <p:sp>
        <p:nvSpPr>
          <p:cNvPr id="2" name="Segnaposto titolo 1">
            <a:extLst>
              <a:ext uri="{FF2B5EF4-FFF2-40B4-BE49-F238E27FC236}">
                <a16:creationId xmlns:a16="http://schemas.microsoft.com/office/drawing/2014/main" id="{5B7C9BE8-3151-43F5-C0A7-DFC81941C234}"/>
              </a:ext>
            </a:extLst>
          </p:cNvPr>
          <p:cNvSpPr>
            <a:spLocks noGrp="1"/>
          </p:cNvSpPr>
          <p:nvPr>
            <p:ph type="title"/>
          </p:nvPr>
        </p:nvSpPr>
        <p:spPr>
          <a:xfrm>
            <a:off x="609600" y="342900"/>
            <a:ext cx="10515600" cy="1325563"/>
          </a:xfrm>
          <a:prstGeom prst="rect">
            <a:avLst/>
          </a:prstGeom>
        </p:spPr>
        <p:txBody>
          <a:bodyPr vert="horz" lIns="0" tIns="45720" rIns="0" bIns="45720" rtlCol="0" anchor="ctr">
            <a:normAutofit/>
          </a:bodyPr>
          <a:lstStyle/>
          <a:p>
            <a:r>
              <a:rPr lang="it-IT"/>
              <a:t>Fare clic per modificare lo stile del titolo dello schema</a:t>
            </a:r>
          </a:p>
        </p:txBody>
      </p:sp>
      <p:sp>
        <p:nvSpPr>
          <p:cNvPr id="3" name="Segnaposto testo 2">
            <a:extLst>
              <a:ext uri="{FF2B5EF4-FFF2-40B4-BE49-F238E27FC236}">
                <a16:creationId xmlns:a16="http://schemas.microsoft.com/office/drawing/2014/main" id="{F0077207-969B-A0A2-0273-23ACA13983E1}"/>
              </a:ext>
            </a:extLst>
          </p:cNvPr>
          <p:cNvSpPr>
            <a:spLocks noGrp="1"/>
          </p:cNvSpPr>
          <p:nvPr>
            <p:ph type="body" idx="1"/>
          </p:nvPr>
        </p:nvSpPr>
        <p:spPr>
          <a:xfrm>
            <a:off x="609600" y="1371600"/>
            <a:ext cx="10515600" cy="4351338"/>
          </a:xfrm>
          <a:prstGeom prst="rect">
            <a:avLst/>
          </a:prstGeom>
        </p:spPr>
        <p:txBody>
          <a:bodyPr vert="horz" lIns="0" tIns="45720" rIns="0" bIns="45720" rtlCol="0">
            <a:normAutofit/>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36673A1F-AA9A-AC9C-4590-0D32C0E62C7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66BB764-33E8-6842-9624-09828376102D}" type="datetimeFigureOut">
              <a:rPr lang="it-IT" smtClean="0"/>
              <a:t>13/10/26</a:t>
            </a:fld>
            <a:endParaRPr lang="it-IT"/>
          </a:p>
        </p:txBody>
      </p:sp>
      <p:sp>
        <p:nvSpPr>
          <p:cNvPr id="5" name="Segnaposto piè di pagina 4">
            <a:extLst>
              <a:ext uri="{FF2B5EF4-FFF2-40B4-BE49-F238E27FC236}">
                <a16:creationId xmlns:a16="http://schemas.microsoft.com/office/drawing/2014/main" id="{5135749A-1B3C-B4C3-FBA0-54089372181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it-IT"/>
          </a:p>
        </p:txBody>
      </p:sp>
      <p:sp>
        <p:nvSpPr>
          <p:cNvPr id="6" name="Segnaposto numero diapositiva 5">
            <a:extLst>
              <a:ext uri="{FF2B5EF4-FFF2-40B4-BE49-F238E27FC236}">
                <a16:creationId xmlns:a16="http://schemas.microsoft.com/office/drawing/2014/main" id="{D488FC96-111C-0B24-938D-E3A73A408DA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A6077A6-0527-1D47-A9F6-4A89A549CCF2}" type="slidenum">
              <a:rPr lang="it-IT" smtClean="0"/>
              <a:t>‹N›</a:t>
            </a:fld>
            <a:endParaRPr lang="it-IT"/>
          </a:p>
        </p:txBody>
      </p:sp>
    </p:spTree>
    <p:extLst>
      <p:ext uri="{BB962C8B-B14F-4D97-AF65-F5344CB8AC3E}">
        <p14:creationId xmlns:p14="http://schemas.microsoft.com/office/powerpoint/2010/main" val="2420972072"/>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l" defTabSz="914400" rtl="0" eaLnBrk="1" latinLnBrk="0" hangingPunct="1">
        <a:lnSpc>
          <a:spcPct val="90000"/>
        </a:lnSpc>
        <a:spcBef>
          <a:spcPct val="0"/>
        </a:spcBef>
        <a:buNone/>
        <a:defRPr sz="3200" b="1" kern="1200">
          <a:solidFill>
            <a:schemeClr val="tx2"/>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9.png"/></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video" Target="../media/media2.mp4"/><Relationship Id="rId1" Type="http://schemas.microsoft.com/office/2007/relationships/media" Target="../media/media2.mp4"/><Relationship Id="rId4" Type="http://schemas.openxmlformats.org/officeDocument/2006/relationships/image" Target="../media/image15.png"/></Relationships>
</file>

<file path=ppt/slides/_rels/slide2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982FB0DF-F21B-B4B8-4961-44D0E64851C6}"/>
              </a:ext>
            </a:extLst>
          </p:cNvPr>
          <p:cNvSpPr>
            <a:spLocks noGrp="1"/>
          </p:cNvSpPr>
          <p:nvPr>
            <p:ph type="ctrTitle"/>
          </p:nvPr>
        </p:nvSpPr>
        <p:spPr/>
        <p:txBody>
          <a:bodyPr/>
          <a:lstStyle/>
          <a:p>
            <a:r>
              <a:rPr lang="it-IT"/>
              <a:t>Funds TOgether: analisi di usabilità</a:t>
            </a:r>
          </a:p>
        </p:txBody>
      </p:sp>
      <p:sp>
        <p:nvSpPr>
          <p:cNvPr id="3" name="Sottotitolo 2">
            <a:extLst>
              <a:ext uri="{FF2B5EF4-FFF2-40B4-BE49-F238E27FC236}">
                <a16:creationId xmlns:a16="http://schemas.microsoft.com/office/drawing/2014/main" id="{C7741B3D-B778-C5A3-54A7-FA26C1F60942}"/>
              </a:ext>
            </a:extLst>
          </p:cNvPr>
          <p:cNvSpPr>
            <a:spLocks noGrp="1"/>
          </p:cNvSpPr>
          <p:nvPr>
            <p:ph type="subTitle" idx="1"/>
          </p:nvPr>
        </p:nvSpPr>
        <p:spPr/>
        <p:txBody>
          <a:bodyPr/>
          <a:lstStyle/>
          <a:p>
            <a:r>
              <a:rPr lang="it-IT"/>
              <a:t>Gruppo A · [ componenti da inserire ]
Interazione uomo-macchina · A.A. [ da inserire ]</a:t>
            </a:r>
          </a:p>
        </p:txBody>
      </p:sp>
    </p:spTree>
    <p:extLst>
      <p:ext uri="{BB962C8B-B14F-4D97-AF65-F5344CB8AC3E}">
        <p14:creationId xmlns:p14="http://schemas.microsoft.com/office/powerpoint/2010/main" val="31832735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E443CE21-E013-1912-E8AE-B0569027D5AC}"/>
              </a:ext>
            </a:extLst>
          </p:cNvPr>
          <p:cNvSpPr>
            <a:spLocks noGrp="1"/>
          </p:cNvSpPr>
          <p:nvPr>
            <p:ph type="title"/>
          </p:nvPr>
        </p:nvSpPr>
        <p:spPr>
          <a:xfrm>
            <a:off x="609600" y="342900"/>
            <a:ext cx="10972800" cy="1016000"/>
          </a:xfrm>
        </p:spPr>
        <p:txBody>
          <a:bodyPr/>
          <a:lstStyle/>
          <a:p>
            <a:r>
              <a:rPr lang="it-IT" dirty="0"/>
              <a:t>Il sito analizzato: Funds TOgether</a:t>
            </a:r>
          </a:p>
        </p:txBody>
      </p:sp>
      <p:sp>
        <p:nvSpPr>
          <p:cNvPr id="20" name="Descrizione sito"/>
          <p:cNvSpPr/>
          <p:nvPr/>
        </p:nvSpPr>
        <p:spPr>
          <a:xfrm>
            <a:off x="609600" y="1524000"/>
            <a:ext cx="5080000" cy="4572000"/>
          </a:xfrm>
          <a:prstGeom prst="rect">
            <a:avLst/>
          </a:prstGeom>
          <a:noFill/>
          <a:ln>
            <a:noFill/>
          </a:ln>
        </p:spPr>
        <p:txBody>
          <a:bodyPr wrap="square" lIns="0" tIns="0" rIns="0" bIns="0" anchor="t">
            <a:noAutofit/>
          </a:bodyPr>
          <a:lstStyle/>
          <a:p>
            <a:pPr marL="0" indent="0" algn="l">
              <a:spcBef>
                <a:spcPts val="0"/>
              </a:spcBef>
              <a:buNone/>
            </a:pPr>
            <a:r>
              <a:rPr lang="it-IT" sz="1800" b="0" i="0" dirty="0">
                <a:solidFill>
                  <a:srgbClr val="231C21"/>
                </a:solidFill>
              </a:rPr>
              <a:t>Funds TOgether è l’iniziativa di crowdfunding dell’</a:t>
            </a:r>
            <a:r>
              <a:rPr lang="it-IT" sz="1800" b="1" i="0" dirty="0">
                <a:solidFill>
                  <a:srgbClr val="231C21"/>
                </a:solidFill>
              </a:rPr>
              <a:t>Università di Torino</a:t>
            </a:r>
            <a:r>
              <a:rPr lang="it-IT" sz="1800" b="0" i="0" dirty="0">
                <a:solidFill>
                  <a:srgbClr val="231C21"/>
                </a:solidFill>
              </a:rPr>
              <a:t> sulla piattaforma Ginger: i ricercatori candidano progetti, i cittadini li sostengono con donazioni.</a:t>
            </a:r>
          </a:p>
          <a:p>
            <a:pPr marL="0" indent="0" algn="l">
              <a:spcBef>
                <a:spcPts val="600"/>
              </a:spcBef>
              <a:buNone/>
            </a:pPr>
            <a:r>
              <a:rPr lang="it-IT" sz="1200" b="0" i="1" dirty="0">
                <a:solidFill>
                  <a:srgbClr val="6C0850"/>
                </a:solidFill>
              </a:rPr>
              <a:t>[ DA VERIFICARE: descrizione e regola del cofinanziamento ]</a:t>
            </a:r>
          </a:p>
          <a:p>
            <a:pPr marL="0" indent="0" algn="l">
              <a:spcBef>
                <a:spcPts val="1800"/>
              </a:spcBef>
              <a:buNone/>
            </a:pPr>
            <a:r>
              <a:rPr lang="it-IT" sz="1400" b="1" i="0" dirty="0">
                <a:solidFill>
                  <a:srgbClr val="6C0850"/>
                </a:solidFill>
              </a:rPr>
              <a:t>Pagine analizzate</a:t>
            </a:r>
          </a:p>
          <a:p>
            <a:pPr>
              <a:spcBef>
                <a:spcPts val="300"/>
              </a:spcBef>
            </a:pPr>
            <a:r>
              <a:rPr lang="it-IT" sz="1400" b="0" i="0" dirty="0">
                <a:solidFill>
                  <a:srgbClr val="231C21"/>
                </a:solidFill>
              </a:rPr>
              <a:t>Partner UniTo › </a:t>
            </a:r>
            <a:r>
              <a:rPr lang="it-IT" sz="1400" dirty="0">
                <a:solidFill>
                  <a:srgbClr val="231C21"/>
                </a:solidFill>
              </a:rPr>
              <a:t>Partnership › Progetti</a:t>
            </a:r>
            <a:endParaRPr lang="it-IT" sz="1400" b="0" i="0" dirty="0">
              <a:solidFill>
                <a:srgbClr val="231C21"/>
              </a:solidFill>
            </a:endParaRPr>
          </a:p>
        </p:txBody>
      </p:sp>
      <p:sp>
        <p:nvSpPr>
          <p:cNvPr id="21" name="Segnaposto screenshot homepage"/>
          <p:cNvSpPr/>
          <p:nvPr/>
        </p:nvSpPr>
        <p:spPr>
          <a:xfrm>
            <a:off x="6045200" y="1524000"/>
            <a:ext cx="5537200" cy="4572000"/>
          </a:xfrm>
          <a:prstGeom prst="rect">
            <a:avLst/>
          </a:prstGeom>
          <a:solidFill>
            <a:srgbClr val="F7F4F6"/>
          </a:solidFill>
          <a:ln w="15875">
            <a:solidFill>
              <a:srgbClr val="B07A9F"/>
            </a:solidFill>
            <a:prstDash val="dash"/>
          </a:ln>
        </p:spPr>
        <p:txBody>
          <a:bodyPr wrap="square" lIns="152400" tIns="152400" rIns="152400" bIns="152400" anchor="ctr">
            <a:noAutofit/>
          </a:bodyPr>
          <a:lstStyle/>
          <a:p>
            <a:pPr marL="0" indent="0" algn="ctr">
              <a:spcBef>
                <a:spcPts val="0"/>
              </a:spcBef>
              <a:buNone/>
            </a:pPr>
            <a:r>
              <a:rPr lang="it-IT" sz="1200" b="1" i="0" dirty="0">
                <a:solidFill>
                  <a:srgbClr val="6C0850"/>
                </a:solidFill>
              </a:rPr>
              <a:t>[ SCREENSHOT DA INSERIRE ]</a:t>
            </a:r>
          </a:p>
          <a:p>
            <a:pPr marL="0" indent="0" algn="ctr">
              <a:spcBef>
                <a:spcPts val="400"/>
              </a:spcBef>
              <a:buNone/>
            </a:pPr>
            <a:r>
              <a:rPr lang="it-IT" sz="1400" b="1" i="0" dirty="0">
                <a:solidFill>
                  <a:srgbClr val="231C21"/>
                </a:solidFill>
              </a:rPr>
              <a:t>Homepage Funds TOgether, prima schermata</a:t>
            </a:r>
          </a:p>
          <a:p>
            <a:pPr marL="0" indent="0" algn="ctr">
              <a:spcBef>
                <a:spcPts val="400"/>
              </a:spcBef>
              <a:buNone/>
            </a:pPr>
            <a:r>
              <a:rPr lang="it-IT" sz="1100" b="0" i="0" dirty="0">
                <a:solidFill>
                  <a:srgbClr val="6B6168"/>
                </a:solidFill>
              </a:rPr>
              <a:t>Non presente nel CSV: cercare in /Users/andreock/Desktop/hci_gruppo_a/assignment1/parti/antofallea/src/ oppure catturare la pagina /partner/universita-di-torino.html</a:t>
            </a:r>
          </a:p>
        </p:txBody>
      </p:sp>
    </p:spTree>
    <p:extLst>
      <p:ext uri="{BB962C8B-B14F-4D97-AF65-F5344CB8AC3E}">
        <p14:creationId xmlns:p14="http://schemas.microsoft.com/office/powerpoint/2010/main" val="41286854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E3286D2D-A04F-C86C-27E7-B5025F684118}"/>
              </a:ext>
            </a:extLst>
          </p:cNvPr>
          <p:cNvSpPr>
            <a:spLocks noGrp="1"/>
          </p:cNvSpPr>
          <p:nvPr>
            <p:ph type="title"/>
          </p:nvPr>
        </p:nvSpPr>
        <p:spPr>
          <a:xfrm>
            <a:off x="609600" y="342900"/>
            <a:ext cx="10972800" cy="1016000"/>
          </a:xfrm>
        </p:spPr>
        <p:txBody>
          <a:bodyPr/>
          <a:lstStyle/>
          <a:p>
            <a:r>
              <a:rPr lang="it-IT" dirty="0"/>
              <a:t>Metodologia</a:t>
            </a:r>
          </a:p>
        </p:txBody>
      </p:sp>
      <p:sp>
        <p:nvSpPr>
          <p:cNvPr id="20" name="Fase 1"/>
          <p:cNvSpPr/>
          <p:nvPr/>
        </p:nvSpPr>
        <p:spPr>
          <a:xfrm>
            <a:off x="609600" y="1574800"/>
            <a:ext cx="2514600" cy="3175000"/>
          </a:xfrm>
          <a:prstGeom prst="rect">
            <a:avLst/>
          </a:prstGeom>
          <a:solidFill>
            <a:srgbClr val="F3EEF1"/>
          </a:solidFill>
          <a:ln>
            <a:noFill/>
          </a:ln>
        </p:spPr>
        <p:txBody>
          <a:bodyPr wrap="square" lIns="177800" tIns="177800" rIns="177800" bIns="177800" anchor="t">
            <a:noAutofit/>
          </a:bodyPr>
          <a:lstStyle/>
          <a:p>
            <a:pPr marL="0" indent="0" algn="l">
              <a:spcBef>
                <a:spcPts val="0"/>
              </a:spcBef>
              <a:buNone/>
            </a:pPr>
            <a:r>
              <a:rPr lang="it-IT" sz="1200" b="1" i="0" dirty="0">
                <a:solidFill>
                  <a:srgbClr val="6C0850"/>
                </a:solidFill>
              </a:rPr>
              <a:t>FASE 1</a:t>
            </a:r>
          </a:p>
          <a:p>
            <a:pPr marL="0" indent="0" algn="l">
              <a:spcBef>
                <a:spcPts val="600"/>
              </a:spcBef>
              <a:buNone/>
            </a:pPr>
            <a:r>
              <a:rPr lang="it-IT" sz="2000" b="1" i="0" dirty="0">
                <a:solidFill>
                  <a:srgbClr val="41002F"/>
                </a:solidFill>
              </a:rPr>
              <a:t>Euristiche di Nielsen</a:t>
            </a:r>
          </a:p>
          <a:p>
            <a:pPr marL="0" indent="0" algn="l">
              <a:spcBef>
                <a:spcPts val="900"/>
              </a:spcBef>
              <a:buNone/>
            </a:pPr>
            <a:r>
              <a:rPr lang="it-IT" sz="1400" b="0" i="0" dirty="0">
                <a:solidFill>
                  <a:srgbClr val="231C21"/>
                </a:solidFill>
              </a:rPr>
              <a:t>Esplorazione del sito con i task T1–T8 e valutazione con le 10 euristiche</a:t>
            </a:r>
          </a:p>
        </p:txBody>
      </p:sp>
      <p:sp>
        <p:nvSpPr>
          <p:cNvPr id="21" name="Barra fase 1"/>
          <p:cNvSpPr/>
          <p:nvPr/>
        </p:nvSpPr>
        <p:spPr>
          <a:xfrm>
            <a:off x="609600" y="1574800"/>
            <a:ext cx="2514600" cy="63500"/>
          </a:xfrm>
          <a:prstGeom prst="rect">
            <a:avLst/>
          </a:prstGeom>
          <a:solidFill>
            <a:srgbClr val="6C0850"/>
          </a:solidFill>
          <a:ln>
            <a:noFill/>
          </a:ln>
        </p:spPr>
        <p:txBody>
          <a:bodyPr wrap="square" lIns="0" tIns="0" rIns="0" bIns="0" anchor="t">
            <a:noAutofit/>
          </a:bodyPr>
          <a:lstStyle/>
          <a:p>
            <a:endParaRPr lang="it-IT"/>
          </a:p>
        </p:txBody>
      </p:sp>
      <p:sp>
        <p:nvSpPr>
          <p:cNvPr id="22" name="Fase 2"/>
          <p:cNvSpPr/>
          <p:nvPr/>
        </p:nvSpPr>
        <p:spPr>
          <a:xfrm>
            <a:off x="3429000" y="1574800"/>
            <a:ext cx="2514600" cy="3175000"/>
          </a:xfrm>
          <a:prstGeom prst="rect">
            <a:avLst/>
          </a:prstGeom>
          <a:solidFill>
            <a:srgbClr val="F3EEF1"/>
          </a:solidFill>
          <a:ln>
            <a:noFill/>
          </a:ln>
        </p:spPr>
        <p:txBody>
          <a:bodyPr wrap="square" lIns="177800" tIns="177800" rIns="177800" bIns="177800" anchor="t">
            <a:noAutofit/>
          </a:bodyPr>
          <a:lstStyle/>
          <a:p>
            <a:pPr marL="0" indent="0" algn="l">
              <a:spcBef>
                <a:spcPts val="0"/>
              </a:spcBef>
              <a:buNone/>
            </a:pPr>
            <a:r>
              <a:rPr lang="it-IT" sz="1200" b="1" i="0" dirty="0">
                <a:solidFill>
                  <a:srgbClr val="6C0850"/>
                </a:solidFill>
              </a:rPr>
              <a:t>FASE 2</a:t>
            </a:r>
          </a:p>
          <a:p>
            <a:pPr marL="0" indent="0" algn="l">
              <a:spcBef>
                <a:spcPts val="600"/>
              </a:spcBef>
              <a:buNone/>
            </a:pPr>
            <a:r>
              <a:rPr lang="it-IT" sz="2000" b="1" i="0" dirty="0">
                <a:solidFill>
                  <a:srgbClr val="41002F"/>
                </a:solidFill>
              </a:rPr>
              <a:t>Linee guida specifiche</a:t>
            </a:r>
          </a:p>
          <a:p>
            <a:pPr marL="0" indent="0" algn="l">
              <a:spcBef>
                <a:spcPts val="900"/>
              </a:spcBef>
              <a:buNone/>
            </a:pPr>
            <a:r>
              <a:rPr lang="it-IT" sz="1400" b="0" i="0" dirty="0">
                <a:solidFill>
                  <a:srgbClr val="231C21"/>
                </a:solidFill>
              </a:rPr>
              <a:t>Verifica con linee guida dedicate al tipo di sito</a:t>
            </a:r>
          </a:p>
          <a:p>
            <a:pPr marL="0" indent="0" algn="l">
              <a:spcBef>
                <a:spcPts val="900"/>
              </a:spcBef>
              <a:buNone/>
            </a:pPr>
            <a:r>
              <a:rPr lang="it-IT" sz="1200" b="0" i="1" dirty="0">
                <a:solidFill>
                  <a:srgbClr val="6C0850"/>
                </a:solidFill>
              </a:rPr>
              <a:t>[ DA SCEGLIERE: es. NN/g Top 10 Homepage, Search ](Not </a:t>
            </a:r>
            <a:r>
              <a:rPr lang="it-IT" sz="1200" b="0" i="1" dirty="0" err="1">
                <a:solidFill>
                  <a:srgbClr val="6C0850"/>
                </a:solidFill>
              </a:rPr>
              <a:t>done</a:t>
            </a:r>
            <a:r>
              <a:rPr lang="it-IT" sz="1200" b="0" i="1" dirty="0">
                <a:solidFill>
                  <a:srgbClr val="6C0850"/>
                </a:solidFill>
              </a:rPr>
              <a:t> </a:t>
            </a:r>
            <a:r>
              <a:rPr lang="it-IT" sz="1200" b="0" i="1" dirty="0" err="1">
                <a:solidFill>
                  <a:srgbClr val="6C0850"/>
                </a:solidFill>
              </a:rPr>
              <a:t>yet</a:t>
            </a:r>
            <a:r>
              <a:rPr lang="it-IT" sz="1200" b="0" i="1" dirty="0">
                <a:solidFill>
                  <a:srgbClr val="6C0850"/>
                </a:solidFill>
              </a:rPr>
              <a:t>)</a:t>
            </a:r>
          </a:p>
        </p:txBody>
      </p:sp>
      <p:sp>
        <p:nvSpPr>
          <p:cNvPr id="23" name="Barra fase 2"/>
          <p:cNvSpPr/>
          <p:nvPr/>
        </p:nvSpPr>
        <p:spPr>
          <a:xfrm>
            <a:off x="3429000" y="1574800"/>
            <a:ext cx="2514600" cy="63500"/>
          </a:xfrm>
          <a:prstGeom prst="rect">
            <a:avLst/>
          </a:prstGeom>
          <a:solidFill>
            <a:srgbClr val="C7B4C2"/>
          </a:solidFill>
          <a:ln>
            <a:noFill/>
          </a:ln>
        </p:spPr>
        <p:txBody>
          <a:bodyPr wrap="square" lIns="0" tIns="0" rIns="0" bIns="0" anchor="t">
            <a:noAutofit/>
          </a:bodyPr>
          <a:lstStyle/>
          <a:p>
            <a:endParaRPr lang="it-IT"/>
          </a:p>
        </p:txBody>
      </p:sp>
      <p:sp>
        <p:nvSpPr>
          <p:cNvPr id="24" name="Fase 3"/>
          <p:cNvSpPr/>
          <p:nvPr/>
        </p:nvSpPr>
        <p:spPr>
          <a:xfrm>
            <a:off x="6248400" y="1574800"/>
            <a:ext cx="2514600" cy="3175000"/>
          </a:xfrm>
          <a:prstGeom prst="rect">
            <a:avLst/>
          </a:prstGeom>
          <a:solidFill>
            <a:srgbClr val="F3EEF1"/>
          </a:solidFill>
          <a:ln>
            <a:noFill/>
          </a:ln>
        </p:spPr>
        <p:txBody>
          <a:bodyPr wrap="square" lIns="177800" tIns="177800" rIns="177800" bIns="177800" anchor="t">
            <a:noAutofit/>
          </a:bodyPr>
          <a:lstStyle/>
          <a:p>
            <a:pPr marL="0" indent="0" algn="l">
              <a:spcBef>
                <a:spcPts val="0"/>
              </a:spcBef>
              <a:buNone/>
            </a:pPr>
            <a:r>
              <a:rPr lang="it-IT" sz="1200" b="1" i="0" dirty="0">
                <a:solidFill>
                  <a:srgbClr val="6C0850"/>
                </a:solidFill>
              </a:rPr>
              <a:t>FASE 3</a:t>
            </a:r>
          </a:p>
          <a:p>
            <a:pPr marL="0" indent="0" algn="l">
              <a:spcBef>
                <a:spcPts val="600"/>
              </a:spcBef>
              <a:buNone/>
            </a:pPr>
            <a:r>
              <a:rPr lang="it-IT" sz="2000" b="1" i="0" dirty="0">
                <a:solidFill>
                  <a:srgbClr val="41002F"/>
                </a:solidFill>
              </a:rPr>
              <a:t>Analisi extra</a:t>
            </a:r>
            <a:br>
              <a:rPr lang="it-IT" sz="2000" b="1" i="0" dirty="0">
                <a:solidFill>
                  <a:srgbClr val="41002F"/>
                </a:solidFill>
              </a:rPr>
            </a:br>
            <a:r>
              <a:rPr lang="it-IT" sz="2000" b="1" i="0" dirty="0">
                <a:solidFill>
                  <a:srgbClr val="41002F"/>
                </a:solidFill>
              </a:rPr>
              <a:t> </a:t>
            </a:r>
          </a:p>
          <a:p>
            <a:pPr marL="0" indent="0" algn="l">
              <a:spcBef>
                <a:spcPts val="900"/>
              </a:spcBef>
              <a:buNone/>
            </a:pPr>
            <a:r>
              <a:rPr lang="it-IT" sz="1400" b="0" i="0" dirty="0">
                <a:solidFill>
                  <a:srgbClr val="231C21"/>
                </a:solidFill>
              </a:rPr>
              <a:t>Versione mobile e tablet, accessibilità</a:t>
            </a:r>
          </a:p>
          <a:p>
            <a:pPr marL="0" indent="0" algn="l">
              <a:spcBef>
                <a:spcPts val="900"/>
              </a:spcBef>
              <a:buNone/>
            </a:pPr>
            <a:r>
              <a:rPr lang="it-IT" sz="1200" b="0" i="1" dirty="0">
                <a:solidFill>
                  <a:srgbClr val="6C0850"/>
                </a:solidFill>
              </a:rPr>
              <a:t>[ DA SVOLGERE ]</a:t>
            </a:r>
          </a:p>
        </p:txBody>
      </p:sp>
      <p:sp>
        <p:nvSpPr>
          <p:cNvPr id="25" name="Barra fase 3"/>
          <p:cNvSpPr/>
          <p:nvPr/>
        </p:nvSpPr>
        <p:spPr>
          <a:xfrm>
            <a:off x="6248400" y="1574800"/>
            <a:ext cx="2514600" cy="63500"/>
          </a:xfrm>
          <a:prstGeom prst="rect">
            <a:avLst/>
          </a:prstGeom>
          <a:solidFill>
            <a:srgbClr val="C7B4C2"/>
          </a:solidFill>
          <a:ln>
            <a:noFill/>
          </a:ln>
        </p:spPr>
        <p:txBody>
          <a:bodyPr wrap="square" lIns="0" tIns="0" rIns="0" bIns="0" anchor="t">
            <a:noAutofit/>
          </a:bodyPr>
          <a:lstStyle/>
          <a:p>
            <a:endParaRPr lang="it-IT"/>
          </a:p>
        </p:txBody>
      </p:sp>
      <p:sp>
        <p:nvSpPr>
          <p:cNvPr id="26" name="Fase 4"/>
          <p:cNvSpPr/>
          <p:nvPr/>
        </p:nvSpPr>
        <p:spPr>
          <a:xfrm>
            <a:off x="9067800" y="1574800"/>
            <a:ext cx="2514600" cy="3175000"/>
          </a:xfrm>
          <a:prstGeom prst="rect">
            <a:avLst/>
          </a:prstGeom>
          <a:solidFill>
            <a:srgbClr val="F3EEF1"/>
          </a:solidFill>
          <a:ln>
            <a:noFill/>
          </a:ln>
        </p:spPr>
        <p:txBody>
          <a:bodyPr wrap="square" lIns="177800" tIns="177800" rIns="177800" bIns="177800" anchor="t">
            <a:noAutofit/>
          </a:bodyPr>
          <a:lstStyle/>
          <a:p>
            <a:pPr marL="0" indent="0" algn="l">
              <a:spcBef>
                <a:spcPts val="0"/>
              </a:spcBef>
              <a:buNone/>
            </a:pPr>
            <a:r>
              <a:rPr lang="it-IT" sz="1200" b="1" i="0" dirty="0">
                <a:solidFill>
                  <a:srgbClr val="6C0850"/>
                </a:solidFill>
              </a:rPr>
              <a:t>FASE 4</a:t>
            </a:r>
          </a:p>
          <a:p>
            <a:pPr marL="0" indent="0" algn="l">
              <a:spcBef>
                <a:spcPts val="600"/>
              </a:spcBef>
              <a:buNone/>
            </a:pPr>
            <a:r>
              <a:rPr lang="it-IT" sz="2000" b="1" i="0" dirty="0">
                <a:solidFill>
                  <a:srgbClr val="41002F"/>
                </a:solidFill>
              </a:rPr>
              <a:t>Risultati e conclusioni</a:t>
            </a:r>
          </a:p>
          <a:p>
            <a:pPr marL="0" indent="0" algn="l">
              <a:spcBef>
                <a:spcPts val="900"/>
              </a:spcBef>
              <a:buNone/>
            </a:pPr>
            <a:r>
              <a:rPr lang="it-IT" sz="1400" b="0" i="0" dirty="0">
                <a:solidFill>
                  <a:srgbClr val="231C21"/>
                </a:solidFill>
              </a:rPr>
              <a:t>Distribuzione delle gravità, problemi principali e priorità di intervento</a:t>
            </a:r>
          </a:p>
        </p:txBody>
      </p:sp>
      <p:sp>
        <p:nvSpPr>
          <p:cNvPr id="27" name="Barra fase 4"/>
          <p:cNvSpPr/>
          <p:nvPr/>
        </p:nvSpPr>
        <p:spPr>
          <a:xfrm>
            <a:off x="9067800" y="1574800"/>
            <a:ext cx="2514600" cy="63500"/>
          </a:xfrm>
          <a:prstGeom prst="rect">
            <a:avLst/>
          </a:prstGeom>
          <a:solidFill>
            <a:srgbClr val="C7B4C2"/>
          </a:solidFill>
          <a:ln>
            <a:noFill/>
          </a:ln>
        </p:spPr>
        <p:txBody>
          <a:bodyPr wrap="square" lIns="0" tIns="0" rIns="0" bIns="0" anchor="t">
            <a:noAutofit/>
          </a:bodyPr>
          <a:lstStyle/>
          <a:p>
            <a:endParaRPr lang="it-IT"/>
          </a:p>
        </p:txBody>
      </p:sp>
      <p:sp>
        <p:nvSpPr>
          <p:cNvPr id="28" name="Nota"/>
          <p:cNvSpPr/>
          <p:nvPr/>
        </p:nvSpPr>
        <p:spPr>
          <a:xfrm>
            <a:off x="609600" y="4953000"/>
            <a:ext cx="10972800" cy="304800"/>
          </a:xfrm>
          <a:prstGeom prst="rect">
            <a:avLst/>
          </a:prstGeom>
          <a:noFill/>
          <a:ln>
            <a:noFill/>
          </a:ln>
        </p:spPr>
        <p:txBody>
          <a:bodyPr wrap="square" lIns="0" tIns="0" rIns="0" bIns="0" anchor="t">
            <a:noAutofit/>
          </a:bodyPr>
          <a:lstStyle/>
          <a:p>
            <a:pPr marL="0" indent="0" algn="l">
              <a:spcBef>
                <a:spcPts val="0"/>
              </a:spcBef>
              <a:buNone/>
            </a:pPr>
            <a:r>
              <a:rPr lang="it-IT" sz="1200" b="0" i="0" dirty="0">
                <a:solidFill>
                  <a:srgbClr val="6B6168"/>
                </a:solidFill>
              </a:rPr>
              <a:t>In questa versione è completata solo la Fase 1 sulla homepage e sui progetti.</a:t>
            </a:r>
          </a:p>
        </p:txBody>
      </p:sp>
    </p:spTree>
    <p:extLst>
      <p:ext uri="{BB962C8B-B14F-4D97-AF65-F5344CB8AC3E}">
        <p14:creationId xmlns:p14="http://schemas.microsoft.com/office/powerpoint/2010/main" val="24149838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E441A490-60F5-533A-E9C9-59D8BF08759D}"/>
              </a:ext>
            </a:extLst>
          </p:cNvPr>
          <p:cNvSpPr>
            <a:spLocks noGrp="1"/>
          </p:cNvSpPr>
          <p:nvPr>
            <p:ph type="title"/>
          </p:nvPr>
        </p:nvSpPr>
        <p:spPr>
          <a:xfrm>
            <a:off x="609600" y="342900"/>
            <a:ext cx="10972800" cy="1016000"/>
          </a:xfrm>
        </p:spPr>
        <p:txBody>
          <a:bodyPr/>
          <a:lstStyle/>
          <a:p>
            <a:r>
              <a:rPr lang="it-IT" dirty="0"/>
              <a:t>Scala di gravità</a:t>
            </a:r>
          </a:p>
        </p:txBody>
      </p:sp>
      <p:sp>
        <p:nvSpPr>
          <p:cNvPr id="22" name="Badge 1"/>
          <p:cNvSpPr/>
          <p:nvPr/>
        </p:nvSpPr>
        <p:spPr>
          <a:xfrm>
            <a:off x="609600" y="1498600"/>
            <a:ext cx="914400" cy="584200"/>
          </a:xfrm>
          <a:prstGeom prst="roundRect">
            <a:avLst/>
          </a:prstGeom>
          <a:solidFill>
            <a:srgbClr val="E9DCE5"/>
          </a:solidFill>
          <a:ln>
            <a:noFill/>
          </a:ln>
        </p:spPr>
        <p:txBody>
          <a:bodyPr wrap="square" lIns="0" tIns="0" rIns="0" bIns="0" anchor="ctr">
            <a:noAutofit/>
          </a:bodyPr>
          <a:lstStyle/>
          <a:p>
            <a:pPr marL="0" indent="0" algn="ctr">
              <a:spcBef>
                <a:spcPts val="0"/>
              </a:spcBef>
              <a:buNone/>
            </a:pPr>
            <a:r>
              <a:rPr lang="it-IT" sz="2000" b="1" i="0" dirty="0">
                <a:solidFill>
                  <a:srgbClr val="41002F"/>
                </a:solidFill>
              </a:rPr>
              <a:t>1</a:t>
            </a:r>
          </a:p>
        </p:txBody>
      </p:sp>
      <p:sp>
        <p:nvSpPr>
          <p:cNvPr id="23" name="Voce 1"/>
          <p:cNvSpPr/>
          <p:nvPr/>
        </p:nvSpPr>
        <p:spPr>
          <a:xfrm>
            <a:off x="1727200" y="1498600"/>
            <a:ext cx="5334000" cy="584200"/>
          </a:xfrm>
          <a:prstGeom prst="rect">
            <a:avLst/>
          </a:prstGeom>
          <a:noFill/>
          <a:ln>
            <a:noFill/>
          </a:ln>
        </p:spPr>
        <p:txBody>
          <a:bodyPr wrap="square" lIns="0" tIns="0" rIns="0" bIns="0" anchor="ctr">
            <a:noAutofit/>
          </a:bodyPr>
          <a:lstStyle/>
          <a:p>
            <a:pPr marL="0" indent="0" algn="l">
              <a:spcBef>
                <a:spcPts val="0"/>
              </a:spcBef>
              <a:buNone/>
            </a:pPr>
            <a:r>
              <a:rPr lang="it-IT" sz="1600" b="1" i="0" dirty="0">
                <a:solidFill>
                  <a:srgbClr val="41002F"/>
                </a:solidFill>
              </a:rPr>
              <a:t>Superficiale</a:t>
            </a:r>
          </a:p>
          <a:p>
            <a:pPr marL="0" indent="0" algn="l">
              <a:spcBef>
                <a:spcPts val="0"/>
              </a:spcBef>
              <a:buNone/>
            </a:pPr>
            <a:r>
              <a:rPr lang="it-IT" sz="1400" b="0" i="0" dirty="0">
                <a:solidFill>
                  <a:srgbClr val="4A4248"/>
                </a:solidFill>
              </a:rPr>
              <a:t>Errore poco impattante sulla UX</a:t>
            </a:r>
          </a:p>
        </p:txBody>
      </p:sp>
      <p:sp>
        <p:nvSpPr>
          <p:cNvPr id="24" name="Badge 2"/>
          <p:cNvSpPr/>
          <p:nvPr/>
        </p:nvSpPr>
        <p:spPr>
          <a:xfrm>
            <a:off x="609600" y="2286000"/>
            <a:ext cx="914400" cy="584200"/>
          </a:xfrm>
          <a:prstGeom prst="roundRect">
            <a:avLst/>
          </a:prstGeom>
          <a:solidFill>
            <a:srgbClr val="C7A2BB"/>
          </a:solidFill>
          <a:ln>
            <a:noFill/>
          </a:ln>
        </p:spPr>
        <p:txBody>
          <a:bodyPr wrap="square" lIns="0" tIns="0" rIns="0" bIns="0" anchor="ctr">
            <a:noAutofit/>
          </a:bodyPr>
          <a:lstStyle/>
          <a:p>
            <a:pPr marL="0" indent="0" algn="ctr">
              <a:spcBef>
                <a:spcPts val="0"/>
              </a:spcBef>
              <a:buNone/>
            </a:pPr>
            <a:r>
              <a:rPr lang="it-IT" sz="2000" b="1" i="0" dirty="0">
                <a:solidFill>
                  <a:srgbClr val="41002F"/>
                </a:solidFill>
              </a:rPr>
              <a:t>2</a:t>
            </a:r>
          </a:p>
        </p:txBody>
      </p:sp>
      <p:sp>
        <p:nvSpPr>
          <p:cNvPr id="25" name="Voce 2"/>
          <p:cNvSpPr/>
          <p:nvPr/>
        </p:nvSpPr>
        <p:spPr>
          <a:xfrm>
            <a:off x="1727200" y="2286000"/>
            <a:ext cx="5334000" cy="584200"/>
          </a:xfrm>
          <a:prstGeom prst="rect">
            <a:avLst/>
          </a:prstGeom>
          <a:noFill/>
          <a:ln>
            <a:noFill/>
          </a:ln>
        </p:spPr>
        <p:txBody>
          <a:bodyPr wrap="square" lIns="0" tIns="0" rIns="0" bIns="0" anchor="ctr">
            <a:noAutofit/>
          </a:bodyPr>
          <a:lstStyle/>
          <a:p>
            <a:pPr marL="0" indent="0" algn="l">
              <a:spcBef>
                <a:spcPts val="0"/>
              </a:spcBef>
              <a:buNone/>
            </a:pPr>
            <a:r>
              <a:rPr lang="it-IT" sz="1600" b="1" i="0" dirty="0">
                <a:solidFill>
                  <a:srgbClr val="41002F"/>
                </a:solidFill>
              </a:rPr>
              <a:t>Minore</a:t>
            </a:r>
          </a:p>
          <a:p>
            <a:pPr marL="0" indent="0" algn="l">
              <a:spcBef>
                <a:spcPts val="0"/>
              </a:spcBef>
              <a:buNone/>
            </a:pPr>
            <a:r>
              <a:rPr lang="it-IT" sz="1400" b="0" i="0" dirty="0">
                <a:solidFill>
                  <a:srgbClr val="4A4248"/>
                </a:solidFill>
              </a:rPr>
              <a:t>Correzione a bassa priorità</a:t>
            </a:r>
          </a:p>
        </p:txBody>
      </p:sp>
      <p:sp>
        <p:nvSpPr>
          <p:cNvPr id="26" name="Badge 3"/>
          <p:cNvSpPr/>
          <p:nvPr/>
        </p:nvSpPr>
        <p:spPr>
          <a:xfrm>
            <a:off x="609600" y="3073400"/>
            <a:ext cx="914400" cy="584200"/>
          </a:xfrm>
          <a:prstGeom prst="roundRect">
            <a:avLst/>
          </a:prstGeom>
          <a:solidFill>
            <a:srgbClr val="8E2F72"/>
          </a:solidFill>
          <a:ln>
            <a:noFill/>
          </a:ln>
        </p:spPr>
        <p:txBody>
          <a:bodyPr wrap="square" lIns="0" tIns="0" rIns="0" bIns="0" anchor="ctr">
            <a:noAutofit/>
          </a:bodyPr>
          <a:lstStyle/>
          <a:p>
            <a:pPr marL="0" indent="0" algn="ctr">
              <a:spcBef>
                <a:spcPts val="0"/>
              </a:spcBef>
              <a:buNone/>
            </a:pPr>
            <a:r>
              <a:rPr lang="it-IT" sz="2000" b="1" i="0" dirty="0">
                <a:solidFill>
                  <a:srgbClr val="FFFFFF"/>
                </a:solidFill>
              </a:rPr>
              <a:t>3</a:t>
            </a:r>
          </a:p>
        </p:txBody>
      </p:sp>
      <p:sp>
        <p:nvSpPr>
          <p:cNvPr id="27" name="Voce 3"/>
          <p:cNvSpPr/>
          <p:nvPr/>
        </p:nvSpPr>
        <p:spPr>
          <a:xfrm>
            <a:off x="1727200" y="3073400"/>
            <a:ext cx="5334000" cy="584200"/>
          </a:xfrm>
          <a:prstGeom prst="rect">
            <a:avLst/>
          </a:prstGeom>
          <a:noFill/>
          <a:ln>
            <a:noFill/>
          </a:ln>
        </p:spPr>
        <p:txBody>
          <a:bodyPr wrap="square" lIns="0" tIns="0" rIns="0" bIns="0" anchor="ctr">
            <a:noAutofit/>
          </a:bodyPr>
          <a:lstStyle/>
          <a:p>
            <a:pPr marL="0" indent="0" algn="l">
              <a:spcBef>
                <a:spcPts val="0"/>
              </a:spcBef>
              <a:buNone/>
            </a:pPr>
            <a:r>
              <a:rPr lang="it-IT" sz="1600" b="1" i="0" dirty="0">
                <a:solidFill>
                  <a:srgbClr val="41002F"/>
                </a:solidFill>
              </a:rPr>
              <a:t>Importante</a:t>
            </a:r>
          </a:p>
          <a:p>
            <a:pPr marL="0" indent="0" algn="l">
              <a:spcBef>
                <a:spcPts val="0"/>
              </a:spcBef>
              <a:buNone/>
            </a:pPr>
            <a:r>
              <a:rPr lang="it-IT" sz="1400" b="0" i="0" dirty="0">
                <a:solidFill>
                  <a:srgbClr val="4A4248"/>
                </a:solidFill>
              </a:rPr>
              <a:t>Correzione ad alta priorità</a:t>
            </a:r>
          </a:p>
        </p:txBody>
      </p:sp>
      <p:sp>
        <p:nvSpPr>
          <p:cNvPr id="28" name="Badge 4"/>
          <p:cNvSpPr/>
          <p:nvPr/>
        </p:nvSpPr>
        <p:spPr>
          <a:xfrm>
            <a:off x="609600" y="3860800"/>
            <a:ext cx="914400" cy="584200"/>
          </a:xfrm>
          <a:prstGeom prst="roundRect">
            <a:avLst/>
          </a:prstGeom>
          <a:solidFill>
            <a:srgbClr val="41002F"/>
          </a:solidFill>
          <a:ln>
            <a:noFill/>
          </a:ln>
        </p:spPr>
        <p:txBody>
          <a:bodyPr wrap="square" lIns="0" tIns="0" rIns="0" bIns="0" anchor="ctr">
            <a:noAutofit/>
          </a:bodyPr>
          <a:lstStyle/>
          <a:p>
            <a:pPr marL="0" indent="0" algn="ctr">
              <a:spcBef>
                <a:spcPts val="0"/>
              </a:spcBef>
              <a:buNone/>
            </a:pPr>
            <a:r>
              <a:rPr lang="it-IT" sz="2000" b="1" i="0" dirty="0">
                <a:solidFill>
                  <a:srgbClr val="FFFFFF"/>
                </a:solidFill>
              </a:rPr>
              <a:t>4</a:t>
            </a:r>
          </a:p>
        </p:txBody>
      </p:sp>
      <p:sp>
        <p:nvSpPr>
          <p:cNvPr id="29" name="Voce 4"/>
          <p:cNvSpPr/>
          <p:nvPr/>
        </p:nvSpPr>
        <p:spPr>
          <a:xfrm>
            <a:off x="1727200" y="3860800"/>
            <a:ext cx="5334000" cy="584200"/>
          </a:xfrm>
          <a:prstGeom prst="rect">
            <a:avLst/>
          </a:prstGeom>
          <a:noFill/>
          <a:ln>
            <a:noFill/>
          </a:ln>
        </p:spPr>
        <p:txBody>
          <a:bodyPr wrap="square" lIns="0" tIns="0" rIns="0" bIns="0" anchor="ctr">
            <a:noAutofit/>
          </a:bodyPr>
          <a:lstStyle/>
          <a:p>
            <a:pPr marL="0" indent="0" algn="l">
              <a:spcBef>
                <a:spcPts val="0"/>
              </a:spcBef>
              <a:buNone/>
            </a:pPr>
            <a:r>
              <a:rPr lang="it-IT" sz="1600" b="1" i="0" dirty="0">
                <a:solidFill>
                  <a:srgbClr val="41002F"/>
                </a:solidFill>
              </a:rPr>
              <a:t>Grave</a:t>
            </a:r>
          </a:p>
          <a:p>
            <a:pPr marL="0" indent="0" algn="l">
              <a:spcBef>
                <a:spcPts val="0"/>
              </a:spcBef>
              <a:buNone/>
            </a:pPr>
            <a:r>
              <a:rPr lang="it-IT" sz="1400" b="0" i="0" dirty="0">
                <a:solidFill>
                  <a:srgbClr val="4A4248"/>
                </a:solidFill>
              </a:rPr>
              <a:t>Da correggere prima di qualsiasi altro intervento</a:t>
            </a:r>
          </a:p>
        </p:txBody>
      </p:sp>
      <p:sp>
        <p:nvSpPr>
          <p:cNvPr id="30" name="Badge N/A"/>
          <p:cNvSpPr/>
          <p:nvPr/>
        </p:nvSpPr>
        <p:spPr>
          <a:xfrm>
            <a:off x="609600" y="4648200"/>
            <a:ext cx="914400" cy="584200"/>
          </a:xfrm>
          <a:prstGeom prst="roundRect">
            <a:avLst/>
          </a:prstGeom>
          <a:solidFill>
            <a:srgbClr val="FFFFFF"/>
          </a:solidFill>
          <a:ln w="9525">
            <a:solidFill>
              <a:srgbClr val="B07A9F"/>
            </a:solidFill>
          </a:ln>
        </p:spPr>
        <p:txBody>
          <a:bodyPr wrap="square" lIns="0" tIns="0" rIns="0" bIns="0" anchor="ctr">
            <a:noAutofit/>
          </a:bodyPr>
          <a:lstStyle/>
          <a:p>
            <a:pPr marL="0" indent="0" algn="ctr">
              <a:spcBef>
                <a:spcPts val="0"/>
              </a:spcBef>
              <a:buNone/>
            </a:pPr>
            <a:r>
              <a:rPr lang="it-IT" sz="2000" b="1" i="0" dirty="0">
                <a:solidFill>
                  <a:srgbClr val="6B6168"/>
                </a:solidFill>
              </a:rPr>
              <a:t>N/A</a:t>
            </a:r>
          </a:p>
        </p:txBody>
      </p:sp>
      <p:sp>
        <p:nvSpPr>
          <p:cNvPr id="31" name="Voce N/A"/>
          <p:cNvSpPr/>
          <p:nvPr/>
        </p:nvSpPr>
        <p:spPr>
          <a:xfrm>
            <a:off x="1727200" y="4648200"/>
            <a:ext cx="5334000" cy="584200"/>
          </a:xfrm>
          <a:prstGeom prst="rect">
            <a:avLst/>
          </a:prstGeom>
          <a:noFill/>
          <a:ln>
            <a:noFill/>
          </a:ln>
        </p:spPr>
        <p:txBody>
          <a:bodyPr wrap="square" lIns="0" tIns="0" rIns="0" bIns="0" anchor="ctr">
            <a:noAutofit/>
          </a:bodyPr>
          <a:lstStyle/>
          <a:p>
            <a:pPr marL="0" indent="0" algn="l">
              <a:spcBef>
                <a:spcPts val="0"/>
              </a:spcBef>
              <a:buNone/>
            </a:pPr>
            <a:r>
              <a:rPr lang="it-IT" sz="1600" b="1" i="0" dirty="0">
                <a:solidFill>
                  <a:srgbClr val="41002F"/>
                </a:solidFill>
              </a:rPr>
              <a:t>Non applicabile</a:t>
            </a:r>
          </a:p>
          <a:p>
            <a:pPr marL="0" indent="0" algn="l">
              <a:spcBef>
                <a:spcPts val="0"/>
              </a:spcBef>
              <a:buNone/>
            </a:pPr>
            <a:r>
              <a:rPr lang="it-IT" sz="1400" b="0" i="0" dirty="0">
                <a:solidFill>
                  <a:srgbClr val="4A4248"/>
                </a:solidFill>
              </a:rPr>
              <a:t>Linea guida che non riguarda questo sito</a:t>
            </a:r>
          </a:p>
        </p:txBody>
      </p:sp>
      <p:sp>
        <p:nvSpPr>
          <p:cNvPr id="32" name="Criteri"/>
          <p:cNvSpPr/>
          <p:nvPr/>
        </p:nvSpPr>
        <p:spPr>
          <a:xfrm>
            <a:off x="7620000" y="1498600"/>
            <a:ext cx="3962400" cy="2946400"/>
          </a:xfrm>
          <a:prstGeom prst="rect">
            <a:avLst/>
          </a:prstGeom>
          <a:solidFill>
            <a:srgbClr val="F3EEF1"/>
          </a:solidFill>
          <a:ln>
            <a:noFill/>
          </a:ln>
        </p:spPr>
        <p:txBody>
          <a:bodyPr wrap="square" lIns="203200" tIns="203200" rIns="203200" bIns="203200" anchor="t">
            <a:noAutofit/>
          </a:bodyPr>
          <a:lstStyle/>
          <a:p>
            <a:pPr marL="0" indent="0" algn="l">
              <a:spcBef>
                <a:spcPts val="0"/>
              </a:spcBef>
              <a:buNone/>
            </a:pPr>
            <a:r>
              <a:rPr lang="it-IT" sz="1600" b="1" i="0" dirty="0">
                <a:solidFill>
                  <a:srgbClr val="41002F"/>
                </a:solidFill>
              </a:rPr>
              <a:t>Come assegniamo la gravità</a:t>
            </a:r>
          </a:p>
          <a:p>
            <a:pPr marL="0" indent="0" algn="l">
              <a:spcBef>
                <a:spcPts val="800"/>
              </a:spcBef>
              <a:buNone/>
            </a:pPr>
            <a:r>
              <a:rPr lang="it-IT" sz="1400" b="0" i="0" dirty="0">
                <a:solidFill>
                  <a:srgbClr val="231C21"/>
                </a:solidFill>
              </a:rPr>
              <a:t>Ogni problema combina i tre fattori di Nielsen:</a:t>
            </a:r>
          </a:p>
          <a:p>
            <a:pPr marL="0" indent="0" algn="l">
              <a:spcBef>
                <a:spcPts val="600"/>
              </a:spcBef>
              <a:buNone/>
            </a:pPr>
            <a:r>
              <a:rPr lang="it-IT" sz="1400" b="1" i="0" dirty="0">
                <a:solidFill>
                  <a:srgbClr val="231C21"/>
                </a:solidFill>
              </a:rPr>
              <a:t>Frequenza</a:t>
            </a:r>
            <a:r>
              <a:rPr lang="it-IT" sz="1400" b="0" i="0" dirty="0">
                <a:solidFill>
                  <a:srgbClr val="231C21"/>
                </a:solidFill>
              </a:rPr>
              <a:t>: quanto spesso si presenta</a:t>
            </a:r>
          </a:p>
          <a:p>
            <a:pPr marL="0" indent="0" algn="l">
              <a:spcBef>
                <a:spcPts val="400"/>
              </a:spcBef>
              <a:buNone/>
            </a:pPr>
            <a:r>
              <a:rPr lang="it-IT" sz="1400" b="1" i="0" dirty="0">
                <a:solidFill>
                  <a:srgbClr val="231C21"/>
                </a:solidFill>
              </a:rPr>
              <a:t>Impatto</a:t>
            </a:r>
            <a:r>
              <a:rPr lang="it-IT" sz="1400" b="0" i="0" dirty="0">
                <a:solidFill>
                  <a:srgbClr val="231C21"/>
                </a:solidFill>
              </a:rPr>
              <a:t>: quanto ostacola il task</a:t>
            </a:r>
          </a:p>
          <a:p>
            <a:pPr marL="0" indent="0" algn="l">
              <a:spcBef>
                <a:spcPts val="400"/>
              </a:spcBef>
              <a:buNone/>
            </a:pPr>
            <a:r>
              <a:rPr lang="it-IT" sz="1400" b="1" i="0" dirty="0">
                <a:solidFill>
                  <a:srgbClr val="231C21"/>
                </a:solidFill>
              </a:rPr>
              <a:t>Persistenza</a:t>
            </a:r>
            <a:r>
              <a:rPr lang="it-IT" sz="1400" b="0" i="0" dirty="0">
                <a:solidFill>
                  <a:srgbClr val="231C21"/>
                </a:solidFill>
              </a:rPr>
              <a:t>: se pesa anche dopo la prima volta</a:t>
            </a:r>
          </a:p>
          <a:p>
            <a:pPr marL="0" indent="0" algn="l">
              <a:spcBef>
                <a:spcPts val="800"/>
              </a:spcBef>
              <a:buNone/>
            </a:pPr>
            <a:r>
              <a:rPr lang="it-IT" sz="1400" b="0" i="0" dirty="0">
                <a:solidFill>
                  <a:srgbClr val="231C21"/>
                </a:solidFill>
              </a:rPr>
              <a:t>Ogni slide riporta il motivo del valore scelto.</a:t>
            </a:r>
          </a:p>
        </p:txBody>
      </p:sp>
    </p:spTree>
    <p:extLst>
      <p:ext uri="{BB962C8B-B14F-4D97-AF65-F5344CB8AC3E}">
        <p14:creationId xmlns:p14="http://schemas.microsoft.com/office/powerpoint/2010/main" val="7438688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7BD44B31-D55B-7689-5801-6A0842FC4CFA}"/>
              </a:ext>
            </a:extLst>
          </p:cNvPr>
          <p:cNvSpPr>
            <a:spLocks noGrp="1"/>
          </p:cNvSpPr>
          <p:nvPr>
            <p:ph type="title"/>
          </p:nvPr>
        </p:nvSpPr>
        <p:spPr>
          <a:xfrm>
            <a:off x="609600" y="342900"/>
            <a:ext cx="10972800" cy="1016000"/>
          </a:xfrm>
        </p:spPr>
        <p:txBody>
          <a:bodyPr/>
          <a:lstStyle/>
          <a:p>
            <a:r>
              <a:rPr lang="it-IT"/>
              <a:t>Utenti target e task: 8 task su due tipi di utente</a:t>
            </a:r>
          </a:p>
        </p:txBody>
      </p:sp>
      <p:graphicFrame>
        <p:nvGraphicFramePr>
          <p:cNvPr id="4" name="Tabella 3">
            <a:extLst>
              <a:ext uri="{FF2B5EF4-FFF2-40B4-BE49-F238E27FC236}">
                <a16:creationId xmlns:a16="http://schemas.microsoft.com/office/drawing/2014/main" id="{D326B967-1E08-864C-AC52-C27DDA462DC8}"/>
              </a:ext>
            </a:extLst>
          </p:cNvPr>
          <p:cNvGraphicFramePr>
            <a:graphicFrameLocks noGrp="1"/>
          </p:cNvGraphicFramePr>
          <p:nvPr>
            <p:extLst>
              <p:ext uri="{D42A27DB-BD31-4B8C-83A1-F6EECF244321}">
                <p14:modId xmlns:p14="http://schemas.microsoft.com/office/powerpoint/2010/main" val="290188638"/>
              </p:ext>
            </p:extLst>
          </p:nvPr>
        </p:nvGraphicFramePr>
        <p:xfrm>
          <a:off x="609600" y="1422400"/>
          <a:ext cx="10972800" cy="3972560"/>
        </p:xfrm>
        <a:graphic>
          <a:graphicData uri="http://schemas.openxmlformats.org/drawingml/2006/table">
            <a:tbl>
              <a:tblPr/>
              <a:tblGrid>
                <a:gridCol w="3683000">
                  <a:extLst>
                    <a:ext uri="{9D8B030D-6E8A-4147-A177-3AD203B41FA5}">
                      <a16:colId xmlns:a16="http://schemas.microsoft.com/office/drawing/2014/main" val="3921852078"/>
                    </a:ext>
                  </a:extLst>
                </a:gridCol>
                <a:gridCol w="5257800">
                  <a:extLst>
                    <a:ext uri="{9D8B030D-6E8A-4147-A177-3AD203B41FA5}">
                      <a16:colId xmlns:a16="http://schemas.microsoft.com/office/drawing/2014/main" val="1016781334"/>
                    </a:ext>
                  </a:extLst>
                </a:gridCol>
                <a:gridCol w="2032000">
                  <a:extLst>
                    <a:ext uri="{9D8B030D-6E8A-4147-A177-3AD203B41FA5}">
                      <a16:colId xmlns:a16="http://schemas.microsoft.com/office/drawing/2014/main" val="1297299232"/>
                    </a:ext>
                  </a:extLst>
                </a:gridCol>
              </a:tblGrid>
              <a:tr h="431800">
                <a:tc>
                  <a:txBody>
                    <a:bodyPr/>
                    <a:lstStyle/>
                    <a:p>
                      <a:r>
                        <a:rPr lang="it-IT" sz="1400" b="1">
                          <a:solidFill>
                            <a:srgbClr val="6C0850"/>
                          </a:solidFill>
                        </a:rPr>
                        <a:t>Task</a:t>
                      </a:r>
                    </a:p>
                  </a:txBody>
                  <a:tcPr anchor="ctr">
                    <a:lnL w="0">
                      <a:noFill/>
                    </a:lnL>
                    <a:lnR w="0">
                      <a:noFill/>
                    </a:lnR>
                    <a:lnT w="0">
                      <a:noFill/>
                    </a:lnT>
                    <a:lnB w="15875">
                      <a:solidFill>
                        <a:srgbClr val="6C0850"/>
                      </a:solidFill>
                    </a:lnB>
                    <a:noFill/>
                  </a:tcPr>
                </a:tc>
                <a:tc>
                  <a:txBody>
                    <a:bodyPr/>
                    <a:lstStyle/>
                    <a:p>
                      <a:r>
                        <a:rPr lang="it-IT" sz="1400" b="1">
                          <a:solidFill>
                            <a:srgbClr val="6C0850"/>
                          </a:solidFill>
                        </a:rPr>
                        <a:t>Pagine analizzate</a:t>
                      </a:r>
                    </a:p>
                  </a:txBody>
                  <a:tcPr anchor="ctr">
                    <a:lnL w="0">
                      <a:noFill/>
                    </a:lnL>
                    <a:lnR w="0">
                      <a:noFill/>
                    </a:lnR>
                    <a:lnT w="0">
                      <a:noFill/>
                    </a:lnT>
                    <a:lnB w="15875">
                      <a:solidFill>
                        <a:srgbClr val="6C0850"/>
                      </a:solidFill>
                    </a:lnB>
                    <a:noFill/>
                  </a:tcPr>
                </a:tc>
                <a:tc>
                  <a:txBody>
                    <a:bodyPr/>
                    <a:lstStyle/>
                    <a:p>
                      <a:r>
                        <a:rPr lang="it-IT" sz="1400" b="1">
                          <a:solidFill>
                            <a:srgbClr val="6C0850"/>
                          </a:solidFill>
                        </a:rPr>
                        <a:t>Utente</a:t>
                      </a:r>
                    </a:p>
                  </a:txBody>
                  <a:tcPr anchor="ctr">
                    <a:lnL w="0">
                      <a:noFill/>
                    </a:lnL>
                    <a:lnR w="0">
                      <a:noFill/>
                    </a:lnR>
                    <a:lnT w="0">
                      <a:noFill/>
                    </a:lnT>
                    <a:lnB w="15875">
                      <a:solidFill>
                        <a:srgbClr val="6C0850"/>
                      </a:solidFill>
                    </a:lnB>
                    <a:noFill/>
                  </a:tcPr>
                </a:tc>
                <a:extLst>
                  <a:ext uri="{0D108BD9-81ED-4DB2-BD59-A6C34878D82A}">
                    <a16:rowId xmlns:a16="http://schemas.microsoft.com/office/drawing/2014/main" val="265106740"/>
                  </a:ext>
                </a:extLst>
              </a:tr>
              <a:tr h="431800">
                <a:tc>
                  <a:txBody>
                    <a:bodyPr/>
                    <a:lstStyle/>
                    <a:p>
                      <a:r>
                        <a:rPr lang="it-IT" sz="1400" b="1">
                          <a:solidFill>
                            <a:srgbClr val="231C21"/>
                          </a:solidFill>
                        </a:rPr>
                        <a:t>T1 Capire Funds TOgether</a:t>
                      </a:r>
                    </a:p>
                  </a:txBody>
                  <a:tcPr anchor="ctr">
                    <a:lnL w="0">
                      <a:noFill/>
                    </a:lnL>
                    <a:lnR w="0">
                      <a:noFill/>
                    </a:lnR>
                    <a:lnT w="15875" cap="flat" cmpd="sng" algn="ctr">
                      <a:solidFill>
                        <a:srgbClr val="6C0850"/>
                      </a:solidFill>
                      <a:prstDash val="solid"/>
                      <a:round/>
                      <a:headEnd type="none" w="med" len="med"/>
                      <a:tailEnd type="none" w="med" len="med"/>
                    </a:lnT>
                    <a:lnB w="9525">
                      <a:solidFill>
                        <a:srgbClr val="E0D6DC"/>
                      </a:solidFill>
                    </a:lnB>
                    <a:noFill/>
                  </a:tcPr>
                </a:tc>
                <a:tc>
                  <a:txBody>
                    <a:bodyPr/>
                    <a:lstStyle/>
                    <a:p>
                      <a:r>
                        <a:rPr lang="it-IT" sz="1400" b="0" dirty="0">
                          <a:solidFill>
                            <a:srgbClr val="231C21"/>
                          </a:solidFill>
                        </a:rPr>
                        <a:t>Partner UniTo › Partnership e Progetti</a:t>
                      </a:r>
                    </a:p>
                  </a:txBody>
                  <a:tcPr anchor="ctr">
                    <a:lnL w="0">
                      <a:noFill/>
                    </a:lnL>
                    <a:lnR w="0">
                      <a:noFill/>
                    </a:lnR>
                    <a:lnT w="15875" cap="flat" cmpd="sng" algn="ctr">
                      <a:solidFill>
                        <a:srgbClr val="6C0850"/>
                      </a:solidFill>
                      <a:prstDash val="solid"/>
                      <a:round/>
                      <a:headEnd type="none" w="med" len="med"/>
                      <a:tailEnd type="none" w="med" len="med"/>
                    </a:lnT>
                    <a:lnB w="9525">
                      <a:solidFill>
                        <a:srgbClr val="E0D6DC"/>
                      </a:solidFill>
                    </a:lnB>
                    <a:noFill/>
                  </a:tcPr>
                </a:tc>
                <a:tc>
                  <a:txBody>
                    <a:bodyPr/>
                    <a:lstStyle/>
                    <a:p>
                      <a:r>
                        <a:rPr lang="it-IT" sz="1400" b="0">
                          <a:solidFill>
                            <a:srgbClr val="231C21"/>
                          </a:solidFill>
                        </a:rPr>
                        <a:t>Cittadino, ricercatore</a:t>
                      </a:r>
                    </a:p>
                  </a:txBody>
                  <a:tcPr anchor="ctr">
                    <a:lnL w="0">
                      <a:noFill/>
                    </a:lnL>
                    <a:lnR w="0">
                      <a:noFill/>
                    </a:lnR>
                    <a:lnT w="15875" cap="flat" cmpd="sng" algn="ctr">
                      <a:solidFill>
                        <a:srgbClr val="6C0850"/>
                      </a:solidFill>
                      <a:prstDash val="solid"/>
                      <a:round/>
                      <a:headEnd type="none" w="med" len="med"/>
                      <a:tailEnd type="none" w="med" len="med"/>
                    </a:lnT>
                    <a:lnB w="9525">
                      <a:solidFill>
                        <a:srgbClr val="E0D6DC"/>
                      </a:solidFill>
                    </a:lnB>
                    <a:noFill/>
                  </a:tcPr>
                </a:tc>
                <a:extLst>
                  <a:ext uri="{0D108BD9-81ED-4DB2-BD59-A6C34878D82A}">
                    <a16:rowId xmlns:a16="http://schemas.microsoft.com/office/drawing/2014/main" val="3215415833"/>
                  </a:ext>
                </a:extLst>
              </a:tr>
              <a:tr h="431800">
                <a:tc>
                  <a:txBody>
                    <a:bodyPr/>
                    <a:lstStyle/>
                    <a:p>
                      <a:r>
                        <a:rPr lang="it-IT" sz="1400" b="1">
                          <a:solidFill>
                            <a:srgbClr val="231C21"/>
                          </a:solidFill>
                        </a:rPr>
                        <a:t>T2 Trovare e scegliere un progetto</a:t>
                      </a:r>
                    </a:p>
                  </a:txBody>
                  <a:tcPr anchor="ctr">
                    <a:lnL w="0">
                      <a:noFill/>
                    </a:lnL>
                    <a:lnR w="0">
                      <a:noFill/>
                    </a:lnR>
                    <a:lnT w="9525" cap="flat" cmpd="sng" algn="ctr">
                      <a:solidFill>
                        <a:srgbClr val="E0D6DC"/>
                      </a:solidFill>
                      <a:prstDash val="solid"/>
                      <a:round/>
                      <a:headEnd type="none" w="med" len="med"/>
                      <a:tailEnd type="none" w="med" len="med"/>
                    </a:lnT>
                    <a:lnB w="9525">
                      <a:solidFill>
                        <a:srgbClr val="E0D6DC"/>
                      </a:solidFill>
                    </a:lnB>
                    <a:noFill/>
                  </a:tcPr>
                </a:tc>
                <a:tc>
                  <a:txBody>
                    <a:bodyPr/>
                    <a:lstStyle/>
                    <a:p>
                      <a:r>
                        <a:rPr lang="it-IT" sz="1400" b="0" dirty="0">
                          <a:solidFill>
                            <a:srgbClr val="231C21"/>
                          </a:solidFill>
                        </a:rPr>
                        <a:t>Partner UniTo › Progetti e cerca Progetti</a:t>
                      </a:r>
                    </a:p>
                  </a:txBody>
                  <a:tcPr anchor="ctr">
                    <a:lnL w="0">
                      <a:noFill/>
                    </a:lnL>
                    <a:lnR w="0">
                      <a:noFill/>
                    </a:lnR>
                    <a:lnT w="9525" cap="flat" cmpd="sng" algn="ctr">
                      <a:solidFill>
                        <a:srgbClr val="E0D6DC"/>
                      </a:solidFill>
                      <a:prstDash val="solid"/>
                      <a:round/>
                      <a:headEnd type="none" w="med" len="med"/>
                      <a:tailEnd type="none" w="med" len="med"/>
                    </a:lnT>
                    <a:lnB w="9525">
                      <a:solidFill>
                        <a:srgbClr val="E0D6DC"/>
                      </a:solidFill>
                    </a:lnB>
                    <a:noFill/>
                  </a:tcPr>
                </a:tc>
                <a:tc>
                  <a:txBody>
                    <a:bodyPr/>
                    <a:lstStyle/>
                    <a:p>
                      <a:r>
                        <a:rPr lang="it-IT" sz="1400" b="0">
                          <a:solidFill>
                            <a:srgbClr val="231C21"/>
                          </a:solidFill>
                        </a:rPr>
                        <a:t>Cittadino donatore</a:t>
                      </a:r>
                    </a:p>
                  </a:txBody>
                  <a:tcPr anchor="ctr">
                    <a:lnL w="0">
                      <a:noFill/>
                    </a:lnL>
                    <a:lnR w="0">
                      <a:noFill/>
                    </a:lnR>
                    <a:lnT w="9525" cap="flat" cmpd="sng" algn="ctr">
                      <a:solidFill>
                        <a:srgbClr val="E0D6DC"/>
                      </a:solidFill>
                      <a:prstDash val="solid"/>
                      <a:round/>
                      <a:headEnd type="none" w="med" len="med"/>
                      <a:tailEnd type="none" w="med" len="med"/>
                    </a:lnT>
                    <a:lnB w="9525">
                      <a:solidFill>
                        <a:srgbClr val="E0D6DC"/>
                      </a:solidFill>
                    </a:lnB>
                    <a:noFill/>
                  </a:tcPr>
                </a:tc>
                <a:extLst>
                  <a:ext uri="{0D108BD9-81ED-4DB2-BD59-A6C34878D82A}">
                    <a16:rowId xmlns:a16="http://schemas.microsoft.com/office/drawing/2014/main" val="604766023"/>
                  </a:ext>
                </a:extLst>
              </a:tr>
              <a:tr h="431800">
                <a:tc>
                  <a:txBody>
                    <a:bodyPr/>
                    <a:lstStyle/>
                    <a:p>
                      <a:r>
                        <a:rPr lang="it-IT" sz="1400" b="1">
                          <a:solidFill>
                            <a:srgbClr val="231C21"/>
                          </a:solidFill>
                        </a:rPr>
                        <a:t>T3 Obiettivi, proponenti, uso dei fondi</a:t>
                      </a:r>
                    </a:p>
                  </a:txBody>
                  <a:tcPr anchor="ctr">
                    <a:lnL w="0">
                      <a:noFill/>
                    </a:lnL>
                    <a:lnR w="0">
                      <a:noFill/>
                    </a:lnR>
                    <a:lnT w="9525" cap="flat" cmpd="sng" algn="ctr">
                      <a:solidFill>
                        <a:srgbClr val="E0D6DC"/>
                      </a:solidFill>
                      <a:prstDash val="solid"/>
                      <a:round/>
                      <a:headEnd type="none" w="med" len="med"/>
                      <a:tailEnd type="none" w="med" len="med"/>
                    </a:lnT>
                    <a:lnB w="9525">
                      <a:solidFill>
                        <a:srgbClr val="E0D6DC"/>
                      </a:solidFill>
                    </a:lnB>
                    <a:noFill/>
                  </a:tcPr>
                </a:tc>
                <a:tc>
                  <a:txBody>
                    <a:bodyPr/>
                    <a:lstStyle/>
                    <a:p>
                      <a:r>
                        <a:rPr lang="it-IT" sz="1400" b="0" dirty="0">
                          <a:solidFill>
                            <a:srgbClr val="231C21"/>
                          </a:solidFill>
                        </a:rPr>
                        <a:t>Progetti conclusi e attuali</a:t>
                      </a:r>
                    </a:p>
                  </a:txBody>
                  <a:tcPr anchor="ctr">
                    <a:lnL w="0">
                      <a:noFill/>
                    </a:lnL>
                    <a:lnR w="0">
                      <a:noFill/>
                    </a:lnR>
                    <a:lnT w="9525" cap="flat" cmpd="sng" algn="ctr">
                      <a:solidFill>
                        <a:srgbClr val="E0D6DC"/>
                      </a:solidFill>
                      <a:prstDash val="solid"/>
                      <a:round/>
                      <a:headEnd type="none" w="med" len="med"/>
                      <a:tailEnd type="none" w="med" len="med"/>
                    </a:lnT>
                    <a:lnB w="9525">
                      <a:solidFill>
                        <a:srgbClr val="E0D6DC"/>
                      </a:solidFill>
                    </a:lnB>
                    <a:noFill/>
                  </a:tcPr>
                </a:tc>
                <a:tc>
                  <a:txBody>
                    <a:bodyPr/>
                    <a:lstStyle/>
                    <a:p>
                      <a:r>
                        <a:rPr lang="it-IT" sz="1400" b="0">
                          <a:solidFill>
                            <a:srgbClr val="231C21"/>
                          </a:solidFill>
                        </a:rPr>
                        <a:t>Cittadino donatore</a:t>
                      </a:r>
                    </a:p>
                  </a:txBody>
                  <a:tcPr anchor="ctr">
                    <a:lnL w="0">
                      <a:noFill/>
                    </a:lnL>
                    <a:lnR w="0">
                      <a:noFill/>
                    </a:lnR>
                    <a:lnT w="9525" cap="flat" cmpd="sng" algn="ctr">
                      <a:solidFill>
                        <a:srgbClr val="E0D6DC"/>
                      </a:solidFill>
                      <a:prstDash val="solid"/>
                      <a:round/>
                      <a:headEnd type="none" w="med" len="med"/>
                      <a:tailEnd type="none" w="med" len="med"/>
                    </a:lnT>
                    <a:lnB w="9525">
                      <a:solidFill>
                        <a:srgbClr val="E0D6DC"/>
                      </a:solidFill>
                    </a:lnB>
                    <a:noFill/>
                  </a:tcPr>
                </a:tc>
                <a:extLst>
                  <a:ext uri="{0D108BD9-81ED-4DB2-BD59-A6C34878D82A}">
                    <a16:rowId xmlns:a16="http://schemas.microsoft.com/office/drawing/2014/main" val="774390395"/>
                  </a:ext>
                </a:extLst>
              </a:tr>
              <a:tr h="431800">
                <a:tc>
                  <a:txBody>
                    <a:bodyPr/>
                    <a:lstStyle/>
                    <a:p>
                      <a:r>
                        <a:rPr lang="it-IT" sz="1400" b="1" dirty="0">
                          <a:solidFill>
                            <a:srgbClr val="231C21"/>
                          </a:solidFill>
                        </a:rPr>
                        <a:t>T4 Stato della campagna</a:t>
                      </a:r>
                    </a:p>
                  </a:txBody>
                  <a:tcPr anchor="ctr">
                    <a:lnL w="0">
                      <a:noFill/>
                    </a:lnL>
                    <a:lnR w="0">
                      <a:noFill/>
                    </a:lnR>
                    <a:lnT w="9525" cap="flat" cmpd="sng" algn="ctr">
                      <a:solidFill>
                        <a:srgbClr val="E0D6DC"/>
                      </a:solidFill>
                      <a:prstDash val="solid"/>
                      <a:round/>
                      <a:headEnd type="none" w="med" len="med"/>
                      <a:tailEnd type="none" w="med" len="med"/>
                    </a:lnT>
                    <a:lnB w="9525">
                      <a:solidFill>
                        <a:srgbClr val="E0D6DC"/>
                      </a:solidFill>
                    </a:lnB>
                    <a:noFill/>
                  </a:tcPr>
                </a:tc>
                <a:tc>
                  <a:txBody>
                    <a:bodyPr/>
                    <a:lstStyle/>
                    <a:p>
                      <a:r>
                        <a:rPr lang="it-IT" sz="1400" b="0" dirty="0">
                          <a:solidFill>
                            <a:srgbClr val="231C21"/>
                          </a:solidFill>
                        </a:rPr>
                        <a:t>Partner UniTo › Progetti e sezioni del progetto</a:t>
                      </a:r>
                    </a:p>
                  </a:txBody>
                  <a:tcPr anchor="ctr">
                    <a:lnL w="0">
                      <a:noFill/>
                    </a:lnL>
                    <a:lnR w="0">
                      <a:noFill/>
                    </a:lnR>
                    <a:lnT w="9525" cap="flat" cmpd="sng" algn="ctr">
                      <a:solidFill>
                        <a:srgbClr val="E0D6DC"/>
                      </a:solidFill>
                      <a:prstDash val="solid"/>
                      <a:round/>
                      <a:headEnd type="none" w="med" len="med"/>
                      <a:tailEnd type="none" w="med" len="med"/>
                    </a:lnT>
                    <a:lnB w="9525">
                      <a:solidFill>
                        <a:srgbClr val="E0D6DC"/>
                      </a:solidFill>
                    </a:lnB>
                    <a:noFill/>
                  </a:tcPr>
                </a:tc>
                <a:tc>
                  <a:txBody>
                    <a:bodyPr/>
                    <a:lstStyle/>
                    <a:p>
                      <a:r>
                        <a:rPr lang="it-IT" sz="1400" b="0">
                          <a:solidFill>
                            <a:srgbClr val="231C21"/>
                          </a:solidFill>
                        </a:rPr>
                        <a:t>Cittadino donatore</a:t>
                      </a:r>
                    </a:p>
                  </a:txBody>
                  <a:tcPr anchor="ctr">
                    <a:lnL w="0">
                      <a:noFill/>
                    </a:lnL>
                    <a:lnR w="0">
                      <a:noFill/>
                    </a:lnR>
                    <a:lnT w="9525" cap="flat" cmpd="sng" algn="ctr">
                      <a:solidFill>
                        <a:srgbClr val="E0D6DC"/>
                      </a:solidFill>
                      <a:prstDash val="solid"/>
                      <a:round/>
                      <a:headEnd type="none" w="med" len="med"/>
                      <a:tailEnd type="none" w="med" len="med"/>
                    </a:lnT>
                    <a:lnB w="9525">
                      <a:solidFill>
                        <a:srgbClr val="E0D6DC"/>
                      </a:solidFill>
                    </a:lnB>
                    <a:noFill/>
                  </a:tcPr>
                </a:tc>
                <a:extLst>
                  <a:ext uri="{0D108BD9-81ED-4DB2-BD59-A6C34878D82A}">
                    <a16:rowId xmlns:a16="http://schemas.microsoft.com/office/drawing/2014/main" val="1909270644"/>
                  </a:ext>
                </a:extLst>
              </a:tr>
              <a:tr h="431800">
                <a:tc>
                  <a:txBody>
                    <a:bodyPr/>
                    <a:lstStyle/>
                    <a:p>
                      <a:r>
                        <a:rPr lang="it-IT" sz="1400" b="1">
                          <a:solidFill>
                            <a:srgbClr val="231C21"/>
                          </a:solidFill>
                        </a:rPr>
                        <a:t>T5 Sostenere un progetto</a:t>
                      </a:r>
                    </a:p>
                  </a:txBody>
                  <a:tcPr anchor="ctr">
                    <a:lnL w="0">
                      <a:noFill/>
                    </a:lnL>
                    <a:lnR w="0">
                      <a:noFill/>
                    </a:lnR>
                    <a:lnT w="9525" cap="flat" cmpd="sng" algn="ctr">
                      <a:solidFill>
                        <a:srgbClr val="E0D6DC"/>
                      </a:solidFill>
                      <a:prstDash val="solid"/>
                      <a:round/>
                      <a:headEnd type="none" w="med" len="med"/>
                      <a:tailEnd type="none" w="med" len="med"/>
                    </a:lnT>
                    <a:lnB w="9525">
                      <a:solidFill>
                        <a:srgbClr val="E0D6DC"/>
                      </a:solidFill>
                    </a:lnB>
                    <a:noFill/>
                  </a:tcPr>
                </a:tc>
                <a:tc>
                  <a:txBody>
                    <a:bodyPr/>
                    <a:lstStyle/>
                    <a:p>
                      <a:r>
                        <a:rPr lang="it-IT" sz="1400" b="0" dirty="0">
                          <a:solidFill>
                            <a:srgbClr val="231C21"/>
                          </a:solidFill>
                        </a:rPr>
                        <a:t>Pagine progetto, Modulo di donazione</a:t>
                      </a:r>
                    </a:p>
                  </a:txBody>
                  <a:tcPr anchor="ctr">
                    <a:lnL w="0">
                      <a:noFill/>
                    </a:lnL>
                    <a:lnR w="0">
                      <a:noFill/>
                    </a:lnR>
                    <a:lnT w="9525" cap="flat" cmpd="sng" algn="ctr">
                      <a:solidFill>
                        <a:srgbClr val="E0D6DC"/>
                      </a:solidFill>
                      <a:prstDash val="solid"/>
                      <a:round/>
                      <a:headEnd type="none" w="med" len="med"/>
                      <a:tailEnd type="none" w="med" len="med"/>
                    </a:lnT>
                    <a:lnB w="9525">
                      <a:solidFill>
                        <a:srgbClr val="E0D6DC"/>
                      </a:solidFill>
                    </a:lnB>
                    <a:noFill/>
                  </a:tcPr>
                </a:tc>
                <a:tc>
                  <a:txBody>
                    <a:bodyPr/>
                    <a:lstStyle/>
                    <a:p>
                      <a:r>
                        <a:rPr lang="it-IT" sz="1400" b="0">
                          <a:solidFill>
                            <a:srgbClr val="231C21"/>
                          </a:solidFill>
                        </a:rPr>
                        <a:t>Cittadino donatore</a:t>
                      </a:r>
                    </a:p>
                  </a:txBody>
                  <a:tcPr anchor="ctr">
                    <a:lnL w="0">
                      <a:noFill/>
                    </a:lnL>
                    <a:lnR w="0">
                      <a:noFill/>
                    </a:lnR>
                    <a:lnT w="9525" cap="flat" cmpd="sng" algn="ctr">
                      <a:solidFill>
                        <a:srgbClr val="E0D6DC"/>
                      </a:solidFill>
                      <a:prstDash val="solid"/>
                      <a:round/>
                      <a:headEnd type="none" w="med" len="med"/>
                      <a:tailEnd type="none" w="med" len="med"/>
                    </a:lnT>
                    <a:lnB w="9525">
                      <a:solidFill>
                        <a:srgbClr val="E0D6DC"/>
                      </a:solidFill>
                    </a:lnB>
                    <a:noFill/>
                  </a:tcPr>
                </a:tc>
                <a:extLst>
                  <a:ext uri="{0D108BD9-81ED-4DB2-BD59-A6C34878D82A}">
                    <a16:rowId xmlns:a16="http://schemas.microsoft.com/office/drawing/2014/main" val="1924882995"/>
                  </a:ext>
                </a:extLst>
              </a:tr>
              <a:tr h="431800">
                <a:tc>
                  <a:txBody>
                    <a:bodyPr/>
                    <a:lstStyle/>
                    <a:p>
                      <a:r>
                        <a:rPr lang="it-IT" sz="1400" b="1">
                          <a:solidFill>
                            <a:srgbClr val="231C21"/>
                          </a:solidFill>
                        </a:rPr>
                        <a:t>T6 Chiarimenti sul crowdfunding</a:t>
                      </a:r>
                    </a:p>
                  </a:txBody>
                  <a:tcPr anchor="ctr">
                    <a:lnL w="0">
                      <a:noFill/>
                    </a:lnL>
                    <a:lnR w="0">
                      <a:noFill/>
                    </a:lnR>
                    <a:lnT w="9525" cap="flat" cmpd="sng" algn="ctr">
                      <a:solidFill>
                        <a:srgbClr val="E0D6DC"/>
                      </a:solidFill>
                      <a:prstDash val="solid"/>
                      <a:round/>
                      <a:headEnd type="none" w="med" len="med"/>
                      <a:tailEnd type="none" w="med" len="med"/>
                    </a:lnT>
                    <a:lnB w="9525">
                      <a:solidFill>
                        <a:srgbClr val="E0D6DC"/>
                      </a:solidFill>
                    </a:lnB>
                    <a:noFill/>
                  </a:tcPr>
                </a:tc>
                <a:tc>
                  <a:txBody>
                    <a:bodyPr/>
                    <a:lstStyle/>
                    <a:p>
                      <a:r>
                        <a:rPr lang="it-IT" sz="1400" b="0" dirty="0">
                          <a:solidFill>
                            <a:srgbClr val="231C21"/>
                          </a:solidFill>
                        </a:rPr>
                        <a:t>«Come funziona», FAQ, pagine progetto</a:t>
                      </a:r>
                    </a:p>
                  </a:txBody>
                  <a:tcPr anchor="ctr">
                    <a:lnL w="0">
                      <a:noFill/>
                    </a:lnL>
                    <a:lnR w="0">
                      <a:noFill/>
                    </a:lnR>
                    <a:lnT w="9525" cap="flat" cmpd="sng" algn="ctr">
                      <a:solidFill>
                        <a:srgbClr val="E0D6DC"/>
                      </a:solidFill>
                      <a:prstDash val="solid"/>
                      <a:round/>
                      <a:headEnd type="none" w="med" len="med"/>
                      <a:tailEnd type="none" w="med" len="med"/>
                    </a:lnT>
                    <a:lnB w="9525">
                      <a:solidFill>
                        <a:srgbClr val="E0D6DC"/>
                      </a:solidFill>
                    </a:lnB>
                    <a:noFill/>
                  </a:tcPr>
                </a:tc>
                <a:tc>
                  <a:txBody>
                    <a:bodyPr/>
                    <a:lstStyle/>
                    <a:p>
                      <a:r>
                        <a:rPr lang="it-IT" sz="1400" b="0">
                          <a:solidFill>
                            <a:srgbClr val="231C21"/>
                          </a:solidFill>
                        </a:rPr>
                        <a:t>Cittadino donatore</a:t>
                      </a:r>
                    </a:p>
                  </a:txBody>
                  <a:tcPr anchor="ctr">
                    <a:lnL w="0">
                      <a:noFill/>
                    </a:lnL>
                    <a:lnR w="0">
                      <a:noFill/>
                    </a:lnR>
                    <a:lnT w="9525" cap="flat" cmpd="sng" algn="ctr">
                      <a:solidFill>
                        <a:srgbClr val="E0D6DC"/>
                      </a:solidFill>
                      <a:prstDash val="solid"/>
                      <a:round/>
                      <a:headEnd type="none" w="med" len="med"/>
                      <a:tailEnd type="none" w="med" len="med"/>
                    </a:lnT>
                    <a:lnB w="9525">
                      <a:solidFill>
                        <a:srgbClr val="E0D6DC"/>
                      </a:solidFill>
                    </a:lnB>
                    <a:noFill/>
                  </a:tcPr>
                </a:tc>
                <a:extLst>
                  <a:ext uri="{0D108BD9-81ED-4DB2-BD59-A6C34878D82A}">
                    <a16:rowId xmlns:a16="http://schemas.microsoft.com/office/drawing/2014/main" val="2732129328"/>
                  </a:ext>
                </a:extLst>
              </a:tr>
              <a:tr h="431800">
                <a:tc>
                  <a:txBody>
                    <a:bodyPr/>
                    <a:lstStyle/>
                    <a:p>
                      <a:r>
                        <a:rPr lang="it-IT" sz="1400" b="1">
                          <a:solidFill>
                            <a:srgbClr val="231C21"/>
                          </a:solidFill>
                        </a:rPr>
                        <a:t>T7 Candidare un progetto di ricerca</a:t>
                      </a:r>
                    </a:p>
                  </a:txBody>
                  <a:tcPr anchor="ctr">
                    <a:lnL w="0">
                      <a:noFill/>
                    </a:lnL>
                    <a:lnR w="0">
                      <a:noFill/>
                    </a:lnR>
                    <a:lnT w="9525" cap="flat" cmpd="sng" algn="ctr">
                      <a:solidFill>
                        <a:srgbClr val="E0D6DC"/>
                      </a:solidFill>
                      <a:prstDash val="solid"/>
                      <a:round/>
                      <a:headEnd type="none" w="med" len="med"/>
                      <a:tailEnd type="none" w="med" len="med"/>
                    </a:lnT>
                    <a:lnB w="9525">
                      <a:solidFill>
                        <a:srgbClr val="E0D6DC"/>
                      </a:solidFill>
                    </a:lnB>
                    <a:noFill/>
                  </a:tcPr>
                </a:tc>
                <a:tc>
                  <a:txBody>
                    <a:bodyPr/>
                    <a:lstStyle/>
                    <a:p>
                      <a:r>
                        <a:rPr lang="it-IT" sz="1400" b="0" dirty="0">
                          <a:solidFill>
                            <a:srgbClr val="231C21"/>
                          </a:solidFill>
                        </a:rPr>
                        <a:t>Partner UniTo › Partnership, «Lancia una campagna», «Come funziona»</a:t>
                      </a:r>
                    </a:p>
                  </a:txBody>
                  <a:tcPr anchor="ctr">
                    <a:lnL w="0">
                      <a:noFill/>
                    </a:lnL>
                    <a:lnR w="0">
                      <a:noFill/>
                    </a:lnR>
                    <a:lnT w="9525" cap="flat" cmpd="sng" algn="ctr">
                      <a:solidFill>
                        <a:srgbClr val="E0D6DC"/>
                      </a:solidFill>
                      <a:prstDash val="solid"/>
                      <a:round/>
                      <a:headEnd type="none" w="med" len="med"/>
                      <a:tailEnd type="none" w="med" len="med"/>
                    </a:lnT>
                    <a:lnB w="9525">
                      <a:solidFill>
                        <a:srgbClr val="E0D6DC"/>
                      </a:solidFill>
                    </a:lnB>
                    <a:noFill/>
                  </a:tcPr>
                </a:tc>
                <a:tc>
                  <a:txBody>
                    <a:bodyPr/>
                    <a:lstStyle/>
                    <a:p>
                      <a:r>
                        <a:rPr lang="it-IT" sz="1400" b="0" dirty="0">
                          <a:solidFill>
                            <a:srgbClr val="231C21"/>
                          </a:solidFill>
                        </a:rPr>
                        <a:t>Ricercatore UniTo</a:t>
                      </a:r>
                    </a:p>
                  </a:txBody>
                  <a:tcPr anchor="ctr">
                    <a:lnL w="0">
                      <a:noFill/>
                    </a:lnL>
                    <a:lnR w="0">
                      <a:noFill/>
                    </a:lnR>
                    <a:lnT w="9525" cap="flat" cmpd="sng" algn="ctr">
                      <a:solidFill>
                        <a:srgbClr val="E0D6DC"/>
                      </a:solidFill>
                      <a:prstDash val="solid"/>
                      <a:round/>
                      <a:headEnd type="none" w="med" len="med"/>
                      <a:tailEnd type="none" w="med" len="med"/>
                    </a:lnT>
                    <a:lnB w="9525">
                      <a:solidFill>
                        <a:srgbClr val="E0D6DC"/>
                      </a:solidFill>
                    </a:lnB>
                    <a:noFill/>
                  </a:tcPr>
                </a:tc>
                <a:extLst>
                  <a:ext uri="{0D108BD9-81ED-4DB2-BD59-A6C34878D82A}">
                    <a16:rowId xmlns:a16="http://schemas.microsoft.com/office/drawing/2014/main" val="3480711360"/>
                  </a:ext>
                </a:extLst>
              </a:tr>
              <a:tr h="431800">
                <a:tc>
                  <a:txBody>
                    <a:bodyPr/>
                    <a:lstStyle/>
                    <a:p>
                      <a:r>
                        <a:rPr lang="it-IT" sz="1400" b="1">
                          <a:solidFill>
                            <a:srgbClr val="231C21"/>
                          </a:solidFill>
                        </a:rPr>
                        <a:t>T8 Recupero da indirizzo errato</a:t>
                      </a:r>
                    </a:p>
                  </a:txBody>
                  <a:tcPr anchor="ctr">
                    <a:lnL w="0">
                      <a:noFill/>
                    </a:lnL>
                    <a:lnR w="0">
                      <a:noFill/>
                    </a:lnR>
                    <a:lnT w="9525" cap="flat" cmpd="sng" algn="ctr">
                      <a:solidFill>
                        <a:srgbClr val="E0D6DC"/>
                      </a:solidFill>
                      <a:prstDash val="solid"/>
                      <a:round/>
                      <a:headEnd type="none" w="med" len="med"/>
                      <a:tailEnd type="none" w="med" len="med"/>
                    </a:lnT>
                    <a:lnB w="9525">
                      <a:solidFill>
                        <a:srgbClr val="E0D6DC"/>
                      </a:solidFill>
                    </a:lnB>
                    <a:noFill/>
                  </a:tcPr>
                </a:tc>
                <a:tc>
                  <a:txBody>
                    <a:bodyPr/>
                    <a:lstStyle/>
                    <a:p>
                      <a:r>
                        <a:rPr lang="it-IT" sz="1400" b="0" dirty="0">
                          <a:solidFill>
                            <a:srgbClr val="231C21"/>
                          </a:solidFill>
                        </a:rPr>
                        <a:t>Pagina 404</a:t>
                      </a:r>
                    </a:p>
                  </a:txBody>
                  <a:tcPr anchor="ctr">
                    <a:lnL w="0">
                      <a:noFill/>
                    </a:lnL>
                    <a:lnR w="0">
                      <a:noFill/>
                    </a:lnR>
                    <a:lnT w="9525" cap="flat" cmpd="sng" algn="ctr">
                      <a:solidFill>
                        <a:srgbClr val="E0D6DC"/>
                      </a:solidFill>
                      <a:prstDash val="solid"/>
                      <a:round/>
                      <a:headEnd type="none" w="med" len="med"/>
                      <a:tailEnd type="none" w="med" len="med"/>
                    </a:lnT>
                    <a:lnB w="9525">
                      <a:solidFill>
                        <a:srgbClr val="E0D6DC"/>
                      </a:solidFill>
                    </a:lnB>
                    <a:noFill/>
                  </a:tcPr>
                </a:tc>
                <a:tc>
                  <a:txBody>
                    <a:bodyPr/>
                    <a:lstStyle/>
                    <a:p>
                      <a:r>
                        <a:rPr lang="it-IT" sz="1400" b="0" dirty="0">
                          <a:solidFill>
                            <a:srgbClr val="231C21"/>
                          </a:solidFill>
                        </a:rPr>
                        <a:t>Tutti</a:t>
                      </a:r>
                    </a:p>
                  </a:txBody>
                  <a:tcPr anchor="ctr">
                    <a:lnL w="0">
                      <a:noFill/>
                    </a:lnL>
                    <a:lnR w="0">
                      <a:noFill/>
                    </a:lnR>
                    <a:lnT w="9525" cap="flat" cmpd="sng" algn="ctr">
                      <a:solidFill>
                        <a:srgbClr val="E0D6DC"/>
                      </a:solidFill>
                      <a:prstDash val="solid"/>
                      <a:round/>
                      <a:headEnd type="none" w="med" len="med"/>
                      <a:tailEnd type="none" w="med" len="med"/>
                    </a:lnT>
                    <a:lnB w="9525">
                      <a:solidFill>
                        <a:srgbClr val="E0D6DC"/>
                      </a:solidFill>
                    </a:lnB>
                    <a:noFill/>
                  </a:tcPr>
                </a:tc>
                <a:extLst>
                  <a:ext uri="{0D108BD9-81ED-4DB2-BD59-A6C34878D82A}">
                    <a16:rowId xmlns:a16="http://schemas.microsoft.com/office/drawing/2014/main" val="4112939024"/>
                  </a:ext>
                </a:extLst>
              </a:tr>
            </a:tbl>
          </a:graphicData>
        </a:graphic>
      </p:graphicFrame>
    </p:spTree>
    <p:extLst>
      <p:ext uri="{BB962C8B-B14F-4D97-AF65-F5344CB8AC3E}">
        <p14:creationId xmlns:p14="http://schemas.microsoft.com/office/powerpoint/2010/main" val="4327398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BD0C2EE6-F7DE-9225-9952-407B42DBE4DC}"/>
              </a:ext>
            </a:extLst>
          </p:cNvPr>
          <p:cNvSpPr>
            <a:spLocks noGrp="1"/>
          </p:cNvSpPr>
          <p:nvPr>
            <p:ph type="title"/>
          </p:nvPr>
        </p:nvSpPr>
        <p:spPr/>
        <p:txBody>
          <a:bodyPr/>
          <a:lstStyle/>
          <a:p>
            <a:r>
              <a:rPr lang="it-IT"/>
              <a:t>Fase 1 · Euristiche di Nielsen</a:t>
            </a:r>
          </a:p>
        </p:txBody>
      </p:sp>
      <p:sp>
        <p:nvSpPr>
          <p:cNvPr id="3" name="Segnaposto testo 2">
            <a:extLst>
              <a:ext uri="{FF2B5EF4-FFF2-40B4-BE49-F238E27FC236}">
                <a16:creationId xmlns:a16="http://schemas.microsoft.com/office/drawing/2014/main" id="{2626B4CF-2A45-4090-DB2A-FA6B598903FE}"/>
              </a:ext>
            </a:extLst>
          </p:cNvPr>
          <p:cNvSpPr>
            <a:spLocks noGrp="1"/>
          </p:cNvSpPr>
          <p:nvPr>
            <p:ph type="body" idx="1"/>
          </p:nvPr>
        </p:nvSpPr>
        <p:spPr/>
        <p:txBody>
          <a:bodyPr/>
          <a:lstStyle/>
          <a:p>
            <a:r>
              <a:rPr lang="it-IT" dirty="0"/>
              <a:t>Pagina partner UniTo (Partnership e Progetti) e progetto Mind the </a:t>
            </a:r>
            <a:r>
              <a:rPr lang="it-IT" dirty="0" err="1"/>
              <a:t>Climate</a:t>
            </a:r>
            <a:r>
              <a:rPr lang="it-IT" dirty="0"/>
              <a:t>
[ Da aggiungere: pagine progetto, donazione, ricerca, 404, FAQ ]</a:t>
            </a:r>
          </a:p>
        </p:txBody>
      </p:sp>
    </p:spTree>
    <p:extLst>
      <p:ext uri="{BB962C8B-B14F-4D97-AF65-F5344CB8AC3E}">
        <p14:creationId xmlns:p14="http://schemas.microsoft.com/office/powerpoint/2010/main" val="37990026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D033AC09-AAE2-817A-CC3A-4CE534F9ED1F}"/>
              </a:ext>
            </a:extLst>
          </p:cNvPr>
          <p:cNvSpPr>
            <a:spLocks noGrp="1"/>
          </p:cNvSpPr>
          <p:nvPr>
            <p:ph type="title"/>
          </p:nvPr>
        </p:nvSpPr>
        <p:spPr>
          <a:xfrm>
            <a:off x="609600" y="342900"/>
            <a:ext cx="10972800" cy="1016000"/>
          </a:xfrm>
        </p:spPr>
        <p:txBody>
          <a:bodyPr/>
          <a:lstStyle/>
          <a:p>
            <a:r>
              <a:rPr lang="it-IT" dirty="0"/>
              <a:t>La pagina partner UniTo ha due schede: Partnership descrive l’iniziativa, Progetti elenca le campagne</a:t>
            </a:r>
          </a:p>
        </p:txBody>
      </p:sp>
      <p:sp>
        <p:nvSpPr>
          <p:cNvPr id="10" name="Scheda Partnership"/>
          <p:cNvSpPr/>
          <p:nvPr/>
        </p:nvSpPr>
        <p:spPr>
          <a:xfrm>
            <a:off x="609600" y="1727200"/>
            <a:ext cx="3048000" cy="1397000"/>
          </a:xfrm>
          <a:prstGeom prst="roundRect">
            <a:avLst/>
          </a:prstGeom>
          <a:solidFill>
            <a:srgbClr val="6C0850"/>
          </a:solidFill>
          <a:ln>
            <a:noFill/>
          </a:ln>
        </p:spPr>
        <p:txBody>
          <a:bodyPr wrap="square" lIns="177800" tIns="177800" rIns="177800" bIns="177800" anchor="ctr">
            <a:noAutofit/>
          </a:bodyPr>
          <a:lstStyle/>
          <a:p>
            <a:pPr marL="0" indent="0" algn="l">
              <a:spcBef>
                <a:spcPts val="0"/>
              </a:spcBef>
              <a:buNone/>
            </a:pPr>
            <a:r>
              <a:rPr lang="it-IT" sz="1100" b="1" dirty="0">
                <a:solidFill>
                  <a:srgbClr val="E9DCE5"/>
                </a:solidFill>
              </a:rPr>
              <a:t>SCHEDA 1 · HOMEPAGE</a:t>
            </a:r>
          </a:p>
          <a:p>
            <a:pPr marL="0" indent="0" algn="l">
              <a:spcBef>
                <a:spcPts val="200"/>
              </a:spcBef>
              <a:buNone/>
            </a:pPr>
            <a:r>
              <a:rPr lang="it-IT" sz="2000" b="1" dirty="0">
                <a:solidFill>
                  <a:srgbClr val="FFFFFF"/>
                </a:solidFill>
              </a:rPr>
              <a:t>Partnership</a:t>
            </a:r>
          </a:p>
          <a:p>
            <a:pPr marL="0" indent="0" algn="l">
              <a:spcBef>
                <a:spcPts val="200"/>
              </a:spcBef>
              <a:buNone/>
            </a:pPr>
            <a:r>
              <a:rPr lang="it-IT" sz="1400" b="0" dirty="0">
                <a:solidFill>
                  <a:srgbClr val="FFFFFF"/>
                </a:solidFill>
              </a:rPr>
              <a:t>Spiegazione dell’iniziativa con le varie fasi e alcuni dati</a:t>
            </a:r>
          </a:p>
        </p:txBody>
      </p:sp>
      <p:cxnSp>
        <p:nvCxnSpPr>
          <p:cNvPr id="11" name="Freccia"/>
          <p:cNvCxnSpPr/>
          <p:nvPr/>
        </p:nvCxnSpPr>
        <p:spPr>
          <a:xfrm>
            <a:off x="3759200" y="2425700"/>
            <a:ext cx="4673600" cy="0"/>
          </a:xfrm>
          <a:prstGeom prst="straightConnector1">
            <a:avLst/>
          </a:prstGeom>
          <a:ln w="22225">
            <a:solidFill>
              <a:srgbClr val="6C0850"/>
            </a:solidFill>
            <a:tailEnd type="triangle" w="med" len="med"/>
          </a:ln>
        </p:spPr>
      </p:cxnSp>
      <p:sp>
        <p:nvSpPr>
          <p:cNvPr id="12" name="Titolo modi"/>
          <p:cNvSpPr/>
          <p:nvPr/>
        </p:nvSpPr>
        <p:spPr>
          <a:xfrm>
            <a:off x="3860800" y="1727200"/>
            <a:ext cx="4470400" cy="635000"/>
          </a:xfrm>
          <a:prstGeom prst="rect">
            <a:avLst/>
          </a:prstGeom>
          <a:noFill/>
          <a:ln>
            <a:noFill/>
          </a:ln>
        </p:spPr>
        <p:txBody>
          <a:bodyPr wrap="square" lIns="50800" tIns="50800" rIns="50800" bIns="50800" anchor="b">
            <a:noAutofit/>
          </a:bodyPr>
          <a:lstStyle/>
          <a:p>
            <a:pPr marL="0" indent="0" algn="ctr">
              <a:spcBef>
                <a:spcPts val="0"/>
              </a:spcBef>
              <a:buNone/>
            </a:pPr>
            <a:r>
              <a:rPr lang="it-IT" sz="1400" b="1" dirty="0">
                <a:solidFill>
                  <a:srgbClr val="6C0850"/>
                </a:solidFill>
              </a:rPr>
              <a:t>Tre modi per arrivarci</a:t>
            </a:r>
          </a:p>
        </p:txBody>
      </p:sp>
      <p:sp>
        <p:nvSpPr>
          <p:cNvPr id="13" name="Modi per passare"/>
          <p:cNvSpPr/>
          <p:nvPr/>
        </p:nvSpPr>
        <p:spPr>
          <a:xfrm>
            <a:off x="3860800" y="2514600"/>
            <a:ext cx="4470400" cy="762000"/>
          </a:xfrm>
          <a:prstGeom prst="rect">
            <a:avLst/>
          </a:prstGeom>
          <a:noFill/>
          <a:ln>
            <a:noFill/>
          </a:ln>
        </p:spPr>
        <p:txBody>
          <a:bodyPr wrap="square" lIns="0" tIns="0" rIns="0" bIns="0" anchor="t">
            <a:noAutofit/>
          </a:bodyPr>
          <a:lstStyle/>
          <a:p>
            <a:pPr marL="0" indent="0" algn="ctr">
              <a:spcBef>
                <a:spcPts val="0"/>
              </a:spcBef>
              <a:buNone/>
            </a:pPr>
            <a:r>
              <a:rPr lang="it-IT" sz="1200" b="0" dirty="0">
                <a:solidFill>
                  <a:srgbClr val="231C21"/>
                </a:solidFill>
              </a:rPr>
              <a:t>Sezione progetti nella pagina della partnership con UniTo oppure pulsante «Scopri tutti i progetti!»</a:t>
            </a:r>
          </a:p>
        </p:txBody>
      </p:sp>
      <p:sp>
        <p:nvSpPr>
          <p:cNvPr id="14" name="Scheda Progetti"/>
          <p:cNvSpPr/>
          <p:nvPr/>
        </p:nvSpPr>
        <p:spPr>
          <a:xfrm>
            <a:off x="8534400" y="1727200"/>
            <a:ext cx="3048000" cy="1397000"/>
          </a:xfrm>
          <a:prstGeom prst="roundRect">
            <a:avLst/>
          </a:prstGeom>
          <a:solidFill>
            <a:srgbClr val="F3EEF1"/>
          </a:solidFill>
          <a:ln w="15875">
            <a:solidFill>
              <a:srgbClr val="6C0850"/>
            </a:solidFill>
          </a:ln>
        </p:spPr>
        <p:txBody>
          <a:bodyPr wrap="square" lIns="177800" tIns="177800" rIns="177800" bIns="177800" anchor="ctr">
            <a:noAutofit/>
          </a:bodyPr>
          <a:lstStyle/>
          <a:p>
            <a:pPr marL="0" indent="0" algn="l">
              <a:spcBef>
                <a:spcPts val="0"/>
              </a:spcBef>
              <a:buNone/>
            </a:pPr>
            <a:r>
              <a:rPr lang="it-IT" sz="1100" b="1" dirty="0">
                <a:solidFill>
                  <a:srgbClr val="6C0850"/>
                </a:solidFill>
              </a:rPr>
              <a:t>SCHEDA 2</a:t>
            </a:r>
          </a:p>
          <a:p>
            <a:pPr marL="0" indent="0" algn="l">
              <a:spcBef>
                <a:spcPts val="200"/>
              </a:spcBef>
              <a:buNone/>
            </a:pPr>
            <a:r>
              <a:rPr lang="it-IT" sz="2000" b="1" dirty="0">
                <a:solidFill>
                  <a:srgbClr val="41002F"/>
                </a:solidFill>
              </a:rPr>
              <a:t>Progetti</a:t>
            </a:r>
          </a:p>
          <a:p>
            <a:pPr marL="0" indent="0" algn="l">
              <a:spcBef>
                <a:spcPts val="200"/>
              </a:spcBef>
              <a:buNone/>
            </a:pPr>
            <a:r>
              <a:rPr lang="it-IT" sz="1400" b="0" dirty="0">
                <a:solidFill>
                  <a:srgbClr val="231C21"/>
                </a:solidFill>
              </a:rPr>
              <a:t>18 campagne: in corso e concluse</a:t>
            </a:r>
          </a:p>
        </p:txBody>
      </p:sp>
      <p:pic>
        <p:nvPicPr>
          <p:cNvPr id="6" name="Immagine 5">
            <a:extLst>
              <a:ext uri="{FF2B5EF4-FFF2-40B4-BE49-F238E27FC236}">
                <a16:creationId xmlns:a16="http://schemas.microsoft.com/office/drawing/2014/main" id="{55227EF7-9386-1195-8203-B199B2EFB75E}"/>
              </a:ext>
            </a:extLst>
          </p:cNvPr>
          <p:cNvPicPr>
            <a:picLocks noChangeAspect="1"/>
          </p:cNvPicPr>
          <p:nvPr/>
        </p:nvPicPr>
        <p:blipFill>
          <a:blip r:embed="rId2"/>
          <a:stretch>
            <a:fillRect/>
          </a:stretch>
        </p:blipFill>
        <p:spPr>
          <a:xfrm>
            <a:off x="2209800" y="3276600"/>
            <a:ext cx="7772400" cy="3345313"/>
          </a:xfrm>
          <a:prstGeom prst="rect">
            <a:avLst/>
          </a:prstGeom>
        </p:spPr>
      </p:pic>
    </p:spTree>
    <p:extLst>
      <p:ext uri="{BB962C8B-B14F-4D97-AF65-F5344CB8AC3E}">
        <p14:creationId xmlns:p14="http://schemas.microsoft.com/office/powerpoint/2010/main" val="49857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5DE14CC-84FE-1656-6ED0-22A12DBD97D8}"/>
              </a:ext>
            </a:extLst>
          </p:cNvPr>
          <p:cNvSpPr>
            <a:spLocks noGrp="1"/>
          </p:cNvSpPr>
          <p:nvPr>
            <p:ph type="title"/>
          </p:nvPr>
        </p:nvSpPr>
        <p:spPr>
          <a:xfrm>
            <a:off x="609600" y="558800"/>
            <a:ext cx="8991600" cy="889000"/>
          </a:xfrm>
        </p:spPr>
        <p:txBody>
          <a:bodyPr anchor="t"/>
          <a:lstStyle/>
          <a:p>
            <a:pPr>
              <a:lnSpc>
                <a:spcPct val="90000"/>
              </a:lnSpc>
            </a:pPr>
            <a:r>
              <a:rPr lang="it-IT" sz="2600" b="1" dirty="0"/>
              <a:t>Struttura coerente e stato delle campagne leggibile in entrambe le schede</a:t>
            </a:r>
          </a:p>
        </p:txBody>
      </p:sp>
      <p:sp>
        <p:nvSpPr>
          <p:cNvPr id="10" name="Euristica"/>
          <p:cNvSpPr/>
          <p:nvPr/>
        </p:nvSpPr>
        <p:spPr>
          <a:xfrm>
            <a:off x="609600" y="254000"/>
            <a:ext cx="8890000" cy="279400"/>
          </a:xfrm>
          <a:prstGeom prst="rect">
            <a:avLst/>
          </a:prstGeom>
          <a:noFill/>
          <a:ln>
            <a:noFill/>
          </a:ln>
        </p:spPr>
        <p:txBody>
          <a:bodyPr wrap="square" lIns="0" tIns="0" rIns="0" bIns="0" anchor="t">
            <a:noAutofit/>
          </a:bodyPr>
          <a:lstStyle/>
          <a:p>
            <a:pPr marL="0" indent="0" algn="l">
              <a:spcBef>
                <a:spcPts val="0"/>
              </a:spcBef>
              <a:buNone/>
            </a:pPr>
            <a:r>
              <a:rPr lang="it-IT" sz="1200" b="1" dirty="0">
                <a:solidFill>
                  <a:srgbClr val="6C0850"/>
                </a:solidFill>
              </a:rPr>
              <a:t>ASPETTI POSITIVI · PARTNERSHIP E PROGETTI</a:t>
            </a:r>
          </a:p>
        </p:txBody>
      </p:sp>
      <p:sp>
        <p:nvSpPr>
          <p:cNvPr id="11" name="Badge gravità"/>
          <p:cNvSpPr/>
          <p:nvPr/>
        </p:nvSpPr>
        <p:spPr>
          <a:xfrm>
            <a:off x="9855200" y="381000"/>
            <a:ext cx="1727200" cy="736600"/>
          </a:xfrm>
          <a:prstGeom prst="roundRect">
            <a:avLst/>
          </a:prstGeom>
          <a:solidFill>
            <a:srgbClr val="D9D9D9"/>
          </a:solidFill>
          <a:ln>
            <a:noFill/>
          </a:ln>
        </p:spPr>
        <p:txBody>
          <a:bodyPr wrap="square" lIns="0" tIns="0" rIns="0" bIns="0" anchor="ctr">
            <a:noAutofit/>
          </a:bodyPr>
          <a:lstStyle/>
          <a:p>
            <a:pPr marL="0" indent="0" algn="ctr">
              <a:spcBef>
                <a:spcPts val="0"/>
              </a:spcBef>
              <a:buNone/>
            </a:pPr>
            <a:r>
              <a:rPr lang="it-IT" sz="1000" b="1" dirty="0">
                <a:solidFill>
                  <a:srgbClr val="231C21"/>
                </a:solidFill>
              </a:rPr>
              <a:t>GRAVITÀ</a:t>
            </a:r>
          </a:p>
          <a:p>
            <a:pPr marL="0" indent="0" algn="ctr">
              <a:spcBef>
                <a:spcPts val="0"/>
              </a:spcBef>
              <a:buNone/>
            </a:pPr>
            <a:r>
              <a:rPr lang="it-IT" sz="1400" b="1" dirty="0">
                <a:solidFill>
                  <a:srgbClr val="231C21"/>
                </a:solidFill>
              </a:rPr>
              <a:t>0 </a:t>
            </a:r>
            <a:r>
              <a:rPr lang="it-IT" sz="1400" b="1">
                <a:solidFill>
                  <a:srgbClr val="231C21"/>
                </a:solidFill>
              </a:rPr>
              <a:t>· Nessun problema</a:t>
            </a:r>
            <a:endParaRPr lang="it-IT" sz="1400" b="1" dirty="0">
              <a:solidFill>
                <a:srgbClr val="231C21"/>
              </a:solidFill>
            </a:endParaRPr>
          </a:p>
        </p:txBody>
      </p:sp>
      <p:sp>
        <p:nvSpPr>
          <p:cNvPr id="12" name="Tag H1 48 0"/>
          <p:cNvSpPr/>
          <p:nvPr/>
        </p:nvSpPr>
        <p:spPr>
          <a:xfrm>
            <a:off x="609600" y="1651000"/>
            <a:ext cx="508000" cy="279400"/>
          </a:xfrm>
          <a:prstGeom prst="roundRect">
            <a:avLst/>
          </a:prstGeom>
          <a:solidFill>
            <a:srgbClr val="F3EEF1"/>
          </a:solidFill>
          <a:ln>
            <a:noFill/>
          </a:ln>
        </p:spPr>
        <p:txBody>
          <a:bodyPr wrap="square" lIns="0" tIns="0" rIns="0" bIns="0" anchor="ctr">
            <a:noAutofit/>
          </a:bodyPr>
          <a:lstStyle/>
          <a:p>
            <a:pPr marL="0" indent="0" algn="ctr">
              <a:spcBef>
                <a:spcPts val="0"/>
              </a:spcBef>
              <a:buNone/>
            </a:pPr>
            <a:r>
              <a:rPr lang="it-IT" sz="1100" b="1" dirty="0">
                <a:solidFill>
                  <a:srgbClr val="6C0850"/>
                </a:solidFill>
              </a:rPr>
              <a:t>H1</a:t>
            </a:r>
          </a:p>
        </p:txBody>
      </p:sp>
      <p:sp>
        <p:nvSpPr>
          <p:cNvPr id="13" name="Positivo 48 0"/>
          <p:cNvSpPr/>
          <p:nvPr/>
        </p:nvSpPr>
        <p:spPr>
          <a:xfrm>
            <a:off x="1270000" y="1625600"/>
            <a:ext cx="4826000" cy="609600"/>
          </a:xfrm>
          <a:prstGeom prst="rect">
            <a:avLst/>
          </a:prstGeom>
          <a:noFill/>
          <a:ln>
            <a:noFill/>
          </a:ln>
        </p:spPr>
        <p:txBody>
          <a:bodyPr wrap="square" lIns="0" tIns="0" rIns="0" bIns="0" anchor="t">
            <a:noAutofit/>
          </a:bodyPr>
          <a:lstStyle/>
          <a:p>
            <a:pPr marL="0" indent="0" algn="l">
              <a:spcBef>
                <a:spcPts val="0"/>
              </a:spcBef>
              <a:buNone/>
            </a:pPr>
            <a:r>
              <a:rPr lang="it-IT" sz="1400" b="0" dirty="0">
                <a:solidFill>
                  <a:srgbClr val="231C21"/>
                </a:solidFill>
              </a:rPr>
              <a:t>Le sezioni «in corso» e «conclusi» comunicano subito lo stato</a:t>
            </a:r>
          </a:p>
        </p:txBody>
      </p:sp>
      <p:sp>
        <p:nvSpPr>
          <p:cNvPr id="14" name="Tag H1 48 1"/>
          <p:cNvSpPr/>
          <p:nvPr/>
        </p:nvSpPr>
        <p:spPr>
          <a:xfrm>
            <a:off x="609600" y="2387600"/>
            <a:ext cx="508000" cy="279400"/>
          </a:xfrm>
          <a:prstGeom prst="roundRect">
            <a:avLst/>
          </a:prstGeom>
          <a:solidFill>
            <a:srgbClr val="F3EEF1"/>
          </a:solidFill>
          <a:ln>
            <a:noFill/>
          </a:ln>
        </p:spPr>
        <p:txBody>
          <a:bodyPr wrap="square" lIns="0" tIns="0" rIns="0" bIns="0" anchor="ctr">
            <a:noAutofit/>
          </a:bodyPr>
          <a:lstStyle/>
          <a:p>
            <a:pPr marL="0" indent="0" algn="ctr">
              <a:spcBef>
                <a:spcPts val="0"/>
              </a:spcBef>
              <a:buNone/>
            </a:pPr>
            <a:r>
              <a:rPr lang="it-IT" sz="1100" b="1" dirty="0">
                <a:solidFill>
                  <a:srgbClr val="6C0850"/>
                </a:solidFill>
              </a:rPr>
              <a:t>H1</a:t>
            </a:r>
          </a:p>
        </p:txBody>
      </p:sp>
      <p:sp>
        <p:nvSpPr>
          <p:cNvPr id="15" name="Positivo 48 1"/>
          <p:cNvSpPr/>
          <p:nvPr/>
        </p:nvSpPr>
        <p:spPr>
          <a:xfrm>
            <a:off x="1270000" y="2362200"/>
            <a:ext cx="4826000" cy="609600"/>
          </a:xfrm>
          <a:prstGeom prst="rect">
            <a:avLst/>
          </a:prstGeom>
          <a:noFill/>
          <a:ln>
            <a:noFill/>
          </a:ln>
        </p:spPr>
        <p:txBody>
          <a:bodyPr wrap="square" lIns="0" tIns="0" rIns="0" bIns="0" anchor="t">
            <a:noAutofit/>
          </a:bodyPr>
          <a:lstStyle/>
          <a:p>
            <a:pPr marL="0" indent="0" algn="l">
              <a:spcBef>
                <a:spcPts val="0"/>
              </a:spcBef>
              <a:buNone/>
            </a:pPr>
            <a:r>
              <a:rPr lang="it-IT" sz="1400" b="0" dirty="0">
                <a:solidFill>
                  <a:srgbClr val="231C21"/>
                </a:solidFill>
              </a:rPr>
              <a:t>Ogni card riassume la raccolta: %, importo su obiettivo, donatori</a:t>
            </a:r>
          </a:p>
        </p:txBody>
      </p:sp>
      <p:sp>
        <p:nvSpPr>
          <p:cNvPr id="16" name="Tag H1 48 2"/>
          <p:cNvSpPr/>
          <p:nvPr/>
        </p:nvSpPr>
        <p:spPr>
          <a:xfrm>
            <a:off x="609600" y="3124200"/>
            <a:ext cx="508000" cy="279400"/>
          </a:xfrm>
          <a:prstGeom prst="roundRect">
            <a:avLst/>
          </a:prstGeom>
          <a:solidFill>
            <a:srgbClr val="F3EEF1"/>
          </a:solidFill>
          <a:ln>
            <a:noFill/>
          </a:ln>
        </p:spPr>
        <p:txBody>
          <a:bodyPr wrap="square" lIns="0" tIns="0" rIns="0" bIns="0" anchor="ctr">
            <a:noAutofit/>
          </a:bodyPr>
          <a:lstStyle/>
          <a:p>
            <a:pPr marL="0" indent="0" algn="ctr">
              <a:spcBef>
                <a:spcPts val="0"/>
              </a:spcBef>
              <a:buNone/>
            </a:pPr>
            <a:r>
              <a:rPr lang="it-IT" sz="1100" b="1" dirty="0">
                <a:solidFill>
                  <a:srgbClr val="6C0850"/>
                </a:solidFill>
              </a:rPr>
              <a:t>H1</a:t>
            </a:r>
          </a:p>
        </p:txBody>
      </p:sp>
      <p:sp>
        <p:nvSpPr>
          <p:cNvPr id="17" name="Positivo 48 2"/>
          <p:cNvSpPr/>
          <p:nvPr/>
        </p:nvSpPr>
        <p:spPr>
          <a:xfrm>
            <a:off x="1270000" y="3098800"/>
            <a:ext cx="4826000" cy="609600"/>
          </a:xfrm>
          <a:prstGeom prst="rect">
            <a:avLst/>
          </a:prstGeom>
          <a:noFill/>
          <a:ln>
            <a:noFill/>
          </a:ln>
        </p:spPr>
        <p:txBody>
          <a:bodyPr wrap="square" lIns="0" tIns="0" rIns="0" bIns="0" anchor="t">
            <a:noAutofit/>
          </a:bodyPr>
          <a:lstStyle/>
          <a:p>
            <a:pPr marL="0" indent="0" algn="l">
              <a:spcBef>
                <a:spcPts val="0"/>
              </a:spcBef>
              <a:buNone/>
            </a:pPr>
            <a:r>
              <a:rPr lang="it-IT" sz="1400" b="0" dirty="0">
                <a:solidFill>
                  <a:srgbClr val="231C21"/>
                </a:solidFill>
              </a:rPr>
              <a:t>La scheda attiva (Partnership o Progetti) è evidenziata</a:t>
            </a:r>
          </a:p>
        </p:txBody>
      </p:sp>
      <p:sp>
        <p:nvSpPr>
          <p:cNvPr id="18" name="Tag H2 48 3"/>
          <p:cNvSpPr/>
          <p:nvPr/>
        </p:nvSpPr>
        <p:spPr>
          <a:xfrm>
            <a:off x="609600" y="3860800"/>
            <a:ext cx="508000" cy="279400"/>
          </a:xfrm>
          <a:prstGeom prst="roundRect">
            <a:avLst/>
          </a:prstGeom>
          <a:solidFill>
            <a:srgbClr val="F3EEF1"/>
          </a:solidFill>
          <a:ln>
            <a:noFill/>
          </a:ln>
        </p:spPr>
        <p:txBody>
          <a:bodyPr wrap="square" lIns="0" tIns="0" rIns="0" bIns="0" anchor="ctr">
            <a:noAutofit/>
          </a:bodyPr>
          <a:lstStyle/>
          <a:p>
            <a:pPr marL="0" indent="0" algn="ctr">
              <a:spcBef>
                <a:spcPts val="0"/>
              </a:spcBef>
              <a:buNone/>
            </a:pPr>
            <a:r>
              <a:rPr lang="it-IT" sz="1100" b="1" dirty="0">
                <a:solidFill>
                  <a:srgbClr val="6C0850"/>
                </a:solidFill>
              </a:rPr>
              <a:t>H2</a:t>
            </a:r>
          </a:p>
        </p:txBody>
      </p:sp>
      <p:sp>
        <p:nvSpPr>
          <p:cNvPr id="19" name="Positivo 48 3"/>
          <p:cNvSpPr/>
          <p:nvPr/>
        </p:nvSpPr>
        <p:spPr>
          <a:xfrm>
            <a:off x="1270000" y="3835400"/>
            <a:ext cx="4826000" cy="609600"/>
          </a:xfrm>
          <a:prstGeom prst="rect">
            <a:avLst/>
          </a:prstGeom>
          <a:noFill/>
          <a:ln>
            <a:noFill/>
          </a:ln>
        </p:spPr>
        <p:txBody>
          <a:bodyPr wrap="square" lIns="0" tIns="0" rIns="0" bIns="0" anchor="t">
            <a:noAutofit/>
          </a:bodyPr>
          <a:lstStyle/>
          <a:p>
            <a:pPr marL="0" indent="0" algn="l">
              <a:spcBef>
                <a:spcPts val="0"/>
              </a:spcBef>
              <a:buNone/>
            </a:pPr>
            <a:r>
              <a:rPr lang="it-IT" sz="1400" b="0" dirty="0">
                <a:solidFill>
                  <a:srgbClr val="231C21"/>
                </a:solidFill>
              </a:rPr>
              <a:t>Linguaggio chiaro: «raccolto», «donatori», «conclusi»</a:t>
            </a:r>
          </a:p>
        </p:txBody>
      </p:sp>
      <p:sp>
        <p:nvSpPr>
          <p:cNvPr id="20" name="Tag H3 48 4"/>
          <p:cNvSpPr/>
          <p:nvPr/>
        </p:nvSpPr>
        <p:spPr>
          <a:xfrm>
            <a:off x="609600" y="4597400"/>
            <a:ext cx="508000" cy="279400"/>
          </a:xfrm>
          <a:prstGeom prst="roundRect">
            <a:avLst/>
          </a:prstGeom>
          <a:solidFill>
            <a:srgbClr val="F3EEF1"/>
          </a:solidFill>
          <a:ln>
            <a:noFill/>
          </a:ln>
        </p:spPr>
        <p:txBody>
          <a:bodyPr wrap="square" lIns="0" tIns="0" rIns="0" bIns="0" anchor="ctr">
            <a:noAutofit/>
          </a:bodyPr>
          <a:lstStyle/>
          <a:p>
            <a:pPr marL="0" indent="0" algn="ctr">
              <a:spcBef>
                <a:spcPts val="0"/>
              </a:spcBef>
              <a:buNone/>
            </a:pPr>
            <a:r>
              <a:rPr lang="it-IT" sz="1100" b="1" dirty="0">
                <a:solidFill>
                  <a:srgbClr val="6C0850"/>
                </a:solidFill>
              </a:rPr>
              <a:t>H3</a:t>
            </a:r>
          </a:p>
        </p:txBody>
      </p:sp>
      <p:sp>
        <p:nvSpPr>
          <p:cNvPr id="21" name="Positivo 48 4"/>
          <p:cNvSpPr/>
          <p:nvPr/>
        </p:nvSpPr>
        <p:spPr>
          <a:xfrm>
            <a:off x="1270000" y="4572000"/>
            <a:ext cx="4826000" cy="609600"/>
          </a:xfrm>
          <a:prstGeom prst="rect">
            <a:avLst/>
          </a:prstGeom>
          <a:noFill/>
          <a:ln>
            <a:noFill/>
          </a:ln>
        </p:spPr>
        <p:txBody>
          <a:bodyPr wrap="square" lIns="0" tIns="0" rIns="0" bIns="0" anchor="t">
            <a:noAutofit/>
          </a:bodyPr>
          <a:lstStyle/>
          <a:p>
            <a:pPr marL="0" indent="0" algn="l">
              <a:spcBef>
                <a:spcPts val="0"/>
              </a:spcBef>
              <a:buNone/>
            </a:pPr>
            <a:r>
              <a:rPr lang="it-IT" sz="1400" b="0" dirty="0">
                <a:solidFill>
                  <a:srgbClr val="231C21"/>
                </a:solidFill>
              </a:rPr>
              <a:t>Dopo «ALTRI» la pagina scorre da sola ai nuovi progetti</a:t>
            </a:r>
          </a:p>
        </p:txBody>
      </p:sp>
      <p:sp>
        <p:nvSpPr>
          <p:cNvPr id="22" name="Tag H4 48 5"/>
          <p:cNvSpPr/>
          <p:nvPr/>
        </p:nvSpPr>
        <p:spPr>
          <a:xfrm>
            <a:off x="609600" y="5334000"/>
            <a:ext cx="508000" cy="279400"/>
          </a:xfrm>
          <a:prstGeom prst="roundRect">
            <a:avLst/>
          </a:prstGeom>
          <a:solidFill>
            <a:srgbClr val="F3EEF1"/>
          </a:solidFill>
          <a:ln>
            <a:noFill/>
          </a:ln>
        </p:spPr>
        <p:txBody>
          <a:bodyPr wrap="square" lIns="0" tIns="0" rIns="0" bIns="0" anchor="ctr">
            <a:noAutofit/>
          </a:bodyPr>
          <a:lstStyle/>
          <a:p>
            <a:pPr marL="0" indent="0" algn="ctr">
              <a:spcBef>
                <a:spcPts val="0"/>
              </a:spcBef>
              <a:buNone/>
            </a:pPr>
            <a:r>
              <a:rPr lang="it-IT" sz="1100" b="1" dirty="0">
                <a:solidFill>
                  <a:srgbClr val="6C0850"/>
                </a:solidFill>
              </a:rPr>
              <a:t>H4</a:t>
            </a:r>
          </a:p>
        </p:txBody>
      </p:sp>
      <p:sp>
        <p:nvSpPr>
          <p:cNvPr id="23" name="Positivo 48 5"/>
          <p:cNvSpPr/>
          <p:nvPr/>
        </p:nvSpPr>
        <p:spPr>
          <a:xfrm>
            <a:off x="1270000" y="5308600"/>
            <a:ext cx="4826000" cy="609600"/>
          </a:xfrm>
          <a:prstGeom prst="rect">
            <a:avLst/>
          </a:prstGeom>
          <a:noFill/>
          <a:ln>
            <a:noFill/>
          </a:ln>
        </p:spPr>
        <p:txBody>
          <a:bodyPr wrap="square" lIns="0" tIns="0" rIns="0" bIns="0" anchor="t">
            <a:noAutofit/>
          </a:bodyPr>
          <a:lstStyle/>
          <a:p>
            <a:pPr marL="0" indent="0" algn="l">
              <a:spcBef>
                <a:spcPts val="0"/>
              </a:spcBef>
              <a:buNone/>
            </a:pPr>
            <a:r>
              <a:rPr lang="it-IT" sz="1400" b="0" dirty="0">
                <a:solidFill>
                  <a:srgbClr val="231C21"/>
                </a:solidFill>
              </a:rPr>
              <a:t>Pulsanti, colori e struttura uguali in tutto il sito</a:t>
            </a:r>
          </a:p>
        </p:txBody>
      </p:sp>
      <p:sp>
        <p:nvSpPr>
          <p:cNvPr id="24" name="Tag H6 480 0"/>
          <p:cNvSpPr/>
          <p:nvPr/>
        </p:nvSpPr>
        <p:spPr>
          <a:xfrm>
            <a:off x="6096000" y="1651000"/>
            <a:ext cx="508000" cy="279400"/>
          </a:xfrm>
          <a:prstGeom prst="roundRect">
            <a:avLst/>
          </a:prstGeom>
          <a:solidFill>
            <a:srgbClr val="F3EEF1"/>
          </a:solidFill>
          <a:ln>
            <a:noFill/>
          </a:ln>
        </p:spPr>
        <p:txBody>
          <a:bodyPr wrap="square" lIns="0" tIns="0" rIns="0" bIns="0" anchor="ctr">
            <a:noAutofit/>
          </a:bodyPr>
          <a:lstStyle/>
          <a:p>
            <a:pPr marL="0" indent="0" algn="ctr">
              <a:spcBef>
                <a:spcPts val="0"/>
              </a:spcBef>
              <a:buNone/>
            </a:pPr>
            <a:r>
              <a:rPr lang="it-IT" sz="1100" b="1" dirty="0">
                <a:solidFill>
                  <a:srgbClr val="6C0850"/>
                </a:solidFill>
              </a:rPr>
              <a:t>H6</a:t>
            </a:r>
          </a:p>
        </p:txBody>
      </p:sp>
      <p:sp>
        <p:nvSpPr>
          <p:cNvPr id="25" name="Positivo 480 0"/>
          <p:cNvSpPr/>
          <p:nvPr/>
        </p:nvSpPr>
        <p:spPr>
          <a:xfrm>
            <a:off x="6756400" y="1625600"/>
            <a:ext cx="4826000" cy="609600"/>
          </a:xfrm>
          <a:prstGeom prst="rect">
            <a:avLst/>
          </a:prstGeom>
          <a:noFill/>
          <a:ln>
            <a:noFill/>
          </a:ln>
        </p:spPr>
        <p:txBody>
          <a:bodyPr wrap="square" lIns="0" tIns="0" rIns="0" bIns="0" anchor="t">
            <a:noAutofit/>
          </a:bodyPr>
          <a:lstStyle/>
          <a:p>
            <a:pPr marL="0" indent="0" algn="l">
              <a:spcBef>
                <a:spcPts val="0"/>
              </a:spcBef>
              <a:buNone/>
            </a:pPr>
            <a:r>
              <a:rPr lang="it-IT" sz="1400" b="0" dirty="0">
                <a:solidFill>
                  <a:srgbClr val="231C21"/>
                </a:solidFill>
              </a:rPr>
              <a:t>Card nello stesso formato, che aprono pagine con lo stesso template</a:t>
            </a:r>
          </a:p>
        </p:txBody>
      </p:sp>
      <p:sp>
        <p:nvSpPr>
          <p:cNvPr id="26" name="Tag H6 480 1"/>
          <p:cNvSpPr/>
          <p:nvPr/>
        </p:nvSpPr>
        <p:spPr>
          <a:xfrm>
            <a:off x="6096000" y="2387600"/>
            <a:ext cx="508000" cy="279400"/>
          </a:xfrm>
          <a:prstGeom prst="roundRect">
            <a:avLst/>
          </a:prstGeom>
          <a:solidFill>
            <a:srgbClr val="F3EEF1"/>
          </a:solidFill>
          <a:ln>
            <a:noFill/>
          </a:ln>
        </p:spPr>
        <p:txBody>
          <a:bodyPr wrap="square" lIns="0" tIns="0" rIns="0" bIns="0" anchor="ctr">
            <a:noAutofit/>
          </a:bodyPr>
          <a:lstStyle/>
          <a:p>
            <a:pPr marL="0" indent="0" algn="ctr">
              <a:spcBef>
                <a:spcPts val="0"/>
              </a:spcBef>
              <a:buNone/>
            </a:pPr>
            <a:r>
              <a:rPr lang="it-IT" sz="1100" b="1" dirty="0">
                <a:solidFill>
                  <a:srgbClr val="6C0850"/>
                </a:solidFill>
              </a:rPr>
              <a:t>H6</a:t>
            </a:r>
          </a:p>
        </p:txBody>
      </p:sp>
      <p:sp>
        <p:nvSpPr>
          <p:cNvPr id="27" name="Positivo 480 1"/>
          <p:cNvSpPr/>
          <p:nvPr/>
        </p:nvSpPr>
        <p:spPr>
          <a:xfrm>
            <a:off x="6756400" y="2362200"/>
            <a:ext cx="4826000" cy="609600"/>
          </a:xfrm>
          <a:prstGeom prst="rect">
            <a:avLst/>
          </a:prstGeom>
          <a:noFill/>
          <a:ln>
            <a:noFill/>
          </a:ln>
        </p:spPr>
        <p:txBody>
          <a:bodyPr wrap="square" lIns="0" tIns="0" rIns="0" bIns="0" anchor="t">
            <a:noAutofit/>
          </a:bodyPr>
          <a:lstStyle/>
          <a:p>
            <a:pPr marL="0" indent="0" algn="l">
              <a:spcBef>
                <a:spcPts val="0"/>
              </a:spcBef>
              <a:buNone/>
            </a:pPr>
            <a:r>
              <a:rPr lang="it-IT" sz="1400" b="0" dirty="0">
                <a:solidFill>
                  <a:srgbClr val="231C21"/>
                </a:solidFill>
              </a:rPr>
              <a:t>Ogni progetto ha un’immagine che lo rende riconoscibile</a:t>
            </a:r>
          </a:p>
        </p:txBody>
      </p:sp>
      <p:sp>
        <p:nvSpPr>
          <p:cNvPr id="28" name="Tag H8 480 2"/>
          <p:cNvSpPr/>
          <p:nvPr/>
        </p:nvSpPr>
        <p:spPr>
          <a:xfrm>
            <a:off x="6096000" y="3124200"/>
            <a:ext cx="508000" cy="279400"/>
          </a:xfrm>
          <a:prstGeom prst="roundRect">
            <a:avLst/>
          </a:prstGeom>
          <a:solidFill>
            <a:srgbClr val="F3EEF1"/>
          </a:solidFill>
          <a:ln>
            <a:noFill/>
          </a:ln>
        </p:spPr>
        <p:txBody>
          <a:bodyPr wrap="square" lIns="0" tIns="0" rIns="0" bIns="0" anchor="ctr">
            <a:noAutofit/>
          </a:bodyPr>
          <a:lstStyle/>
          <a:p>
            <a:pPr marL="0" indent="0" algn="ctr">
              <a:spcBef>
                <a:spcPts val="0"/>
              </a:spcBef>
              <a:buNone/>
            </a:pPr>
            <a:r>
              <a:rPr lang="it-IT" sz="1100" b="1" dirty="0">
                <a:solidFill>
                  <a:srgbClr val="6C0850"/>
                </a:solidFill>
              </a:rPr>
              <a:t>H8</a:t>
            </a:r>
          </a:p>
        </p:txBody>
      </p:sp>
      <p:sp>
        <p:nvSpPr>
          <p:cNvPr id="29" name="Positivo 480 2"/>
          <p:cNvSpPr/>
          <p:nvPr/>
        </p:nvSpPr>
        <p:spPr>
          <a:xfrm>
            <a:off x="6756400" y="3098800"/>
            <a:ext cx="4826000" cy="609600"/>
          </a:xfrm>
          <a:prstGeom prst="rect">
            <a:avLst/>
          </a:prstGeom>
          <a:noFill/>
          <a:ln>
            <a:noFill/>
          </a:ln>
        </p:spPr>
        <p:txBody>
          <a:bodyPr wrap="square" lIns="0" tIns="0" rIns="0" bIns="0" anchor="t">
            <a:noAutofit/>
          </a:bodyPr>
          <a:lstStyle/>
          <a:p>
            <a:pPr marL="0" indent="0" algn="l">
              <a:spcBef>
                <a:spcPts val="0"/>
              </a:spcBef>
              <a:buNone/>
            </a:pPr>
            <a:r>
              <a:rPr lang="it-IT" sz="1400" b="0" dirty="0">
                <a:solidFill>
                  <a:srgbClr val="231C21"/>
                </a:solidFill>
              </a:rPr>
              <a:t>Card compatte; design responsivo con menu hamburger su mobile</a:t>
            </a:r>
          </a:p>
        </p:txBody>
      </p:sp>
      <p:sp>
        <p:nvSpPr>
          <p:cNvPr id="30" name="Tag H8 480 3"/>
          <p:cNvSpPr/>
          <p:nvPr/>
        </p:nvSpPr>
        <p:spPr>
          <a:xfrm>
            <a:off x="6096000" y="3860800"/>
            <a:ext cx="508000" cy="279400"/>
          </a:xfrm>
          <a:prstGeom prst="roundRect">
            <a:avLst/>
          </a:prstGeom>
          <a:solidFill>
            <a:srgbClr val="F3EEF1"/>
          </a:solidFill>
          <a:ln>
            <a:noFill/>
          </a:ln>
        </p:spPr>
        <p:txBody>
          <a:bodyPr wrap="square" lIns="0" tIns="0" rIns="0" bIns="0" anchor="ctr">
            <a:noAutofit/>
          </a:bodyPr>
          <a:lstStyle/>
          <a:p>
            <a:pPr marL="0" indent="0" algn="ctr">
              <a:spcBef>
                <a:spcPts val="0"/>
              </a:spcBef>
              <a:buNone/>
            </a:pPr>
            <a:r>
              <a:rPr lang="it-IT" sz="1100" b="1" dirty="0">
                <a:solidFill>
                  <a:srgbClr val="6C0850"/>
                </a:solidFill>
              </a:rPr>
              <a:t>H8</a:t>
            </a:r>
          </a:p>
        </p:txBody>
      </p:sp>
      <p:sp>
        <p:nvSpPr>
          <p:cNvPr id="31" name="Positivo 480 3"/>
          <p:cNvSpPr/>
          <p:nvPr/>
        </p:nvSpPr>
        <p:spPr>
          <a:xfrm>
            <a:off x="6756400" y="3835400"/>
            <a:ext cx="4826000" cy="609600"/>
          </a:xfrm>
          <a:prstGeom prst="rect">
            <a:avLst/>
          </a:prstGeom>
          <a:noFill/>
          <a:ln>
            <a:noFill/>
          </a:ln>
        </p:spPr>
        <p:txBody>
          <a:bodyPr wrap="square" lIns="0" tIns="0" rIns="0" bIns="0" anchor="t">
            <a:noAutofit/>
          </a:bodyPr>
          <a:lstStyle/>
          <a:p>
            <a:pPr marL="0" indent="0" algn="l">
              <a:spcBef>
                <a:spcPts val="0"/>
              </a:spcBef>
              <a:buNone/>
            </a:pPr>
            <a:r>
              <a:rPr lang="it-IT" sz="1400" b="0" dirty="0">
                <a:solidFill>
                  <a:srgbClr val="231C21"/>
                </a:solidFill>
              </a:rPr>
              <a:t>Il testo blu ha un buon contrasto (circa 6:1)</a:t>
            </a:r>
          </a:p>
        </p:txBody>
      </p:sp>
      <p:sp>
        <p:nvSpPr>
          <p:cNvPr id="32" name="Tag H10 480 4"/>
          <p:cNvSpPr/>
          <p:nvPr/>
        </p:nvSpPr>
        <p:spPr>
          <a:xfrm>
            <a:off x="6096000" y="4597400"/>
            <a:ext cx="508000" cy="279400"/>
          </a:xfrm>
          <a:prstGeom prst="roundRect">
            <a:avLst/>
          </a:prstGeom>
          <a:solidFill>
            <a:srgbClr val="F3EEF1"/>
          </a:solidFill>
          <a:ln>
            <a:noFill/>
          </a:ln>
        </p:spPr>
        <p:txBody>
          <a:bodyPr wrap="square" lIns="0" tIns="0" rIns="0" bIns="0" anchor="ctr">
            <a:noAutofit/>
          </a:bodyPr>
          <a:lstStyle/>
          <a:p>
            <a:pPr marL="0" indent="0" algn="ctr">
              <a:spcBef>
                <a:spcPts val="0"/>
              </a:spcBef>
              <a:buNone/>
            </a:pPr>
            <a:r>
              <a:rPr lang="it-IT" sz="1100" b="1" dirty="0">
                <a:solidFill>
                  <a:srgbClr val="6C0850"/>
                </a:solidFill>
              </a:rPr>
              <a:t>H10</a:t>
            </a:r>
          </a:p>
        </p:txBody>
      </p:sp>
      <p:sp>
        <p:nvSpPr>
          <p:cNvPr id="33" name="Positivo 480 4"/>
          <p:cNvSpPr/>
          <p:nvPr/>
        </p:nvSpPr>
        <p:spPr>
          <a:xfrm>
            <a:off x="6756400" y="4572000"/>
            <a:ext cx="4826000" cy="609600"/>
          </a:xfrm>
          <a:prstGeom prst="rect">
            <a:avLst/>
          </a:prstGeom>
          <a:noFill/>
          <a:ln>
            <a:noFill/>
          </a:ln>
        </p:spPr>
        <p:txBody>
          <a:bodyPr wrap="square" lIns="0" tIns="0" rIns="0" bIns="0" anchor="t">
            <a:noAutofit/>
          </a:bodyPr>
          <a:lstStyle/>
          <a:p>
            <a:pPr marL="0" indent="0" algn="l">
              <a:spcBef>
                <a:spcPts val="0"/>
              </a:spcBef>
              <a:buNone/>
            </a:pPr>
            <a:r>
              <a:rPr lang="it-IT" sz="1400" b="0" dirty="0">
                <a:solidFill>
                  <a:srgbClr val="231C21"/>
                </a:solidFill>
              </a:rPr>
              <a:t>FAQ, «Come funziona» e contatti sopra la navbar</a:t>
            </a:r>
          </a:p>
        </p:txBody>
      </p:sp>
      <p:sp>
        <p:nvSpPr>
          <p:cNvPr id="34" name="Tag H10 480 5"/>
          <p:cNvSpPr/>
          <p:nvPr/>
        </p:nvSpPr>
        <p:spPr>
          <a:xfrm>
            <a:off x="6096000" y="5334000"/>
            <a:ext cx="508000" cy="279400"/>
          </a:xfrm>
          <a:prstGeom prst="roundRect">
            <a:avLst/>
          </a:prstGeom>
          <a:solidFill>
            <a:srgbClr val="F3EEF1"/>
          </a:solidFill>
          <a:ln>
            <a:noFill/>
          </a:ln>
        </p:spPr>
        <p:txBody>
          <a:bodyPr wrap="square" lIns="0" tIns="0" rIns="0" bIns="0" anchor="ctr">
            <a:noAutofit/>
          </a:bodyPr>
          <a:lstStyle/>
          <a:p>
            <a:pPr marL="0" indent="0" algn="ctr">
              <a:spcBef>
                <a:spcPts val="0"/>
              </a:spcBef>
              <a:buNone/>
            </a:pPr>
            <a:r>
              <a:rPr lang="it-IT" sz="1100" b="1" dirty="0">
                <a:solidFill>
                  <a:srgbClr val="6C0850"/>
                </a:solidFill>
              </a:rPr>
              <a:t>H10</a:t>
            </a:r>
          </a:p>
        </p:txBody>
      </p:sp>
      <p:sp>
        <p:nvSpPr>
          <p:cNvPr id="35" name="Positivo 480 5"/>
          <p:cNvSpPr/>
          <p:nvPr/>
        </p:nvSpPr>
        <p:spPr>
          <a:xfrm>
            <a:off x="6756400" y="5308600"/>
            <a:ext cx="4826000" cy="609600"/>
          </a:xfrm>
          <a:prstGeom prst="rect">
            <a:avLst/>
          </a:prstGeom>
          <a:noFill/>
          <a:ln>
            <a:noFill/>
          </a:ln>
        </p:spPr>
        <p:txBody>
          <a:bodyPr wrap="square" lIns="0" tIns="0" rIns="0" bIns="0" anchor="t">
            <a:noAutofit/>
          </a:bodyPr>
          <a:lstStyle/>
          <a:p>
            <a:pPr marL="0" indent="0" algn="l">
              <a:spcBef>
                <a:spcPts val="0"/>
              </a:spcBef>
              <a:buNone/>
            </a:pPr>
            <a:r>
              <a:rPr lang="it-IT" sz="1400" b="0" dirty="0">
                <a:solidFill>
                  <a:srgbClr val="231C21"/>
                </a:solidFill>
              </a:rPr>
              <a:t>Rimando al sito UniTo che spiega bene l’iniziativa</a:t>
            </a:r>
          </a:p>
        </p:txBody>
      </p:sp>
      <p:sp>
        <p:nvSpPr>
          <p:cNvPr id="36" name="Pagine e task"/>
          <p:cNvSpPr/>
          <p:nvPr/>
        </p:nvSpPr>
        <p:spPr>
          <a:xfrm>
            <a:off x="609600" y="6273800"/>
            <a:ext cx="10972800" cy="381000"/>
          </a:xfrm>
          <a:prstGeom prst="rect">
            <a:avLst/>
          </a:prstGeom>
          <a:noFill/>
          <a:ln>
            <a:noFill/>
          </a:ln>
        </p:spPr>
        <p:txBody>
          <a:bodyPr wrap="square" lIns="0" tIns="0" rIns="0" bIns="0" anchor="b">
            <a:noAutofit/>
          </a:bodyPr>
          <a:lstStyle/>
          <a:p>
            <a:pPr marL="0" indent="0" algn="l">
              <a:spcBef>
                <a:spcPts val="0"/>
              </a:spcBef>
              <a:buNone/>
            </a:pPr>
            <a:r>
              <a:rPr lang="it-IT" sz="1000" b="1" dirty="0">
                <a:solidFill>
                  <a:srgbClr val="6B6168"/>
                </a:solidFill>
              </a:rPr>
              <a:t>Pagina:</a:t>
            </a:r>
            <a:r>
              <a:rPr lang="it-IT" sz="1000" b="0" dirty="0">
                <a:solidFill>
                  <a:srgbClr val="6B6168"/>
                </a:solidFill>
              </a:rPr>
              <a:t> Partner UniTo › Partnership e Progetti   </a:t>
            </a:r>
            <a:r>
              <a:rPr lang="it-IT" sz="1000" b="1" dirty="0">
                <a:solidFill>
                  <a:srgbClr val="6B6168"/>
                </a:solidFill>
              </a:rPr>
              <a:t>Task:</a:t>
            </a:r>
            <a:r>
              <a:rPr lang="it-IT" sz="1000" b="0" dirty="0">
                <a:solidFill>
                  <a:srgbClr val="6B6168"/>
                </a:solidFill>
              </a:rPr>
              <a:t> T1, T2, T4</a:t>
            </a:r>
          </a:p>
        </p:txBody>
      </p:sp>
    </p:spTree>
    <p:extLst>
      <p:ext uri="{BB962C8B-B14F-4D97-AF65-F5344CB8AC3E}">
        <p14:creationId xmlns:p14="http://schemas.microsoft.com/office/powerpoint/2010/main" val="34505897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CFE5D6AA-9B4A-5E7F-0A77-F0DD2534D985}"/>
              </a:ext>
            </a:extLst>
          </p:cNvPr>
          <p:cNvSpPr>
            <a:spLocks noGrp="1"/>
          </p:cNvSpPr>
          <p:nvPr>
            <p:ph type="title"/>
          </p:nvPr>
        </p:nvSpPr>
        <p:spPr>
          <a:xfrm>
            <a:off x="609600" y="558800"/>
            <a:ext cx="8991600" cy="889000"/>
          </a:xfrm>
        </p:spPr>
        <p:txBody>
          <a:bodyPr lIns="0" anchor="t"/>
          <a:lstStyle/>
          <a:p>
            <a:pPr>
              <a:lnSpc>
                <a:spcPct val="90000"/>
              </a:lnSpc>
            </a:pPr>
            <a:r>
              <a:rPr lang="it-IT" sz="2600" b="1" dirty="0"/>
              <a:t>Non si capisce lo stato dell’iniziativa</a:t>
            </a:r>
          </a:p>
        </p:txBody>
      </p:sp>
      <p:sp>
        <p:nvSpPr>
          <p:cNvPr id="10" name="Euristica"/>
          <p:cNvSpPr txBox="1"/>
          <p:nvPr/>
        </p:nvSpPr>
        <p:spPr>
          <a:xfrm>
            <a:off x="609600" y="254000"/>
            <a:ext cx="8128000" cy="279400"/>
          </a:xfrm>
          <a:prstGeom prst="rect">
            <a:avLst/>
          </a:prstGeom>
          <a:noFill/>
          <a:ln>
            <a:noFill/>
          </a:ln>
        </p:spPr>
        <p:txBody>
          <a:bodyPr wrap="square" lIns="0" tIns="0" rIns="0" bIns="0" anchor="t">
            <a:noAutofit/>
          </a:bodyPr>
          <a:lstStyle/>
          <a:p>
            <a:pPr marL="0" indent="0" algn="l">
              <a:lnSpc>
                <a:spcPct val="100000"/>
              </a:lnSpc>
              <a:spcBef>
                <a:spcPts val="0"/>
              </a:spcBef>
              <a:buNone/>
            </a:pPr>
            <a:r>
              <a:rPr lang="it-IT" sz="1200" b="1" dirty="0">
                <a:solidFill>
                  <a:srgbClr val="6C0850"/>
                </a:solidFill>
              </a:rPr>
              <a:t>H1 · VISIBILITÀ DELLO STATO DEL SISTEMA</a:t>
            </a:r>
          </a:p>
        </p:txBody>
      </p:sp>
      <p:sp>
        <p:nvSpPr>
          <p:cNvPr id="11" name="Badge gravità"/>
          <p:cNvSpPr/>
          <p:nvPr/>
        </p:nvSpPr>
        <p:spPr>
          <a:xfrm>
            <a:off x="9855200" y="381000"/>
            <a:ext cx="1727200" cy="736600"/>
          </a:xfrm>
          <a:prstGeom prst="roundRect">
            <a:avLst/>
          </a:prstGeom>
          <a:solidFill>
            <a:srgbClr val="8E2F72"/>
          </a:solidFill>
          <a:ln>
            <a:noFill/>
          </a:ln>
        </p:spPr>
        <p:txBody>
          <a:bodyPr wrap="square" lIns="0" tIns="0" rIns="0" bIns="0" anchor="ctr">
            <a:noAutofit/>
          </a:bodyPr>
          <a:lstStyle/>
          <a:p>
            <a:pPr marL="0" indent="0" algn="ctr">
              <a:lnSpc>
                <a:spcPct val="100000"/>
              </a:lnSpc>
              <a:spcBef>
                <a:spcPts val="0"/>
              </a:spcBef>
              <a:buNone/>
            </a:pPr>
            <a:r>
              <a:rPr lang="it-IT" sz="1000" b="1" dirty="0">
                <a:solidFill>
                  <a:srgbClr val="FFFFFF"/>
                </a:solidFill>
              </a:rPr>
              <a:t>GRAVITÀ</a:t>
            </a:r>
          </a:p>
          <a:p>
            <a:pPr marL="0" indent="0" algn="ctr">
              <a:lnSpc>
                <a:spcPct val="100000"/>
              </a:lnSpc>
              <a:spcBef>
                <a:spcPts val="0"/>
              </a:spcBef>
              <a:buNone/>
            </a:pPr>
            <a:r>
              <a:rPr lang="it-IT" sz="1800" b="1" dirty="0">
                <a:solidFill>
                  <a:srgbClr val="FFFFFF"/>
                </a:solidFill>
              </a:rPr>
              <a:t>3 </a:t>
            </a:r>
            <a:r>
              <a:rPr lang="it-IT" sz="1800" b="1">
                <a:solidFill>
                  <a:srgbClr val="FFFFFF"/>
                </a:solidFill>
              </a:rPr>
              <a:t>· Importante</a:t>
            </a:r>
            <a:endParaRPr lang="it-IT" sz="1800" b="1" dirty="0">
              <a:solidFill>
                <a:srgbClr val="FFFFFF"/>
              </a:solidFill>
            </a:endParaRPr>
          </a:p>
        </p:txBody>
      </p:sp>
      <p:sp>
        <p:nvSpPr>
          <p:cNvPr id="12" name="Problema"/>
          <p:cNvSpPr txBox="1"/>
          <p:nvPr/>
        </p:nvSpPr>
        <p:spPr>
          <a:xfrm>
            <a:off x="609600" y="1634309"/>
            <a:ext cx="5130800" cy="2616200"/>
          </a:xfrm>
          <a:prstGeom prst="rect">
            <a:avLst/>
          </a:prstGeom>
          <a:noFill/>
          <a:ln>
            <a:noFill/>
          </a:ln>
        </p:spPr>
        <p:txBody>
          <a:bodyPr wrap="square" lIns="0" tIns="0" rIns="0" bIns="0" anchor="t">
            <a:noAutofit/>
          </a:bodyPr>
          <a:lstStyle/>
          <a:p>
            <a:pPr marL="0" indent="0" algn="l">
              <a:lnSpc>
                <a:spcPct val="100000"/>
              </a:lnSpc>
              <a:spcBef>
                <a:spcPts val="0"/>
              </a:spcBef>
              <a:buNone/>
            </a:pPr>
            <a:r>
              <a:rPr lang="it-IT" sz="1400" b="1" dirty="0">
                <a:solidFill>
                  <a:srgbClr val="6C0850"/>
                </a:solidFill>
              </a:rPr>
              <a:t>Problema</a:t>
            </a:r>
          </a:p>
          <a:p>
            <a:pPr marL="228600" indent="-228600" algn="l">
              <a:lnSpc>
                <a:spcPct val="100000"/>
              </a:lnSpc>
              <a:spcBef>
                <a:spcPts val="500"/>
              </a:spcBef>
              <a:buClr>
                <a:srgbClr val="6C0850"/>
              </a:buClr>
              <a:buFont typeface="Arial"/>
              <a:buChar char="•"/>
            </a:pPr>
            <a:r>
              <a:rPr lang="it-IT" sz="1400" b="0" dirty="0">
                <a:solidFill>
                  <a:srgbClr val="231C21"/>
                </a:solidFill>
              </a:rPr>
              <a:t>La pagina usa il futuro («verranno selezionati») e </a:t>
            </a:r>
            <a:r>
              <a:rPr lang="it-IT" sz="1400" b="1" dirty="0">
                <a:solidFill>
                  <a:srgbClr val="231C21"/>
                </a:solidFill>
              </a:rPr>
              <a:t>non riporta date</a:t>
            </a:r>
            <a:r>
              <a:rPr lang="it-IT" sz="1400" b="0" dirty="0">
                <a:solidFill>
                  <a:srgbClr val="231C21"/>
                </a:solidFill>
              </a:rPr>
              <a:t> di candidatura né di campagna.</a:t>
            </a:r>
          </a:p>
          <a:p>
            <a:pPr marL="228600" indent="-228600" algn="l">
              <a:lnSpc>
                <a:spcPct val="100000"/>
              </a:lnSpc>
              <a:spcBef>
                <a:spcPts val="500"/>
              </a:spcBef>
              <a:buClr>
                <a:srgbClr val="6C0850"/>
              </a:buClr>
              <a:buFont typeface="Arial"/>
              <a:buChar char="•"/>
            </a:pPr>
            <a:r>
              <a:rPr lang="it-IT" sz="1400" b="0" dirty="0">
                <a:solidFill>
                  <a:srgbClr val="231C21"/>
                </a:solidFill>
              </a:rPr>
              <a:t>Il blocco «aggiornamenti più recenti» del blog propone articoli del </a:t>
            </a:r>
            <a:r>
              <a:rPr lang="it-IT" sz="1400" b="1" dirty="0">
                <a:solidFill>
                  <a:srgbClr val="231C21"/>
                </a:solidFill>
              </a:rPr>
              <a:t>2021 e del 2022. </a:t>
            </a:r>
            <a:r>
              <a:rPr lang="it-IT" sz="1400" dirty="0">
                <a:solidFill>
                  <a:srgbClr val="231C21"/>
                </a:solidFill>
              </a:rPr>
              <a:t>Il</a:t>
            </a:r>
            <a:r>
              <a:rPr lang="it-IT" sz="1400" b="1" dirty="0">
                <a:solidFill>
                  <a:srgbClr val="231C21"/>
                </a:solidFill>
              </a:rPr>
              <a:t> </a:t>
            </a:r>
            <a:r>
              <a:rPr lang="it-IT" sz="1400" b="0" dirty="0">
                <a:solidFill>
                  <a:srgbClr val="231C21"/>
                </a:solidFill>
              </a:rPr>
              <a:t>cittadino dubita che l’iniziativa sia ancora attiva.</a:t>
            </a:r>
          </a:p>
          <a:p>
            <a:pPr marL="0" indent="0" algn="l">
              <a:lnSpc>
                <a:spcPct val="100000"/>
              </a:lnSpc>
              <a:spcBef>
                <a:spcPts val="900"/>
              </a:spcBef>
              <a:buNone/>
            </a:pPr>
            <a:r>
              <a:rPr lang="it-IT" sz="1100" b="0" dirty="0">
                <a:solidFill>
                  <a:srgbClr val="6B6168"/>
                </a:solidFill>
              </a:rPr>
              <a:t>Gravità 3: </a:t>
            </a:r>
            <a:r>
              <a:rPr lang="it-IT" sz="1100" dirty="0">
                <a:solidFill>
                  <a:srgbClr val="6B6168"/>
                </a:solidFill>
              </a:rPr>
              <a:t>Il sito rimanda a </a:t>
            </a:r>
            <a:r>
              <a:rPr lang="it-IT" sz="1100" b="0" dirty="0" err="1">
                <a:solidFill>
                  <a:srgbClr val="6B6168"/>
                </a:solidFill>
              </a:rPr>
              <a:t>unito.it</a:t>
            </a:r>
            <a:r>
              <a:rPr lang="it-IT" sz="1100" dirty="0">
                <a:solidFill>
                  <a:srgbClr val="6B6168"/>
                </a:solidFill>
              </a:rPr>
              <a:t> per le spiegazioni di </a:t>
            </a:r>
            <a:r>
              <a:rPr lang="it-IT" sz="1100" dirty="0" err="1">
                <a:solidFill>
                  <a:srgbClr val="6B6168"/>
                </a:solidFill>
              </a:rPr>
              <a:t>FundsTo</a:t>
            </a:r>
            <a:r>
              <a:rPr lang="it-IT" sz="1100" dirty="0">
                <a:solidFill>
                  <a:srgbClr val="6B6168"/>
                </a:solidFill>
              </a:rPr>
              <a:t> quindi si riesce a capire che l’iniziativa è attiva anche se con fatica.</a:t>
            </a:r>
            <a:endParaRPr lang="it-IT" sz="1100" b="0" dirty="0">
              <a:solidFill>
                <a:srgbClr val="6B6168"/>
              </a:solidFill>
            </a:endParaRPr>
          </a:p>
        </p:txBody>
      </p:sp>
      <p:sp>
        <p:nvSpPr>
          <p:cNvPr id="13" name="Soluzione"/>
          <p:cNvSpPr/>
          <p:nvPr/>
        </p:nvSpPr>
        <p:spPr>
          <a:xfrm>
            <a:off x="609600" y="4394200"/>
            <a:ext cx="5130800" cy="1727200"/>
          </a:xfrm>
          <a:prstGeom prst="rect">
            <a:avLst/>
          </a:prstGeom>
          <a:solidFill>
            <a:srgbClr val="F3EEF1"/>
          </a:solidFill>
          <a:ln>
            <a:noFill/>
          </a:ln>
        </p:spPr>
        <p:txBody>
          <a:bodyPr wrap="square" lIns="152400" tIns="152400" rIns="152400" bIns="152400" anchor="t">
            <a:noAutofit/>
          </a:bodyPr>
          <a:lstStyle/>
          <a:p>
            <a:pPr marL="0" indent="0" algn="l">
              <a:lnSpc>
                <a:spcPct val="100000"/>
              </a:lnSpc>
              <a:spcBef>
                <a:spcPts val="0"/>
              </a:spcBef>
              <a:buNone/>
            </a:pPr>
            <a:r>
              <a:rPr lang="it-IT" sz="1400" b="1" dirty="0">
                <a:solidFill>
                  <a:srgbClr val="6C0850"/>
                </a:solidFill>
              </a:rPr>
              <a:t>Possibile soluzione</a:t>
            </a:r>
          </a:p>
          <a:p>
            <a:pPr marL="0" indent="0" algn="l">
              <a:lnSpc>
                <a:spcPct val="100000"/>
              </a:lnSpc>
              <a:spcBef>
                <a:spcPts val="400"/>
              </a:spcBef>
              <a:buNone/>
            </a:pPr>
            <a:r>
              <a:rPr lang="it-IT" sz="1400" b="0" dirty="0">
                <a:solidFill>
                  <a:srgbClr val="231C21"/>
                </a:solidFill>
              </a:rPr>
              <a:t>Spiegare chiaramente che per il 2026 le call sono aperte o chiuse e i progetti selezionati. Il blog andrebbe aggiornato o nascosto se non aggiornato.</a:t>
            </a:r>
          </a:p>
        </p:txBody>
      </p:sp>
      <p:sp>
        <p:nvSpPr>
          <p:cNvPr id="16" name="Pagine e task"/>
          <p:cNvSpPr txBox="1"/>
          <p:nvPr/>
        </p:nvSpPr>
        <p:spPr>
          <a:xfrm>
            <a:off x="609600" y="6273800"/>
            <a:ext cx="10972800" cy="381000"/>
          </a:xfrm>
          <a:prstGeom prst="rect">
            <a:avLst/>
          </a:prstGeom>
          <a:noFill/>
          <a:ln>
            <a:noFill/>
          </a:ln>
        </p:spPr>
        <p:txBody>
          <a:bodyPr wrap="square" lIns="0" tIns="0" rIns="0" bIns="0" anchor="b">
            <a:noAutofit/>
          </a:bodyPr>
          <a:lstStyle/>
          <a:p>
            <a:r>
              <a:rPr lang="it-IT" sz="1000" b="1" dirty="0">
                <a:solidFill>
                  <a:srgbClr val="6B6168"/>
                </a:solidFill>
              </a:rPr>
              <a:t>Pagine:</a:t>
            </a:r>
            <a:r>
              <a:rPr lang="it-IT" sz="1000" b="0" dirty="0">
                <a:solidFill>
                  <a:srgbClr val="6B6168"/>
                </a:solidFill>
              </a:rPr>
              <a:t> </a:t>
            </a:r>
            <a:r>
              <a:rPr lang="it-IT" sz="1000" dirty="0">
                <a:solidFill>
                  <a:srgbClr val="6B6168"/>
                </a:solidFill>
              </a:rPr>
              <a:t>Partner UniTo › Partnership e Progetti </a:t>
            </a:r>
            <a:r>
              <a:rPr lang="it-IT" sz="1000" b="1" dirty="0">
                <a:solidFill>
                  <a:srgbClr val="6B6168"/>
                </a:solidFill>
              </a:rPr>
              <a:t>Task:</a:t>
            </a:r>
            <a:r>
              <a:rPr lang="it-IT" sz="1000" b="0" dirty="0">
                <a:solidFill>
                  <a:srgbClr val="6B6168"/>
                </a:solidFill>
              </a:rPr>
              <a:t> T1, T4, T6</a:t>
            </a:r>
          </a:p>
        </p:txBody>
      </p:sp>
      <p:pic>
        <p:nvPicPr>
          <p:cNvPr id="6" name="Immagine 5">
            <a:extLst>
              <a:ext uri="{FF2B5EF4-FFF2-40B4-BE49-F238E27FC236}">
                <a16:creationId xmlns:a16="http://schemas.microsoft.com/office/drawing/2014/main" id="{88BAF8C1-8EFB-7E30-E35A-44CF3D558C9E}"/>
              </a:ext>
            </a:extLst>
          </p:cNvPr>
          <p:cNvPicPr>
            <a:picLocks noChangeAspect="1"/>
          </p:cNvPicPr>
          <p:nvPr/>
        </p:nvPicPr>
        <p:blipFill>
          <a:blip r:embed="rId2"/>
          <a:stretch>
            <a:fillRect/>
          </a:stretch>
        </p:blipFill>
        <p:spPr>
          <a:xfrm>
            <a:off x="6096001" y="3683000"/>
            <a:ext cx="4702526" cy="2438400"/>
          </a:xfrm>
          <a:prstGeom prst="rect">
            <a:avLst/>
          </a:prstGeom>
        </p:spPr>
      </p:pic>
      <p:pic>
        <p:nvPicPr>
          <p:cNvPr id="19" name="Immagine 18">
            <a:extLst>
              <a:ext uri="{FF2B5EF4-FFF2-40B4-BE49-F238E27FC236}">
                <a16:creationId xmlns:a16="http://schemas.microsoft.com/office/drawing/2014/main" id="{CB16759F-1897-60BA-9744-8A0AD7CA0807}"/>
              </a:ext>
            </a:extLst>
          </p:cNvPr>
          <p:cNvPicPr>
            <a:picLocks noChangeAspect="1"/>
          </p:cNvPicPr>
          <p:nvPr/>
        </p:nvPicPr>
        <p:blipFill>
          <a:blip r:embed="rId3"/>
          <a:stretch>
            <a:fillRect/>
          </a:stretch>
        </p:blipFill>
        <p:spPr>
          <a:xfrm>
            <a:off x="6094392" y="1350190"/>
            <a:ext cx="4704134" cy="2220323"/>
          </a:xfrm>
          <a:prstGeom prst="rect">
            <a:avLst/>
          </a:prstGeom>
        </p:spPr>
      </p:pic>
    </p:spTree>
    <p:extLst>
      <p:ext uri="{BB962C8B-B14F-4D97-AF65-F5344CB8AC3E}">
        <p14:creationId xmlns:p14="http://schemas.microsoft.com/office/powerpoint/2010/main" val="13456903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ADAF5053-2B15-DDF3-6C08-D5427CDD31E2}"/>
              </a:ext>
            </a:extLst>
          </p:cNvPr>
          <p:cNvSpPr>
            <a:spLocks noGrp="1"/>
          </p:cNvSpPr>
          <p:nvPr>
            <p:ph type="title"/>
          </p:nvPr>
        </p:nvSpPr>
        <p:spPr>
          <a:xfrm>
            <a:off x="609600" y="558800"/>
            <a:ext cx="8991600" cy="889000"/>
          </a:xfrm>
        </p:spPr>
        <p:txBody>
          <a:bodyPr anchor="t"/>
          <a:lstStyle/>
          <a:p>
            <a:pPr>
              <a:lnSpc>
                <a:spcPct val="90000"/>
              </a:lnSpc>
            </a:pPr>
            <a:r>
              <a:rPr lang="it-IT" sz="2600" b="1" dirty="0"/>
              <a:t>I progetti in corso oltre il 100% non dicono di aver raggiunto l’obiettivo</a:t>
            </a:r>
          </a:p>
        </p:txBody>
      </p:sp>
      <p:sp>
        <p:nvSpPr>
          <p:cNvPr id="10" name="Euristica"/>
          <p:cNvSpPr txBox="1"/>
          <p:nvPr/>
        </p:nvSpPr>
        <p:spPr>
          <a:xfrm>
            <a:off x="609600" y="254000"/>
            <a:ext cx="8128000" cy="279400"/>
          </a:xfrm>
          <a:prstGeom prst="rect">
            <a:avLst/>
          </a:prstGeom>
          <a:noFill/>
          <a:ln>
            <a:noFill/>
          </a:ln>
        </p:spPr>
        <p:txBody>
          <a:bodyPr wrap="square" lIns="0" tIns="0" rIns="0" bIns="0" anchor="t">
            <a:noAutofit/>
          </a:bodyPr>
          <a:lstStyle/>
          <a:p>
            <a:pPr marL="0" indent="0" algn="l">
              <a:lnSpc>
                <a:spcPct val="100000"/>
              </a:lnSpc>
              <a:spcBef>
                <a:spcPts val="0"/>
              </a:spcBef>
              <a:buNone/>
            </a:pPr>
            <a:r>
              <a:rPr lang="it-IT" sz="1200" b="1" dirty="0">
                <a:solidFill>
                  <a:srgbClr val="6C0850"/>
                </a:solidFill>
              </a:rPr>
              <a:t>H1 · VISIBILITÀ DELLO STATO DEL SISTEMA</a:t>
            </a:r>
          </a:p>
        </p:txBody>
      </p:sp>
      <p:sp>
        <p:nvSpPr>
          <p:cNvPr id="11" name="Badge gravità"/>
          <p:cNvSpPr/>
          <p:nvPr/>
        </p:nvSpPr>
        <p:spPr>
          <a:xfrm>
            <a:off x="9855200" y="381000"/>
            <a:ext cx="1727200" cy="736600"/>
          </a:xfrm>
          <a:prstGeom prst="roundRect">
            <a:avLst/>
          </a:prstGeom>
          <a:solidFill>
            <a:srgbClr val="41002F"/>
          </a:solidFill>
          <a:ln>
            <a:noFill/>
          </a:ln>
        </p:spPr>
        <p:txBody>
          <a:bodyPr wrap="square" lIns="0" tIns="0" rIns="0" bIns="0" anchor="ctr">
            <a:noAutofit/>
          </a:bodyPr>
          <a:lstStyle/>
          <a:p>
            <a:pPr marL="0" indent="0" algn="ctr">
              <a:lnSpc>
                <a:spcPct val="100000"/>
              </a:lnSpc>
              <a:spcBef>
                <a:spcPts val="0"/>
              </a:spcBef>
              <a:buNone/>
            </a:pPr>
            <a:r>
              <a:rPr lang="it-IT" sz="1000" b="1" dirty="0">
                <a:solidFill>
                  <a:srgbClr val="FFFFFF"/>
                </a:solidFill>
              </a:rPr>
              <a:t>GRAVITÀ</a:t>
            </a:r>
          </a:p>
          <a:p>
            <a:pPr marL="0" indent="0" algn="ctr">
              <a:lnSpc>
                <a:spcPct val="100000"/>
              </a:lnSpc>
              <a:spcBef>
                <a:spcPts val="0"/>
              </a:spcBef>
              <a:buNone/>
            </a:pPr>
            <a:r>
              <a:rPr lang="it-IT" sz="1800" b="1" dirty="0">
                <a:solidFill>
                  <a:srgbClr val="FFFFFF"/>
                </a:solidFill>
              </a:rPr>
              <a:t>3 </a:t>
            </a:r>
            <a:r>
              <a:rPr lang="it-IT" sz="1800" b="1">
                <a:solidFill>
                  <a:srgbClr val="FFFFFF"/>
                </a:solidFill>
              </a:rPr>
              <a:t>· Importante</a:t>
            </a:r>
            <a:endParaRPr lang="it-IT" sz="1800" b="1" dirty="0">
              <a:solidFill>
                <a:srgbClr val="FFFFFF"/>
              </a:solidFill>
            </a:endParaRPr>
          </a:p>
        </p:txBody>
      </p:sp>
      <p:sp>
        <p:nvSpPr>
          <p:cNvPr id="12" name="Problema"/>
          <p:cNvSpPr txBox="1"/>
          <p:nvPr/>
        </p:nvSpPr>
        <p:spPr>
          <a:xfrm>
            <a:off x="609600" y="1625600"/>
            <a:ext cx="5130800" cy="2616200"/>
          </a:xfrm>
          <a:prstGeom prst="rect">
            <a:avLst/>
          </a:prstGeom>
          <a:noFill/>
          <a:ln>
            <a:noFill/>
          </a:ln>
        </p:spPr>
        <p:txBody>
          <a:bodyPr wrap="square" lIns="0" tIns="0" rIns="0" bIns="0" anchor="t">
            <a:noAutofit/>
          </a:bodyPr>
          <a:lstStyle/>
          <a:p>
            <a:pPr marL="0" indent="0" algn="l">
              <a:lnSpc>
                <a:spcPct val="100000"/>
              </a:lnSpc>
              <a:spcBef>
                <a:spcPts val="0"/>
              </a:spcBef>
              <a:buNone/>
            </a:pPr>
            <a:r>
              <a:rPr lang="it-IT" sz="1400" b="1" dirty="0">
                <a:solidFill>
                  <a:srgbClr val="6C0850"/>
                </a:solidFill>
              </a:rPr>
              <a:t>Problema</a:t>
            </a:r>
          </a:p>
          <a:p>
            <a:pPr marL="228600" indent="-228600" algn="l">
              <a:lnSpc>
                <a:spcPct val="100000"/>
              </a:lnSpc>
              <a:spcBef>
                <a:spcPts val="500"/>
              </a:spcBef>
              <a:buClr>
                <a:srgbClr val="6C0850"/>
              </a:buClr>
              <a:buFont typeface="Arial"/>
              <a:buChar char="•"/>
            </a:pPr>
            <a:r>
              <a:rPr lang="it-IT" sz="1400" b="0" dirty="0">
                <a:solidFill>
                  <a:srgbClr val="231C21"/>
                </a:solidFill>
              </a:rPr>
              <a:t>MILK-ACT (181%) e RePatch (109%) sono ancora «in corso» ma </a:t>
            </a:r>
            <a:r>
              <a:rPr lang="it-IT" sz="1400" b="1" dirty="0">
                <a:solidFill>
                  <a:srgbClr val="231C21"/>
                </a:solidFill>
              </a:rPr>
              <a:t>nessun badge</a:t>
            </a:r>
            <a:r>
              <a:rPr lang="it-IT" sz="1400" b="0" dirty="0">
                <a:solidFill>
                  <a:srgbClr val="231C21"/>
                </a:solidFill>
              </a:rPr>
              <a:t> dice che l’obiettivo minimo è raggiunto. Ci si affida solo ai colori che non sono molto chiari mentre i progetti conclusi hanno il badge «OBIETTIVO RAGGIUNTO!» </a:t>
            </a:r>
          </a:p>
          <a:p>
            <a:pPr marL="228600" indent="-228600" algn="l">
              <a:lnSpc>
                <a:spcPct val="100000"/>
              </a:lnSpc>
              <a:spcBef>
                <a:spcPts val="500"/>
              </a:spcBef>
              <a:buClr>
                <a:srgbClr val="6C0850"/>
              </a:buClr>
              <a:buFont typeface="Arial"/>
              <a:buChar char="•"/>
            </a:pPr>
            <a:r>
              <a:rPr lang="it-IT" sz="1400" b="0" dirty="0">
                <a:solidFill>
                  <a:srgbClr val="231C21"/>
                </a:solidFill>
              </a:rPr>
              <a:t>Il donatore non capisce se la sua donazione serve ancora o ci sono progetti </a:t>
            </a:r>
            <a:r>
              <a:rPr lang="it-IT" sz="1400" dirty="0">
                <a:solidFill>
                  <a:srgbClr val="231C21"/>
                </a:solidFill>
              </a:rPr>
              <a:t>che hanno più bisogno di un </a:t>
            </a:r>
            <a:r>
              <a:rPr lang="it-IT" sz="1400" b="0" dirty="0">
                <a:solidFill>
                  <a:srgbClr val="231C21"/>
                </a:solidFill>
              </a:rPr>
              <a:t>aiuto</a:t>
            </a:r>
          </a:p>
          <a:p>
            <a:pPr marL="0" indent="0" algn="l">
              <a:lnSpc>
                <a:spcPct val="100000"/>
              </a:lnSpc>
              <a:spcBef>
                <a:spcPts val="900"/>
              </a:spcBef>
              <a:buNone/>
            </a:pPr>
            <a:r>
              <a:rPr lang="it-IT" sz="1100" b="0" dirty="0">
                <a:solidFill>
                  <a:srgbClr val="6B6168"/>
                </a:solidFill>
              </a:rPr>
              <a:t>Gravità 3: La pagina non è chiara a primo impatto ma mettendo il cursore sopra il progetto appare lo stato della campagna</a:t>
            </a:r>
          </a:p>
        </p:txBody>
      </p:sp>
      <p:sp>
        <p:nvSpPr>
          <p:cNvPr id="13" name="Soluzione"/>
          <p:cNvSpPr/>
          <p:nvPr/>
        </p:nvSpPr>
        <p:spPr>
          <a:xfrm>
            <a:off x="609600" y="4394200"/>
            <a:ext cx="5130800" cy="1727200"/>
          </a:xfrm>
          <a:prstGeom prst="rect">
            <a:avLst/>
          </a:prstGeom>
          <a:solidFill>
            <a:srgbClr val="F3EEF1"/>
          </a:solidFill>
          <a:ln>
            <a:noFill/>
          </a:ln>
        </p:spPr>
        <p:txBody>
          <a:bodyPr wrap="square" lIns="152400" tIns="152400" rIns="152400" bIns="152400" anchor="t">
            <a:noAutofit/>
          </a:bodyPr>
          <a:lstStyle/>
          <a:p>
            <a:pPr marL="0" indent="0" algn="l">
              <a:lnSpc>
                <a:spcPct val="100000"/>
              </a:lnSpc>
              <a:spcBef>
                <a:spcPts val="0"/>
              </a:spcBef>
              <a:buNone/>
            </a:pPr>
            <a:r>
              <a:rPr lang="it-IT" sz="1400" b="1" dirty="0">
                <a:solidFill>
                  <a:srgbClr val="6C0850"/>
                </a:solidFill>
              </a:rPr>
              <a:t>Possibile soluzione</a:t>
            </a:r>
          </a:p>
          <a:p>
            <a:pPr marL="0" indent="0" algn="l">
              <a:lnSpc>
                <a:spcPct val="100000"/>
              </a:lnSpc>
              <a:spcBef>
                <a:spcPts val="400"/>
              </a:spcBef>
              <a:buNone/>
            </a:pPr>
            <a:r>
              <a:rPr lang="it-IT" sz="1400" b="0" dirty="0">
                <a:solidFill>
                  <a:srgbClr val="231C21"/>
                </a:solidFill>
              </a:rPr>
              <a:t>Badge «Obiettivo raggiunto · raccolta ancora aperta» sulle card in corso oltre il 100%, con testo e icona oltre al colore. </a:t>
            </a:r>
          </a:p>
        </p:txBody>
      </p:sp>
      <p:sp>
        <p:nvSpPr>
          <p:cNvPr id="16" name="Pagine e task"/>
          <p:cNvSpPr txBox="1"/>
          <p:nvPr/>
        </p:nvSpPr>
        <p:spPr>
          <a:xfrm>
            <a:off x="609600" y="6273800"/>
            <a:ext cx="10972800" cy="381000"/>
          </a:xfrm>
          <a:prstGeom prst="rect">
            <a:avLst/>
          </a:prstGeom>
          <a:noFill/>
          <a:ln>
            <a:noFill/>
          </a:ln>
        </p:spPr>
        <p:txBody>
          <a:bodyPr wrap="square" lIns="0" tIns="0" rIns="0" bIns="0" anchor="b">
            <a:noAutofit/>
          </a:bodyPr>
          <a:lstStyle/>
          <a:p>
            <a:pPr marL="0" indent="0" algn="l">
              <a:lnSpc>
                <a:spcPct val="100000"/>
              </a:lnSpc>
              <a:spcBef>
                <a:spcPts val="0"/>
              </a:spcBef>
              <a:buNone/>
            </a:pPr>
            <a:r>
              <a:rPr lang="it-IT" sz="1000" b="1" dirty="0">
                <a:solidFill>
                  <a:srgbClr val="6B6168"/>
                </a:solidFill>
              </a:rPr>
              <a:t>Pagina:</a:t>
            </a:r>
            <a:r>
              <a:rPr lang="it-IT" sz="1000" b="0" dirty="0">
                <a:solidFill>
                  <a:srgbClr val="6B6168"/>
                </a:solidFill>
              </a:rPr>
              <a:t> Partner UniTo › Progetti </a:t>
            </a:r>
            <a:r>
              <a:rPr lang="it-IT" sz="1000" b="1" dirty="0">
                <a:solidFill>
                  <a:srgbClr val="6B6168"/>
                </a:solidFill>
              </a:rPr>
              <a:t>Task:</a:t>
            </a:r>
            <a:r>
              <a:rPr lang="it-IT" sz="1000" b="0" dirty="0">
                <a:solidFill>
                  <a:srgbClr val="6B6168"/>
                </a:solidFill>
              </a:rPr>
              <a:t> T2, T5</a:t>
            </a:r>
          </a:p>
        </p:txBody>
      </p:sp>
      <p:pic>
        <p:nvPicPr>
          <p:cNvPr id="4" name="Immagine 3">
            <a:extLst>
              <a:ext uri="{FF2B5EF4-FFF2-40B4-BE49-F238E27FC236}">
                <a16:creationId xmlns:a16="http://schemas.microsoft.com/office/drawing/2014/main" id="{C0DEC0EB-93E6-F044-860B-E1F589A1B859}"/>
              </a:ext>
            </a:extLst>
          </p:cNvPr>
          <p:cNvPicPr>
            <a:picLocks noChangeAspect="1"/>
          </p:cNvPicPr>
          <p:nvPr/>
        </p:nvPicPr>
        <p:blipFill>
          <a:blip r:embed="rId2"/>
          <a:stretch>
            <a:fillRect/>
          </a:stretch>
        </p:blipFill>
        <p:spPr>
          <a:xfrm>
            <a:off x="6264068" y="2330594"/>
            <a:ext cx="5440785" cy="2927206"/>
          </a:xfrm>
          <a:prstGeom prst="rect">
            <a:avLst/>
          </a:prstGeom>
        </p:spPr>
      </p:pic>
    </p:spTree>
    <p:extLst>
      <p:ext uri="{BB962C8B-B14F-4D97-AF65-F5344CB8AC3E}">
        <p14:creationId xmlns:p14="http://schemas.microsoft.com/office/powerpoint/2010/main" val="28566896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EE02AF6B-AA72-DBE5-2765-DCB30F6682D2}"/>
              </a:ext>
            </a:extLst>
          </p:cNvPr>
          <p:cNvSpPr>
            <a:spLocks noGrp="1"/>
          </p:cNvSpPr>
          <p:nvPr>
            <p:ph type="title"/>
          </p:nvPr>
        </p:nvSpPr>
        <p:spPr>
          <a:xfrm>
            <a:off x="609600" y="558800"/>
            <a:ext cx="8991600" cy="889000"/>
          </a:xfrm>
        </p:spPr>
        <p:txBody>
          <a:bodyPr anchor="t"/>
          <a:lstStyle/>
          <a:p>
            <a:pPr>
              <a:lnSpc>
                <a:spcPct val="90000"/>
              </a:lnSpc>
            </a:pPr>
            <a:r>
              <a:rPr lang="it-IT" sz="2600" b="1" dirty="0"/>
              <a:t>I giorni rimanenti sono scritti come numero negativo («-36 giorni»)</a:t>
            </a:r>
          </a:p>
        </p:txBody>
      </p:sp>
      <p:sp>
        <p:nvSpPr>
          <p:cNvPr id="10" name="Euristica"/>
          <p:cNvSpPr txBox="1"/>
          <p:nvPr/>
        </p:nvSpPr>
        <p:spPr>
          <a:xfrm>
            <a:off x="609600" y="254000"/>
            <a:ext cx="8128000" cy="279400"/>
          </a:xfrm>
          <a:prstGeom prst="rect">
            <a:avLst/>
          </a:prstGeom>
          <a:noFill/>
          <a:ln>
            <a:noFill/>
          </a:ln>
        </p:spPr>
        <p:txBody>
          <a:bodyPr wrap="square" lIns="0" tIns="0" rIns="0" bIns="0" anchor="t">
            <a:noAutofit/>
          </a:bodyPr>
          <a:lstStyle/>
          <a:p>
            <a:pPr marL="0" indent="0" algn="l">
              <a:lnSpc>
                <a:spcPct val="100000"/>
              </a:lnSpc>
              <a:spcBef>
                <a:spcPts val="0"/>
              </a:spcBef>
              <a:buNone/>
            </a:pPr>
            <a:r>
              <a:rPr lang="it-IT" sz="1200" b="1" dirty="0">
                <a:solidFill>
                  <a:srgbClr val="6C0850"/>
                </a:solidFill>
              </a:rPr>
              <a:t>H2 · CORRISPONDENZA TRA SISTEMA E MONDO REALE</a:t>
            </a:r>
          </a:p>
        </p:txBody>
      </p:sp>
      <p:sp>
        <p:nvSpPr>
          <p:cNvPr id="11" name="Badge gravità"/>
          <p:cNvSpPr/>
          <p:nvPr/>
        </p:nvSpPr>
        <p:spPr>
          <a:xfrm>
            <a:off x="9855200" y="381000"/>
            <a:ext cx="1727200" cy="736600"/>
          </a:xfrm>
          <a:prstGeom prst="roundRect">
            <a:avLst/>
          </a:prstGeom>
          <a:solidFill>
            <a:srgbClr val="C7A2BB"/>
          </a:solidFill>
          <a:ln>
            <a:noFill/>
          </a:ln>
        </p:spPr>
        <p:txBody>
          <a:bodyPr wrap="square" lIns="0" tIns="0" rIns="0" bIns="0" anchor="ctr">
            <a:noAutofit/>
          </a:bodyPr>
          <a:lstStyle/>
          <a:p>
            <a:pPr marL="0" indent="0" algn="ctr">
              <a:lnSpc>
                <a:spcPct val="100000"/>
              </a:lnSpc>
              <a:spcBef>
                <a:spcPts val="0"/>
              </a:spcBef>
              <a:buNone/>
            </a:pPr>
            <a:r>
              <a:rPr lang="it-IT" sz="1000" b="1" dirty="0">
                <a:solidFill>
                  <a:srgbClr val="41002F"/>
                </a:solidFill>
              </a:rPr>
              <a:t>GRAVITÀ</a:t>
            </a:r>
          </a:p>
          <a:p>
            <a:pPr marL="0" indent="0" algn="ctr">
              <a:lnSpc>
                <a:spcPct val="100000"/>
              </a:lnSpc>
              <a:spcBef>
                <a:spcPts val="0"/>
              </a:spcBef>
              <a:buNone/>
            </a:pPr>
            <a:r>
              <a:rPr lang="it-IT" sz="1800" b="1" dirty="0">
                <a:solidFill>
                  <a:srgbClr val="41002F"/>
                </a:solidFill>
              </a:rPr>
              <a:t>2 </a:t>
            </a:r>
            <a:r>
              <a:rPr lang="it-IT" sz="1800" b="1">
                <a:solidFill>
                  <a:srgbClr val="41002F"/>
                </a:solidFill>
              </a:rPr>
              <a:t>· Minore</a:t>
            </a:r>
            <a:endParaRPr lang="it-IT" sz="1800" b="1" dirty="0">
              <a:solidFill>
                <a:srgbClr val="41002F"/>
              </a:solidFill>
            </a:endParaRPr>
          </a:p>
        </p:txBody>
      </p:sp>
      <p:sp>
        <p:nvSpPr>
          <p:cNvPr id="12" name="Problema"/>
          <p:cNvSpPr txBox="1"/>
          <p:nvPr/>
        </p:nvSpPr>
        <p:spPr>
          <a:xfrm>
            <a:off x="609600" y="1625600"/>
            <a:ext cx="5130800" cy="2616200"/>
          </a:xfrm>
          <a:prstGeom prst="rect">
            <a:avLst/>
          </a:prstGeom>
          <a:noFill/>
          <a:ln>
            <a:noFill/>
          </a:ln>
        </p:spPr>
        <p:txBody>
          <a:bodyPr wrap="square" lIns="0" tIns="0" rIns="0" bIns="0" anchor="t">
            <a:noAutofit/>
          </a:bodyPr>
          <a:lstStyle/>
          <a:p>
            <a:pPr marL="0" indent="0" algn="l">
              <a:lnSpc>
                <a:spcPct val="100000"/>
              </a:lnSpc>
              <a:spcBef>
                <a:spcPts val="0"/>
              </a:spcBef>
              <a:buNone/>
            </a:pPr>
            <a:r>
              <a:rPr lang="it-IT" sz="1400" b="1" dirty="0">
                <a:solidFill>
                  <a:srgbClr val="6C0850"/>
                </a:solidFill>
              </a:rPr>
              <a:t>Problema</a:t>
            </a:r>
          </a:p>
          <a:p>
            <a:pPr marL="228600" indent="-228600" algn="l">
              <a:lnSpc>
                <a:spcPct val="100000"/>
              </a:lnSpc>
              <a:spcBef>
                <a:spcPts val="500"/>
              </a:spcBef>
              <a:buClr>
                <a:srgbClr val="6C0850"/>
              </a:buClr>
              <a:buFont typeface="Arial"/>
              <a:buChar char="•"/>
            </a:pPr>
            <a:r>
              <a:rPr lang="it-IT" sz="1400" b="0" dirty="0">
                <a:solidFill>
                  <a:srgbClr val="231C21"/>
                </a:solidFill>
              </a:rPr>
              <a:t>Le card in corso mostrano «-35», «-36 giorni», … come se fossero scadute da 35 o 36 giorni. </a:t>
            </a:r>
          </a:p>
          <a:p>
            <a:pPr marL="228600" indent="-228600" algn="l">
              <a:lnSpc>
                <a:spcPct val="100000"/>
              </a:lnSpc>
              <a:spcBef>
                <a:spcPts val="500"/>
              </a:spcBef>
              <a:buClr>
                <a:srgbClr val="6C0850"/>
              </a:buClr>
              <a:buFont typeface="Arial"/>
              <a:buChar char="•"/>
            </a:pPr>
            <a:r>
              <a:rPr lang="it-IT" sz="1400" b="0" dirty="0">
                <a:solidFill>
                  <a:srgbClr val="231C21"/>
                </a:solidFill>
              </a:rPr>
              <a:t>Con il badge che indica lo stato del crowdfunding mancante l’utente può </a:t>
            </a:r>
            <a:r>
              <a:rPr lang="it-IT" sz="1400" b="1" dirty="0">
                <a:solidFill>
                  <a:srgbClr val="231C21"/>
                </a:solidFill>
              </a:rPr>
              <a:t>scartare progetti ancora aperti</a:t>
            </a:r>
          </a:p>
          <a:p>
            <a:pPr marL="0" indent="0" algn="l">
              <a:lnSpc>
                <a:spcPct val="100000"/>
              </a:lnSpc>
              <a:spcBef>
                <a:spcPts val="900"/>
              </a:spcBef>
              <a:buNone/>
            </a:pPr>
            <a:r>
              <a:rPr lang="it-IT" sz="1100" b="0" dirty="0">
                <a:solidFill>
                  <a:srgbClr val="6B6168"/>
                </a:solidFill>
              </a:rPr>
              <a:t>Gravità 2: compare su ogni campagna attiva; l’equivoco si risolve con il testo «Scade il 17/11/2026» nella pagina progetto.</a:t>
            </a:r>
          </a:p>
        </p:txBody>
      </p:sp>
      <p:sp>
        <p:nvSpPr>
          <p:cNvPr id="13" name="Soluzione"/>
          <p:cNvSpPr/>
          <p:nvPr/>
        </p:nvSpPr>
        <p:spPr>
          <a:xfrm>
            <a:off x="609600" y="4394200"/>
            <a:ext cx="5130800" cy="1727200"/>
          </a:xfrm>
          <a:prstGeom prst="rect">
            <a:avLst/>
          </a:prstGeom>
          <a:solidFill>
            <a:srgbClr val="F3EEF1"/>
          </a:solidFill>
          <a:ln>
            <a:noFill/>
          </a:ln>
        </p:spPr>
        <p:txBody>
          <a:bodyPr wrap="square" lIns="152400" tIns="152400" rIns="152400" bIns="152400" anchor="t">
            <a:noAutofit/>
          </a:bodyPr>
          <a:lstStyle/>
          <a:p>
            <a:pPr marL="0" indent="0" algn="l">
              <a:lnSpc>
                <a:spcPct val="100000"/>
              </a:lnSpc>
              <a:spcBef>
                <a:spcPts val="0"/>
              </a:spcBef>
              <a:buNone/>
            </a:pPr>
            <a:r>
              <a:rPr lang="it-IT" sz="1400" b="1" dirty="0">
                <a:solidFill>
                  <a:srgbClr val="6C0850"/>
                </a:solidFill>
              </a:rPr>
              <a:t>Possibile soluzione</a:t>
            </a:r>
          </a:p>
          <a:p>
            <a:pPr marL="0" indent="0" algn="l">
              <a:lnSpc>
                <a:spcPct val="100000"/>
              </a:lnSpc>
              <a:spcBef>
                <a:spcPts val="400"/>
              </a:spcBef>
              <a:buNone/>
            </a:pPr>
            <a:r>
              <a:rPr lang="it-IT" sz="1400" b="0" dirty="0">
                <a:solidFill>
                  <a:srgbClr val="231C21"/>
                </a:solidFill>
              </a:rPr>
              <a:t>Scrivere «36 giorni rimasti» nelle card dell’elenco</a:t>
            </a:r>
          </a:p>
        </p:txBody>
      </p:sp>
      <p:sp>
        <p:nvSpPr>
          <p:cNvPr id="15" name="Pagine e task"/>
          <p:cNvSpPr txBox="1"/>
          <p:nvPr/>
        </p:nvSpPr>
        <p:spPr>
          <a:xfrm>
            <a:off x="609600" y="6273800"/>
            <a:ext cx="10972800" cy="381000"/>
          </a:xfrm>
          <a:prstGeom prst="rect">
            <a:avLst/>
          </a:prstGeom>
          <a:noFill/>
          <a:ln>
            <a:noFill/>
          </a:ln>
        </p:spPr>
        <p:txBody>
          <a:bodyPr wrap="square" lIns="0" tIns="0" rIns="0" bIns="0" anchor="b">
            <a:noAutofit/>
          </a:bodyPr>
          <a:lstStyle/>
          <a:p>
            <a:pPr marL="0" indent="0" algn="l">
              <a:lnSpc>
                <a:spcPct val="100000"/>
              </a:lnSpc>
              <a:spcBef>
                <a:spcPts val="0"/>
              </a:spcBef>
              <a:buNone/>
            </a:pPr>
            <a:r>
              <a:rPr lang="it-IT" sz="1000" b="1" dirty="0">
                <a:solidFill>
                  <a:srgbClr val="6B6168"/>
                </a:solidFill>
              </a:rPr>
              <a:t>Pagine:</a:t>
            </a:r>
            <a:r>
              <a:rPr lang="it-IT" sz="1000" b="0" dirty="0">
                <a:solidFill>
                  <a:srgbClr val="6B6168"/>
                </a:solidFill>
              </a:rPr>
              <a:t> Partner UniTo › Progetti · Ricerca progetti · Progetti «MILK-ACT» e «Mind the Climate»   </a:t>
            </a:r>
            <a:r>
              <a:rPr lang="it-IT" sz="1000" b="1" dirty="0">
                <a:solidFill>
                  <a:srgbClr val="6B6168"/>
                </a:solidFill>
              </a:rPr>
              <a:t>Task:</a:t>
            </a:r>
            <a:r>
              <a:rPr lang="it-IT" sz="1000" b="0" dirty="0">
                <a:solidFill>
                  <a:srgbClr val="6B6168"/>
                </a:solidFill>
              </a:rPr>
              <a:t> T2, T4</a:t>
            </a:r>
          </a:p>
        </p:txBody>
      </p:sp>
      <p:pic>
        <p:nvPicPr>
          <p:cNvPr id="8" name="Immagine 7">
            <a:extLst>
              <a:ext uri="{FF2B5EF4-FFF2-40B4-BE49-F238E27FC236}">
                <a16:creationId xmlns:a16="http://schemas.microsoft.com/office/drawing/2014/main" id="{C4C1C241-C7F4-C8C9-6979-94B77051114A}"/>
              </a:ext>
            </a:extLst>
          </p:cNvPr>
          <p:cNvPicPr>
            <a:picLocks noChangeAspect="1"/>
          </p:cNvPicPr>
          <p:nvPr/>
        </p:nvPicPr>
        <p:blipFill>
          <a:blip r:embed="rId2"/>
          <a:stretch>
            <a:fillRect/>
          </a:stretch>
        </p:blipFill>
        <p:spPr>
          <a:xfrm>
            <a:off x="6007694" y="2304785"/>
            <a:ext cx="5999148" cy="2451629"/>
          </a:xfrm>
          <a:prstGeom prst="rect">
            <a:avLst/>
          </a:prstGeom>
        </p:spPr>
      </p:pic>
      <p:sp>
        <p:nvSpPr>
          <p:cNvPr id="9" name="Sottolineatura giorni 1">
            <a:extLst>
              <a:ext uri="{FF2B5EF4-FFF2-40B4-BE49-F238E27FC236}">
                <a16:creationId xmlns:a16="http://schemas.microsoft.com/office/drawing/2014/main" id="{91DD8DEC-F21A-4F45-9895-0C5547D44B1F}"/>
              </a:ext>
            </a:extLst>
          </p:cNvPr>
          <p:cNvSpPr/>
          <p:nvPr/>
        </p:nvSpPr>
        <p:spPr>
          <a:xfrm>
            <a:off x="6705600" y="4260850"/>
            <a:ext cx="292100" cy="19050"/>
          </a:xfrm>
          <a:prstGeom prst="rect">
            <a:avLst/>
          </a:prstGeom>
          <a:solidFill>
            <a:srgbClr val="D6282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it-IT"/>
          </a:p>
        </p:txBody>
      </p:sp>
      <p:sp>
        <p:nvSpPr>
          <p:cNvPr id="16" name="Sottolineatura giorni 2">
            <a:extLst>
              <a:ext uri="{FF2B5EF4-FFF2-40B4-BE49-F238E27FC236}">
                <a16:creationId xmlns:a16="http://schemas.microsoft.com/office/drawing/2014/main" id="{8734C105-5FB6-454A-BE19-9027D3CCF781}"/>
              </a:ext>
            </a:extLst>
          </p:cNvPr>
          <p:cNvSpPr/>
          <p:nvPr/>
        </p:nvSpPr>
        <p:spPr>
          <a:xfrm>
            <a:off x="8153400" y="4260850"/>
            <a:ext cx="292100" cy="19050"/>
          </a:xfrm>
          <a:prstGeom prst="rect">
            <a:avLst/>
          </a:prstGeom>
          <a:solidFill>
            <a:srgbClr val="D6282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it-IT"/>
          </a:p>
        </p:txBody>
      </p:sp>
      <p:sp>
        <p:nvSpPr>
          <p:cNvPr id="17" name="Sottolineatura giorni 3">
            <a:extLst>
              <a:ext uri="{FF2B5EF4-FFF2-40B4-BE49-F238E27FC236}">
                <a16:creationId xmlns:a16="http://schemas.microsoft.com/office/drawing/2014/main" id="{415C9BE5-E73E-E641-B1C7-622A068A6014}"/>
              </a:ext>
            </a:extLst>
          </p:cNvPr>
          <p:cNvSpPr/>
          <p:nvPr/>
        </p:nvSpPr>
        <p:spPr>
          <a:xfrm>
            <a:off x="9613900" y="4260850"/>
            <a:ext cx="292100" cy="19050"/>
          </a:xfrm>
          <a:prstGeom prst="rect">
            <a:avLst/>
          </a:prstGeom>
          <a:solidFill>
            <a:srgbClr val="D6282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it-IT"/>
          </a:p>
        </p:txBody>
      </p:sp>
      <p:sp>
        <p:nvSpPr>
          <p:cNvPr id="18" name="Sottolineatura giorni 4">
            <a:extLst>
              <a:ext uri="{FF2B5EF4-FFF2-40B4-BE49-F238E27FC236}">
                <a16:creationId xmlns:a16="http://schemas.microsoft.com/office/drawing/2014/main" id="{BA50AF61-1BD5-D943-A5D8-4D38AE04726D}"/>
              </a:ext>
            </a:extLst>
          </p:cNvPr>
          <p:cNvSpPr/>
          <p:nvPr/>
        </p:nvSpPr>
        <p:spPr>
          <a:xfrm>
            <a:off x="11074400" y="4260850"/>
            <a:ext cx="292100" cy="19050"/>
          </a:xfrm>
          <a:prstGeom prst="rect">
            <a:avLst/>
          </a:prstGeom>
          <a:solidFill>
            <a:srgbClr val="D6282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it-IT"/>
          </a:p>
        </p:txBody>
      </p:sp>
    </p:spTree>
    <p:extLst>
      <p:ext uri="{BB962C8B-B14F-4D97-AF65-F5344CB8AC3E}">
        <p14:creationId xmlns:p14="http://schemas.microsoft.com/office/powerpoint/2010/main" val="22479835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569E635B-0C35-D42A-6449-A0E01A7D5EBC}"/>
              </a:ext>
            </a:extLst>
          </p:cNvPr>
          <p:cNvSpPr>
            <a:spLocks noGrp="1"/>
          </p:cNvSpPr>
          <p:nvPr>
            <p:ph type="title"/>
          </p:nvPr>
        </p:nvSpPr>
        <p:spPr>
          <a:xfrm>
            <a:off x="609600" y="558800"/>
            <a:ext cx="8991600" cy="889000"/>
          </a:xfrm>
        </p:spPr>
        <p:txBody>
          <a:bodyPr lIns="0" anchor="t"/>
          <a:lstStyle/>
          <a:p>
            <a:pPr>
              <a:lnSpc>
                <a:spcPct val="90000"/>
              </a:lnSpc>
            </a:pPr>
            <a:r>
              <a:rPr lang="it-IT" sz="2600" b="1" dirty="0"/>
              <a:t>Termini inglesi e gergo di piattaforma</a:t>
            </a:r>
          </a:p>
        </p:txBody>
      </p:sp>
      <p:sp>
        <p:nvSpPr>
          <p:cNvPr id="10" name="Euristica"/>
          <p:cNvSpPr txBox="1"/>
          <p:nvPr/>
        </p:nvSpPr>
        <p:spPr>
          <a:xfrm>
            <a:off x="609600" y="254000"/>
            <a:ext cx="8128000" cy="279400"/>
          </a:xfrm>
          <a:prstGeom prst="rect">
            <a:avLst/>
          </a:prstGeom>
          <a:noFill/>
          <a:ln>
            <a:noFill/>
          </a:ln>
        </p:spPr>
        <p:txBody>
          <a:bodyPr wrap="square" lIns="0" tIns="0" rIns="0" bIns="0" anchor="t">
            <a:noAutofit/>
          </a:bodyPr>
          <a:lstStyle/>
          <a:p>
            <a:pPr marL="0" indent="0" algn="l">
              <a:lnSpc>
                <a:spcPct val="100000"/>
              </a:lnSpc>
              <a:spcBef>
                <a:spcPts val="0"/>
              </a:spcBef>
              <a:buNone/>
            </a:pPr>
            <a:r>
              <a:rPr lang="it-IT" sz="1200" b="1" dirty="0">
                <a:solidFill>
                  <a:srgbClr val="6C0850"/>
                </a:solidFill>
              </a:rPr>
              <a:t>H2 · CORRISPONDENZA TRA SISTEMA E MONDO REALE</a:t>
            </a:r>
          </a:p>
        </p:txBody>
      </p:sp>
      <p:sp>
        <p:nvSpPr>
          <p:cNvPr id="12" name="Problema"/>
          <p:cNvSpPr txBox="1"/>
          <p:nvPr/>
        </p:nvSpPr>
        <p:spPr>
          <a:xfrm>
            <a:off x="609600" y="1625600"/>
            <a:ext cx="5130800" cy="2616200"/>
          </a:xfrm>
          <a:prstGeom prst="rect">
            <a:avLst/>
          </a:prstGeom>
          <a:noFill/>
          <a:ln>
            <a:noFill/>
          </a:ln>
        </p:spPr>
        <p:txBody>
          <a:bodyPr wrap="square" lIns="0" tIns="0" rIns="0" bIns="0" anchor="t">
            <a:noAutofit/>
          </a:bodyPr>
          <a:lstStyle/>
          <a:p>
            <a:pPr marL="0" indent="0" algn="l">
              <a:lnSpc>
                <a:spcPct val="100000"/>
              </a:lnSpc>
              <a:spcBef>
                <a:spcPts val="0"/>
              </a:spcBef>
              <a:buNone/>
            </a:pPr>
            <a:r>
              <a:rPr lang="it-IT" sz="1400" b="1" dirty="0">
                <a:solidFill>
                  <a:srgbClr val="6C0850"/>
                </a:solidFill>
              </a:rPr>
              <a:t>Problema</a:t>
            </a:r>
          </a:p>
          <a:p>
            <a:pPr marL="228600" indent="-228600" algn="l">
              <a:lnSpc>
                <a:spcPct val="100000"/>
              </a:lnSpc>
              <a:spcBef>
                <a:spcPts val="500"/>
              </a:spcBef>
              <a:buClr>
                <a:srgbClr val="6C0850"/>
              </a:buClr>
              <a:buFont typeface="Arial"/>
              <a:buChar char="•"/>
            </a:pPr>
            <a:r>
              <a:rPr lang="it-IT" sz="1400" b="0" dirty="0">
                <a:solidFill>
                  <a:srgbClr val="231C21"/>
                </a:solidFill>
              </a:rPr>
              <a:t>Etichette in inglese: «</a:t>
            </a:r>
            <a:r>
              <a:rPr lang="it-IT" sz="1400" b="0" dirty="0" err="1">
                <a:solidFill>
                  <a:srgbClr val="231C21"/>
                </a:solidFill>
              </a:rPr>
              <a:t>Overfunding</a:t>
            </a:r>
            <a:r>
              <a:rPr lang="it-IT" sz="1400" b="0" dirty="0">
                <a:solidFill>
                  <a:srgbClr val="231C21"/>
                </a:solidFill>
              </a:rPr>
              <a:t>», «Partnership», «by».</a:t>
            </a:r>
          </a:p>
          <a:p>
            <a:pPr marL="228600" indent="-228600">
              <a:spcBef>
                <a:spcPts val="500"/>
              </a:spcBef>
              <a:buClr>
                <a:srgbClr val="6C0850"/>
              </a:buClr>
              <a:buFont typeface="Arial"/>
              <a:buChar char="•"/>
            </a:pPr>
            <a:r>
              <a:rPr lang="it-IT" sz="1400" dirty="0">
                <a:solidFill>
                  <a:srgbClr val="231C21"/>
                </a:solidFill>
              </a:rPr>
              <a:t>«100% SUCCESSO» e «369% OVERFUNDING» sono </a:t>
            </a:r>
            <a:r>
              <a:rPr lang="it-IT" sz="1400" b="1" dirty="0">
                <a:solidFill>
                  <a:srgbClr val="231C21"/>
                </a:solidFill>
              </a:rPr>
              <a:t>termini del crowdfunding</a:t>
            </a:r>
            <a:r>
              <a:rPr lang="it-IT" sz="1400" dirty="0">
                <a:solidFill>
                  <a:srgbClr val="231C21"/>
                </a:solidFill>
              </a:rPr>
              <a:t> senza spiegazione né contesto</a:t>
            </a:r>
            <a:endParaRPr lang="it-IT" sz="1400" b="0" dirty="0">
              <a:solidFill>
                <a:srgbClr val="231C21"/>
              </a:solidFill>
            </a:endParaRPr>
          </a:p>
          <a:p>
            <a:pPr marL="228600" indent="-228600" algn="l">
              <a:lnSpc>
                <a:spcPct val="100000"/>
              </a:lnSpc>
              <a:spcBef>
                <a:spcPts val="500"/>
              </a:spcBef>
              <a:buClr>
                <a:srgbClr val="6C0850"/>
              </a:buClr>
              <a:buFont typeface="Arial"/>
              <a:buChar char="•"/>
            </a:pPr>
            <a:r>
              <a:rPr lang="it-IT" sz="1400" dirty="0">
                <a:solidFill>
                  <a:srgbClr val="231C21"/>
                </a:solidFill>
              </a:rPr>
              <a:t>Manca una traduzione completa del sito, in alcune sezioni ci sono didascalia in Italiano poi sotto in Inglese. Sarebbe meglio creare un’internazionalizzazione completa del sito</a:t>
            </a:r>
          </a:p>
          <a:p>
            <a:pPr marL="228600" indent="-228600" algn="l">
              <a:lnSpc>
                <a:spcPct val="100000"/>
              </a:lnSpc>
              <a:spcBef>
                <a:spcPts val="500"/>
              </a:spcBef>
              <a:buClr>
                <a:srgbClr val="6C0850"/>
              </a:buClr>
              <a:buFont typeface="Arial"/>
              <a:buChar char="•"/>
            </a:pPr>
            <a:r>
              <a:rPr lang="it-IT" sz="1400" dirty="0">
                <a:solidFill>
                  <a:srgbClr val="231C21"/>
                </a:solidFill>
              </a:rPr>
              <a:t>Anche il sito ufficiale UniTo non ha una versione dell’articolo che spiega l’iniziativa in lingua inglese</a:t>
            </a:r>
          </a:p>
          <a:p>
            <a:pPr algn="l">
              <a:lnSpc>
                <a:spcPct val="100000"/>
              </a:lnSpc>
              <a:spcBef>
                <a:spcPts val="500"/>
              </a:spcBef>
              <a:buClr>
                <a:srgbClr val="6C0850"/>
              </a:buClr>
            </a:pPr>
            <a:r>
              <a:rPr lang="it-IT" sz="1200" b="0" dirty="0">
                <a:solidFill>
                  <a:srgbClr val="6B6168"/>
                </a:solidFill>
              </a:rPr>
              <a:t>Gravità 2: termini isolati, quasi sempre comprensibili dal contesto, ma il pubblico include cittadini che non conoscono il crowdfunding. La mancanza della traduzione completa della lingua inglese però potrebbe penalizzare i progetti che potrebbero interessare anche all’estero</a:t>
            </a:r>
          </a:p>
        </p:txBody>
      </p:sp>
      <p:sp>
        <p:nvSpPr>
          <p:cNvPr id="13" name="Soluzione"/>
          <p:cNvSpPr/>
          <p:nvPr/>
        </p:nvSpPr>
        <p:spPr>
          <a:xfrm>
            <a:off x="609600" y="4394200"/>
            <a:ext cx="5130800" cy="1727200"/>
          </a:xfrm>
          <a:prstGeom prst="rect">
            <a:avLst/>
          </a:prstGeom>
          <a:solidFill>
            <a:srgbClr val="F3EEF1"/>
          </a:solidFill>
          <a:ln>
            <a:noFill/>
          </a:ln>
        </p:spPr>
        <p:txBody>
          <a:bodyPr wrap="square" lIns="152400" tIns="152400" rIns="152400" bIns="152400" anchor="t">
            <a:noAutofit/>
          </a:bodyPr>
          <a:lstStyle/>
          <a:p>
            <a:pPr marL="0" indent="0" algn="l">
              <a:lnSpc>
                <a:spcPct val="100000"/>
              </a:lnSpc>
              <a:spcBef>
                <a:spcPts val="0"/>
              </a:spcBef>
              <a:buNone/>
            </a:pPr>
            <a:r>
              <a:rPr lang="it-IT" sz="1400" b="1" dirty="0">
                <a:solidFill>
                  <a:srgbClr val="6C0850"/>
                </a:solidFill>
              </a:rPr>
              <a:t>Possibile soluzione</a:t>
            </a:r>
          </a:p>
          <a:p>
            <a:pPr marL="0" indent="0" algn="l">
              <a:lnSpc>
                <a:spcPct val="100000"/>
              </a:lnSpc>
              <a:spcBef>
                <a:spcPts val="0"/>
              </a:spcBef>
              <a:buNone/>
            </a:pPr>
            <a:endParaRPr lang="it-IT" sz="1400" b="1" dirty="0">
              <a:solidFill>
                <a:srgbClr val="6C0850"/>
              </a:solidFill>
            </a:endParaRPr>
          </a:p>
          <a:p>
            <a:pPr marL="0" indent="0" algn="l">
              <a:lnSpc>
                <a:spcPct val="100000"/>
              </a:lnSpc>
              <a:spcBef>
                <a:spcPts val="0"/>
              </a:spcBef>
              <a:buNone/>
            </a:pPr>
            <a:r>
              <a:rPr lang="it-IT" sz="1400" dirty="0">
                <a:solidFill>
                  <a:srgbClr val="231C21"/>
                </a:solidFill>
              </a:rPr>
              <a:t>Spiegare il gergo tramite </a:t>
            </a:r>
            <a:r>
              <a:rPr lang="it-IT" sz="1400" dirty="0" err="1">
                <a:solidFill>
                  <a:srgbClr val="231C21"/>
                </a:solidFill>
              </a:rPr>
              <a:t>tooltip</a:t>
            </a:r>
            <a:r>
              <a:rPr lang="it-IT" sz="1400" dirty="0">
                <a:solidFill>
                  <a:srgbClr val="231C21"/>
                </a:solidFill>
              </a:rPr>
              <a:t>. Inserire un’internazionalizzazione completa del sito in modo che i testi diventino completamente in inglese se il sito riconosce che il visitatore non è italiano.</a:t>
            </a:r>
          </a:p>
        </p:txBody>
      </p:sp>
      <p:sp>
        <p:nvSpPr>
          <p:cNvPr id="16" name="Pagine e task"/>
          <p:cNvSpPr txBox="1"/>
          <p:nvPr/>
        </p:nvSpPr>
        <p:spPr>
          <a:xfrm>
            <a:off x="609600" y="6273800"/>
            <a:ext cx="10972800" cy="381000"/>
          </a:xfrm>
          <a:prstGeom prst="rect">
            <a:avLst/>
          </a:prstGeom>
          <a:noFill/>
          <a:ln>
            <a:noFill/>
          </a:ln>
        </p:spPr>
        <p:txBody>
          <a:bodyPr wrap="square" lIns="0" tIns="0" rIns="0" bIns="0" anchor="b">
            <a:noAutofit/>
          </a:bodyPr>
          <a:lstStyle/>
          <a:p>
            <a:pPr marL="0" indent="0" algn="l">
              <a:lnSpc>
                <a:spcPct val="100000"/>
              </a:lnSpc>
              <a:spcBef>
                <a:spcPts val="0"/>
              </a:spcBef>
              <a:buNone/>
            </a:pPr>
            <a:r>
              <a:rPr lang="it-IT" sz="1000" b="1" dirty="0">
                <a:solidFill>
                  <a:srgbClr val="6B6168"/>
                </a:solidFill>
              </a:rPr>
              <a:t>Pagine:</a:t>
            </a:r>
            <a:r>
              <a:rPr lang="it-IT" sz="1000" b="0" dirty="0">
                <a:solidFill>
                  <a:srgbClr val="6B6168"/>
                </a:solidFill>
              </a:rPr>
              <a:t> Partner UniTo › Progetti e Partnership </a:t>
            </a:r>
            <a:r>
              <a:rPr lang="it-IT" sz="1000" dirty="0">
                <a:solidFill>
                  <a:srgbClr val="6B6168"/>
                </a:solidFill>
              </a:rPr>
              <a:t> </a:t>
            </a:r>
            <a:r>
              <a:rPr lang="it-IT" sz="1000" b="1" dirty="0">
                <a:solidFill>
                  <a:srgbClr val="6B6168"/>
                </a:solidFill>
              </a:rPr>
              <a:t>Task:</a:t>
            </a:r>
            <a:r>
              <a:rPr lang="it-IT" sz="1000" b="0" dirty="0">
                <a:solidFill>
                  <a:srgbClr val="6B6168"/>
                </a:solidFill>
              </a:rPr>
              <a:t> T1, T2, T3, T4, T5, T6</a:t>
            </a:r>
          </a:p>
        </p:txBody>
      </p:sp>
      <p:pic>
        <p:nvPicPr>
          <p:cNvPr id="5" name="Immagine 4">
            <a:extLst>
              <a:ext uri="{FF2B5EF4-FFF2-40B4-BE49-F238E27FC236}">
                <a16:creationId xmlns:a16="http://schemas.microsoft.com/office/drawing/2014/main" id="{6293090B-78D4-6C7E-48E5-70973D65FAFC}"/>
              </a:ext>
            </a:extLst>
          </p:cNvPr>
          <p:cNvPicPr>
            <a:picLocks noChangeAspect="1"/>
          </p:cNvPicPr>
          <p:nvPr/>
        </p:nvPicPr>
        <p:blipFill>
          <a:blip r:embed="rId2"/>
          <a:stretch>
            <a:fillRect/>
          </a:stretch>
        </p:blipFill>
        <p:spPr>
          <a:xfrm>
            <a:off x="6096000" y="2108233"/>
            <a:ext cx="5643592" cy="3174933"/>
          </a:xfrm>
          <a:prstGeom prst="rect">
            <a:avLst/>
          </a:prstGeom>
        </p:spPr>
      </p:pic>
      <p:sp>
        <p:nvSpPr>
          <p:cNvPr id="17" name="Ovale 16">
            <a:extLst>
              <a:ext uri="{FF2B5EF4-FFF2-40B4-BE49-F238E27FC236}">
                <a16:creationId xmlns:a16="http://schemas.microsoft.com/office/drawing/2014/main" id="{BBF85C62-A150-5971-B280-53C8E02B23F5}"/>
              </a:ext>
            </a:extLst>
          </p:cNvPr>
          <p:cNvSpPr/>
          <p:nvPr/>
        </p:nvSpPr>
        <p:spPr>
          <a:xfrm>
            <a:off x="9743091" y="2538248"/>
            <a:ext cx="536027" cy="504496"/>
          </a:xfrm>
          <a:prstGeom prst="ellipse">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8" name="Badge gravità">
            <a:extLst>
              <a:ext uri="{FF2B5EF4-FFF2-40B4-BE49-F238E27FC236}">
                <a16:creationId xmlns:a16="http://schemas.microsoft.com/office/drawing/2014/main" id="{67E13EA2-4F4D-1709-F65A-D37F4986DEC0}"/>
              </a:ext>
            </a:extLst>
          </p:cNvPr>
          <p:cNvSpPr/>
          <p:nvPr/>
        </p:nvSpPr>
        <p:spPr>
          <a:xfrm>
            <a:off x="9855200" y="381000"/>
            <a:ext cx="1727200" cy="736600"/>
          </a:xfrm>
          <a:prstGeom prst="roundRect">
            <a:avLst/>
          </a:prstGeom>
          <a:solidFill>
            <a:srgbClr val="C7A2BB"/>
          </a:solidFill>
          <a:ln>
            <a:noFill/>
          </a:ln>
        </p:spPr>
        <p:txBody>
          <a:bodyPr wrap="square" lIns="0" tIns="0" rIns="0" bIns="0" anchor="ctr">
            <a:noAutofit/>
          </a:bodyPr>
          <a:lstStyle/>
          <a:p>
            <a:pPr marL="0" indent="0" algn="ctr">
              <a:lnSpc>
                <a:spcPct val="100000"/>
              </a:lnSpc>
              <a:spcBef>
                <a:spcPts val="0"/>
              </a:spcBef>
              <a:buNone/>
            </a:pPr>
            <a:r>
              <a:rPr lang="it-IT" sz="1000" b="1" dirty="0">
                <a:solidFill>
                  <a:srgbClr val="41002F"/>
                </a:solidFill>
              </a:rPr>
              <a:t>GRAVITÀ</a:t>
            </a:r>
          </a:p>
          <a:p>
            <a:pPr marL="0" indent="0" algn="ctr">
              <a:lnSpc>
                <a:spcPct val="100000"/>
              </a:lnSpc>
              <a:spcBef>
                <a:spcPts val="0"/>
              </a:spcBef>
              <a:buNone/>
            </a:pPr>
            <a:r>
              <a:rPr lang="it-IT" sz="1800" b="1" dirty="0">
                <a:solidFill>
                  <a:srgbClr val="41002F"/>
                </a:solidFill>
              </a:rPr>
              <a:t>2 · Minore</a:t>
            </a:r>
          </a:p>
        </p:txBody>
      </p:sp>
    </p:spTree>
    <p:extLst>
      <p:ext uri="{BB962C8B-B14F-4D97-AF65-F5344CB8AC3E}">
        <p14:creationId xmlns:p14="http://schemas.microsoft.com/office/powerpoint/2010/main" val="42109996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206371BE-5DA4-B6CA-D77C-8B6E411C33A9}"/>
              </a:ext>
            </a:extLst>
          </p:cNvPr>
          <p:cNvSpPr>
            <a:spLocks noGrp="1"/>
          </p:cNvSpPr>
          <p:nvPr>
            <p:ph type="title"/>
          </p:nvPr>
        </p:nvSpPr>
        <p:spPr>
          <a:xfrm>
            <a:off x="609600" y="558800"/>
            <a:ext cx="8991600" cy="889000"/>
          </a:xfrm>
        </p:spPr>
        <p:txBody>
          <a:bodyPr anchor="t"/>
          <a:lstStyle/>
          <a:p>
            <a:pPr>
              <a:lnSpc>
                <a:spcPct val="90000"/>
              </a:lnSpc>
            </a:pPr>
            <a:r>
              <a:rPr lang="it-IT" sz="2600" b="1" dirty="0"/>
              <a:t>Dagli autori dei progetti non si capisce che sono gruppi di ricerca UniTo</a:t>
            </a:r>
          </a:p>
        </p:txBody>
      </p:sp>
      <p:sp>
        <p:nvSpPr>
          <p:cNvPr id="10" name="Euristica"/>
          <p:cNvSpPr txBox="1"/>
          <p:nvPr/>
        </p:nvSpPr>
        <p:spPr>
          <a:xfrm>
            <a:off x="609600" y="254000"/>
            <a:ext cx="8890000" cy="279400"/>
          </a:xfrm>
          <a:prstGeom prst="rect">
            <a:avLst/>
          </a:prstGeom>
          <a:noFill/>
          <a:ln>
            <a:noFill/>
          </a:ln>
        </p:spPr>
        <p:txBody>
          <a:bodyPr wrap="square" lIns="0" tIns="0" rIns="0" bIns="0" anchor="t">
            <a:noAutofit/>
          </a:bodyPr>
          <a:lstStyle/>
          <a:p>
            <a:pPr marL="0" indent="0" algn="l">
              <a:lnSpc>
                <a:spcPct val="100000"/>
              </a:lnSpc>
              <a:spcBef>
                <a:spcPts val="0"/>
              </a:spcBef>
              <a:buNone/>
            </a:pPr>
            <a:r>
              <a:rPr lang="it-IT" sz="1200" b="1" dirty="0">
                <a:solidFill>
                  <a:srgbClr val="6C0850"/>
                </a:solidFill>
              </a:rPr>
              <a:t>H2 · CORRISPONDENZA TRA SISTEMA E MONDO REALE</a:t>
            </a:r>
          </a:p>
        </p:txBody>
      </p:sp>
      <p:sp>
        <p:nvSpPr>
          <p:cNvPr id="11" name="Badge gravità"/>
          <p:cNvSpPr/>
          <p:nvPr/>
        </p:nvSpPr>
        <p:spPr>
          <a:xfrm>
            <a:off x="9855200" y="381000"/>
            <a:ext cx="1727200" cy="736600"/>
          </a:xfrm>
          <a:prstGeom prst="roundRect">
            <a:avLst/>
          </a:prstGeom>
          <a:solidFill>
            <a:srgbClr val="C7A2BB"/>
          </a:solidFill>
          <a:ln>
            <a:noFill/>
          </a:ln>
        </p:spPr>
        <p:txBody>
          <a:bodyPr wrap="square" lIns="0" tIns="0" rIns="0" bIns="0" anchor="ctr">
            <a:noAutofit/>
          </a:bodyPr>
          <a:lstStyle/>
          <a:p>
            <a:pPr marL="0" indent="0" algn="ctr">
              <a:lnSpc>
                <a:spcPct val="100000"/>
              </a:lnSpc>
              <a:spcBef>
                <a:spcPts val="0"/>
              </a:spcBef>
              <a:buNone/>
            </a:pPr>
            <a:r>
              <a:rPr lang="it-IT" sz="1000" b="1" dirty="0">
                <a:solidFill>
                  <a:srgbClr val="41002F"/>
                </a:solidFill>
              </a:rPr>
              <a:t>GRAVITÀ</a:t>
            </a:r>
          </a:p>
          <a:p>
            <a:pPr marL="0" indent="0" algn="ctr">
              <a:lnSpc>
                <a:spcPct val="100000"/>
              </a:lnSpc>
              <a:spcBef>
                <a:spcPts val="0"/>
              </a:spcBef>
              <a:buNone/>
            </a:pPr>
            <a:r>
              <a:rPr lang="it-IT" sz="1800" b="1" dirty="0">
                <a:solidFill>
                  <a:srgbClr val="41002F"/>
                </a:solidFill>
              </a:rPr>
              <a:t>2 · Minore</a:t>
            </a:r>
          </a:p>
        </p:txBody>
      </p:sp>
      <p:sp>
        <p:nvSpPr>
          <p:cNvPr id="12" name="Problema"/>
          <p:cNvSpPr txBox="1"/>
          <p:nvPr/>
        </p:nvSpPr>
        <p:spPr>
          <a:xfrm>
            <a:off x="609600" y="1625600"/>
            <a:ext cx="5130800" cy="2616200"/>
          </a:xfrm>
          <a:prstGeom prst="rect">
            <a:avLst/>
          </a:prstGeom>
          <a:noFill/>
          <a:ln>
            <a:noFill/>
          </a:ln>
        </p:spPr>
        <p:txBody>
          <a:bodyPr wrap="square" lIns="0" tIns="0" rIns="0" bIns="0" anchor="t">
            <a:noAutofit/>
          </a:bodyPr>
          <a:lstStyle/>
          <a:p>
            <a:pPr marL="0" indent="0" algn="l">
              <a:lnSpc>
                <a:spcPct val="100000"/>
              </a:lnSpc>
              <a:spcBef>
                <a:spcPts val="0"/>
              </a:spcBef>
              <a:buNone/>
            </a:pPr>
            <a:r>
              <a:rPr lang="it-IT" sz="1400" b="1" dirty="0">
                <a:solidFill>
                  <a:srgbClr val="6C0850"/>
                </a:solidFill>
              </a:rPr>
              <a:t>Problema</a:t>
            </a:r>
          </a:p>
          <a:p>
            <a:pPr marL="228600" indent="-228600" algn="l">
              <a:lnSpc>
                <a:spcPct val="100000"/>
              </a:lnSpc>
              <a:spcBef>
                <a:spcPts val="500"/>
              </a:spcBef>
              <a:buClr>
                <a:srgbClr val="6C0850"/>
              </a:buClr>
              <a:buFont typeface="Arial"/>
              <a:buChar char="•"/>
            </a:pPr>
            <a:r>
              <a:rPr lang="it-IT" sz="1400" b="0" dirty="0">
                <a:solidFill>
                  <a:srgbClr val="231C21"/>
                </a:solidFill>
              </a:rPr>
              <a:t>Le card mostrano autori eterogenei: «by VIRMOLAB - UniTo», «by Departments &amp; Dragons», «by Team GaIA»</a:t>
            </a:r>
          </a:p>
          <a:p>
            <a:pPr marL="228600" indent="-228600" algn="l">
              <a:lnSpc>
                <a:spcPct val="100000"/>
              </a:lnSpc>
              <a:spcBef>
                <a:spcPts val="500"/>
              </a:spcBef>
              <a:buClr>
                <a:srgbClr val="6C0850"/>
              </a:buClr>
              <a:buFont typeface="Arial"/>
              <a:buChar char="•"/>
            </a:pPr>
            <a:r>
              <a:rPr lang="it-IT" sz="1400" b="0" dirty="0">
                <a:solidFill>
                  <a:srgbClr val="231C21"/>
                </a:solidFill>
              </a:rPr>
              <a:t>Solo alcuni nomi richiamano l’Ateneo, soprattutto </a:t>
            </a:r>
            <a:r>
              <a:rPr lang="it-IT" sz="1400" b="1" dirty="0">
                <a:solidFill>
                  <a:srgbClr val="231C21"/>
                </a:solidFill>
              </a:rPr>
              <a:t>nei progetti conclusi</a:t>
            </a:r>
          </a:p>
          <a:p>
            <a:pPr marL="228600" indent="-228600" algn="l">
              <a:lnSpc>
                <a:spcPct val="100000"/>
              </a:lnSpc>
              <a:spcBef>
                <a:spcPts val="500"/>
              </a:spcBef>
              <a:buClr>
                <a:srgbClr val="6C0850"/>
              </a:buClr>
              <a:buFont typeface="Arial"/>
              <a:buChar char="•"/>
            </a:pPr>
            <a:r>
              <a:rPr lang="it-IT" sz="1400" b="0" dirty="0">
                <a:solidFill>
                  <a:srgbClr val="231C21"/>
                </a:solidFill>
              </a:rPr>
              <a:t>Il cittadino non ha la conferma di sostenere la </a:t>
            </a:r>
            <a:r>
              <a:rPr lang="it-IT" sz="1400" b="1" dirty="0">
                <a:solidFill>
                  <a:srgbClr val="231C21"/>
                </a:solidFill>
              </a:rPr>
              <a:t>ricerca universitaria</a:t>
            </a:r>
          </a:p>
          <a:p>
            <a:pPr marL="0" indent="0" algn="l">
              <a:lnSpc>
                <a:spcPct val="100000"/>
              </a:lnSpc>
              <a:spcBef>
                <a:spcPts val="900"/>
              </a:spcBef>
              <a:buNone/>
            </a:pPr>
            <a:r>
              <a:rPr lang="it-IT" sz="1100" b="0" dirty="0">
                <a:solidFill>
                  <a:srgbClr val="6B6168"/>
                </a:solidFill>
              </a:rPr>
              <a:t>Gravità 2: Se si accede alla pagina del progetto si capisce chiaramente dalla panoramica che si tratta di un progetto UniTo, tuttavia questo richiede dei click in più evitabili.</a:t>
            </a:r>
          </a:p>
        </p:txBody>
      </p:sp>
      <p:sp>
        <p:nvSpPr>
          <p:cNvPr id="13" name="Soluzione"/>
          <p:cNvSpPr/>
          <p:nvPr/>
        </p:nvSpPr>
        <p:spPr>
          <a:xfrm>
            <a:off x="609600" y="4394200"/>
            <a:ext cx="5130800" cy="1727200"/>
          </a:xfrm>
          <a:prstGeom prst="rect">
            <a:avLst/>
          </a:prstGeom>
          <a:solidFill>
            <a:srgbClr val="F3EEF1"/>
          </a:solidFill>
          <a:ln>
            <a:noFill/>
          </a:ln>
        </p:spPr>
        <p:txBody>
          <a:bodyPr wrap="square" lIns="152400" tIns="152400" rIns="152400" bIns="152400" anchor="t">
            <a:noAutofit/>
          </a:bodyPr>
          <a:lstStyle/>
          <a:p>
            <a:pPr marL="0" indent="0" algn="l">
              <a:lnSpc>
                <a:spcPct val="100000"/>
              </a:lnSpc>
              <a:spcBef>
                <a:spcPts val="0"/>
              </a:spcBef>
              <a:buNone/>
            </a:pPr>
            <a:r>
              <a:rPr lang="it-IT" sz="1400" b="1" dirty="0">
                <a:solidFill>
                  <a:srgbClr val="6C0850"/>
                </a:solidFill>
              </a:rPr>
              <a:t>Possibile soluzione</a:t>
            </a:r>
          </a:p>
          <a:p>
            <a:pPr marL="0" indent="0" algn="l">
              <a:lnSpc>
                <a:spcPct val="100000"/>
              </a:lnSpc>
              <a:spcBef>
                <a:spcPts val="400"/>
              </a:spcBef>
              <a:buNone/>
            </a:pPr>
            <a:r>
              <a:rPr lang="it-IT" sz="1400" b="0" dirty="0">
                <a:solidFill>
                  <a:srgbClr val="231C21"/>
                </a:solidFill>
              </a:rPr>
              <a:t>Il nome del team dovrebbe seguire una convenzione standard del tipo: «</a:t>
            </a:r>
            <a:r>
              <a:rPr lang="it-IT" sz="1400" b="0" dirty="0" err="1">
                <a:solidFill>
                  <a:srgbClr val="231C21"/>
                </a:solidFill>
              </a:rPr>
              <a:t>NomeGruppo</a:t>
            </a:r>
            <a:r>
              <a:rPr lang="it-IT" sz="1400" b="0" dirty="0">
                <a:solidFill>
                  <a:srgbClr val="231C21"/>
                </a:solidFill>
              </a:rPr>
              <a:t> – UniTo»</a:t>
            </a:r>
          </a:p>
        </p:txBody>
      </p:sp>
      <p:sp>
        <p:nvSpPr>
          <p:cNvPr id="15" name="Pagine e task"/>
          <p:cNvSpPr txBox="1"/>
          <p:nvPr/>
        </p:nvSpPr>
        <p:spPr>
          <a:xfrm>
            <a:off x="609600" y="6273800"/>
            <a:ext cx="10972800" cy="381000"/>
          </a:xfrm>
          <a:prstGeom prst="rect">
            <a:avLst/>
          </a:prstGeom>
          <a:noFill/>
          <a:ln>
            <a:noFill/>
          </a:ln>
        </p:spPr>
        <p:txBody>
          <a:bodyPr wrap="square" lIns="0" tIns="0" rIns="0" bIns="0" anchor="b">
            <a:noAutofit/>
          </a:bodyPr>
          <a:lstStyle/>
          <a:p>
            <a:pPr marL="0" indent="0" algn="l">
              <a:lnSpc>
                <a:spcPct val="100000"/>
              </a:lnSpc>
              <a:spcBef>
                <a:spcPts val="0"/>
              </a:spcBef>
              <a:buNone/>
            </a:pPr>
            <a:r>
              <a:rPr lang="it-IT" sz="1000" b="1" dirty="0">
                <a:solidFill>
                  <a:srgbClr val="6B6168"/>
                </a:solidFill>
              </a:rPr>
              <a:t>Pagina:</a:t>
            </a:r>
            <a:r>
              <a:rPr lang="it-IT" sz="1000" b="0" dirty="0">
                <a:solidFill>
                  <a:srgbClr val="6B6168"/>
                </a:solidFill>
              </a:rPr>
              <a:t> Partner UniTo </a:t>
            </a:r>
            <a:r>
              <a:rPr lang="it-IT" sz="1000" b="0">
                <a:solidFill>
                  <a:srgbClr val="6B6168"/>
                </a:solidFill>
              </a:rPr>
              <a:t>› Progetti   </a:t>
            </a:r>
            <a:r>
              <a:rPr lang="it-IT" sz="1000" b="1" dirty="0">
                <a:solidFill>
                  <a:srgbClr val="6B6168"/>
                </a:solidFill>
              </a:rPr>
              <a:t>Task:</a:t>
            </a:r>
            <a:r>
              <a:rPr lang="it-IT" sz="1000" b="0" dirty="0">
                <a:solidFill>
                  <a:srgbClr val="6B6168"/>
                </a:solidFill>
              </a:rPr>
              <a:t> T2</a:t>
            </a:r>
            <a:r>
              <a:rPr lang="it-IT" sz="1000" b="0">
                <a:solidFill>
                  <a:srgbClr val="6B6168"/>
                </a:solidFill>
              </a:rPr>
              <a:t>, T3</a:t>
            </a:r>
            <a:endParaRPr lang="it-IT" sz="1000" b="0" dirty="0">
              <a:solidFill>
                <a:srgbClr val="6B6168"/>
              </a:solidFill>
            </a:endParaRPr>
          </a:p>
        </p:txBody>
      </p:sp>
      <p:pic>
        <p:nvPicPr>
          <p:cNvPr id="4" name="Immagine 3">
            <a:extLst>
              <a:ext uri="{FF2B5EF4-FFF2-40B4-BE49-F238E27FC236}">
                <a16:creationId xmlns:a16="http://schemas.microsoft.com/office/drawing/2014/main" id="{BB64827B-595C-BEAC-A1BC-0CEBB2F1C368}"/>
              </a:ext>
            </a:extLst>
          </p:cNvPr>
          <p:cNvPicPr>
            <a:picLocks noChangeAspect="1"/>
          </p:cNvPicPr>
          <p:nvPr/>
        </p:nvPicPr>
        <p:blipFill>
          <a:blip r:embed="rId2"/>
          <a:stretch>
            <a:fillRect/>
          </a:stretch>
        </p:blipFill>
        <p:spPr>
          <a:xfrm>
            <a:off x="6096000" y="2274797"/>
            <a:ext cx="5912069" cy="2841805"/>
          </a:xfrm>
          <a:prstGeom prst="rect">
            <a:avLst/>
          </a:prstGeom>
        </p:spPr>
      </p:pic>
      <p:sp>
        <p:nvSpPr>
          <p:cNvPr id="9" name="Sottolineatura CultMeat">
            <a:extLst>
              <a:ext uri="{FF2B5EF4-FFF2-40B4-BE49-F238E27FC236}">
                <a16:creationId xmlns:a16="http://schemas.microsoft.com/office/drawing/2014/main" id="{BA325BA1-6627-5144-9D49-941DE341B82B}"/>
              </a:ext>
            </a:extLst>
          </p:cNvPr>
          <p:cNvSpPr/>
          <p:nvPr/>
        </p:nvSpPr>
        <p:spPr>
          <a:xfrm>
            <a:off x="6667500" y="4730750"/>
            <a:ext cx="533400" cy="25400"/>
          </a:xfrm>
          <a:prstGeom prst="rect">
            <a:avLst/>
          </a:prstGeom>
          <a:solidFill>
            <a:srgbClr val="2E9E44"/>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it-IT"/>
          </a:p>
        </p:txBody>
      </p:sp>
      <p:sp>
        <p:nvSpPr>
          <p:cNvPr id="16" name="Sottolineatura Departments">
            <a:extLst>
              <a:ext uri="{FF2B5EF4-FFF2-40B4-BE49-F238E27FC236}">
                <a16:creationId xmlns:a16="http://schemas.microsoft.com/office/drawing/2014/main" id="{E6138ED4-D173-2846-94B1-44E684732469}"/>
              </a:ext>
            </a:extLst>
          </p:cNvPr>
          <p:cNvSpPr/>
          <p:nvPr/>
        </p:nvSpPr>
        <p:spPr>
          <a:xfrm>
            <a:off x="7975600" y="4730750"/>
            <a:ext cx="800100" cy="25400"/>
          </a:xfrm>
          <a:prstGeom prst="rect">
            <a:avLst/>
          </a:prstGeom>
          <a:solidFill>
            <a:srgbClr val="D6282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it-IT"/>
          </a:p>
        </p:txBody>
      </p:sp>
      <p:sp>
        <p:nvSpPr>
          <p:cNvPr id="17" name="Sottolineatura Citizen">
            <a:extLst>
              <a:ext uri="{FF2B5EF4-FFF2-40B4-BE49-F238E27FC236}">
                <a16:creationId xmlns:a16="http://schemas.microsoft.com/office/drawing/2014/main" id="{EFCCCD18-B4BF-1748-ABA9-F3B0A60D0922}"/>
              </a:ext>
            </a:extLst>
          </p:cNvPr>
          <p:cNvSpPr/>
          <p:nvPr/>
        </p:nvSpPr>
        <p:spPr>
          <a:xfrm>
            <a:off x="9575800" y="4730750"/>
            <a:ext cx="469900" cy="25400"/>
          </a:xfrm>
          <a:prstGeom prst="rect">
            <a:avLst/>
          </a:prstGeom>
          <a:solidFill>
            <a:srgbClr val="D6282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it-IT"/>
          </a:p>
        </p:txBody>
      </p:sp>
      <p:sp>
        <p:nvSpPr>
          <p:cNvPr id="18" name="Sottolineatura GaIA">
            <a:extLst>
              <a:ext uri="{FF2B5EF4-FFF2-40B4-BE49-F238E27FC236}">
                <a16:creationId xmlns:a16="http://schemas.microsoft.com/office/drawing/2014/main" id="{809B09CB-47BF-F641-9B48-31BE776268BD}"/>
              </a:ext>
            </a:extLst>
          </p:cNvPr>
          <p:cNvSpPr/>
          <p:nvPr/>
        </p:nvSpPr>
        <p:spPr>
          <a:xfrm>
            <a:off x="11036300" y="4730750"/>
            <a:ext cx="406400" cy="25400"/>
          </a:xfrm>
          <a:prstGeom prst="rect">
            <a:avLst/>
          </a:prstGeom>
          <a:solidFill>
            <a:srgbClr val="D6282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it-IT"/>
          </a:p>
        </p:txBody>
      </p:sp>
    </p:spTree>
    <p:extLst>
      <p:ext uri="{BB962C8B-B14F-4D97-AF65-F5344CB8AC3E}">
        <p14:creationId xmlns:p14="http://schemas.microsoft.com/office/powerpoint/2010/main" val="21290483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2C6C7480-4E7A-7956-D2AA-6CCE0AFAC77D}"/>
              </a:ext>
            </a:extLst>
          </p:cNvPr>
          <p:cNvSpPr>
            <a:spLocks noGrp="1"/>
          </p:cNvSpPr>
          <p:nvPr>
            <p:ph type="title"/>
          </p:nvPr>
        </p:nvSpPr>
        <p:spPr>
          <a:xfrm>
            <a:off x="609600" y="558800"/>
            <a:ext cx="8991600" cy="889000"/>
          </a:xfrm>
        </p:spPr>
        <p:txBody>
          <a:bodyPr lIns="0" anchor="t"/>
          <a:lstStyle/>
          <a:p>
            <a:pPr>
              <a:lnSpc>
                <a:spcPct val="90000"/>
              </a:lnSpc>
            </a:pPr>
            <a:r>
              <a:rPr lang="it-IT" sz="2600" b="1" dirty="0"/>
              <a:t>I pulsanti aprono nuove schede e non avvisano quando si esce dal sito</a:t>
            </a:r>
          </a:p>
        </p:txBody>
      </p:sp>
      <p:sp>
        <p:nvSpPr>
          <p:cNvPr id="10" name="Euristica"/>
          <p:cNvSpPr txBox="1"/>
          <p:nvPr/>
        </p:nvSpPr>
        <p:spPr>
          <a:xfrm>
            <a:off x="609600" y="254000"/>
            <a:ext cx="8890000" cy="279400"/>
          </a:xfrm>
          <a:prstGeom prst="rect">
            <a:avLst/>
          </a:prstGeom>
          <a:noFill/>
          <a:ln>
            <a:noFill/>
          </a:ln>
        </p:spPr>
        <p:txBody>
          <a:bodyPr wrap="square" lIns="0" tIns="0" rIns="0" bIns="0" anchor="t">
            <a:noAutofit/>
          </a:bodyPr>
          <a:lstStyle/>
          <a:p>
            <a:pPr marL="0" indent="0" algn="l">
              <a:lnSpc>
                <a:spcPct val="100000"/>
              </a:lnSpc>
              <a:spcBef>
                <a:spcPts val="0"/>
              </a:spcBef>
              <a:buNone/>
            </a:pPr>
            <a:r>
              <a:rPr lang="it-IT" sz="1200" b="1" dirty="0">
                <a:solidFill>
                  <a:srgbClr val="6C0850"/>
                </a:solidFill>
              </a:rPr>
              <a:t>H3 · CONTROLLO E LIBERTÀ </a:t>
            </a:r>
          </a:p>
        </p:txBody>
      </p:sp>
      <p:sp>
        <p:nvSpPr>
          <p:cNvPr id="12" name="Problema"/>
          <p:cNvSpPr txBox="1"/>
          <p:nvPr/>
        </p:nvSpPr>
        <p:spPr>
          <a:xfrm>
            <a:off x="609600" y="1625600"/>
            <a:ext cx="5130800" cy="2616200"/>
          </a:xfrm>
          <a:prstGeom prst="rect">
            <a:avLst/>
          </a:prstGeom>
          <a:noFill/>
          <a:ln>
            <a:noFill/>
          </a:ln>
        </p:spPr>
        <p:txBody>
          <a:bodyPr wrap="square" lIns="0" tIns="0" rIns="0" bIns="0" anchor="t">
            <a:noAutofit/>
          </a:bodyPr>
          <a:lstStyle/>
          <a:p>
            <a:pPr marL="0" indent="0" algn="l">
              <a:lnSpc>
                <a:spcPct val="100000"/>
              </a:lnSpc>
              <a:spcBef>
                <a:spcPts val="0"/>
              </a:spcBef>
              <a:buNone/>
            </a:pPr>
            <a:r>
              <a:rPr lang="it-IT" sz="1400" b="1" dirty="0">
                <a:solidFill>
                  <a:srgbClr val="6C0850"/>
                </a:solidFill>
              </a:rPr>
              <a:t>Problema</a:t>
            </a:r>
          </a:p>
          <a:p>
            <a:pPr marL="228600" indent="-228600" algn="l">
              <a:lnSpc>
                <a:spcPct val="100000"/>
              </a:lnSpc>
              <a:spcBef>
                <a:spcPts val="500"/>
              </a:spcBef>
              <a:buClr>
                <a:srgbClr val="6C0850"/>
              </a:buClr>
              <a:buFont typeface="Arial"/>
              <a:buChar char="•"/>
            </a:pPr>
            <a:r>
              <a:rPr lang="it-IT" sz="1400" b="0" dirty="0">
                <a:solidFill>
                  <a:srgbClr val="231C21"/>
                </a:solidFill>
              </a:rPr>
              <a:t>«Scopri tutti i progetti!» porta alla scheda Progetti dello stesso sito ma in una </a:t>
            </a:r>
            <a:r>
              <a:rPr lang="it-IT" sz="1400" b="1" dirty="0">
                <a:solidFill>
                  <a:srgbClr val="231C21"/>
                </a:solidFill>
              </a:rPr>
              <a:t>nuova scheda del browser</a:t>
            </a:r>
            <a:r>
              <a:rPr lang="it-IT" sz="1400" b="0" dirty="0">
                <a:solidFill>
                  <a:srgbClr val="231C21"/>
                </a:solidFill>
              </a:rPr>
              <a:t>: «Indietro» non riporta alla descrizione</a:t>
            </a:r>
          </a:p>
          <a:p>
            <a:pPr marL="228600" indent="-228600" algn="l">
              <a:lnSpc>
                <a:spcPct val="100000"/>
              </a:lnSpc>
              <a:spcBef>
                <a:spcPts val="500"/>
              </a:spcBef>
              <a:buClr>
                <a:srgbClr val="6C0850"/>
              </a:buClr>
              <a:buFont typeface="Arial"/>
              <a:buChar char="•"/>
            </a:pPr>
            <a:r>
              <a:rPr lang="it-IT" sz="1400" b="0" dirty="0">
                <a:solidFill>
                  <a:srgbClr val="231C21"/>
                </a:solidFill>
              </a:rPr>
              <a:t>«Scopri la guida dell’iniziativa» apre </a:t>
            </a:r>
            <a:r>
              <a:rPr lang="it-IT" sz="1400" b="1" dirty="0" err="1">
                <a:solidFill>
                  <a:srgbClr val="231C21"/>
                </a:solidFill>
              </a:rPr>
              <a:t>unito.it</a:t>
            </a:r>
            <a:r>
              <a:rPr lang="it-IT" sz="1400" b="0" dirty="0">
                <a:solidFill>
                  <a:srgbClr val="231C21"/>
                </a:solidFill>
              </a:rPr>
              <a:t> senza icona di link esterno: l’utente non sa di aver cambiato sito</a:t>
            </a:r>
          </a:p>
          <a:p>
            <a:pPr marL="0" indent="0" algn="l">
              <a:lnSpc>
                <a:spcPct val="100000"/>
              </a:lnSpc>
              <a:spcBef>
                <a:spcPts val="900"/>
              </a:spcBef>
              <a:buNone/>
            </a:pPr>
            <a:r>
              <a:rPr lang="it-IT" sz="1100" b="0" dirty="0">
                <a:solidFill>
                  <a:srgbClr val="6B6168"/>
                </a:solidFill>
              </a:rPr>
              <a:t>Gravità 3: L’apertura della pagina in una nuova finestra, non chiude la finestra precedente che quindi può essere consultata facilmente, tuttavia è più scomodo per i dispositivi mobili che per chiudere la finestra dovranno fare diversi click. Inoltre la navigazione del browser viene disabilitata dato che la scheda aperta è nuova.</a:t>
            </a:r>
          </a:p>
        </p:txBody>
      </p:sp>
      <p:sp>
        <p:nvSpPr>
          <p:cNvPr id="13" name="Soluzione"/>
          <p:cNvSpPr/>
          <p:nvPr/>
        </p:nvSpPr>
        <p:spPr>
          <a:xfrm>
            <a:off x="609600" y="4394200"/>
            <a:ext cx="5130800" cy="1727200"/>
          </a:xfrm>
          <a:prstGeom prst="rect">
            <a:avLst/>
          </a:prstGeom>
          <a:solidFill>
            <a:srgbClr val="F3EEF1"/>
          </a:solidFill>
          <a:ln>
            <a:noFill/>
          </a:ln>
        </p:spPr>
        <p:txBody>
          <a:bodyPr wrap="square" lIns="152400" tIns="152400" rIns="152400" bIns="152400" anchor="t">
            <a:noAutofit/>
          </a:bodyPr>
          <a:lstStyle/>
          <a:p>
            <a:pPr marL="0" indent="0" algn="l">
              <a:lnSpc>
                <a:spcPct val="100000"/>
              </a:lnSpc>
              <a:spcBef>
                <a:spcPts val="0"/>
              </a:spcBef>
              <a:buNone/>
            </a:pPr>
            <a:r>
              <a:rPr lang="it-IT" sz="1400" b="1" dirty="0">
                <a:solidFill>
                  <a:srgbClr val="6C0850"/>
                </a:solidFill>
              </a:rPr>
              <a:t>Possibile soluzione</a:t>
            </a:r>
          </a:p>
          <a:p>
            <a:pPr marL="0" indent="0" algn="l">
              <a:lnSpc>
                <a:spcPct val="100000"/>
              </a:lnSpc>
              <a:spcBef>
                <a:spcPts val="400"/>
              </a:spcBef>
              <a:buNone/>
            </a:pPr>
            <a:r>
              <a:rPr lang="it-IT" sz="1400" b="0" dirty="0">
                <a:solidFill>
                  <a:srgbClr val="231C21"/>
                </a:solidFill>
              </a:rPr>
              <a:t>I link interni dovrebbero essere aperti nella stessa scheda</a:t>
            </a:r>
            <a:r>
              <a:rPr lang="it-IT" sz="1400" dirty="0">
                <a:solidFill>
                  <a:srgbClr val="231C21"/>
                </a:solidFill>
              </a:rPr>
              <a:t>.</a:t>
            </a:r>
          </a:p>
          <a:p>
            <a:pPr marL="0" indent="0" algn="l">
              <a:lnSpc>
                <a:spcPct val="100000"/>
              </a:lnSpc>
              <a:spcBef>
                <a:spcPts val="400"/>
              </a:spcBef>
              <a:buNone/>
            </a:pPr>
            <a:r>
              <a:rPr lang="it-IT" sz="1400" dirty="0">
                <a:solidFill>
                  <a:srgbClr val="231C21"/>
                </a:solidFill>
              </a:rPr>
              <a:t>P</a:t>
            </a:r>
            <a:r>
              <a:rPr lang="it-IT" sz="1400" b="0" dirty="0">
                <a:solidFill>
                  <a:srgbClr val="231C21"/>
                </a:solidFill>
              </a:rPr>
              <a:t>er quelli esterni bisognerebbe mettere un’icona di link esterno oppure chiedere conferma del reindirizzamento.</a:t>
            </a:r>
          </a:p>
        </p:txBody>
      </p:sp>
      <p:sp>
        <p:nvSpPr>
          <p:cNvPr id="15" name="Pagine e task"/>
          <p:cNvSpPr txBox="1"/>
          <p:nvPr/>
        </p:nvSpPr>
        <p:spPr>
          <a:xfrm>
            <a:off x="609600" y="6273800"/>
            <a:ext cx="10972800" cy="381000"/>
          </a:xfrm>
          <a:prstGeom prst="rect">
            <a:avLst/>
          </a:prstGeom>
          <a:noFill/>
          <a:ln>
            <a:noFill/>
          </a:ln>
        </p:spPr>
        <p:txBody>
          <a:bodyPr wrap="square" lIns="0" tIns="0" rIns="0" bIns="0" anchor="b">
            <a:noAutofit/>
          </a:bodyPr>
          <a:lstStyle/>
          <a:p>
            <a:pPr marL="0" indent="0" algn="l">
              <a:lnSpc>
                <a:spcPct val="100000"/>
              </a:lnSpc>
              <a:spcBef>
                <a:spcPts val="0"/>
              </a:spcBef>
              <a:buNone/>
            </a:pPr>
            <a:r>
              <a:rPr lang="it-IT" sz="1000" b="1" dirty="0">
                <a:solidFill>
                  <a:srgbClr val="6B6168"/>
                </a:solidFill>
              </a:rPr>
              <a:t>Pagina:</a:t>
            </a:r>
            <a:r>
              <a:rPr lang="it-IT" sz="1000" b="0" dirty="0">
                <a:solidFill>
                  <a:srgbClr val="6B6168"/>
                </a:solidFill>
              </a:rPr>
              <a:t> Partner UniTo </a:t>
            </a:r>
            <a:r>
              <a:rPr lang="it-IT" sz="1000" b="0">
                <a:solidFill>
                  <a:srgbClr val="6B6168"/>
                </a:solidFill>
              </a:rPr>
              <a:t>› Partnership   </a:t>
            </a:r>
            <a:r>
              <a:rPr lang="it-IT" sz="1000" b="1" dirty="0">
                <a:solidFill>
                  <a:srgbClr val="6B6168"/>
                </a:solidFill>
              </a:rPr>
              <a:t>Task:</a:t>
            </a:r>
            <a:r>
              <a:rPr lang="it-IT" sz="1000" b="0" dirty="0">
                <a:solidFill>
                  <a:srgbClr val="6B6168"/>
                </a:solidFill>
              </a:rPr>
              <a:t> T2</a:t>
            </a:r>
            <a:r>
              <a:rPr lang="it-IT" sz="1000" b="0">
                <a:solidFill>
                  <a:srgbClr val="6B6168"/>
                </a:solidFill>
              </a:rPr>
              <a:t>, T7</a:t>
            </a:r>
            <a:endParaRPr lang="it-IT" sz="1000" b="0" dirty="0">
              <a:solidFill>
                <a:srgbClr val="6B6168"/>
              </a:solidFill>
            </a:endParaRPr>
          </a:p>
        </p:txBody>
      </p:sp>
      <p:pic>
        <p:nvPicPr>
          <p:cNvPr id="4" name="Immagine 3">
            <a:extLst>
              <a:ext uri="{FF2B5EF4-FFF2-40B4-BE49-F238E27FC236}">
                <a16:creationId xmlns:a16="http://schemas.microsoft.com/office/drawing/2014/main" id="{E27128BB-2CD0-132F-A52A-3EC5CA82CBEA}"/>
              </a:ext>
            </a:extLst>
          </p:cNvPr>
          <p:cNvPicPr>
            <a:picLocks noChangeAspect="1"/>
          </p:cNvPicPr>
          <p:nvPr/>
        </p:nvPicPr>
        <p:blipFill>
          <a:blip r:embed="rId2"/>
          <a:stretch>
            <a:fillRect/>
          </a:stretch>
        </p:blipFill>
        <p:spPr>
          <a:xfrm>
            <a:off x="6110613" y="2589048"/>
            <a:ext cx="5759887" cy="2416504"/>
          </a:xfrm>
          <a:prstGeom prst="rect">
            <a:avLst/>
          </a:prstGeom>
        </p:spPr>
      </p:pic>
      <p:sp>
        <p:nvSpPr>
          <p:cNvPr id="5" name="Rettangolo 4">
            <a:extLst>
              <a:ext uri="{FF2B5EF4-FFF2-40B4-BE49-F238E27FC236}">
                <a16:creationId xmlns:a16="http://schemas.microsoft.com/office/drawing/2014/main" id="{746CCBD6-23A0-E761-E85C-283E553B2E52}"/>
              </a:ext>
            </a:extLst>
          </p:cNvPr>
          <p:cNvSpPr/>
          <p:nvPr/>
        </p:nvSpPr>
        <p:spPr>
          <a:xfrm>
            <a:off x="8048566" y="4532586"/>
            <a:ext cx="1931006" cy="409903"/>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6" name="Badge gravità">
            <a:extLst>
              <a:ext uri="{FF2B5EF4-FFF2-40B4-BE49-F238E27FC236}">
                <a16:creationId xmlns:a16="http://schemas.microsoft.com/office/drawing/2014/main" id="{F0463BBC-9808-0705-26F7-1B3B4042FC07}"/>
              </a:ext>
            </a:extLst>
          </p:cNvPr>
          <p:cNvSpPr/>
          <p:nvPr/>
        </p:nvSpPr>
        <p:spPr>
          <a:xfrm>
            <a:off x="9855200" y="381000"/>
            <a:ext cx="1727200" cy="736600"/>
          </a:xfrm>
          <a:prstGeom prst="roundRect">
            <a:avLst/>
          </a:prstGeom>
          <a:solidFill>
            <a:srgbClr val="8E2F72"/>
          </a:solidFill>
          <a:ln>
            <a:noFill/>
          </a:ln>
        </p:spPr>
        <p:txBody>
          <a:bodyPr wrap="square" lIns="0" tIns="0" rIns="0" bIns="0" anchor="ctr">
            <a:noAutofit/>
          </a:bodyPr>
          <a:lstStyle/>
          <a:p>
            <a:pPr marL="0" indent="0" algn="ctr">
              <a:lnSpc>
                <a:spcPct val="100000"/>
              </a:lnSpc>
              <a:spcBef>
                <a:spcPts val="0"/>
              </a:spcBef>
              <a:buNone/>
            </a:pPr>
            <a:r>
              <a:rPr lang="it-IT" sz="1000" b="1" dirty="0">
                <a:solidFill>
                  <a:srgbClr val="FFFFFF"/>
                </a:solidFill>
              </a:rPr>
              <a:t>GRAVITÀ</a:t>
            </a:r>
          </a:p>
          <a:p>
            <a:pPr marL="0" indent="0" algn="ctr">
              <a:lnSpc>
                <a:spcPct val="100000"/>
              </a:lnSpc>
              <a:spcBef>
                <a:spcPts val="0"/>
              </a:spcBef>
              <a:buNone/>
            </a:pPr>
            <a:r>
              <a:rPr lang="it-IT" sz="1800" b="1" dirty="0">
                <a:solidFill>
                  <a:srgbClr val="FFFFFF"/>
                </a:solidFill>
              </a:rPr>
              <a:t>3 </a:t>
            </a:r>
            <a:r>
              <a:rPr lang="it-IT" sz="1800" b="1">
                <a:solidFill>
                  <a:srgbClr val="FFFFFF"/>
                </a:solidFill>
              </a:rPr>
              <a:t>· Importante</a:t>
            </a:r>
            <a:endParaRPr lang="it-IT" sz="1800" b="1" dirty="0">
              <a:solidFill>
                <a:srgbClr val="FFFFFF"/>
              </a:solidFill>
            </a:endParaRPr>
          </a:p>
        </p:txBody>
      </p:sp>
    </p:spTree>
    <p:extLst>
      <p:ext uri="{BB962C8B-B14F-4D97-AF65-F5344CB8AC3E}">
        <p14:creationId xmlns:p14="http://schemas.microsoft.com/office/powerpoint/2010/main" val="26247681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B320445C-48D1-1896-D750-223B3D136A6F}"/>
              </a:ext>
            </a:extLst>
          </p:cNvPr>
          <p:cNvSpPr>
            <a:spLocks noGrp="1"/>
          </p:cNvSpPr>
          <p:nvPr>
            <p:ph type="title"/>
          </p:nvPr>
        </p:nvSpPr>
        <p:spPr>
          <a:xfrm>
            <a:off x="609600" y="558800"/>
            <a:ext cx="8991600" cy="889000"/>
          </a:xfrm>
        </p:spPr>
        <p:txBody>
          <a:bodyPr anchor="t"/>
          <a:lstStyle/>
          <a:p>
            <a:pPr>
              <a:lnSpc>
                <a:spcPct val="90000"/>
              </a:lnSpc>
            </a:pPr>
            <a:r>
              <a:rPr lang="it-IT" sz="2600" b="1" dirty="0"/>
              <a:t>Tornando da un progetto si perdono posizione e progetti caricati</a:t>
            </a:r>
          </a:p>
        </p:txBody>
      </p:sp>
      <p:sp>
        <p:nvSpPr>
          <p:cNvPr id="10" name="Euristica"/>
          <p:cNvSpPr txBox="1"/>
          <p:nvPr/>
        </p:nvSpPr>
        <p:spPr>
          <a:xfrm>
            <a:off x="609600" y="254000"/>
            <a:ext cx="8890000" cy="279400"/>
          </a:xfrm>
          <a:prstGeom prst="rect">
            <a:avLst/>
          </a:prstGeom>
          <a:noFill/>
          <a:ln>
            <a:noFill/>
          </a:ln>
        </p:spPr>
        <p:txBody>
          <a:bodyPr wrap="square" lIns="0" tIns="0" rIns="0" bIns="0" anchor="t">
            <a:noAutofit/>
          </a:bodyPr>
          <a:lstStyle/>
          <a:p>
            <a:pPr marL="0" indent="0" algn="l">
              <a:lnSpc>
                <a:spcPct val="100000"/>
              </a:lnSpc>
              <a:spcBef>
                <a:spcPts val="0"/>
              </a:spcBef>
              <a:buNone/>
            </a:pPr>
            <a:r>
              <a:rPr lang="it-IT" sz="1200" b="1" dirty="0">
                <a:solidFill>
                  <a:srgbClr val="6C0850"/>
                </a:solidFill>
              </a:rPr>
              <a:t>H3 · CONTROLLO E LIBERTÀ DELL’UTENTE</a:t>
            </a:r>
          </a:p>
        </p:txBody>
      </p:sp>
      <p:sp>
        <p:nvSpPr>
          <p:cNvPr id="11" name="Badge gravità"/>
          <p:cNvSpPr/>
          <p:nvPr/>
        </p:nvSpPr>
        <p:spPr>
          <a:xfrm>
            <a:off x="9855200" y="381000"/>
            <a:ext cx="1727200" cy="736600"/>
          </a:xfrm>
          <a:prstGeom prst="roundRect">
            <a:avLst/>
          </a:prstGeom>
          <a:solidFill>
            <a:srgbClr val="41002F"/>
          </a:solidFill>
          <a:ln>
            <a:noFill/>
          </a:ln>
        </p:spPr>
        <p:txBody>
          <a:bodyPr wrap="square" lIns="0" tIns="0" rIns="0" bIns="0" anchor="ctr">
            <a:noAutofit/>
          </a:bodyPr>
          <a:lstStyle/>
          <a:p>
            <a:pPr marL="0" indent="0" algn="ctr">
              <a:lnSpc>
                <a:spcPct val="100000"/>
              </a:lnSpc>
              <a:spcBef>
                <a:spcPts val="0"/>
              </a:spcBef>
              <a:buNone/>
            </a:pPr>
            <a:r>
              <a:rPr lang="it-IT" sz="1000" b="1" dirty="0">
                <a:solidFill>
                  <a:srgbClr val="FFFFFF"/>
                </a:solidFill>
              </a:rPr>
              <a:t>GRAVITÀ</a:t>
            </a:r>
          </a:p>
          <a:p>
            <a:pPr marL="0" indent="0" algn="ctr">
              <a:lnSpc>
                <a:spcPct val="100000"/>
              </a:lnSpc>
              <a:spcBef>
                <a:spcPts val="0"/>
              </a:spcBef>
              <a:buNone/>
            </a:pPr>
            <a:r>
              <a:rPr lang="it-IT" sz="1800" b="1" dirty="0">
                <a:solidFill>
                  <a:srgbClr val="FFFFFF"/>
                </a:solidFill>
              </a:rPr>
              <a:t>4 · Grave</a:t>
            </a:r>
          </a:p>
        </p:txBody>
      </p:sp>
      <p:sp>
        <p:nvSpPr>
          <p:cNvPr id="12" name="Problema"/>
          <p:cNvSpPr txBox="1"/>
          <p:nvPr/>
        </p:nvSpPr>
        <p:spPr>
          <a:xfrm>
            <a:off x="609600" y="1625600"/>
            <a:ext cx="5130800" cy="2616200"/>
          </a:xfrm>
          <a:prstGeom prst="rect">
            <a:avLst/>
          </a:prstGeom>
          <a:noFill/>
          <a:ln>
            <a:noFill/>
          </a:ln>
        </p:spPr>
        <p:txBody>
          <a:bodyPr wrap="square" lIns="0" tIns="0" rIns="0" bIns="0" anchor="t">
            <a:noAutofit/>
          </a:bodyPr>
          <a:lstStyle/>
          <a:p>
            <a:pPr marL="0" indent="0" algn="l">
              <a:lnSpc>
                <a:spcPct val="100000"/>
              </a:lnSpc>
              <a:spcBef>
                <a:spcPts val="0"/>
              </a:spcBef>
              <a:buNone/>
            </a:pPr>
            <a:r>
              <a:rPr lang="it-IT" sz="1400" b="1" dirty="0">
                <a:solidFill>
                  <a:srgbClr val="6C0850"/>
                </a:solidFill>
              </a:rPr>
              <a:t>Problema</a:t>
            </a:r>
          </a:p>
          <a:p>
            <a:pPr marL="228600" indent="-228600" algn="l">
              <a:lnSpc>
                <a:spcPct val="100000"/>
              </a:lnSpc>
              <a:spcBef>
                <a:spcPts val="500"/>
              </a:spcBef>
              <a:buClr>
                <a:srgbClr val="6C0850"/>
              </a:buClr>
              <a:buFont typeface="Arial"/>
              <a:buChar char="•"/>
            </a:pPr>
            <a:r>
              <a:rPr lang="it-IT" sz="1400" b="0" dirty="0">
                <a:solidFill>
                  <a:srgbClr val="231C21"/>
                </a:solidFill>
              </a:rPr>
              <a:t>Dopo aver aperto un progetto e premuto Indietro, la pagina </a:t>
            </a:r>
            <a:r>
              <a:rPr lang="it-IT" sz="1400" b="1" dirty="0">
                <a:solidFill>
                  <a:srgbClr val="231C21"/>
                </a:solidFill>
              </a:rPr>
              <a:t>riparte dall’inizio</a:t>
            </a:r>
          </a:p>
          <a:p>
            <a:pPr marL="228600" indent="-228600" algn="l">
              <a:lnSpc>
                <a:spcPct val="100000"/>
              </a:lnSpc>
              <a:spcBef>
                <a:spcPts val="500"/>
              </a:spcBef>
              <a:buClr>
                <a:srgbClr val="6C0850"/>
              </a:buClr>
              <a:buFont typeface="Arial"/>
              <a:buChar char="•"/>
            </a:pPr>
            <a:r>
              <a:rPr lang="it-IT" sz="1400" b="0" dirty="0">
                <a:solidFill>
                  <a:srgbClr val="231C21"/>
                </a:solidFill>
              </a:rPr>
              <a:t>I progetti conclusi caricati con «ALTRI» </a:t>
            </a:r>
            <a:r>
              <a:rPr lang="it-IT" sz="1400" b="1" dirty="0">
                <a:solidFill>
                  <a:srgbClr val="231C21"/>
                </a:solidFill>
              </a:rPr>
              <a:t>spariscono</a:t>
            </a:r>
            <a:r>
              <a:rPr lang="it-IT" sz="1400" b="0" dirty="0">
                <a:solidFill>
                  <a:srgbClr val="231C21"/>
                </a:solidFill>
              </a:rPr>
              <a:t> e vanno ricaricati</a:t>
            </a:r>
          </a:p>
          <a:p>
            <a:pPr marL="0" indent="0" algn="l">
              <a:lnSpc>
                <a:spcPct val="100000"/>
              </a:lnSpc>
              <a:spcBef>
                <a:spcPts val="900"/>
              </a:spcBef>
              <a:buNone/>
            </a:pPr>
            <a:r>
              <a:rPr lang="it-IT" sz="1100" b="0" dirty="0">
                <a:solidFill>
                  <a:srgbClr val="6B6168"/>
                </a:solidFill>
              </a:rPr>
              <a:t>Gravità 4: Sebbene ci siano pochi progetti nella pagina, se in futuro dovessero aumentare la navigazione tra i vari progetti, conclusi e non, potrebbe diventare molto frustrante.</a:t>
            </a:r>
          </a:p>
        </p:txBody>
      </p:sp>
      <p:sp>
        <p:nvSpPr>
          <p:cNvPr id="13" name="Soluzione"/>
          <p:cNvSpPr/>
          <p:nvPr/>
        </p:nvSpPr>
        <p:spPr>
          <a:xfrm>
            <a:off x="609600" y="4394200"/>
            <a:ext cx="5130800" cy="1727200"/>
          </a:xfrm>
          <a:prstGeom prst="rect">
            <a:avLst/>
          </a:prstGeom>
          <a:solidFill>
            <a:srgbClr val="F3EEF1"/>
          </a:solidFill>
          <a:ln>
            <a:noFill/>
          </a:ln>
        </p:spPr>
        <p:txBody>
          <a:bodyPr wrap="square" lIns="152400" tIns="152400" rIns="152400" bIns="152400" anchor="t">
            <a:noAutofit/>
          </a:bodyPr>
          <a:lstStyle/>
          <a:p>
            <a:pPr marL="0" indent="0" algn="l">
              <a:lnSpc>
                <a:spcPct val="100000"/>
              </a:lnSpc>
              <a:spcBef>
                <a:spcPts val="0"/>
              </a:spcBef>
              <a:buNone/>
            </a:pPr>
            <a:r>
              <a:rPr lang="it-IT" sz="1400" b="1" dirty="0">
                <a:solidFill>
                  <a:srgbClr val="6C0850"/>
                </a:solidFill>
              </a:rPr>
              <a:t>Possibile soluzione</a:t>
            </a:r>
          </a:p>
          <a:p>
            <a:pPr marL="0" indent="0" algn="l">
              <a:lnSpc>
                <a:spcPct val="100000"/>
              </a:lnSpc>
              <a:spcBef>
                <a:spcPts val="400"/>
              </a:spcBef>
              <a:buNone/>
            </a:pPr>
            <a:r>
              <a:rPr lang="it-IT" sz="1400" b="0" dirty="0">
                <a:solidFill>
                  <a:srgbClr val="231C21"/>
                </a:solidFill>
              </a:rPr>
              <a:t>Conservare scroll e progetti caricati al ritorno oppure mostrare subito tutti i progetti eventualmente usando una paginazione se sono troppi.</a:t>
            </a:r>
          </a:p>
        </p:txBody>
      </p:sp>
      <p:sp>
        <p:nvSpPr>
          <p:cNvPr id="15" name="Pagine e task"/>
          <p:cNvSpPr txBox="1"/>
          <p:nvPr/>
        </p:nvSpPr>
        <p:spPr>
          <a:xfrm>
            <a:off x="609600" y="6273800"/>
            <a:ext cx="10972800" cy="381000"/>
          </a:xfrm>
          <a:prstGeom prst="rect">
            <a:avLst/>
          </a:prstGeom>
          <a:noFill/>
          <a:ln>
            <a:noFill/>
          </a:ln>
        </p:spPr>
        <p:txBody>
          <a:bodyPr wrap="square" lIns="0" tIns="0" rIns="0" bIns="0" anchor="b">
            <a:noAutofit/>
          </a:bodyPr>
          <a:lstStyle/>
          <a:p>
            <a:pPr marL="0" indent="0" algn="l">
              <a:lnSpc>
                <a:spcPct val="100000"/>
              </a:lnSpc>
              <a:spcBef>
                <a:spcPts val="0"/>
              </a:spcBef>
              <a:buNone/>
            </a:pPr>
            <a:r>
              <a:rPr lang="it-IT" sz="1000" b="1" dirty="0">
                <a:solidFill>
                  <a:srgbClr val="6B6168"/>
                </a:solidFill>
              </a:rPr>
              <a:t>Pagina:</a:t>
            </a:r>
            <a:r>
              <a:rPr lang="it-IT" sz="1000" b="0" dirty="0">
                <a:solidFill>
                  <a:srgbClr val="6B6168"/>
                </a:solidFill>
              </a:rPr>
              <a:t> Partner UniTo </a:t>
            </a:r>
            <a:r>
              <a:rPr lang="it-IT" sz="1000" b="0">
                <a:solidFill>
                  <a:srgbClr val="6B6168"/>
                </a:solidFill>
              </a:rPr>
              <a:t>› Progetti   </a:t>
            </a:r>
            <a:r>
              <a:rPr lang="it-IT" sz="1000" b="1" dirty="0">
                <a:solidFill>
                  <a:srgbClr val="6B6168"/>
                </a:solidFill>
              </a:rPr>
              <a:t>Task</a:t>
            </a:r>
            <a:r>
              <a:rPr lang="it-IT" sz="1000" b="1">
                <a:solidFill>
                  <a:srgbClr val="6B6168"/>
                </a:solidFill>
              </a:rPr>
              <a:t>:</a:t>
            </a:r>
            <a:r>
              <a:rPr lang="it-IT" sz="1000" b="0">
                <a:solidFill>
                  <a:srgbClr val="6B6168"/>
                </a:solidFill>
              </a:rPr>
              <a:t> T2</a:t>
            </a:r>
            <a:endParaRPr lang="it-IT" sz="1000" b="0" dirty="0">
              <a:solidFill>
                <a:srgbClr val="6B6168"/>
              </a:solidFill>
            </a:endParaRPr>
          </a:p>
        </p:txBody>
      </p:sp>
      <p:pic>
        <p:nvPicPr>
          <p:cNvPr id="4" name="recording-2026-10-13_19-00-45_edited.mp4">
            <a:hlinkClick r:id="" action="ppaction://media"/>
            <a:extLst>
              <a:ext uri="{FF2B5EF4-FFF2-40B4-BE49-F238E27FC236}">
                <a16:creationId xmlns:a16="http://schemas.microsoft.com/office/drawing/2014/main" id="{44FD7DEC-CBF5-305D-2315-E4E00C10133B}"/>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5967248" y="1993955"/>
            <a:ext cx="5983014" cy="3365445"/>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11078471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25766"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A485AAB1-94FE-A2EB-6025-614B7ABE7E5D}"/>
              </a:ext>
            </a:extLst>
          </p:cNvPr>
          <p:cNvSpPr>
            <a:spLocks noGrp="1"/>
          </p:cNvSpPr>
          <p:nvPr>
            <p:ph type="title"/>
          </p:nvPr>
        </p:nvSpPr>
        <p:spPr>
          <a:xfrm>
            <a:off x="609600" y="558800"/>
            <a:ext cx="8991600" cy="889000"/>
          </a:xfrm>
        </p:spPr>
        <p:txBody>
          <a:bodyPr anchor="t"/>
          <a:lstStyle/>
          <a:p>
            <a:pPr>
              <a:lnSpc>
                <a:spcPct val="90000"/>
              </a:lnSpc>
            </a:pPr>
            <a:r>
              <a:rPr lang="it-IT" sz="2600" b="1" dirty="0"/>
              <a:t>Le barre di avanzamento non sono chiare e l’interfaccia non è coerente</a:t>
            </a:r>
          </a:p>
        </p:txBody>
      </p:sp>
      <p:sp>
        <p:nvSpPr>
          <p:cNvPr id="10" name="Euristica"/>
          <p:cNvSpPr txBox="1"/>
          <p:nvPr/>
        </p:nvSpPr>
        <p:spPr>
          <a:xfrm>
            <a:off x="609600" y="254000"/>
            <a:ext cx="8890000" cy="279400"/>
          </a:xfrm>
          <a:prstGeom prst="rect">
            <a:avLst/>
          </a:prstGeom>
          <a:noFill/>
          <a:ln>
            <a:noFill/>
          </a:ln>
        </p:spPr>
        <p:txBody>
          <a:bodyPr wrap="square" lIns="0" tIns="0" rIns="0" bIns="0" anchor="t">
            <a:noAutofit/>
          </a:bodyPr>
          <a:lstStyle/>
          <a:p>
            <a:pPr marL="0" indent="0" algn="l">
              <a:lnSpc>
                <a:spcPct val="100000"/>
              </a:lnSpc>
              <a:spcBef>
                <a:spcPts val="0"/>
              </a:spcBef>
              <a:buNone/>
            </a:pPr>
            <a:r>
              <a:rPr lang="it-IT" sz="1200" b="1" dirty="0">
                <a:solidFill>
                  <a:srgbClr val="6C0850"/>
                </a:solidFill>
              </a:rPr>
              <a:t>H4 · COERENZA E STANDARD</a:t>
            </a:r>
          </a:p>
        </p:txBody>
      </p:sp>
      <p:sp>
        <p:nvSpPr>
          <p:cNvPr id="12" name="Problema"/>
          <p:cNvSpPr txBox="1"/>
          <p:nvPr/>
        </p:nvSpPr>
        <p:spPr>
          <a:xfrm>
            <a:off x="609600" y="1625600"/>
            <a:ext cx="5130800" cy="2768600"/>
          </a:xfrm>
          <a:prstGeom prst="rect">
            <a:avLst/>
          </a:prstGeom>
          <a:noFill/>
          <a:ln>
            <a:noFill/>
          </a:ln>
        </p:spPr>
        <p:txBody>
          <a:bodyPr wrap="square" lIns="0" tIns="0" rIns="0" bIns="0" anchor="t">
            <a:noAutofit/>
          </a:bodyPr>
          <a:lstStyle/>
          <a:p>
            <a:pPr marL="0" indent="0" algn="l">
              <a:lnSpc>
                <a:spcPct val="100000"/>
              </a:lnSpc>
              <a:spcBef>
                <a:spcPts val="0"/>
              </a:spcBef>
              <a:buNone/>
            </a:pPr>
            <a:r>
              <a:rPr lang="it-IT" sz="1400" b="1" dirty="0">
                <a:solidFill>
                  <a:srgbClr val="6C0850"/>
                </a:solidFill>
              </a:rPr>
              <a:t>Problema</a:t>
            </a:r>
          </a:p>
          <a:p>
            <a:pPr marL="228600" indent="-228600" algn="l">
              <a:lnSpc>
                <a:spcPct val="100000"/>
              </a:lnSpc>
              <a:spcBef>
                <a:spcPts val="500"/>
              </a:spcBef>
              <a:buClr>
                <a:srgbClr val="6C0850"/>
              </a:buClr>
              <a:buFont typeface="Arial"/>
              <a:buChar char="•"/>
            </a:pPr>
            <a:endParaRPr lang="it-IT" sz="1400" b="0" dirty="0">
              <a:solidFill>
                <a:srgbClr val="231C21"/>
              </a:solidFill>
            </a:endParaRPr>
          </a:p>
          <a:p>
            <a:pPr marL="228600" indent="-228600">
              <a:spcBef>
                <a:spcPts val="500"/>
              </a:spcBef>
              <a:buClr>
                <a:srgbClr val="6C0850"/>
              </a:buClr>
              <a:buFont typeface="Arial"/>
              <a:buChar char="•"/>
            </a:pPr>
            <a:r>
              <a:rPr lang="it-IT" sz="1400" dirty="0">
                <a:solidFill>
                  <a:srgbClr val="231C21"/>
                </a:solidFill>
              </a:rPr>
              <a:t>Il contatore progetti dichiara </a:t>
            </a:r>
            <a:r>
              <a:rPr lang="it-IT" sz="1400" b="1" dirty="0">
                <a:solidFill>
                  <a:srgbClr val="231C21"/>
                </a:solidFill>
              </a:rPr>
              <a:t>18 progetti </a:t>
            </a:r>
            <a:r>
              <a:rPr lang="it-IT" sz="1400" dirty="0">
                <a:solidFill>
                  <a:srgbClr val="231C21"/>
                </a:solidFill>
              </a:rPr>
              <a:t>ma non è chiaro quanti siano attivi e quanti siano conclusi</a:t>
            </a:r>
          </a:p>
          <a:p>
            <a:pPr marL="228600" indent="-228600">
              <a:spcBef>
                <a:spcPts val="500"/>
              </a:spcBef>
              <a:buClr>
                <a:srgbClr val="6C0850"/>
              </a:buClr>
              <a:buFont typeface="Arial"/>
              <a:buChar char="•"/>
            </a:pPr>
            <a:r>
              <a:rPr lang="it-IT" sz="1400" b="0" dirty="0">
                <a:solidFill>
                  <a:srgbClr val="231C21"/>
                </a:solidFill>
              </a:rPr>
              <a:t>Il significato delle barre non è chiaro al primo impatto.</a:t>
            </a:r>
          </a:p>
          <a:p>
            <a:pPr marL="228600" indent="-228600" algn="l">
              <a:lnSpc>
                <a:spcPct val="100000"/>
              </a:lnSpc>
              <a:spcBef>
                <a:spcPts val="500"/>
              </a:spcBef>
              <a:buClr>
                <a:srgbClr val="6C0850"/>
              </a:buClr>
              <a:buFont typeface="Arial"/>
              <a:buChar char="•"/>
            </a:pPr>
            <a:r>
              <a:rPr lang="it-IT" sz="1400" b="0" dirty="0">
                <a:solidFill>
                  <a:srgbClr val="231C21"/>
                </a:solidFill>
              </a:rPr>
              <a:t>I progetti conclusi hanno un chip testuale con scritto «Obiettivo raggiunto» mentre quelli in corso no</a:t>
            </a:r>
          </a:p>
          <a:p>
            <a:pPr marL="228600" indent="-228600" algn="l">
              <a:lnSpc>
                <a:spcPct val="100000"/>
              </a:lnSpc>
              <a:spcBef>
                <a:spcPts val="500"/>
              </a:spcBef>
              <a:buClr>
                <a:srgbClr val="6C0850"/>
              </a:buClr>
              <a:buFont typeface="Arial"/>
              <a:buChar char="•"/>
            </a:pPr>
            <a:r>
              <a:rPr lang="it-IT" sz="1400" dirty="0">
                <a:solidFill>
                  <a:srgbClr val="231C21"/>
                </a:solidFill>
              </a:rPr>
              <a:t>I progetti conclusi non hanno un’indicazione chiara che il progetto sia concluso nella card, l’informazione si affida al titolo «Progetti Conclusi»</a:t>
            </a:r>
            <a:endParaRPr lang="it-IT" sz="1400" b="1" dirty="0">
              <a:solidFill>
                <a:srgbClr val="231C21"/>
              </a:solidFill>
            </a:endParaRPr>
          </a:p>
          <a:p>
            <a:pPr algn="l">
              <a:lnSpc>
                <a:spcPct val="100000"/>
              </a:lnSpc>
              <a:spcBef>
                <a:spcPts val="500"/>
              </a:spcBef>
              <a:buClr>
                <a:srgbClr val="6C0850"/>
              </a:buClr>
            </a:pPr>
            <a:r>
              <a:rPr lang="it-IT" sz="1100" b="0" dirty="0">
                <a:solidFill>
                  <a:srgbClr val="6B6168"/>
                </a:solidFill>
              </a:rPr>
              <a:t>Gravità 2: Il significato del contatore si chiarisce una volta raggiunta la fine della pagina. Le informazioni sul raggiungimento dell’obiettivo sono presenti per ogn</a:t>
            </a:r>
            <a:r>
              <a:rPr lang="it-IT" sz="1100" dirty="0">
                <a:solidFill>
                  <a:srgbClr val="6B6168"/>
                </a:solidFill>
              </a:rPr>
              <a:t>i progetto sebbene non sia immediatamente chiaro se l’obiettivo sia stato raggiunto</a:t>
            </a:r>
            <a:endParaRPr lang="it-IT" sz="1100" b="0" dirty="0">
              <a:solidFill>
                <a:srgbClr val="6B6168"/>
              </a:solidFill>
            </a:endParaRPr>
          </a:p>
        </p:txBody>
      </p:sp>
      <p:sp>
        <p:nvSpPr>
          <p:cNvPr id="13" name="Soluzione"/>
          <p:cNvSpPr/>
          <p:nvPr/>
        </p:nvSpPr>
        <p:spPr>
          <a:xfrm>
            <a:off x="609600" y="4705520"/>
            <a:ext cx="5130800" cy="1727200"/>
          </a:xfrm>
          <a:prstGeom prst="rect">
            <a:avLst/>
          </a:prstGeom>
          <a:solidFill>
            <a:srgbClr val="F3EEF1"/>
          </a:solidFill>
          <a:ln>
            <a:noFill/>
          </a:ln>
        </p:spPr>
        <p:txBody>
          <a:bodyPr wrap="square" lIns="152400" tIns="152400" rIns="152400" bIns="152400" anchor="t">
            <a:noAutofit/>
          </a:bodyPr>
          <a:lstStyle/>
          <a:p>
            <a:pPr marL="0" indent="0" algn="l">
              <a:lnSpc>
                <a:spcPct val="100000"/>
              </a:lnSpc>
              <a:spcBef>
                <a:spcPts val="0"/>
              </a:spcBef>
              <a:buNone/>
            </a:pPr>
            <a:r>
              <a:rPr lang="it-IT" sz="1400" b="1" dirty="0">
                <a:solidFill>
                  <a:srgbClr val="6C0850"/>
                </a:solidFill>
              </a:rPr>
              <a:t>Possibile soluzione</a:t>
            </a:r>
          </a:p>
          <a:p>
            <a:pPr marL="0" indent="0" algn="l">
              <a:lnSpc>
                <a:spcPct val="100000"/>
              </a:lnSpc>
              <a:spcBef>
                <a:spcPts val="400"/>
              </a:spcBef>
              <a:buNone/>
            </a:pPr>
            <a:r>
              <a:rPr lang="it-IT" sz="1400" b="0" dirty="0">
                <a:solidFill>
                  <a:srgbClr val="231C21"/>
                </a:solidFill>
              </a:rPr>
              <a:t>Un solo colore pieno(preferibilmente verde) per il raccolto su sfondo neutro. Inoltre bisogna aggiungere un chip testuale «Obiettivo raggiunto» per chi non distingue i colori e rendere più consistenti le card.</a:t>
            </a:r>
          </a:p>
        </p:txBody>
      </p:sp>
      <p:sp>
        <p:nvSpPr>
          <p:cNvPr id="15" name="Pagine e task"/>
          <p:cNvSpPr txBox="1"/>
          <p:nvPr/>
        </p:nvSpPr>
        <p:spPr>
          <a:xfrm>
            <a:off x="609600" y="6273800"/>
            <a:ext cx="10972800" cy="381000"/>
          </a:xfrm>
          <a:prstGeom prst="rect">
            <a:avLst/>
          </a:prstGeom>
          <a:noFill/>
          <a:ln>
            <a:noFill/>
          </a:ln>
        </p:spPr>
        <p:txBody>
          <a:bodyPr wrap="square" lIns="0" tIns="0" rIns="0" bIns="0" anchor="b">
            <a:noAutofit/>
          </a:bodyPr>
          <a:lstStyle/>
          <a:p>
            <a:pPr marL="0" indent="0" algn="l">
              <a:lnSpc>
                <a:spcPct val="100000"/>
              </a:lnSpc>
              <a:spcBef>
                <a:spcPts val="0"/>
              </a:spcBef>
              <a:buNone/>
            </a:pPr>
            <a:r>
              <a:rPr lang="it-IT" sz="1000" b="1" dirty="0">
                <a:solidFill>
                  <a:srgbClr val="6B6168"/>
                </a:solidFill>
              </a:rPr>
              <a:t>Pagina:</a:t>
            </a:r>
            <a:r>
              <a:rPr lang="it-IT" sz="1000" b="0" dirty="0">
                <a:solidFill>
                  <a:srgbClr val="6B6168"/>
                </a:solidFill>
              </a:rPr>
              <a:t> Partner UniTo </a:t>
            </a:r>
            <a:r>
              <a:rPr lang="it-IT" sz="1000" b="0">
                <a:solidFill>
                  <a:srgbClr val="6B6168"/>
                </a:solidFill>
              </a:rPr>
              <a:t>› Progetti   </a:t>
            </a:r>
            <a:r>
              <a:rPr lang="it-IT" sz="1000" b="1" dirty="0">
                <a:solidFill>
                  <a:srgbClr val="6B6168"/>
                </a:solidFill>
              </a:rPr>
              <a:t>Task</a:t>
            </a:r>
            <a:r>
              <a:rPr lang="it-IT" sz="1000" b="1">
                <a:solidFill>
                  <a:srgbClr val="6B6168"/>
                </a:solidFill>
              </a:rPr>
              <a:t>:</a:t>
            </a:r>
            <a:r>
              <a:rPr lang="it-IT" sz="1000" b="0">
                <a:solidFill>
                  <a:srgbClr val="6B6168"/>
                </a:solidFill>
              </a:rPr>
              <a:t> T4</a:t>
            </a:r>
            <a:endParaRPr lang="it-IT" sz="1000" b="0" dirty="0">
              <a:solidFill>
                <a:srgbClr val="6B6168"/>
              </a:solidFill>
            </a:endParaRPr>
          </a:p>
        </p:txBody>
      </p:sp>
      <p:pic>
        <p:nvPicPr>
          <p:cNvPr id="4" name="Immagine 3">
            <a:extLst>
              <a:ext uri="{FF2B5EF4-FFF2-40B4-BE49-F238E27FC236}">
                <a16:creationId xmlns:a16="http://schemas.microsoft.com/office/drawing/2014/main" id="{1696FAF3-3EFD-E03F-15AC-6D9C41A48727}"/>
              </a:ext>
            </a:extLst>
          </p:cNvPr>
          <p:cNvPicPr>
            <a:picLocks noChangeAspect="1"/>
          </p:cNvPicPr>
          <p:nvPr/>
        </p:nvPicPr>
        <p:blipFill>
          <a:blip r:embed="rId2"/>
          <a:srcRect b="25131"/>
          <a:stretch>
            <a:fillRect/>
          </a:stretch>
        </p:blipFill>
        <p:spPr>
          <a:xfrm>
            <a:off x="6096000" y="1734207"/>
            <a:ext cx="4845269" cy="2040807"/>
          </a:xfrm>
          <a:prstGeom prst="rect">
            <a:avLst/>
          </a:prstGeom>
        </p:spPr>
      </p:pic>
      <p:sp>
        <p:nvSpPr>
          <p:cNvPr id="7" name="Badge gravità">
            <a:extLst>
              <a:ext uri="{FF2B5EF4-FFF2-40B4-BE49-F238E27FC236}">
                <a16:creationId xmlns:a16="http://schemas.microsoft.com/office/drawing/2014/main" id="{91B3D7BD-BC4D-CD4D-EC96-F5D442B38B6E}"/>
              </a:ext>
            </a:extLst>
          </p:cNvPr>
          <p:cNvSpPr/>
          <p:nvPr/>
        </p:nvSpPr>
        <p:spPr>
          <a:xfrm>
            <a:off x="9855200" y="381000"/>
            <a:ext cx="1727200" cy="736600"/>
          </a:xfrm>
          <a:prstGeom prst="roundRect">
            <a:avLst/>
          </a:prstGeom>
          <a:solidFill>
            <a:srgbClr val="C7A2BB"/>
          </a:solidFill>
          <a:ln>
            <a:noFill/>
          </a:ln>
        </p:spPr>
        <p:txBody>
          <a:bodyPr wrap="square" lIns="0" tIns="0" rIns="0" bIns="0" anchor="ctr">
            <a:noAutofit/>
          </a:bodyPr>
          <a:lstStyle/>
          <a:p>
            <a:pPr marL="0" indent="0" algn="ctr">
              <a:lnSpc>
                <a:spcPct val="100000"/>
              </a:lnSpc>
              <a:spcBef>
                <a:spcPts val="0"/>
              </a:spcBef>
              <a:buNone/>
            </a:pPr>
            <a:r>
              <a:rPr lang="it-IT" sz="1000" b="1" dirty="0">
                <a:solidFill>
                  <a:srgbClr val="41002F"/>
                </a:solidFill>
              </a:rPr>
              <a:t>GRAVITÀ</a:t>
            </a:r>
          </a:p>
          <a:p>
            <a:pPr marL="0" indent="0" algn="ctr">
              <a:lnSpc>
                <a:spcPct val="100000"/>
              </a:lnSpc>
              <a:spcBef>
                <a:spcPts val="0"/>
              </a:spcBef>
              <a:buNone/>
            </a:pPr>
            <a:r>
              <a:rPr lang="it-IT" sz="1800" b="1" dirty="0">
                <a:solidFill>
                  <a:srgbClr val="41002F"/>
                </a:solidFill>
              </a:rPr>
              <a:t>2 · Minore</a:t>
            </a:r>
          </a:p>
        </p:txBody>
      </p:sp>
      <p:pic>
        <p:nvPicPr>
          <p:cNvPr id="9" name="Immagine 8">
            <a:extLst>
              <a:ext uri="{FF2B5EF4-FFF2-40B4-BE49-F238E27FC236}">
                <a16:creationId xmlns:a16="http://schemas.microsoft.com/office/drawing/2014/main" id="{8B144889-7D04-5C2E-9BFD-8F859FC86B6E}"/>
              </a:ext>
            </a:extLst>
          </p:cNvPr>
          <p:cNvPicPr>
            <a:picLocks noChangeAspect="1"/>
          </p:cNvPicPr>
          <p:nvPr/>
        </p:nvPicPr>
        <p:blipFill>
          <a:blip r:embed="rId3"/>
          <a:srcRect/>
          <a:stretch/>
        </p:blipFill>
        <p:spPr>
          <a:xfrm>
            <a:off x="6096000" y="4079918"/>
            <a:ext cx="4845269" cy="2352802"/>
          </a:xfrm>
          <a:prstGeom prst="rect">
            <a:avLst/>
          </a:prstGeom>
        </p:spPr>
      </p:pic>
      <p:sp>
        <p:nvSpPr>
          <p:cNvPr id="16" name="Evidenzia 18 progetti">
            <a:extLst>
              <a:ext uri="{FF2B5EF4-FFF2-40B4-BE49-F238E27FC236}">
                <a16:creationId xmlns:a16="http://schemas.microsoft.com/office/drawing/2014/main" id="{4BFD0267-A4E2-4746-A52C-BDD64267459D}"/>
              </a:ext>
            </a:extLst>
          </p:cNvPr>
          <p:cNvSpPr/>
          <p:nvPr/>
        </p:nvSpPr>
        <p:spPr>
          <a:xfrm>
            <a:off x="7417676" y="2207173"/>
            <a:ext cx="370490" cy="205828"/>
          </a:xfrm>
          <a:prstGeom prst="roundRect">
            <a:avLst/>
          </a:prstGeom>
          <a:noFill/>
          <a:ln w="19050" cap="flat" cmpd="sng" algn="ctr">
            <a:solidFill>
              <a:srgbClr val="D62828"/>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it-IT"/>
          </a:p>
        </p:txBody>
      </p:sp>
      <p:sp>
        <p:nvSpPr>
          <p:cNvPr id="17" name="Evidenzia chip obiettivo 1">
            <a:extLst>
              <a:ext uri="{FF2B5EF4-FFF2-40B4-BE49-F238E27FC236}">
                <a16:creationId xmlns:a16="http://schemas.microsoft.com/office/drawing/2014/main" id="{A4B8B3FE-B517-BB4B-B969-C8AB15CCEF90}"/>
              </a:ext>
            </a:extLst>
          </p:cNvPr>
          <p:cNvSpPr/>
          <p:nvPr/>
        </p:nvSpPr>
        <p:spPr>
          <a:xfrm>
            <a:off x="6477000" y="5727700"/>
            <a:ext cx="558800" cy="101600"/>
          </a:xfrm>
          <a:prstGeom prst="roundRect">
            <a:avLst/>
          </a:prstGeom>
          <a:noFill/>
          <a:ln w="19050" cap="flat" cmpd="sng" algn="ctr">
            <a:solidFill>
              <a:srgbClr val="D62828"/>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it-IT"/>
          </a:p>
        </p:txBody>
      </p:sp>
      <p:sp>
        <p:nvSpPr>
          <p:cNvPr id="18" name="Evidenzia giorni mancanti 1">
            <a:extLst>
              <a:ext uri="{FF2B5EF4-FFF2-40B4-BE49-F238E27FC236}">
                <a16:creationId xmlns:a16="http://schemas.microsoft.com/office/drawing/2014/main" id="{760DD865-A77E-9540-8CF0-D139D664F79B}"/>
              </a:ext>
            </a:extLst>
          </p:cNvPr>
          <p:cNvSpPr/>
          <p:nvPr/>
        </p:nvSpPr>
        <p:spPr>
          <a:xfrm>
            <a:off x="6413500" y="5600700"/>
            <a:ext cx="685800" cy="101600"/>
          </a:xfrm>
          <a:prstGeom prst="rect">
            <a:avLst/>
          </a:prstGeom>
          <a:noFill/>
          <a:ln w="19050" cap="flat" cmpd="sng" algn="ctr">
            <a:solidFill>
              <a:srgbClr val="D62828"/>
            </a:solidFill>
            <a:prstDash val="dash"/>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it-IT"/>
          </a:p>
        </p:txBody>
      </p:sp>
      <p:sp>
        <p:nvSpPr>
          <p:cNvPr id="19" name="Evidenzia chip obiettivo 2">
            <a:extLst>
              <a:ext uri="{FF2B5EF4-FFF2-40B4-BE49-F238E27FC236}">
                <a16:creationId xmlns:a16="http://schemas.microsoft.com/office/drawing/2014/main" id="{EA52DF8D-C251-8D4F-90E5-EADCEB8F7F46}"/>
              </a:ext>
            </a:extLst>
          </p:cNvPr>
          <p:cNvSpPr/>
          <p:nvPr/>
        </p:nvSpPr>
        <p:spPr>
          <a:xfrm>
            <a:off x="7645400" y="5727700"/>
            <a:ext cx="558800" cy="101600"/>
          </a:xfrm>
          <a:prstGeom prst="roundRect">
            <a:avLst/>
          </a:prstGeom>
          <a:noFill/>
          <a:ln w="19050" cap="flat" cmpd="sng" algn="ctr">
            <a:solidFill>
              <a:srgbClr val="D62828"/>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it-IT"/>
          </a:p>
        </p:txBody>
      </p:sp>
      <p:sp>
        <p:nvSpPr>
          <p:cNvPr id="20" name="Evidenzia giorni mancanti 2">
            <a:extLst>
              <a:ext uri="{FF2B5EF4-FFF2-40B4-BE49-F238E27FC236}">
                <a16:creationId xmlns:a16="http://schemas.microsoft.com/office/drawing/2014/main" id="{18A8D2BD-8366-ED48-8A86-BAD03EA5CBFC}"/>
              </a:ext>
            </a:extLst>
          </p:cNvPr>
          <p:cNvSpPr/>
          <p:nvPr/>
        </p:nvSpPr>
        <p:spPr>
          <a:xfrm>
            <a:off x="7581900" y="5600700"/>
            <a:ext cx="685800" cy="101600"/>
          </a:xfrm>
          <a:prstGeom prst="rect">
            <a:avLst/>
          </a:prstGeom>
          <a:noFill/>
          <a:ln w="19050" cap="flat" cmpd="sng" algn="ctr">
            <a:solidFill>
              <a:srgbClr val="D62828"/>
            </a:solidFill>
            <a:prstDash val="dash"/>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it-IT"/>
          </a:p>
        </p:txBody>
      </p:sp>
      <p:sp>
        <p:nvSpPr>
          <p:cNvPr id="21" name="Evidenzia chip obiettivo 3">
            <a:extLst>
              <a:ext uri="{FF2B5EF4-FFF2-40B4-BE49-F238E27FC236}">
                <a16:creationId xmlns:a16="http://schemas.microsoft.com/office/drawing/2014/main" id="{2A896E7C-F4F8-C849-B46F-575A5EE662FC}"/>
              </a:ext>
            </a:extLst>
          </p:cNvPr>
          <p:cNvSpPr/>
          <p:nvPr/>
        </p:nvSpPr>
        <p:spPr>
          <a:xfrm>
            <a:off x="8813800" y="5727700"/>
            <a:ext cx="558800" cy="101600"/>
          </a:xfrm>
          <a:prstGeom prst="roundRect">
            <a:avLst/>
          </a:prstGeom>
          <a:noFill/>
          <a:ln w="19050" cap="flat" cmpd="sng" algn="ctr">
            <a:solidFill>
              <a:srgbClr val="D62828"/>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it-IT"/>
          </a:p>
        </p:txBody>
      </p:sp>
      <p:sp>
        <p:nvSpPr>
          <p:cNvPr id="22" name="Evidenzia giorni mancanti 3">
            <a:extLst>
              <a:ext uri="{FF2B5EF4-FFF2-40B4-BE49-F238E27FC236}">
                <a16:creationId xmlns:a16="http://schemas.microsoft.com/office/drawing/2014/main" id="{72170DC0-5DF7-4745-8D2F-7C2636533F34}"/>
              </a:ext>
            </a:extLst>
          </p:cNvPr>
          <p:cNvSpPr/>
          <p:nvPr/>
        </p:nvSpPr>
        <p:spPr>
          <a:xfrm>
            <a:off x="8750300" y="5600700"/>
            <a:ext cx="685800" cy="101600"/>
          </a:xfrm>
          <a:prstGeom prst="rect">
            <a:avLst/>
          </a:prstGeom>
          <a:noFill/>
          <a:ln w="19050" cap="flat" cmpd="sng" algn="ctr">
            <a:solidFill>
              <a:srgbClr val="D62828"/>
            </a:solidFill>
            <a:prstDash val="dash"/>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it-IT"/>
          </a:p>
        </p:txBody>
      </p:sp>
      <p:sp>
        <p:nvSpPr>
          <p:cNvPr id="23" name="Evidenzia chip obiettivo 4">
            <a:extLst>
              <a:ext uri="{FF2B5EF4-FFF2-40B4-BE49-F238E27FC236}">
                <a16:creationId xmlns:a16="http://schemas.microsoft.com/office/drawing/2014/main" id="{C6639D6D-FC98-4349-9AEB-E5BB499556F2}"/>
              </a:ext>
            </a:extLst>
          </p:cNvPr>
          <p:cNvSpPr/>
          <p:nvPr/>
        </p:nvSpPr>
        <p:spPr>
          <a:xfrm>
            <a:off x="9982200" y="5727700"/>
            <a:ext cx="558800" cy="101600"/>
          </a:xfrm>
          <a:prstGeom prst="roundRect">
            <a:avLst/>
          </a:prstGeom>
          <a:noFill/>
          <a:ln w="19050" cap="flat" cmpd="sng" algn="ctr">
            <a:solidFill>
              <a:srgbClr val="D62828"/>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it-IT"/>
          </a:p>
        </p:txBody>
      </p:sp>
      <p:sp>
        <p:nvSpPr>
          <p:cNvPr id="24" name="Evidenzia giorni mancanti 4">
            <a:extLst>
              <a:ext uri="{FF2B5EF4-FFF2-40B4-BE49-F238E27FC236}">
                <a16:creationId xmlns:a16="http://schemas.microsoft.com/office/drawing/2014/main" id="{1359E4DB-1F73-E547-846D-4862D17EC5EE}"/>
              </a:ext>
            </a:extLst>
          </p:cNvPr>
          <p:cNvSpPr/>
          <p:nvPr/>
        </p:nvSpPr>
        <p:spPr>
          <a:xfrm>
            <a:off x="9918700" y="5600700"/>
            <a:ext cx="685800" cy="101600"/>
          </a:xfrm>
          <a:prstGeom prst="rect">
            <a:avLst/>
          </a:prstGeom>
          <a:noFill/>
          <a:ln w="19050" cap="flat" cmpd="sng" algn="ctr">
            <a:solidFill>
              <a:srgbClr val="D62828"/>
            </a:solidFill>
            <a:prstDash val="dash"/>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it-IT"/>
          </a:p>
        </p:txBody>
      </p:sp>
    </p:spTree>
    <p:extLst>
      <p:ext uri="{BB962C8B-B14F-4D97-AF65-F5344CB8AC3E}">
        <p14:creationId xmlns:p14="http://schemas.microsoft.com/office/powerpoint/2010/main" val="404326330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D6C41BD6-82D1-739B-B5C9-C71DE6159CF7}"/>
              </a:ext>
            </a:extLst>
          </p:cNvPr>
          <p:cNvSpPr>
            <a:spLocks noGrp="1"/>
          </p:cNvSpPr>
          <p:nvPr>
            <p:ph type="title"/>
          </p:nvPr>
        </p:nvSpPr>
        <p:spPr>
          <a:xfrm>
            <a:off x="609600" y="558800"/>
            <a:ext cx="8991600" cy="889000"/>
          </a:xfrm>
        </p:spPr>
        <p:txBody>
          <a:bodyPr anchor="t"/>
          <a:lstStyle/>
          <a:p>
            <a:pPr>
              <a:lnSpc>
                <a:spcPct val="90000"/>
              </a:lnSpc>
            </a:pPr>
            <a:r>
              <a:rPr lang="it-IT" sz="2600" b="1" dirty="0"/>
              <a:t>Al passaggio del mouse le card non sembrano cliccabili</a:t>
            </a:r>
          </a:p>
        </p:txBody>
      </p:sp>
      <p:sp>
        <p:nvSpPr>
          <p:cNvPr id="10" name="Euristica"/>
          <p:cNvSpPr txBox="1"/>
          <p:nvPr/>
        </p:nvSpPr>
        <p:spPr>
          <a:xfrm>
            <a:off x="609600" y="254000"/>
            <a:ext cx="8890000" cy="279400"/>
          </a:xfrm>
          <a:prstGeom prst="rect">
            <a:avLst/>
          </a:prstGeom>
          <a:noFill/>
          <a:ln>
            <a:noFill/>
          </a:ln>
        </p:spPr>
        <p:txBody>
          <a:bodyPr wrap="square" lIns="0" tIns="0" rIns="0" bIns="0" anchor="t">
            <a:noAutofit/>
          </a:bodyPr>
          <a:lstStyle/>
          <a:p>
            <a:pPr marL="0" indent="0" algn="l">
              <a:lnSpc>
                <a:spcPct val="100000"/>
              </a:lnSpc>
              <a:spcBef>
                <a:spcPts val="0"/>
              </a:spcBef>
              <a:buNone/>
            </a:pPr>
            <a:r>
              <a:rPr lang="it-IT" sz="1200" b="1" dirty="0">
                <a:solidFill>
                  <a:srgbClr val="6C0850"/>
                </a:solidFill>
              </a:rPr>
              <a:t>H4 · COERENZA E STANDARD</a:t>
            </a:r>
          </a:p>
        </p:txBody>
      </p:sp>
      <p:sp>
        <p:nvSpPr>
          <p:cNvPr id="11" name="Badge gravità"/>
          <p:cNvSpPr/>
          <p:nvPr/>
        </p:nvSpPr>
        <p:spPr>
          <a:xfrm>
            <a:off x="9855200" y="381000"/>
            <a:ext cx="1727200" cy="736600"/>
          </a:xfrm>
          <a:prstGeom prst="roundRect">
            <a:avLst/>
          </a:prstGeom>
          <a:solidFill>
            <a:srgbClr val="8E2F72"/>
          </a:solidFill>
          <a:ln>
            <a:noFill/>
          </a:ln>
        </p:spPr>
        <p:txBody>
          <a:bodyPr wrap="square" lIns="0" tIns="0" rIns="0" bIns="0" anchor="ctr">
            <a:noAutofit/>
          </a:bodyPr>
          <a:lstStyle/>
          <a:p>
            <a:pPr marL="0" indent="0" algn="ctr">
              <a:lnSpc>
                <a:spcPct val="100000"/>
              </a:lnSpc>
              <a:spcBef>
                <a:spcPts val="0"/>
              </a:spcBef>
              <a:buNone/>
            </a:pPr>
            <a:r>
              <a:rPr lang="it-IT" sz="1000" b="1" dirty="0">
                <a:solidFill>
                  <a:srgbClr val="FFFFFF"/>
                </a:solidFill>
              </a:rPr>
              <a:t>GRAVITÀ</a:t>
            </a:r>
          </a:p>
          <a:p>
            <a:pPr marL="0" indent="0" algn="ctr">
              <a:lnSpc>
                <a:spcPct val="100000"/>
              </a:lnSpc>
              <a:spcBef>
                <a:spcPts val="0"/>
              </a:spcBef>
              <a:buNone/>
            </a:pPr>
            <a:r>
              <a:rPr lang="it-IT" sz="1800" b="1" dirty="0">
                <a:solidFill>
                  <a:srgbClr val="FFFFFF"/>
                </a:solidFill>
              </a:rPr>
              <a:t>3 </a:t>
            </a:r>
            <a:r>
              <a:rPr lang="it-IT" sz="1800" b="1">
                <a:solidFill>
                  <a:srgbClr val="FFFFFF"/>
                </a:solidFill>
              </a:rPr>
              <a:t>· Importante</a:t>
            </a:r>
            <a:endParaRPr lang="it-IT" sz="1800" b="1" dirty="0">
              <a:solidFill>
                <a:srgbClr val="FFFFFF"/>
              </a:solidFill>
            </a:endParaRPr>
          </a:p>
        </p:txBody>
      </p:sp>
      <p:sp>
        <p:nvSpPr>
          <p:cNvPr id="12" name="Problema"/>
          <p:cNvSpPr txBox="1"/>
          <p:nvPr/>
        </p:nvSpPr>
        <p:spPr>
          <a:xfrm>
            <a:off x="609600" y="1625600"/>
            <a:ext cx="5130800" cy="2616200"/>
          </a:xfrm>
          <a:prstGeom prst="rect">
            <a:avLst/>
          </a:prstGeom>
          <a:noFill/>
          <a:ln>
            <a:noFill/>
          </a:ln>
        </p:spPr>
        <p:txBody>
          <a:bodyPr wrap="square" lIns="0" tIns="0" rIns="0" bIns="0" anchor="t">
            <a:noAutofit/>
          </a:bodyPr>
          <a:lstStyle/>
          <a:p>
            <a:pPr marL="0" indent="0" algn="l">
              <a:lnSpc>
                <a:spcPct val="100000"/>
              </a:lnSpc>
              <a:spcBef>
                <a:spcPts val="0"/>
              </a:spcBef>
              <a:buNone/>
            </a:pPr>
            <a:r>
              <a:rPr lang="it-IT" sz="1400" b="1" dirty="0">
                <a:solidFill>
                  <a:srgbClr val="6C0850"/>
                </a:solidFill>
              </a:rPr>
              <a:t>Problema</a:t>
            </a:r>
          </a:p>
          <a:p>
            <a:pPr marL="228600" indent="-228600" algn="l">
              <a:lnSpc>
                <a:spcPct val="100000"/>
              </a:lnSpc>
              <a:spcBef>
                <a:spcPts val="500"/>
              </a:spcBef>
              <a:buClr>
                <a:srgbClr val="6C0850"/>
              </a:buClr>
              <a:buFont typeface="Arial"/>
              <a:buChar char="•"/>
            </a:pPr>
            <a:r>
              <a:rPr lang="it-IT" sz="1400" b="0" dirty="0">
                <a:solidFill>
                  <a:srgbClr val="231C21"/>
                </a:solidFill>
              </a:rPr>
              <a:t>Passando sopra una card </a:t>
            </a:r>
            <a:r>
              <a:rPr lang="it-IT" sz="1400" b="1" dirty="0">
                <a:solidFill>
                  <a:srgbClr val="231C21"/>
                </a:solidFill>
              </a:rPr>
              <a:t>non cambia nulla</a:t>
            </a:r>
            <a:r>
              <a:rPr lang="it-IT" sz="1400" b="0" dirty="0">
                <a:solidFill>
                  <a:srgbClr val="231C21"/>
                </a:solidFill>
              </a:rPr>
              <a:t> di evidente. L’utente non capisce subito che la card intera porta alla pagina del progetto. Chi non prova a cliccare non arriva ai dettagli (T3).</a:t>
            </a:r>
          </a:p>
          <a:p>
            <a:pPr marL="228600" indent="-228600" algn="l">
              <a:lnSpc>
                <a:spcPct val="100000"/>
              </a:lnSpc>
              <a:spcBef>
                <a:spcPts val="500"/>
              </a:spcBef>
              <a:buClr>
                <a:srgbClr val="6C0850"/>
              </a:buClr>
              <a:buFont typeface="Arial"/>
              <a:buChar char="•"/>
            </a:pPr>
            <a:endParaRPr lang="it-IT" sz="1400" dirty="0">
              <a:solidFill>
                <a:srgbClr val="231C21"/>
              </a:solidFill>
            </a:endParaRPr>
          </a:p>
          <a:p>
            <a:pPr algn="l">
              <a:lnSpc>
                <a:spcPct val="100000"/>
              </a:lnSpc>
              <a:spcBef>
                <a:spcPts val="500"/>
              </a:spcBef>
              <a:buClr>
                <a:srgbClr val="6C0850"/>
              </a:buClr>
            </a:pPr>
            <a:r>
              <a:rPr lang="it-IT" sz="1100" b="0" dirty="0">
                <a:solidFill>
                  <a:srgbClr val="6B6168"/>
                </a:solidFill>
              </a:rPr>
              <a:t>Gravità 3: Questo è un problema molto importante in quanto potrebbe bloccare la navigazione della pagina, tuttavia il browser interpreta la card come un link cambiando forma al cursore limitando il problema.</a:t>
            </a:r>
          </a:p>
        </p:txBody>
      </p:sp>
      <p:sp>
        <p:nvSpPr>
          <p:cNvPr id="13" name="Soluzione"/>
          <p:cNvSpPr/>
          <p:nvPr/>
        </p:nvSpPr>
        <p:spPr>
          <a:xfrm>
            <a:off x="609600" y="4394200"/>
            <a:ext cx="5130800" cy="1727200"/>
          </a:xfrm>
          <a:prstGeom prst="rect">
            <a:avLst/>
          </a:prstGeom>
          <a:solidFill>
            <a:srgbClr val="F3EEF1"/>
          </a:solidFill>
          <a:ln>
            <a:noFill/>
          </a:ln>
        </p:spPr>
        <p:txBody>
          <a:bodyPr wrap="square" lIns="152400" tIns="152400" rIns="152400" bIns="152400" anchor="t">
            <a:noAutofit/>
          </a:bodyPr>
          <a:lstStyle/>
          <a:p>
            <a:pPr marL="0" indent="0" algn="l">
              <a:lnSpc>
                <a:spcPct val="100000"/>
              </a:lnSpc>
              <a:spcBef>
                <a:spcPts val="0"/>
              </a:spcBef>
              <a:buNone/>
            </a:pPr>
            <a:r>
              <a:rPr lang="it-IT" sz="1400" b="1" dirty="0">
                <a:solidFill>
                  <a:srgbClr val="6C0850"/>
                </a:solidFill>
              </a:rPr>
              <a:t>Possibile soluzione</a:t>
            </a:r>
          </a:p>
          <a:p>
            <a:pPr marL="0" indent="0" algn="l">
              <a:lnSpc>
                <a:spcPct val="100000"/>
              </a:lnSpc>
              <a:spcBef>
                <a:spcPts val="400"/>
              </a:spcBef>
              <a:buNone/>
            </a:pPr>
            <a:endParaRPr lang="it-IT" sz="1400" dirty="0">
              <a:solidFill>
                <a:srgbClr val="231C21"/>
              </a:solidFill>
            </a:endParaRPr>
          </a:p>
          <a:p>
            <a:pPr marL="0" indent="0" algn="l">
              <a:lnSpc>
                <a:spcPct val="100000"/>
              </a:lnSpc>
              <a:spcBef>
                <a:spcPts val="400"/>
              </a:spcBef>
              <a:buNone/>
            </a:pPr>
            <a:r>
              <a:rPr lang="it-IT" sz="1400" dirty="0">
                <a:solidFill>
                  <a:srgbClr val="231C21"/>
                </a:solidFill>
              </a:rPr>
              <a:t>Dare un effetto di profondità 3D alla card quando ci si passa sopra con il mouse più evidente di quello già presente sul logo ed eventualmente mettere un pulsante «Scopri il progetto» in fondo alla card</a:t>
            </a:r>
            <a:endParaRPr lang="it-IT" sz="1400" b="0" dirty="0">
              <a:solidFill>
                <a:srgbClr val="231C21"/>
              </a:solidFill>
            </a:endParaRPr>
          </a:p>
        </p:txBody>
      </p:sp>
      <p:sp>
        <p:nvSpPr>
          <p:cNvPr id="15" name="Pagine e task"/>
          <p:cNvSpPr txBox="1"/>
          <p:nvPr/>
        </p:nvSpPr>
        <p:spPr>
          <a:xfrm>
            <a:off x="609600" y="6273800"/>
            <a:ext cx="10972800" cy="381000"/>
          </a:xfrm>
          <a:prstGeom prst="rect">
            <a:avLst/>
          </a:prstGeom>
          <a:noFill/>
          <a:ln>
            <a:noFill/>
          </a:ln>
        </p:spPr>
        <p:txBody>
          <a:bodyPr wrap="square" lIns="0" tIns="0" rIns="0" bIns="0" anchor="b">
            <a:noAutofit/>
          </a:bodyPr>
          <a:lstStyle/>
          <a:p>
            <a:pPr marL="0" indent="0" algn="l">
              <a:lnSpc>
                <a:spcPct val="100000"/>
              </a:lnSpc>
              <a:spcBef>
                <a:spcPts val="0"/>
              </a:spcBef>
              <a:buNone/>
            </a:pPr>
            <a:r>
              <a:rPr lang="it-IT" sz="1000" b="1" dirty="0">
                <a:solidFill>
                  <a:srgbClr val="6B6168"/>
                </a:solidFill>
              </a:rPr>
              <a:t>Pagina:</a:t>
            </a:r>
            <a:r>
              <a:rPr lang="it-IT" sz="1000" b="0" dirty="0">
                <a:solidFill>
                  <a:srgbClr val="6B6168"/>
                </a:solidFill>
              </a:rPr>
              <a:t> Partner UniTo › Progetti   </a:t>
            </a:r>
            <a:r>
              <a:rPr lang="it-IT" sz="1000" b="1" dirty="0">
                <a:solidFill>
                  <a:srgbClr val="6B6168"/>
                </a:solidFill>
              </a:rPr>
              <a:t>Task:</a:t>
            </a:r>
            <a:r>
              <a:rPr lang="it-IT" sz="1000" b="0" dirty="0">
                <a:solidFill>
                  <a:srgbClr val="6B6168"/>
                </a:solidFill>
              </a:rPr>
              <a:t> T2, T3, T5</a:t>
            </a:r>
          </a:p>
        </p:txBody>
      </p:sp>
      <p:pic>
        <p:nvPicPr>
          <p:cNvPr id="4" name="Immagine 3">
            <a:extLst>
              <a:ext uri="{FF2B5EF4-FFF2-40B4-BE49-F238E27FC236}">
                <a16:creationId xmlns:a16="http://schemas.microsoft.com/office/drawing/2014/main" id="{AE734C12-5049-B401-EC15-20AFA1D5A465}"/>
              </a:ext>
            </a:extLst>
          </p:cNvPr>
          <p:cNvPicPr>
            <a:picLocks noChangeAspect="1"/>
          </p:cNvPicPr>
          <p:nvPr/>
        </p:nvPicPr>
        <p:blipFill>
          <a:blip r:embed="rId2"/>
          <a:stretch>
            <a:fillRect/>
          </a:stretch>
        </p:blipFill>
        <p:spPr>
          <a:xfrm>
            <a:off x="7645400" y="1447800"/>
            <a:ext cx="3265337" cy="4760310"/>
          </a:xfrm>
          <a:prstGeom prst="rect">
            <a:avLst/>
          </a:prstGeom>
        </p:spPr>
      </p:pic>
    </p:spTree>
    <p:extLst>
      <p:ext uri="{BB962C8B-B14F-4D97-AF65-F5344CB8AC3E}">
        <p14:creationId xmlns:p14="http://schemas.microsoft.com/office/powerpoint/2010/main" val="292393978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C04AB486-3C81-29D5-2AFA-55A1E121B870}"/>
              </a:ext>
            </a:extLst>
          </p:cNvPr>
          <p:cNvSpPr>
            <a:spLocks noGrp="1"/>
          </p:cNvSpPr>
          <p:nvPr>
            <p:ph type="title"/>
          </p:nvPr>
        </p:nvSpPr>
        <p:spPr>
          <a:xfrm>
            <a:off x="609600" y="558800"/>
            <a:ext cx="8991600" cy="889000"/>
          </a:xfrm>
        </p:spPr>
        <p:txBody>
          <a:bodyPr anchor="t"/>
          <a:lstStyle/>
          <a:p>
            <a:pPr>
              <a:lnSpc>
                <a:spcPct val="90000"/>
              </a:lnSpc>
            </a:pPr>
            <a:r>
              <a:rPr lang="it-IT" sz="2600" b="1" dirty="0"/>
              <a:t>Dalla card non si capisce di cosa si occupa il progetto</a:t>
            </a:r>
          </a:p>
        </p:txBody>
      </p:sp>
      <p:sp>
        <p:nvSpPr>
          <p:cNvPr id="10" name="Euristica"/>
          <p:cNvSpPr txBox="1"/>
          <p:nvPr/>
        </p:nvSpPr>
        <p:spPr>
          <a:xfrm>
            <a:off x="609600" y="254000"/>
            <a:ext cx="8890000" cy="279400"/>
          </a:xfrm>
          <a:prstGeom prst="rect">
            <a:avLst/>
          </a:prstGeom>
          <a:noFill/>
          <a:ln>
            <a:noFill/>
          </a:ln>
        </p:spPr>
        <p:txBody>
          <a:bodyPr wrap="square" lIns="0" tIns="0" rIns="0" bIns="0" anchor="t">
            <a:noAutofit/>
          </a:bodyPr>
          <a:lstStyle/>
          <a:p>
            <a:pPr marL="0" indent="0" algn="l">
              <a:lnSpc>
                <a:spcPct val="100000"/>
              </a:lnSpc>
              <a:spcBef>
                <a:spcPts val="0"/>
              </a:spcBef>
              <a:buNone/>
            </a:pPr>
            <a:r>
              <a:rPr lang="it-IT" sz="1200" b="1" dirty="0">
                <a:solidFill>
                  <a:srgbClr val="6C0850"/>
                </a:solidFill>
              </a:rPr>
              <a:t>H6 · RICONOSCIMENTO ANZICHÉ RICORDO</a:t>
            </a:r>
          </a:p>
        </p:txBody>
      </p:sp>
      <p:sp>
        <p:nvSpPr>
          <p:cNvPr id="12" name="Problema"/>
          <p:cNvSpPr txBox="1"/>
          <p:nvPr/>
        </p:nvSpPr>
        <p:spPr>
          <a:xfrm>
            <a:off x="609600" y="1625600"/>
            <a:ext cx="5130800" cy="2616200"/>
          </a:xfrm>
          <a:prstGeom prst="rect">
            <a:avLst/>
          </a:prstGeom>
          <a:noFill/>
          <a:ln>
            <a:noFill/>
          </a:ln>
        </p:spPr>
        <p:txBody>
          <a:bodyPr wrap="square" lIns="0" tIns="0" rIns="0" bIns="0" anchor="t">
            <a:noAutofit/>
          </a:bodyPr>
          <a:lstStyle/>
          <a:p>
            <a:pPr marL="0" indent="0" algn="l">
              <a:lnSpc>
                <a:spcPct val="100000"/>
              </a:lnSpc>
              <a:spcBef>
                <a:spcPts val="0"/>
              </a:spcBef>
              <a:buNone/>
            </a:pPr>
            <a:r>
              <a:rPr lang="it-IT" sz="1400" b="1" dirty="0">
                <a:solidFill>
                  <a:srgbClr val="6C0850"/>
                </a:solidFill>
              </a:rPr>
              <a:t>Problema</a:t>
            </a:r>
          </a:p>
          <a:p>
            <a:pPr marL="228600" indent="-228600" algn="l">
              <a:lnSpc>
                <a:spcPct val="100000"/>
              </a:lnSpc>
              <a:spcBef>
                <a:spcPts val="500"/>
              </a:spcBef>
              <a:buClr>
                <a:srgbClr val="6C0850"/>
              </a:buClr>
              <a:buFont typeface="Arial"/>
              <a:buChar char="•"/>
            </a:pPr>
            <a:r>
              <a:rPr lang="it-IT" sz="1400" b="0" dirty="0">
                <a:solidFill>
                  <a:srgbClr val="231C21"/>
                </a:solidFill>
              </a:rPr>
              <a:t>La card </a:t>
            </a:r>
            <a:r>
              <a:rPr lang="it-IT" sz="1400" b="1" dirty="0">
                <a:solidFill>
                  <a:srgbClr val="231C21"/>
                </a:solidFill>
              </a:rPr>
              <a:t>non indica il tema </a:t>
            </a:r>
            <a:r>
              <a:rPr lang="it-IT" sz="1400" b="0" dirty="0">
                <a:solidFill>
                  <a:srgbClr val="231C21"/>
                </a:solidFill>
              </a:rPr>
              <a:t>nonostante i progetti abbiano una categoria </a:t>
            </a:r>
            <a:r>
              <a:rPr lang="it-IT" sz="1400" dirty="0">
                <a:solidFill>
                  <a:srgbClr val="231C21"/>
                </a:solidFill>
              </a:rPr>
              <a:t>che rappresenta l’ambito della ricerca.</a:t>
            </a:r>
            <a:endParaRPr lang="it-IT" sz="1400" b="0" dirty="0">
              <a:solidFill>
                <a:srgbClr val="231C21"/>
              </a:solidFill>
            </a:endParaRPr>
          </a:p>
          <a:p>
            <a:pPr marL="228600" indent="-228600" algn="l">
              <a:lnSpc>
                <a:spcPct val="100000"/>
              </a:lnSpc>
              <a:spcBef>
                <a:spcPts val="500"/>
              </a:spcBef>
              <a:buClr>
                <a:srgbClr val="6C0850"/>
              </a:buClr>
              <a:buFont typeface="Arial"/>
              <a:buChar char="•"/>
            </a:pPr>
            <a:r>
              <a:rPr lang="it-IT" sz="1400" b="0" dirty="0">
                <a:solidFill>
                  <a:srgbClr val="231C21"/>
                </a:solidFill>
              </a:rPr>
              <a:t>Per scegliere bisogna ricordarne il contenuto.</a:t>
            </a:r>
          </a:p>
          <a:p>
            <a:pPr marL="228600" indent="-228600" algn="l">
              <a:lnSpc>
                <a:spcPct val="100000"/>
              </a:lnSpc>
              <a:spcBef>
                <a:spcPts val="500"/>
              </a:spcBef>
              <a:buClr>
                <a:srgbClr val="6C0850"/>
              </a:buClr>
              <a:buFont typeface="Arial"/>
              <a:buChar char="•"/>
            </a:pPr>
            <a:endParaRPr lang="it-IT" sz="1400" dirty="0">
              <a:solidFill>
                <a:srgbClr val="231C21"/>
              </a:solidFill>
            </a:endParaRPr>
          </a:p>
          <a:p>
            <a:pPr>
              <a:spcBef>
                <a:spcPts val="900"/>
              </a:spcBef>
              <a:buClr>
                <a:srgbClr val="6C0850"/>
              </a:buClr>
            </a:pPr>
            <a:r>
              <a:rPr lang="it-IT" sz="1100" dirty="0">
                <a:solidFill>
                  <a:srgbClr val="6B6168"/>
                </a:solidFill>
              </a:rPr>
              <a:t>Gravità 2: Questi problemi impattano poco la UX in quanto permetterebbe all’utente di «filtrare» progetti di una categoria di suo interesse ma nella maggior parte dei casi, sarebbe comunque portato a leggere la panoramica dei vari progetti</a:t>
            </a:r>
          </a:p>
        </p:txBody>
      </p:sp>
      <p:sp>
        <p:nvSpPr>
          <p:cNvPr id="13" name="Soluzione"/>
          <p:cNvSpPr/>
          <p:nvPr/>
        </p:nvSpPr>
        <p:spPr>
          <a:xfrm>
            <a:off x="609600" y="4394200"/>
            <a:ext cx="5130800" cy="1727200"/>
          </a:xfrm>
          <a:prstGeom prst="rect">
            <a:avLst/>
          </a:prstGeom>
          <a:solidFill>
            <a:srgbClr val="F3EEF1"/>
          </a:solidFill>
          <a:ln>
            <a:noFill/>
          </a:ln>
        </p:spPr>
        <p:txBody>
          <a:bodyPr wrap="square" lIns="152400" tIns="152400" rIns="152400" bIns="152400" anchor="t">
            <a:noAutofit/>
          </a:bodyPr>
          <a:lstStyle/>
          <a:p>
            <a:pPr marL="0" indent="0" algn="l">
              <a:lnSpc>
                <a:spcPct val="100000"/>
              </a:lnSpc>
              <a:spcBef>
                <a:spcPts val="0"/>
              </a:spcBef>
              <a:buNone/>
            </a:pPr>
            <a:r>
              <a:rPr lang="it-IT" sz="1400" b="1" dirty="0">
                <a:solidFill>
                  <a:srgbClr val="6C0850"/>
                </a:solidFill>
              </a:rPr>
              <a:t>Possibile soluzione</a:t>
            </a:r>
          </a:p>
          <a:p>
            <a:pPr marL="0" indent="0" algn="l">
              <a:lnSpc>
                <a:spcPct val="100000"/>
              </a:lnSpc>
              <a:spcBef>
                <a:spcPts val="400"/>
              </a:spcBef>
              <a:buNone/>
            </a:pPr>
            <a:r>
              <a:rPr lang="it-IT" sz="1400" b="0" dirty="0">
                <a:solidFill>
                  <a:srgbClr val="231C21"/>
                </a:solidFill>
              </a:rPr>
              <a:t>Aggiungere una sezione categoria sotto il titolo del progetto.</a:t>
            </a:r>
          </a:p>
        </p:txBody>
      </p:sp>
      <p:sp>
        <p:nvSpPr>
          <p:cNvPr id="15" name="Pagine e task"/>
          <p:cNvSpPr txBox="1"/>
          <p:nvPr/>
        </p:nvSpPr>
        <p:spPr>
          <a:xfrm>
            <a:off x="609600" y="6273800"/>
            <a:ext cx="10972800" cy="381000"/>
          </a:xfrm>
          <a:prstGeom prst="rect">
            <a:avLst/>
          </a:prstGeom>
          <a:noFill/>
          <a:ln>
            <a:noFill/>
          </a:ln>
        </p:spPr>
        <p:txBody>
          <a:bodyPr wrap="square" lIns="0" tIns="0" rIns="0" bIns="0" anchor="b">
            <a:noAutofit/>
          </a:bodyPr>
          <a:lstStyle/>
          <a:p>
            <a:pPr marL="0" indent="0" algn="l">
              <a:lnSpc>
                <a:spcPct val="100000"/>
              </a:lnSpc>
              <a:spcBef>
                <a:spcPts val="0"/>
              </a:spcBef>
              <a:buNone/>
            </a:pPr>
            <a:r>
              <a:rPr lang="it-IT" sz="1000" b="1" dirty="0">
                <a:solidFill>
                  <a:srgbClr val="6B6168"/>
                </a:solidFill>
              </a:rPr>
              <a:t>Pagine:</a:t>
            </a:r>
            <a:r>
              <a:rPr lang="it-IT" sz="1000" b="0" dirty="0">
                <a:solidFill>
                  <a:srgbClr val="6B6168"/>
                </a:solidFill>
              </a:rPr>
              <a:t> Partner UniTo › Progetti </a:t>
            </a:r>
            <a:r>
              <a:rPr lang="it-IT" sz="1000" b="1" dirty="0">
                <a:solidFill>
                  <a:srgbClr val="6B6168"/>
                </a:solidFill>
              </a:rPr>
              <a:t>Task:</a:t>
            </a:r>
            <a:r>
              <a:rPr lang="it-IT" sz="1000" b="0" dirty="0">
                <a:solidFill>
                  <a:srgbClr val="6B6168"/>
                </a:solidFill>
              </a:rPr>
              <a:t> T2</a:t>
            </a:r>
          </a:p>
        </p:txBody>
      </p:sp>
      <p:sp>
        <p:nvSpPr>
          <p:cNvPr id="3" name="Badge gravità">
            <a:extLst>
              <a:ext uri="{FF2B5EF4-FFF2-40B4-BE49-F238E27FC236}">
                <a16:creationId xmlns:a16="http://schemas.microsoft.com/office/drawing/2014/main" id="{54D0001F-4924-79B7-7704-5020A72CCE60}"/>
              </a:ext>
            </a:extLst>
          </p:cNvPr>
          <p:cNvSpPr/>
          <p:nvPr/>
        </p:nvSpPr>
        <p:spPr>
          <a:xfrm>
            <a:off x="9855200" y="381000"/>
            <a:ext cx="1727200" cy="736600"/>
          </a:xfrm>
          <a:prstGeom prst="roundRect">
            <a:avLst/>
          </a:prstGeom>
          <a:solidFill>
            <a:srgbClr val="C7A2BB"/>
          </a:solidFill>
          <a:ln>
            <a:noFill/>
          </a:ln>
        </p:spPr>
        <p:txBody>
          <a:bodyPr wrap="square" lIns="0" tIns="0" rIns="0" bIns="0" anchor="ctr">
            <a:noAutofit/>
          </a:bodyPr>
          <a:lstStyle/>
          <a:p>
            <a:pPr marL="0" indent="0" algn="ctr">
              <a:lnSpc>
                <a:spcPct val="100000"/>
              </a:lnSpc>
              <a:spcBef>
                <a:spcPts val="0"/>
              </a:spcBef>
              <a:buNone/>
            </a:pPr>
            <a:r>
              <a:rPr lang="it-IT" sz="1000" b="1" dirty="0">
                <a:solidFill>
                  <a:srgbClr val="41002F"/>
                </a:solidFill>
              </a:rPr>
              <a:t>GRAVITÀ</a:t>
            </a:r>
          </a:p>
          <a:p>
            <a:pPr marL="0" indent="0" algn="ctr">
              <a:lnSpc>
                <a:spcPct val="100000"/>
              </a:lnSpc>
              <a:spcBef>
                <a:spcPts val="0"/>
              </a:spcBef>
              <a:buNone/>
            </a:pPr>
            <a:r>
              <a:rPr lang="it-IT" sz="1800" b="1" dirty="0">
                <a:solidFill>
                  <a:srgbClr val="41002F"/>
                </a:solidFill>
              </a:rPr>
              <a:t>2 · Minore</a:t>
            </a:r>
          </a:p>
        </p:txBody>
      </p:sp>
      <p:pic>
        <p:nvPicPr>
          <p:cNvPr id="4" name="Immagine 3">
            <a:extLst>
              <a:ext uri="{FF2B5EF4-FFF2-40B4-BE49-F238E27FC236}">
                <a16:creationId xmlns:a16="http://schemas.microsoft.com/office/drawing/2014/main" id="{82465711-AFE0-A4D4-D190-F09258A79C89}"/>
              </a:ext>
            </a:extLst>
          </p:cNvPr>
          <p:cNvPicPr>
            <a:picLocks noChangeAspect="1"/>
          </p:cNvPicPr>
          <p:nvPr/>
        </p:nvPicPr>
        <p:blipFill>
          <a:blip r:embed="rId2"/>
          <a:stretch>
            <a:fillRect/>
          </a:stretch>
        </p:blipFill>
        <p:spPr>
          <a:xfrm>
            <a:off x="6007694" y="2304785"/>
            <a:ext cx="5999148" cy="2451629"/>
          </a:xfrm>
          <a:prstGeom prst="rect">
            <a:avLst/>
          </a:prstGeom>
        </p:spPr>
      </p:pic>
      <p:cxnSp>
        <p:nvCxnSpPr>
          <p:cNvPr id="7" name="Connettore diritto a freccia 6">
            <a:extLst>
              <a:ext uri="{FF2B5EF4-FFF2-40B4-BE49-F238E27FC236}">
                <a16:creationId xmlns:a16="http://schemas.microsoft.com/office/drawing/2014/main" id="{0B91FFB7-C48A-2C9C-848C-F2B03CACE357}"/>
              </a:ext>
            </a:extLst>
          </p:cNvPr>
          <p:cNvCxnSpPr>
            <a:cxnSpLocks/>
          </p:cNvCxnSpPr>
          <p:nvPr/>
        </p:nvCxnSpPr>
        <p:spPr>
          <a:xfrm flipV="1">
            <a:off x="6096000" y="4561972"/>
            <a:ext cx="455449" cy="120387"/>
          </a:xfrm>
          <a:prstGeom prst="straightConnector1">
            <a:avLst/>
          </a:prstGeom>
          <a:ln w="19050">
            <a:solidFill>
              <a:srgbClr val="FF0000"/>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9795624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C8986CCA-37EB-69B4-5912-69305FF07B33}"/>
              </a:ext>
            </a:extLst>
          </p:cNvPr>
          <p:cNvSpPr>
            <a:spLocks noGrp="1"/>
          </p:cNvSpPr>
          <p:nvPr>
            <p:ph type="title"/>
          </p:nvPr>
        </p:nvSpPr>
        <p:spPr>
          <a:xfrm>
            <a:off x="609600" y="558800"/>
            <a:ext cx="8991600" cy="889000"/>
          </a:xfrm>
        </p:spPr>
        <p:txBody>
          <a:bodyPr anchor="t"/>
          <a:lstStyle/>
          <a:p>
            <a:pPr>
              <a:lnSpc>
                <a:spcPct val="90000"/>
              </a:lnSpc>
            </a:pPr>
            <a:r>
              <a:rPr lang="it-IT" sz="2600" b="1" dirty="0"/>
              <a:t>Un’icona senza testo nel menu duplica il logo che porta alla home</a:t>
            </a:r>
          </a:p>
        </p:txBody>
      </p:sp>
      <p:sp>
        <p:nvSpPr>
          <p:cNvPr id="10" name="Euristica"/>
          <p:cNvSpPr txBox="1"/>
          <p:nvPr/>
        </p:nvSpPr>
        <p:spPr>
          <a:xfrm>
            <a:off x="609600" y="254000"/>
            <a:ext cx="8890000" cy="279400"/>
          </a:xfrm>
          <a:prstGeom prst="rect">
            <a:avLst/>
          </a:prstGeom>
          <a:noFill/>
          <a:ln>
            <a:noFill/>
          </a:ln>
        </p:spPr>
        <p:txBody>
          <a:bodyPr wrap="square" lIns="0" tIns="0" rIns="0" bIns="0" anchor="t">
            <a:noAutofit/>
          </a:bodyPr>
          <a:lstStyle/>
          <a:p>
            <a:pPr marL="0" indent="0" algn="l">
              <a:lnSpc>
                <a:spcPct val="100000"/>
              </a:lnSpc>
              <a:spcBef>
                <a:spcPts val="0"/>
              </a:spcBef>
              <a:buNone/>
            </a:pPr>
            <a:r>
              <a:rPr lang="it-IT" sz="1200" b="1" dirty="0">
                <a:solidFill>
                  <a:srgbClr val="6C0850"/>
                </a:solidFill>
              </a:rPr>
              <a:t>H6 · RICONOSCIMENTO ANZICHÉ RICORDO</a:t>
            </a:r>
          </a:p>
        </p:txBody>
      </p:sp>
      <p:sp>
        <p:nvSpPr>
          <p:cNvPr id="11" name="Badge gravità"/>
          <p:cNvSpPr/>
          <p:nvPr/>
        </p:nvSpPr>
        <p:spPr>
          <a:xfrm>
            <a:off x="9855200" y="381000"/>
            <a:ext cx="1727200" cy="736600"/>
          </a:xfrm>
          <a:prstGeom prst="roundRect">
            <a:avLst/>
          </a:prstGeom>
          <a:solidFill>
            <a:srgbClr val="E9DCE5"/>
          </a:solidFill>
          <a:ln>
            <a:noFill/>
          </a:ln>
        </p:spPr>
        <p:txBody>
          <a:bodyPr wrap="square" lIns="0" tIns="0" rIns="0" bIns="0" anchor="ctr">
            <a:noAutofit/>
          </a:bodyPr>
          <a:lstStyle/>
          <a:p>
            <a:pPr marL="0" indent="0" algn="ctr">
              <a:lnSpc>
                <a:spcPct val="100000"/>
              </a:lnSpc>
              <a:spcBef>
                <a:spcPts val="0"/>
              </a:spcBef>
              <a:buNone/>
            </a:pPr>
            <a:r>
              <a:rPr lang="it-IT" sz="1000" b="1" dirty="0">
                <a:solidFill>
                  <a:srgbClr val="41002F"/>
                </a:solidFill>
              </a:rPr>
              <a:t>GRAVITÀ</a:t>
            </a:r>
          </a:p>
          <a:p>
            <a:pPr marL="0" indent="0" algn="ctr">
              <a:lnSpc>
                <a:spcPct val="100000"/>
              </a:lnSpc>
              <a:spcBef>
                <a:spcPts val="0"/>
              </a:spcBef>
              <a:buNone/>
            </a:pPr>
            <a:r>
              <a:rPr lang="it-IT" b="1" dirty="0">
                <a:solidFill>
                  <a:srgbClr val="41002F"/>
                </a:solidFill>
              </a:rPr>
              <a:t>1</a:t>
            </a:r>
            <a:r>
              <a:rPr lang="it-IT" sz="1800" b="1" dirty="0">
                <a:solidFill>
                  <a:srgbClr val="41002F"/>
                </a:solidFill>
              </a:rPr>
              <a:t> · Superficiale</a:t>
            </a:r>
          </a:p>
        </p:txBody>
      </p:sp>
      <p:sp>
        <p:nvSpPr>
          <p:cNvPr id="12" name="Problema"/>
          <p:cNvSpPr txBox="1"/>
          <p:nvPr/>
        </p:nvSpPr>
        <p:spPr>
          <a:xfrm>
            <a:off x="609600" y="1625600"/>
            <a:ext cx="5130800" cy="2616200"/>
          </a:xfrm>
          <a:prstGeom prst="rect">
            <a:avLst/>
          </a:prstGeom>
          <a:noFill/>
          <a:ln>
            <a:noFill/>
          </a:ln>
        </p:spPr>
        <p:txBody>
          <a:bodyPr wrap="square" lIns="0" tIns="0" rIns="0" bIns="0" anchor="t">
            <a:noAutofit/>
          </a:bodyPr>
          <a:lstStyle/>
          <a:p>
            <a:pPr marL="0" indent="0" algn="l">
              <a:lnSpc>
                <a:spcPct val="100000"/>
              </a:lnSpc>
              <a:spcBef>
                <a:spcPts val="0"/>
              </a:spcBef>
              <a:buNone/>
            </a:pPr>
            <a:r>
              <a:rPr lang="it-IT" sz="1400" b="1" dirty="0">
                <a:solidFill>
                  <a:srgbClr val="6C0850"/>
                </a:solidFill>
              </a:rPr>
              <a:t>Problema</a:t>
            </a:r>
          </a:p>
          <a:p>
            <a:pPr marL="228600" indent="-228600" algn="l">
              <a:lnSpc>
                <a:spcPct val="100000"/>
              </a:lnSpc>
              <a:spcBef>
                <a:spcPts val="500"/>
              </a:spcBef>
              <a:buClr>
                <a:srgbClr val="6C0850"/>
              </a:buClr>
              <a:buFont typeface="Arial"/>
              <a:buChar char="•"/>
            </a:pPr>
            <a:r>
              <a:rPr lang="it-IT" sz="1400" b="0" dirty="0">
                <a:solidFill>
                  <a:srgbClr val="231C21"/>
                </a:solidFill>
              </a:rPr>
              <a:t>Prima del logo c’è una </a:t>
            </a:r>
            <a:r>
              <a:rPr lang="it-IT" sz="1400" dirty="0">
                <a:solidFill>
                  <a:srgbClr val="231C21"/>
                </a:solidFill>
              </a:rPr>
              <a:t>piccola icona senza etichetta che sembra una casetta che riporta all’home page. Tuttavia la dimensione è molto piccola rendendo difficile il riconoscimento.</a:t>
            </a:r>
          </a:p>
          <a:p>
            <a:pPr marL="228600" indent="-228600" algn="l">
              <a:lnSpc>
                <a:spcPct val="100000"/>
              </a:lnSpc>
              <a:spcBef>
                <a:spcPts val="500"/>
              </a:spcBef>
              <a:buClr>
                <a:srgbClr val="6C0850"/>
              </a:buClr>
              <a:buFont typeface="Arial"/>
              <a:buChar char="•"/>
            </a:pPr>
            <a:r>
              <a:rPr lang="it-IT" sz="1400" b="0" dirty="0">
                <a:solidFill>
                  <a:srgbClr val="231C21"/>
                </a:solidFill>
              </a:rPr>
              <a:t>Anche il logo di IdeaGinger riporta alla home duplicando quindi l’azione dell’icona home</a:t>
            </a:r>
          </a:p>
          <a:p>
            <a:pPr marL="0" indent="0" algn="l">
              <a:lnSpc>
                <a:spcPct val="100000"/>
              </a:lnSpc>
              <a:spcBef>
                <a:spcPts val="900"/>
              </a:spcBef>
              <a:buNone/>
            </a:pPr>
            <a:r>
              <a:rPr lang="it-IT" sz="1100" b="0" dirty="0">
                <a:solidFill>
                  <a:srgbClr val="6B6168"/>
                </a:solidFill>
              </a:rPr>
              <a:t>Gravità 1: Questa problematica impatta pochissimo la UX, infatti in ogni caso riuscirebbe a portare a termine l’operazione di tornare alla home page</a:t>
            </a:r>
          </a:p>
        </p:txBody>
      </p:sp>
      <p:sp>
        <p:nvSpPr>
          <p:cNvPr id="13" name="Soluzione"/>
          <p:cNvSpPr/>
          <p:nvPr/>
        </p:nvSpPr>
        <p:spPr>
          <a:xfrm>
            <a:off x="609600" y="4394200"/>
            <a:ext cx="5130800" cy="1727200"/>
          </a:xfrm>
          <a:prstGeom prst="rect">
            <a:avLst/>
          </a:prstGeom>
          <a:solidFill>
            <a:srgbClr val="F3EEF1"/>
          </a:solidFill>
          <a:ln>
            <a:noFill/>
          </a:ln>
        </p:spPr>
        <p:txBody>
          <a:bodyPr wrap="square" lIns="152400" tIns="152400" rIns="152400" bIns="152400" anchor="t">
            <a:noAutofit/>
          </a:bodyPr>
          <a:lstStyle/>
          <a:p>
            <a:pPr marL="0" indent="0" algn="l">
              <a:lnSpc>
                <a:spcPct val="100000"/>
              </a:lnSpc>
              <a:spcBef>
                <a:spcPts val="0"/>
              </a:spcBef>
              <a:buNone/>
            </a:pPr>
            <a:r>
              <a:rPr lang="it-IT" sz="1400" b="1" dirty="0">
                <a:solidFill>
                  <a:srgbClr val="6C0850"/>
                </a:solidFill>
              </a:rPr>
              <a:t>Possibile soluzione</a:t>
            </a:r>
          </a:p>
          <a:p>
            <a:pPr marL="0" indent="0" algn="l">
              <a:lnSpc>
                <a:spcPct val="100000"/>
              </a:lnSpc>
              <a:spcBef>
                <a:spcPts val="400"/>
              </a:spcBef>
              <a:buNone/>
            </a:pPr>
            <a:r>
              <a:rPr lang="it-IT" sz="1400" b="0" dirty="0">
                <a:solidFill>
                  <a:srgbClr val="231C21"/>
                </a:solidFill>
              </a:rPr>
              <a:t>Rimuovere l’icona e lasciare il logo come link alla home</a:t>
            </a:r>
            <a:r>
              <a:rPr lang="it-IT" sz="1400" dirty="0">
                <a:solidFill>
                  <a:srgbClr val="231C21"/>
                </a:solidFill>
              </a:rPr>
              <a:t>.</a:t>
            </a:r>
            <a:endParaRPr lang="it-IT" sz="1400" b="0" dirty="0">
              <a:solidFill>
                <a:srgbClr val="231C21"/>
              </a:solidFill>
            </a:endParaRPr>
          </a:p>
        </p:txBody>
      </p:sp>
      <p:sp>
        <p:nvSpPr>
          <p:cNvPr id="15" name="Pagine e task"/>
          <p:cNvSpPr txBox="1"/>
          <p:nvPr/>
        </p:nvSpPr>
        <p:spPr>
          <a:xfrm>
            <a:off x="609600" y="6273800"/>
            <a:ext cx="10972800" cy="381000"/>
          </a:xfrm>
          <a:prstGeom prst="rect">
            <a:avLst/>
          </a:prstGeom>
          <a:noFill/>
          <a:ln>
            <a:noFill/>
          </a:ln>
        </p:spPr>
        <p:txBody>
          <a:bodyPr wrap="square" lIns="0" tIns="0" rIns="0" bIns="0" anchor="b">
            <a:noAutofit/>
          </a:bodyPr>
          <a:lstStyle/>
          <a:p>
            <a:pPr marL="0" indent="0" algn="l">
              <a:lnSpc>
                <a:spcPct val="100000"/>
              </a:lnSpc>
              <a:spcBef>
                <a:spcPts val="0"/>
              </a:spcBef>
              <a:buNone/>
            </a:pPr>
            <a:r>
              <a:rPr lang="it-IT" sz="1000" b="1" dirty="0">
                <a:solidFill>
                  <a:srgbClr val="6B6168"/>
                </a:solidFill>
              </a:rPr>
              <a:t>Pagina:</a:t>
            </a:r>
            <a:r>
              <a:rPr lang="it-IT" sz="1000" b="0" dirty="0">
                <a:solidFill>
                  <a:srgbClr val="6B6168"/>
                </a:solidFill>
              </a:rPr>
              <a:t> menu principale (tutte le pagine)   </a:t>
            </a:r>
            <a:r>
              <a:rPr lang="it-IT" sz="1000" b="1" dirty="0">
                <a:solidFill>
                  <a:srgbClr val="6B6168"/>
                </a:solidFill>
              </a:rPr>
              <a:t>Task:</a:t>
            </a:r>
            <a:r>
              <a:rPr lang="it-IT" sz="1000" b="0" dirty="0">
                <a:solidFill>
                  <a:srgbClr val="6B6168"/>
                </a:solidFill>
              </a:rPr>
              <a:t> T1</a:t>
            </a:r>
          </a:p>
        </p:txBody>
      </p:sp>
      <p:pic>
        <p:nvPicPr>
          <p:cNvPr id="8" name="Immagine 7">
            <a:extLst>
              <a:ext uri="{FF2B5EF4-FFF2-40B4-BE49-F238E27FC236}">
                <a16:creationId xmlns:a16="http://schemas.microsoft.com/office/drawing/2014/main" id="{E5837B47-1101-FBA8-5543-33C0352B9C39}"/>
              </a:ext>
            </a:extLst>
          </p:cNvPr>
          <p:cNvPicPr>
            <a:picLocks noChangeAspect="1"/>
          </p:cNvPicPr>
          <p:nvPr/>
        </p:nvPicPr>
        <p:blipFill>
          <a:blip r:embed="rId2"/>
          <a:stretch>
            <a:fillRect/>
          </a:stretch>
        </p:blipFill>
        <p:spPr>
          <a:xfrm>
            <a:off x="6096000" y="2158124"/>
            <a:ext cx="5859903" cy="3405352"/>
          </a:xfrm>
          <a:prstGeom prst="rect">
            <a:avLst/>
          </a:prstGeom>
        </p:spPr>
      </p:pic>
      <p:cxnSp>
        <p:nvCxnSpPr>
          <p:cNvPr id="16" name="Connettore diritto a freccia 15">
            <a:extLst>
              <a:ext uri="{FF2B5EF4-FFF2-40B4-BE49-F238E27FC236}">
                <a16:creationId xmlns:a16="http://schemas.microsoft.com/office/drawing/2014/main" id="{BD186BDB-2AC1-A310-0CC2-64A3B9C38459}"/>
              </a:ext>
            </a:extLst>
          </p:cNvPr>
          <p:cNvCxnSpPr>
            <a:cxnSpLocks/>
          </p:cNvCxnSpPr>
          <p:nvPr/>
        </p:nvCxnSpPr>
        <p:spPr>
          <a:xfrm>
            <a:off x="5930461" y="2088930"/>
            <a:ext cx="331077" cy="286889"/>
          </a:xfrm>
          <a:prstGeom prst="straightConnector1">
            <a:avLst/>
          </a:prstGeom>
          <a:ln w="28575">
            <a:solidFill>
              <a:schemeClr val="accent5">
                <a:lumMod val="75000"/>
                <a:lumOff val="2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0" name="Connettore diritto a freccia 19">
            <a:extLst>
              <a:ext uri="{FF2B5EF4-FFF2-40B4-BE49-F238E27FC236}">
                <a16:creationId xmlns:a16="http://schemas.microsoft.com/office/drawing/2014/main" id="{BCD28062-0E73-7E29-74A1-BA70150C5E9F}"/>
              </a:ext>
            </a:extLst>
          </p:cNvPr>
          <p:cNvCxnSpPr>
            <a:cxnSpLocks/>
          </p:cNvCxnSpPr>
          <p:nvPr/>
        </p:nvCxnSpPr>
        <p:spPr>
          <a:xfrm>
            <a:off x="10213427" y="2014679"/>
            <a:ext cx="331077" cy="286889"/>
          </a:xfrm>
          <a:prstGeom prst="straightConnector1">
            <a:avLst/>
          </a:prstGeom>
          <a:ln w="28575">
            <a:solidFill>
              <a:schemeClr val="accent5">
                <a:lumMod val="75000"/>
                <a:lumOff val="25000"/>
              </a:schemeClr>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4705797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974B210B-B520-D0A9-BBE2-8ED2174646C6}"/>
              </a:ext>
            </a:extLst>
          </p:cNvPr>
          <p:cNvSpPr>
            <a:spLocks noGrp="1"/>
          </p:cNvSpPr>
          <p:nvPr>
            <p:ph type="title"/>
          </p:nvPr>
        </p:nvSpPr>
        <p:spPr>
          <a:xfrm>
            <a:off x="609600" y="558800"/>
            <a:ext cx="8991600" cy="889000"/>
          </a:xfrm>
        </p:spPr>
        <p:txBody>
          <a:bodyPr anchor="t"/>
          <a:lstStyle/>
          <a:p>
            <a:pPr>
              <a:lnSpc>
                <a:spcPct val="90000"/>
              </a:lnSpc>
            </a:pPr>
            <a:r>
              <a:rPr lang="it-IT" sz="2600" b="1" dirty="0"/>
              <a:t>Dal fondo della pagina non c’è un modo rapido per tornare all’inizio</a:t>
            </a:r>
          </a:p>
        </p:txBody>
      </p:sp>
      <p:sp>
        <p:nvSpPr>
          <p:cNvPr id="10" name="Euristica"/>
          <p:cNvSpPr/>
          <p:nvPr/>
        </p:nvSpPr>
        <p:spPr>
          <a:xfrm>
            <a:off x="609600" y="254000"/>
            <a:ext cx="8890000" cy="279400"/>
          </a:xfrm>
          <a:prstGeom prst="rect">
            <a:avLst/>
          </a:prstGeom>
          <a:noFill/>
          <a:ln>
            <a:noFill/>
          </a:ln>
        </p:spPr>
        <p:txBody>
          <a:bodyPr wrap="square" lIns="0" tIns="0" rIns="0" bIns="0" anchor="t">
            <a:noAutofit/>
          </a:bodyPr>
          <a:lstStyle/>
          <a:p>
            <a:pPr marL="0" indent="0" algn="l">
              <a:lnSpc>
                <a:spcPct val="100000"/>
              </a:lnSpc>
              <a:spcBef>
                <a:spcPts val="0"/>
              </a:spcBef>
              <a:buNone/>
            </a:pPr>
            <a:r>
              <a:rPr lang="it-IT" sz="1200" b="1" i="0" dirty="0">
                <a:solidFill>
                  <a:srgbClr val="6C0850"/>
                </a:solidFill>
              </a:rPr>
              <a:t>H7 · FLESSIBILITÀ ED EFFICIENZA D’USO</a:t>
            </a:r>
          </a:p>
        </p:txBody>
      </p:sp>
      <p:sp>
        <p:nvSpPr>
          <p:cNvPr id="11" name="Badge gravità"/>
          <p:cNvSpPr/>
          <p:nvPr/>
        </p:nvSpPr>
        <p:spPr>
          <a:xfrm>
            <a:off x="9855200" y="381000"/>
            <a:ext cx="1727200" cy="736600"/>
          </a:xfrm>
          <a:prstGeom prst="roundRect">
            <a:avLst/>
          </a:prstGeom>
          <a:solidFill>
            <a:srgbClr val="8E2F72"/>
          </a:solidFill>
          <a:ln w="15875">
            <a:noFill/>
          </a:ln>
        </p:spPr>
        <p:txBody>
          <a:bodyPr wrap="square" lIns="0" tIns="0" rIns="0" bIns="0" anchor="ctr">
            <a:noAutofit/>
          </a:bodyPr>
          <a:lstStyle/>
          <a:p>
            <a:pPr marL="0" indent="0" algn="ctr">
              <a:buNone/>
            </a:pPr>
            <a:r>
              <a:rPr lang="it-IT" sz="1000" b="1" dirty="0">
                <a:solidFill>
                  <a:srgbClr val="FFFFFF"/>
                </a:solidFill>
              </a:rPr>
              <a:t>GRAVITÀ</a:t>
            </a:r>
          </a:p>
          <a:p>
            <a:pPr marL="0" indent="0" algn="ctr">
              <a:buNone/>
            </a:pPr>
            <a:r>
              <a:rPr lang="it-IT" sz="1800" b="1" dirty="0">
                <a:solidFill>
                  <a:srgbClr val="FFFFFF"/>
                </a:solidFill>
              </a:rPr>
              <a:t>3 </a:t>
            </a:r>
            <a:r>
              <a:rPr lang="it-IT" sz="1800" b="1">
                <a:solidFill>
                  <a:srgbClr val="FFFFFF"/>
                </a:solidFill>
              </a:rPr>
              <a:t>· Importante</a:t>
            </a:r>
            <a:endParaRPr lang="it-IT" sz="1800" b="1" dirty="0">
              <a:solidFill>
                <a:srgbClr val="FFFFFF"/>
              </a:solidFill>
            </a:endParaRPr>
          </a:p>
        </p:txBody>
      </p:sp>
      <p:sp>
        <p:nvSpPr>
          <p:cNvPr id="12" name="Problema"/>
          <p:cNvSpPr/>
          <p:nvPr/>
        </p:nvSpPr>
        <p:spPr>
          <a:xfrm>
            <a:off x="609600" y="1625600"/>
            <a:ext cx="5130800" cy="2616200"/>
          </a:xfrm>
          <a:prstGeom prst="rect">
            <a:avLst/>
          </a:prstGeom>
          <a:noFill/>
          <a:ln>
            <a:noFill/>
          </a:ln>
        </p:spPr>
        <p:txBody>
          <a:bodyPr wrap="square" lIns="0" tIns="0" rIns="0" bIns="0" anchor="t">
            <a:noAutofit/>
          </a:bodyPr>
          <a:lstStyle/>
          <a:p>
            <a:pPr marL="0" indent="0" algn="l">
              <a:lnSpc>
                <a:spcPct val="100000"/>
              </a:lnSpc>
              <a:spcBef>
                <a:spcPts val="0"/>
              </a:spcBef>
              <a:buNone/>
            </a:pPr>
            <a:r>
              <a:rPr lang="it-IT" sz="1400" b="1" i="0" dirty="0">
                <a:solidFill>
                  <a:srgbClr val="6C0850"/>
                </a:solidFill>
              </a:rPr>
              <a:t>Problema</a:t>
            </a:r>
          </a:p>
          <a:p>
            <a:pPr marL="228600" indent="-228600" algn="l">
              <a:lnSpc>
                <a:spcPct val="100000"/>
              </a:lnSpc>
              <a:spcBef>
                <a:spcPts val="500"/>
              </a:spcBef>
              <a:buClr>
                <a:srgbClr val="6C0850"/>
              </a:buClr>
              <a:buFont typeface="Arial"/>
              <a:buChar char="•"/>
            </a:pPr>
            <a:r>
              <a:rPr lang="it-IT" sz="1400" b="0" i="0" dirty="0">
                <a:solidFill>
                  <a:srgbClr val="231C21"/>
                </a:solidFill>
              </a:rPr>
              <a:t>Manca un pulsante </a:t>
            </a:r>
            <a:r>
              <a:rPr lang="it-IT" sz="1400" i="0" dirty="0">
                <a:solidFill>
                  <a:srgbClr val="231C21"/>
                </a:solidFill>
              </a:rPr>
              <a:t>«Torna su»</a:t>
            </a:r>
            <a:r>
              <a:rPr lang="it-IT" sz="1400" dirty="0">
                <a:solidFill>
                  <a:srgbClr val="231C21"/>
                </a:solidFill>
              </a:rPr>
              <a:t>, </a:t>
            </a:r>
            <a:r>
              <a:rPr lang="it-IT" sz="1400" i="0" dirty="0">
                <a:solidFill>
                  <a:srgbClr val="231C21"/>
                </a:solidFill>
              </a:rPr>
              <a:t>Dal footer si torna in cima solo scorrendo tutta la pagina</a:t>
            </a:r>
          </a:p>
          <a:p>
            <a:pPr marL="0" indent="0" algn="l">
              <a:spcBef>
                <a:spcPts val="900"/>
              </a:spcBef>
              <a:buNone/>
            </a:pPr>
            <a:r>
              <a:rPr lang="it-IT" sz="1100" b="0" dirty="0">
                <a:solidFill>
                  <a:srgbClr val="6B6168"/>
                </a:solidFill>
              </a:rPr>
              <a:t>Gravità 3: Questa mancanza rende la user experience peggiore in quanto, per pagine molto lunghe, l’utente è costretto a scorrere per un tempo abbastanza lungo per arrivare all’inizio della pagina.</a:t>
            </a:r>
          </a:p>
        </p:txBody>
      </p:sp>
      <p:sp>
        <p:nvSpPr>
          <p:cNvPr id="13" name="Possibile soluzione"/>
          <p:cNvSpPr/>
          <p:nvPr/>
        </p:nvSpPr>
        <p:spPr>
          <a:xfrm>
            <a:off x="609600" y="4394200"/>
            <a:ext cx="5130800" cy="1727200"/>
          </a:xfrm>
          <a:prstGeom prst="rect">
            <a:avLst/>
          </a:prstGeom>
          <a:solidFill>
            <a:srgbClr val="F3EEF1"/>
          </a:solidFill>
          <a:ln>
            <a:noFill/>
          </a:ln>
        </p:spPr>
        <p:txBody>
          <a:bodyPr wrap="square" lIns="152400" tIns="152400" rIns="152400" bIns="152400" anchor="t">
            <a:noAutofit/>
          </a:bodyPr>
          <a:lstStyle/>
          <a:p>
            <a:pPr marL="0" indent="0" algn="l">
              <a:lnSpc>
                <a:spcPct val="100000"/>
              </a:lnSpc>
              <a:spcBef>
                <a:spcPts val="0"/>
              </a:spcBef>
              <a:buNone/>
            </a:pPr>
            <a:r>
              <a:rPr lang="it-IT" sz="1400" b="1" i="0" dirty="0">
                <a:solidFill>
                  <a:srgbClr val="6C0850"/>
                </a:solidFill>
              </a:rPr>
              <a:t>Possibile soluzione</a:t>
            </a:r>
          </a:p>
          <a:p>
            <a:pPr marL="0" indent="0" algn="l">
              <a:lnSpc>
                <a:spcPct val="100000"/>
              </a:lnSpc>
              <a:spcBef>
                <a:spcPts val="400"/>
              </a:spcBef>
              <a:buNone/>
            </a:pPr>
            <a:r>
              <a:rPr lang="it-IT" sz="1400" dirty="0">
                <a:solidFill>
                  <a:srgbClr val="231C21"/>
                </a:solidFill>
              </a:rPr>
              <a:t>Aggiungere un p</a:t>
            </a:r>
            <a:r>
              <a:rPr lang="it-IT" sz="1400" b="0" i="0" dirty="0">
                <a:solidFill>
                  <a:srgbClr val="231C21"/>
                </a:solidFill>
              </a:rPr>
              <a:t>ulsante fisso «Torna su», con icona ed etichetta, che compare dopo il primo scroll.</a:t>
            </a:r>
          </a:p>
        </p:txBody>
      </p:sp>
      <p:sp>
        <p:nvSpPr>
          <p:cNvPr id="15" name="Pagine e task"/>
          <p:cNvSpPr/>
          <p:nvPr/>
        </p:nvSpPr>
        <p:spPr>
          <a:xfrm>
            <a:off x="609600" y="6273800"/>
            <a:ext cx="10972800" cy="381000"/>
          </a:xfrm>
          <a:prstGeom prst="rect">
            <a:avLst/>
          </a:prstGeom>
          <a:noFill/>
          <a:ln>
            <a:noFill/>
          </a:ln>
        </p:spPr>
        <p:txBody>
          <a:bodyPr wrap="square" lIns="0" tIns="0" rIns="0" bIns="0" anchor="b">
            <a:noAutofit/>
          </a:bodyPr>
          <a:lstStyle/>
          <a:p>
            <a:pPr marL="0" indent="0" algn="l">
              <a:lnSpc>
                <a:spcPct val="100000"/>
              </a:lnSpc>
              <a:spcBef>
                <a:spcPts val="0"/>
              </a:spcBef>
              <a:buNone/>
            </a:pPr>
            <a:r>
              <a:rPr lang="it-IT" sz="1000" b="1" i="0" dirty="0">
                <a:solidFill>
                  <a:srgbClr val="6B6168"/>
                </a:solidFill>
              </a:rPr>
              <a:t>Pagina:</a:t>
            </a:r>
            <a:r>
              <a:rPr lang="it-IT" sz="1000" b="0" i="0" dirty="0">
                <a:solidFill>
                  <a:srgbClr val="6B6168"/>
                </a:solidFill>
              </a:rPr>
              <a:t> Partner UniTo › Progetti </a:t>
            </a:r>
            <a:r>
              <a:rPr lang="it-IT" sz="1000" b="1" i="0" dirty="0">
                <a:solidFill>
                  <a:srgbClr val="6B6168"/>
                </a:solidFill>
              </a:rPr>
              <a:t>Task:</a:t>
            </a:r>
            <a:r>
              <a:rPr lang="it-IT" sz="1000" b="0" i="0" dirty="0">
                <a:solidFill>
                  <a:srgbClr val="6B6168"/>
                </a:solidFill>
              </a:rPr>
              <a:t> T1, T3</a:t>
            </a:r>
          </a:p>
        </p:txBody>
      </p:sp>
      <p:pic>
        <p:nvPicPr>
          <p:cNvPr id="4" name="Immagine 3">
            <a:extLst>
              <a:ext uri="{FF2B5EF4-FFF2-40B4-BE49-F238E27FC236}">
                <a16:creationId xmlns:a16="http://schemas.microsoft.com/office/drawing/2014/main" id="{AD1D6840-7676-E21A-E193-D69CF6995B60}"/>
              </a:ext>
            </a:extLst>
          </p:cNvPr>
          <p:cNvPicPr>
            <a:picLocks noChangeAspect="1"/>
          </p:cNvPicPr>
          <p:nvPr/>
        </p:nvPicPr>
        <p:blipFill>
          <a:blip r:embed="rId2"/>
          <a:srcRect l="24098"/>
          <a:stretch>
            <a:fillRect/>
          </a:stretch>
        </p:blipFill>
        <p:spPr>
          <a:xfrm>
            <a:off x="6096000" y="2482991"/>
            <a:ext cx="5979020" cy="2616200"/>
          </a:xfrm>
          <a:prstGeom prst="rect">
            <a:avLst/>
          </a:prstGeom>
        </p:spPr>
      </p:pic>
    </p:spTree>
    <p:extLst>
      <p:ext uri="{BB962C8B-B14F-4D97-AF65-F5344CB8AC3E}">
        <p14:creationId xmlns:p14="http://schemas.microsoft.com/office/powerpoint/2010/main" val="218439205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32904144-0F34-40DB-B183-4B11B92C6E32}"/>
              </a:ext>
            </a:extLst>
          </p:cNvPr>
          <p:cNvSpPr>
            <a:spLocks noGrp="1"/>
          </p:cNvSpPr>
          <p:nvPr>
            <p:ph type="title"/>
          </p:nvPr>
        </p:nvSpPr>
        <p:spPr>
          <a:xfrm>
            <a:off x="609600" y="558800"/>
            <a:ext cx="8991600" cy="889000"/>
          </a:xfrm>
        </p:spPr>
        <p:txBody>
          <a:bodyPr anchor="t"/>
          <a:lstStyle/>
          <a:p>
            <a:pPr>
              <a:lnSpc>
                <a:spcPct val="90000"/>
              </a:lnSpc>
            </a:pPr>
            <a:r>
              <a:rPr lang="it-IT" sz="2600" b="1" dirty="0"/>
              <a:t>Non si possono filtrare né ordinare i progetti UniTo</a:t>
            </a:r>
          </a:p>
        </p:txBody>
      </p:sp>
      <p:sp>
        <p:nvSpPr>
          <p:cNvPr id="10" name="Euristica"/>
          <p:cNvSpPr txBox="1"/>
          <p:nvPr/>
        </p:nvSpPr>
        <p:spPr>
          <a:xfrm>
            <a:off x="609600" y="254000"/>
            <a:ext cx="8890000" cy="279400"/>
          </a:xfrm>
          <a:prstGeom prst="rect">
            <a:avLst/>
          </a:prstGeom>
          <a:noFill/>
          <a:ln>
            <a:noFill/>
          </a:ln>
        </p:spPr>
        <p:txBody>
          <a:bodyPr wrap="square" lIns="0" tIns="0" rIns="0" bIns="0" anchor="t">
            <a:noAutofit/>
          </a:bodyPr>
          <a:lstStyle/>
          <a:p>
            <a:pPr marL="0" indent="0" algn="l">
              <a:lnSpc>
                <a:spcPct val="100000"/>
              </a:lnSpc>
              <a:spcBef>
                <a:spcPts val="0"/>
              </a:spcBef>
              <a:buNone/>
            </a:pPr>
            <a:r>
              <a:rPr lang="it-IT" sz="1200" b="1" dirty="0">
                <a:solidFill>
                  <a:srgbClr val="6C0850"/>
                </a:solidFill>
              </a:rPr>
              <a:t>H7 · FLESSIBILITÀ ED EFFICIENZA D’USO</a:t>
            </a:r>
          </a:p>
        </p:txBody>
      </p:sp>
      <p:sp>
        <p:nvSpPr>
          <p:cNvPr id="12" name="Problema"/>
          <p:cNvSpPr txBox="1"/>
          <p:nvPr/>
        </p:nvSpPr>
        <p:spPr>
          <a:xfrm>
            <a:off x="609600" y="1625600"/>
            <a:ext cx="5130800" cy="2616200"/>
          </a:xfrm>
          <a:prstGeom prst="rect">
            <a:avLst/>
          </a:prstGeom>
          <a:noFill/>
          <a:ln>
            <a:noFill/>
          </a:ln>
        </p:spPr>
        <p:txBody>
          <a:bodyPr wrap="square" lIns="0" tIns="0" rIns="0" bIns="0" anchor="t">
            <a:noAutofit/>
          </a:bodyPr>
          <a:lstStyle/>
          <a:p>
            <a:pPr marL="0" indent="0" algn="l">
              <a:lnSpc>
                <a:spcPct val="100000"/>
              </a:lnSpc>
              <a:spcBef>
                <a:spcPts val="0"/>
              </a:spcBef>
              <a:buNone/>
            </a:pPr>
            <a:r>
              <a:rPr lang="it-IT" sz="1400" b="1" dirty="0">
                <a:solidFill>
                  <a:srgbClr val="6C0850"/>
                </a:solidFill>
              </a:rPr>
              <a:t>Problema</a:t>
            </a:r>
          </a:p>
          <a:p>
            <a:pPr marL="228600" indent="-228600" algn="l">
              <a:lnSpc>
                <a:spcPct val="100000"/>
              </a:lnSpc>
              <a:spcBef>
                <a:spcPts val="500"/>
              </a:spcBef>
              <a:buClr>
                <a:srgbClr val="6C0850"/>
              </a:buClr>
              <a:buFont typeface="Arial"/>
              <a:buChar char="•"/>
            </a:pPr>
            <a:r>
              <a:rPr lang="it-IT" sz="1400" dirty="0">
                <a:solidFill>
                  <a:srgbClr val="231C21"/>
                </a:solidFill>
              </a:rPr>
              <a:t>I 18 progetti sono divisi solo in «in corso» e «conclusi». Non c’è nessun filtro per categoria, obiettivo ONU o edizione, né ordinamento per scadenza</a:t>
            </a:r>
          </a:p>
          <a:p>
            <a:pPr marL="228600" indent="-228600" algn="l">
              <a:lnSpc>
                <a:spcPct val="100000"/>
              </a:lnSpc>
              <a:spcBef>
                <a:spcPts val="500"/>
              </a:spcBef>
              <a:buClr>
                <a:srgbClr val="6C0850"/>
              </a:buClr>
              <a:buFont typeface="Arial"/>
              <a:buChar char="•"/>
            </a:pPr>
            <a:r>
              <a:rPr lang="it-IT" sz="1400" dirty="0">
                <a:solidFill>
                  <a:srgbClr val="231C21"/>
                </a:solidFill>
              </a:rPr>
              <a:t>I menu «Cerca progetti» e «Partner» esistono solo a livello globale: non c’è una vista di tutti i progetti UniTo per sottocategoria</a:t>
            </a:r>
          </a:p>
          <a:p>
            <a:pPr marL="0" indent="0" algn="l">
              <a:lnSpc>
                <a:spcPct val="100000"/>
              </a:lnSpc>
              <a:spcBef>
                <a:spcPts val="900"/>
              </a:spcBef>
              <a:buNone/>
            </a:pPr>
            <a:r>
              <a:rPr lang="it-IT" sz="1100" b="0" dirty="0">
                <a:solidFill>
                  <a:srgbClr val="6B6168"/>
                </a:solidFill>
              </a:rPr>
              <a:t>Gravità 3: Nel caso in cui i progetti UniTo diventassero in un futuro più di 18, la navigazione sarebbe molto difficoltosa e impatterebbe gravemente sulla UX.</a:t>
            </a:r>
          </a:p>
        </p:txBody>
      </p:sp>
      <p:sp>
        <p:nvSpPr>
          <p:cNvPr id="13" name="Soluzione"/>
          <p:cNvSpPr/>
          <p:nvPr/>
        </p:nvSpPr>
        <p:spPr>
          <a:xfrm>
            <a:off x="609600" y="4394200"/>
            <a:ext cx="5130800" cy="1727200"/>
          </a:xfrm>
          <a:prstGeom prst="rect">
            <a:avLst/>
          </a:prstGeom>
          <a:solidFill>
            <a:srgbClr val="F3EEF1"/>
          </a:solidFill>
          <a:ln>
            <a:noFill/>
          </a:ln>
        </p:spPr>
        <p:txBody>
          <a:bodyPr wrap="square" lIns="152400" tIns="152400" rIns="152400" bIns="152400" anchor="t">
            <a:noAutofit/>
          </a:bodyPr>
          <a:lstStyle/>
          <a:p>
            <a:pPr marL="0" indent="0" algn="l">
              <a:lnSpc>
                <a:spcPct val="100000"/>
              </a:lnSpc>
              <a:spcBef>
                <a:spcPts val="0"/>
              </a:spcBef>
              <a:buNone/>
            </a:pPr>
            <a:r>
              <a:rPr lang="it-IT" sz="1400" b="1" dirty="0">
                <a:solidFill>
                  <a:srgbClr val="6C0850"/>
                </a:solidFill>
              </a:rPr>
              <a:t>Possibile soluzione</a:t>
            </a:r>
          </a:p>
          <a:p>
            <a:pPr marL="0" indent="0" algn="l">
              <a:lnSpc>
                <a:spcPct val="100000"/>
              </a:lnSpc>
              <a:spcBef>
                <a:spcPts val="400"/>
              </a:spcBef>
              <a:buNone/>
            </a:pPr>
            <a:r>
              <a:rPr lang="it-IT" sz="1400" b="0" dirty="0">
                <a:solidFill>
                  <a:srgbClr val="231C21"/>
                </a:solidFill>
              </a:rPr>
              <a:t>Introdurre filtri sui progetti dei partner ed eventualmente, come già detto in precedenza, una paginazione dei progetti.</a:t>
            </a:r>
          </a:p>
        </p:txBody>
      </p:sp>
      <p:sp>
        <p:nvSpPr>
          <p:cNvPr id="15" name="Pagine e task"/>
          <p:cNvSpPr txBox="1"/>
          <p:nvPr/>
        </p:nvSpPr>
        <p:spPr>
          <a:xfrm>
            <a:off x="609600" y="6273800"/>
            <a:ext cx="10972800" cy="381000"/>
          </a:xfrm>
          <a:prstGeom prst="rect">
            <a:avLst/>
          </a:prstGeom>
          <a:noFill/>
          <a:ln>
            <a:noFill/>
          </a:ln>
        </p:spPr>
        <p:txBody>
          <a:bodyPr wrap="square" lIns="0" tIns="0" rIns="0" bIns="0" anchor="b">
            <a:noAutofit/>
          </a:bodyPr>
          <a:lstStyle/>
          <a:p>
            <a:pPr marL="0" indent="0" algn="l">
              <a:lnSpc>
                <a:spcPct val="100000"/>
              </a:lnSpc>
              <a:spcBef>
                <a:spcPts val="0"/>
              </a:spcBef>
              <a:buNone/>
            </a:pPr>
            <a:r>
              <a:rPr lang="it-IT" sz="1000" b="1" dirty="0">
                <a:solidFill>
                  <a:srgbClr val="6B6168"/>
                </a:solidFill>
              </a:rPr>
              <a:t>Pagina:</a:t>
            </a:r>
            <a:r>
              <a:rPr lang="it-IT" sz="1000" b="0" dirty="0">
                <a:solidFill>
                  <a:srgbClr val="6B6168"/>
                </a:solidFill>
              </a:rPr>
              <a:t> Partner UniTo </a:t>
            </a:r>
            <a:r>
              <a:rPr lang="it-IT" sz="1000" b="0">
                <a:solidFill>
                  <a:srgbClr val="6B6168"/>
                </a:solidFill>
              </a:rPr>
              <a:t>› Progetti   </a:t>
            </a:r>
            <a:r>
              <a:rPr lang="it-IT" sz="1000" b="1" dirty="0">
                <a:solidFill>
                  <a:srgbClr val="6B6168"/>
                </a:solidFill>
              </a:rPr>
              <a:t>Task</a:t>
            </a:r>
            <a:r>
              <a:rPr lang="it-IT" sz="1000" b="1">
                <a:solidFill>
                  <a:srgbClr val="6B6168"/>
                </a:solidFill>
              </a:rPr>
              <a:t>:</a:t>
            </a:r>
            <a:r>
              <a:rPr lang="it-IT" sz="1000" b="0">
                <a:solidFill>
                  <a:srgbClr val="6B6168"/>
                </a:solidFill>
              </a:rPr>
              <a:t> T2</a:t>
            </a:r>
            <a:endParaRPr lang="it-IT" sz="1000" b="0" dirty="0">
              <a:solidFill>
                <a:srgbClr val="6B6168"/>
              </a:solidFill>
            </a:endParaRPr>
          </a:p>
        </p:txBody>
      </p:sp>
      <p:sp>
        <p:nvSpPr>
          <p:cNvPr id="3" name="Badge gravità">
            <a:extLst>
              <a:ext uri="{FF2B5EF4-FFF2-40B4-BE49-F238E27FC236}">
                <a16:creationId xmlns:a16="http://schemas.microsoft.com/office/drawing/2014/main" id="{42ADF48E-02BE-330A-9CFD-CC57440C609C}"/>
              </a:ext>
            </a:extLst>
          </p:cNvPr>
          <p:cNvSpPr/>
          <p:nvPr/>
        </p:nvSpPr>
        <p:spPr>
          <a:xfrm>
            <a:off x="9855200" y="381000"/>
            <a:ext cx="1727200" cy="736600"/>
          </a:xfrm>
          <a:prstGeom prst="roundRect">
            <a:avLst/>
          </a:prstGeom>
          <a:solidFill>
            <a:srgbClr val="8E2F72"/>
          </a:solidFill>
          <a:ln>
            <a:noFill/>
          </a:ln>
        </p:spPr>
        <p:txBody>
          <a:bodyPr wrap="square" lIns="0" tIns="0" rIns="0" bIns="0" anchor="ctr">
            <a:noAutofit/>
          </a:bodyPr>
          <a:lstStyle/>
          <a:p>
            <a:pPr marL="0" indent="0" algn="ctr">
              <a:lnSpc>
                <a:spcPct val="100000"/>
              </a:lnSpc>
              <a:spcBef>
                <a:spcPts val="0"/>
              </a:spcBef>
              <a:buNone/>
            </a:pPr>
            <a:r>
              <a:rPr lang="it-IT" sz="1000" b="1" dirty="0">
                <a:solidFill>
                  <a:srgbClr val="FFFFFF"/>
                </a:solidFill>
              </a:rPr>
              <a:t>GRAVITÀ</a:t>
            </a:r>
          </a:p>
          <a:p>
            <a:pPr marL="0" indent="0" algn="ctr">
              <a:lnSpc>
                <a:spcPct val="100000"/>
              </a:lnSpc>
              <a:spcBef>
                <a:spcPts val="0"/>
              </a:spcBef>
              <a:buNone/>
            </a:pPr>
            <a:r>
              <a:rPr lang="it-IT" sz="1800" b="1" dirty="0">
                <a:solidFill>
                  <a:srgbClr val="FFFFFF"/>
                </a:solidFill>
              </a:rPr>
              <a:t>3 </a:t>
            </a:r>
            <a:r>
              <a:rPr lang="it-IT" sz="1800" b="1">
                <a:solidFill>
                  <a:srgbClr val="FFFFFF"/>
                </a:solidFill>
              </a:rPr>
              <a:t>· Importante</a:t>
            </a:r>
            <a:endParaRPr lang="it-IT" sz="1800" b="1" dirty="0">
              <a:solidFill>
                <a:srgbClr val="FFFFFF"/>
              </a:solidFill>
            </a:endParaRPr>
          </a:p>
        </p:txBody>
      </p:sp>
      <p:pic>
        <p:nvPicPr>
          <p:cNvPr id="5" name="Immagine 4">
            <a:extLst>
              <a:ext uri="{FF2B5EF4-FFF2-40B4-BE49-F238E27FC236}">
                <a16:creationId xmlns:a16="http://schemas.microsoft.com/office/drawing/2014/main" id="{EA8D7F6E-8FAA-FAAE-4A7F-518C2FAA2EFC}"/>
              </a:ext>
            </a:extLst>
          </p:cNvPr>
          <p:cNvPicPr>
            <a:picLocks noChangeAspect="1"/>
          </p:cNvPicPr>
          <p:nvPr/>
        </p:nvPicPr>
        <p:blipFill>
          <a:blip r:embed="rId2"/>
          <a:srcRect l="24341"/>
          <a:stretch>
            <a:fillRect/>
          </a:stretch>
        </p:blipFill>
        <p:spPr>
          <a:xfrm>
            <a:off x="5983014" y="2277400"/>
            <a:ext cx="5880538" cy="2836600"/>
          </a:xfrm>
          <a:prstGeom prst="rect">
            <a:avLst/>
          </a:prstGeom>
        </p:spPr>
      </p:pic>
    </p:spTree>
    <p:extLst>
      <p:ext uri="{BB962C8B-B14F-4D97-AF65-F5344CB8AC3E}">
        <p14:creationId xmlns:p14="http://schemas.microsoft.com/office/powerpoint/2010/main" val="7580121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EAD7DA22-05A3-B58F-EB9F-03F453D5F754}"/>
              </a:ext>
            </a:extLst>
          </p:cNvPr>
          <p:cNvSpPr>
            <a:spLocks noGrp="1"/>
          </p:cNvSpPr>
          <p:nvPr>
            <p:ph type="title"/>
          </p:nvPr>
        </p:nvSpPr>
        <p:spPr>
          <a:xfrm>
            <a:off x="609600" y="558800"/>
            <a:ext cx="8991600" cy="889000"/>
          </a:xfrm>
        </p:spPr>
        <p:txBody>
          <a:bodyPr anchor="t"/>
          <a:lstStyle/>
          <a:p>
            <a:pPr>
              <a:lnSpc>
                <a:spcPct val="90000"/>
              </a:lnSpc>
            </a:pPr>
            <a:r>
              <a:rPr lang="it-IT" sz="2600" b="1" dirty="0"/>
              <a:t>«ALTRI» carica pochi progetti alla volta e non dice quanti ne restano</a:t>
            </a:r>
          </a:p>
        </p:txBody>
      </p:sp>
      <p:sp>
        <p:nvSpPr>
          <p:cNvPr id="10" name="Euristica"/>
          <p:cNvSpPr txBox="1"/>
          <p:nvPr/>
        </p:nvSpPr>
        <p:spPr>
          <a:xfrm>
            <a:off x="609600" y="254000"/>
            <a:ext cx="8890000" cy="279400"/>
          </a:xfrm>
          <a:prstGeom prst="rect">
            <a:avLst/>
          </a:prstGeom>
          <a:noFill/>
          <a:ln>
            <a:noFill/>
          </a:ln>
        </p:spPr>
        <p:txBody>
          <a:bodyPr wrap="square" lIns="0" tIns="0" rIns="0" bIns="0" anchor="t">
            <a:noAutofit/>
          </a:bodyPr>
          <a:lstStyle/>
          <a:p>
            <a:pPr marL="0" indent="0" algn="l">
              <a:lnSpc>
                <a:spcPct val="100000"/>
              </a:lnSpc>
              <a:spcBef>
                <a:spcPts val="0"/>
              </a:spcBef>
              <a:buNone/>
            </a:pPr>
            <a:r>
              <a:rPr lang="it-IT" sz="1200" b="1" dirty="0">
                <a:solidFill>
                  <a:srgbClr val="6C0850"/>
                </a:solidFill>
              </a:rPr>
              <a:t>H7 · FLESSIBILITÀ ED EFFICIENZA</a:t>
            </a:r>
          </a:p>
        </p:txBody>
      </p:sp>
      <p:sp>
        <p:nvSpPr>
          <p:cNvPr id="11" name="Badge gravità"/>
          <p:cNvSpPr/>
          <p:nvPr/>
        </p:nvSpPr>
        <p:spPr>
          <a:xfrm>
            <a:off x="9855200" y="381000"/>
            <a:ext cx="1727200" cy="736600"/>
          </a:xfrm>
          <a:prstGeom prst="roundRect">
            <a:avLst/>
          </a:prstGeom>
          <a:solidFill>
            <a:srgbClr val="FFFFFF"/>
          </a:solidFill>
          <a:ln w="15875">
            <a:solidFill>
              <a:srgbClr val="B07A9F"/>
            </a:solidFill>
            <a:prstDash val="dash"/>
          </a:ln>
        </p:spPr>
        <p:txBody>
          <a:bodyPr wrap="square" lIns="0" tIns="0" rIns="0" bIns="0" anchor="ctr">
            <a:noAutofit/>
          </a:bodyPr>
          <a:lstStyle/>
          <a:p>
            <a:pPr marL="0" indent="0" algn="ctr">
              <a:lnSpc>
                <a:spcPct val="100000"/>
              </a:lnSpc>
              <a:spcBef>
                <a:spcPts val="0"/>
              </a:spcBef>
              <a:buNone/>
            </a:pPr>
            <a:r>
              <a:rPr lang="it-IT" sz="1000" b="1" dirty="0">
                <a:solidFill>
                  <a:srgbClr val="6C0850"/>
                </a:solidFill>
              </a:rPr>
              <a:t>GRAVITÀ</a:t>
            </a:r>
          </a:p>
          <a:p>
            <a:pPr marL="0" indent="0" algn="ctr">
              <a:lnSpc>
                <a:spcPct val="100000"/>
              </a:lnSpc>
              <a:spcBef>
                <a:spcPts val="0"/>
              </a:spcBef>
              <a:buNone/>
            </a:pPr>
            <a:r>
              <a:rPr lang="it-IT" sz="1600" b="1" dirty="0">
                <a:solidFill>
                  <a:srgbClr val="6C0850"/>
                </a:solidFill>
              </a:rPr>
              <a:t>? </a:t>
            </a:r>
            <a:r>
              <a:rPr lang="it-IT" sz="1600" b="1">
                <a:solidFill>
                  <a:srgbClr val="6C0850"/>
                </a:solidFill>
              </a:rPr>
              <a:t>· Da decidere</a:t>
            </a:r>
            <a:endParaRPr lang="it-IT" sz="1600" b="1" dirty="0">
              <a:solidFill>
                <a:srgbClr val="6C0850"/>
              </a:solidFill>
            </a:endParaRPr>
          </a:p>
        </p:txBody>
      </p:sp>
      <p:sp>
        <p:nvSpPr>
          <p:cNvPr id="12" name="Problema"/>
          <p:cNvSpPr txBox="1"/>
          <p:nvPr/>
        </p:nvSpPr>
        <p:spPr>
          <a:xfrm>
            <a:off x="609600" y="1625600"/>
            <a:ext cx="5130800" cy="2616200"/>
          </a:xfrm>
          <a:prstGeom prst="rect">
            <a:avLst/>
          </a:prstGeom>
          <a:noFill/>
          <a:ln>
            <a:noFill/>
          </a:ln>
        </p:spPr>
        <p:txBody>
          <a:bodyPr wrap="square" lIns="0" tIns="0" rIns="0" bIns="0" anchor="t">
            <a:noAutofit/>
          </a:bodyPr>
          <a:lstStyle/>
          <a:p>
            <a:pPr marL="0" indent="0" algn="l">
              <a:lnSpc>
                <a:spcPct val="100000"/>
              </a:lnSpc>
              <a:spcBef>
                <a:spcPts val="0"/>
              </a:spcBef>
              <a:buNone/>
            </a:pPr>
            <a:r>
              <a:rPr lang="it-IT" sz="1400" b="1" dirty="0">
                <a:solidFill>
                  <a:srgbClr val="6C0850"/>
                </a:solidFill>
              </a:rPr>
              <a:t>Problema</a:t>
            </a:r>
          </a:p>
          <a:p>
            <a:pPr marL="228600" indent="-228600" algn="l">
              <a:lnSpc>
                <a:spcPct val="100000"/>
              </a:lnSpc>
              <a:spcBef>
                <a:spcPts val="500"/>
              </a:spcBef>
              <a:buClr>
                <a:srgbClr val="6C0850"/>
              </a:buClr>
              <a:buFont typeface="Arial"/>
              <a:buChar char="•"/>
            </a:pPr>
            <a:r>
              <a:rPr lang="it-IT" sz="1400" b="0" dirty="0">
                <a:solidFill>
                  <a:srgbClr val="231C21"/>
                </a:solidFill>
              </a:rPr>
              <a:t>Dei 13 conclusi se ne vedono 4: «ALTRI» ne aggiunge </a:t>
            </a:r>
            <a:r>
              <a:rPr lang="it-IT" sz="1400" b="1" dirty="0">
                <a:solidFill>
                  <a:srgbClr val="231C21"/>
                </a:solidFill>
              </a:rPr>
              <a:t>fino a quattro per volta</a:t>
            </a:r>
          </a:p>
          <a:p>
            <a:pPr marL="228600" indent="-228600" algn="l">
              <a:lnSpc>
                <a:spcPct val="100000"/>
              </a:lnSpc>
              <a:spcBef>
                <a:spcPts val="500"/>
              </a:spcBef>
              <a:buClr>
                <a:srgbClr val="6C0850"/>
              </a:buClr>
              <a:buFont typeface="Arial"/>
              <a:buChar char="•"/>
            </a:pPr>
            <a:r>
              <a:rPr lang="it-IT" sz="1400" b="0" dirty="0">
                <a:solidFill>
                  <a:srgbClr val="231C21"/>
                </a:solidFill>
              </a:rPr>
              <a:t>Servono </a:t>
            </a:r>
            <a:r>
              <a:rPr lang="it-IT" sz="1400" b="1" dirty="0">
                <a:solidFill>
                  <a:srgbClr val="231C21"/>
                </a:solidFill>
              </a:rPr>
              <a:t>tre clic</a:t>
            </a:r>
            <a:r>
              <a:rPr lang="it-IT" sz="1400" b="0" dirty="0">
                <a:solidFill>
                  <a:srgbClr val="231C21"/>
                </a:solidFill>
              </a:rPr>
              <a:t> per vederli tutti e nessuna indicazione di quanti ne mancano</a:t>
            </a:r>
          </a:p>
          <a:p>
            <a:pPr marL="228600" indent="-228600" algn="l">
              <a:lnSpc>
                <a:spcPct val="100000"/>
              </a:lnSpc>
              <a:spcBef>
                <a:spcPts val="500"/>
              </a:spcBef>
              <a:buClr>
                <a:srgbClr val="6C0850"/>
              </a:buClr>
              <a:buFont typeface="Arial"/>
              <a:buChar char="•"/>
            </a:pPr>
            <a:endParaRPr lang="it-IT" sz="1400" dirty="0">
              <a:solidFill>
                <a:srgbClr val="231C21"/>
              </a:solidFill>
            </a:endParaRPr>
          </a:p>
          <a:p>
            <a:pPr>
              <a:spcBef>
                <a:spcPts val="900"/>
              </a:spcBef>
              <a:buClr>
                <a:srgbClr val="6C0850"/>
              </a:buClr>
            </a:pPr>
            <a:r>
              <a:rPr lang="it-IT" sz="1100" dirty="0">
                <a:solidFill>
                  <a:srgbClr val="6B6168"/>
                </a:solidFill>
              </a:rPr>
              <a:t>Gravità 3: Ora che ci sono pochi progetti conclusi e in corso non penalizza eccessivamente la navigazione però con l’aumentare delle entità da caricare diventerà molto pesante per l’utente navigare in questa sezione.</a:t>
            </a:r>
          </a:p>
        </p:txBody>
      </p:sp>
      <p:sp>
        <p:nvSpPr>
          <p:cNvPr id="13" name="Soluzione"/>
          <p:cNvSpPr/>
          <p:nvPr/>
        </p:nvSpPr>
        <p:spPr>
          <a:xfrm>
            <a:off x="609600" y="4394200"/>
            <a:ext cx="5130800" cy="1727200"/>
          </a:xfrm>
          <a:prstGeom prst="rect">
            <a:avLst/>
          </a:prstGeom>
          <a:solidFill>
            <a:srgbClr val="F3EEF1"/>
          </a:solidFill>
          <a:ln>
            <a:noFill/>
          </a:ln>
        </p:spPr>
        <p:txBody>
          <a:bodyPr wrap="square" lIns="152400" tIns="152400" rIns="152400" bIns="152400" anchor="t">
            <a:noAutofit/>
          </a:bodyPr>
          <a:lstStyle/>
          <a:p>
            <a:pPr marL="0" indent="0" algn="l">
              <a:lnSpc>
                <a:spcPct val="100000"/>
              </a:lnSpc>
              <a:spcBef>
                <a:spcPts val="0"/>
              </a:spcBef>
              <a:buNone/>
            </a:pPr>
            <a:r>
              <a:rPr lang="it-IT" sz="1400" b="1" dirty="0">
                <a:solidFill>
                  <a:srgbClr val="6C0850"/>
                </a:solidFill>
              </a:rPr>
              <a:t>Possibile soluzione</a:t>
            </a:r>
          </a:p>
          <a:p>
            <a:pPr marL="0" indent="0" algn="l">
              <a:lnSpc>
                <a:spcPct val="100000"/>
              </a:lnSpc>
              <a:spcBef>
                <a:spcPts val="400"/>
              </a:spcBef>
              <a:buNone/>
            </a:pPr>
            <a:r>
              <a:rPr lang="it-IT" sz="1400" b="0" dirty="0">
                <a:solidFill>
                  <a:srgbClr val="231C21"/>
                </a:solidFill>
              </a:rPr>
              <a:t>Introdurre una paginazione dei progetti in modo da indicare chiaramente quante pagine di progetti ci sono.</a:t>
            </a:r>
          </a:p>
        </p:txBody>
      </p:sp>
      <p:sp>
        <p:nvSpPr>
          <p:cNvPr id="15" name="Pagine e task"/>
          <p:cNvSpPr txBox="1"/>
          <p:nvPr/>
        </p:nvSpPr>
        <p:spPr>
          <a:xfrm>
            <a:off x="609600" y="6273800"/>
            <a:ext cx="10972800" cy="381000"/>
          </a:xfrm>
          <a:prstGeom prst="rect">
            <a:avLst/>
          </a:prstGeom>
          <a:noFill/>
          <a:ln>
            <a:noFill/>
          </a:ln>
        </p:spPr>
        <p:txBody>
          <a:bodyPr wrap="square" lIns="0" tIns="0" rIns="0" bIns="0" anchor="b">
            <a:noAutofit/>
          </a:bodyPr>
          <a:lstStyle/>
          <a:p>
            <a:pPr marL="0" indent="0" algn="l">
              <a:lnSpc>
                <a:spcPct val="100000"/>
              </a:lnSpc>
              <a:spcBef>
                <a:spcPts val="0"/>
              </a:spcBef>
              <a:buNone/>
            </a:pPr>
            <a:r>
              <a:rPr lang="it-IT" sz="1000" b="1" dirty="0">
                <a:solidFill>
                  <a:srgbClr val="6B6168"/>
                </a:solidFill>
              </a:rPr>
              <a:t>Pagina:</a:t>
            </a:r>
            <a:r>
              <a:rPr lang="it-IT" sz="1000" b="0" dirty="0">
                <a:solidFill>
                  <a:srgbClr val="6B6168"/>
                </a:solidFill>
              </a:rPr>
              <a:t> Partner UniTo </a:t>
            </a:r>
            <a:r>
              <a:rPr lang="it-IT" sz="1000" b="0">
                <a:solidFill>
                  <a:srgbClr val="6B6168"/>
                </a:solidFill>
              </a:rPr>
              <a:t>› Progetti   </a:t>
            </a:r>
            <a:r>
              <a:rPr lang="it-IT" sz="1000" b="1" dirty="0">
                <a:solidFill>
                  <a:srgbClr val="6B6168"/>
                </a:solidFill>
              </a:rPr>
              <a:t>Task</a:t>
            </a:r>
            <a:r>
              <a:rPr lang="it-IT" sz="1000" b="1">
                <a:solidFill>
                  <a:srgbClr val="6B6168"/>
                </a:solidFill>
              </a:rPr>
              <a:t>:</a:t>
            </a:r>
            <a:r>
              <a:rPr lang="it-IT" sz="1000" b="0">
                <a:solidFill>
                  <a:srgbClr val="6B6168"/>
                </a:solidFill>
              </a:rPr>
              <a:t> T2</a:t>
            </a:r>
            <a:endParaRPr lang="it-IT" sz="1000" b="0" dirty="0">
              <a:solidFill>
                <a:srgbClr val="6B6168"/>
              </a:solidFill>
            </a:endParaRPr>
          </a:p>
        </p:txBody>
      </p:sp>
      <p:pic>
        <p:nvPicPr>
          <p:cNvPr id="3" name="recording-2026-10-13_23-14-17_edited.mp4">
            <a:hlinkClick r:id="" action="ppaction://media"/>
            <a:extLst>
              <a:ext uri="{FF2B5EF4-FFF2-40B4-BE49-F238E27FC236}">
                <a16:creationId xmlns:a16="http://schemas.microsoft.com/office/drawing/2014/main" id="{66821C38-D81C-3E24-525A-730FDDA27EC0}"/>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5840249" y="2118710"/>
            <a:ext cx="6194096" cy="3484179"/>
          </a:xfrm>
          <a:prstGeom prst="rect">
            <a:avLst/>
          </a:prstGeom>
        </p:spPr>
      </p:pic>
    </p:spTree>
    <p:extLst>
      <p:ext uri="{BB962C8B-B14F-4D97-AF65-F5344CB8AC3E}">
        <p14:creationId xmlns:p14="http://schemas.microsoft.com/office/powerpoint/2010/main" val="14932654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2766"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5DD7BBF-E7A4-DB18-AA80-AE848F9C3CD0}"/>
              </a:ext>
            </a:extLst>
          </p:cNvPr>
          <p:cNvSpPr>
            <a:spLocks noGrp="1"/>
          </p:cNvSpPr>
          <p:nvPr>
            <p:ph type="title"/>
          </p:nvPr>
        </p:nvSpPr>
        <p:spPr>
          <a:xfrm>
            <a:off x="609600" y="558800"/>
            <a:ext cx="8991600" cy="889000"/>
          </a:xfrm>
        </p:spPr>
        <p:txBody>
          <a:bodyPr anchor="t"/>
          <a:lstStyle/>
          <a:p>
            <a:pPr>
              <a:lnSpc>
                <a:spcPct val="90000"/>
              </a:lnSpc>
            </a:pPr>
            <a:r>
              <a:rPr lang="it-IT" sz="2600" b="1" dirty="0"/>
              <a:t>Contrasto insufficiente</a:t>
            </a:r>
          </a:p>
        </p:txBody>
      </p:sp>
      <p:sp>
        <p:nvSpPr>
          <p:cNvPr id="10" name="Euristica"/>
          <p:cNvSpPr txBox="1"/>
          <p:nvPr/>
        </p:nvSpPr>
        <p:spPr>
          <a:xfrm>
            <a:off x="609600" y="254000"/>
            <a:ext cx="8890000" cy="279400"/>
          </a:xfrm>
          <a:prstGeom prst="rect">
            <a:avLst/>
          </a:prstGeom>
          <a:noFill/>
          <a:ln>
            <a:noFill/>
          </a:ln>
        </p:spPr>
        <p:txBody>
          <a:bodyPr wrap="square" lIns="0" tIns="0" rIns="0" bIns="0" anchor="t">
            <a:noAutofit/>
          </a:bodyPr>
          <a:lstStyle/>
          <a:p>
            <a:pPr marL="0" indent="0" algn="l">
              <a:lnSpc>
                <a:spcPct val="100000"/>
              </a:lnSpc>
              <a:spcBef>
                <a:spcPts val="0"/>
              </a:spcBef>
              <a:buNone/>
            </a:pPr>
            <a:r>
              <a:rPr lang="it-IT" sz="1200" b="1" dirty="0">
                <a:solidFill>
                  <a:srgbClr val="6C0850"/>
                </a:solidFill>
              </a:rPr>
              <a:t>H8 · DESIGN ESTETICO E MINIMALISTA</a:t>
            </a:r>
          </a:p>
        </p:txBody>
      </p:sp>
      <p:sp>
        <p:nvSpPr>
          <p:cNvPr id="11" name="Badge gravità"/>
          <p:cNvSpPr/>
          <p:nvPr/>
        </p:nvSpPr>
        <p:spPr>
          <a:xfrm>
            <a:off x="9855200" y="381000"/>
            <a:ext cx="1727200" cy="736600"/>
          </a:xfrm>
          <a:prstGeom prst="roundRect">
            <a:avLst/>
          </a:prstGeom>
          <a:solidFill>
            <a:srgbClr val="41002F"/>
          </a:solidFill>
          <a:ln>
            <a:noFill/>
          </a:ln>
        </p:spPr>
        <p:txBody>
          <a:bodyPr wrap="square" lIns="0" tIns="0" rIns="0" bIns="0" anchor="ctr">
            <a:noAutofit/>
          </a:bodyPr>
          <a:lstStyle/>
          <a:p>
            <a:pPr marL="0" indent="0" algn="ctr">
              <a:lnSpc>
                <a:spcPct val="100000"/>
              </a:lnSpc>
              <a:spcBef>
                <a:spcPts val="0"/>
              </a:spcBef>
              <a:buNone/>
            </a:pPr>
            <a:r>
              <a:rPr lang="it-IT" sz="1000" b="1" dirty="0">
                <a:solidFill>
                  <a:srgbClr val="FFFFFF"/>
                </a:solidFill>
              </a:rPr>
              <a:t>GRAVITÀ</a:t>
            </a:r>
          </a:p>
          <a:p>
            <a:pPr marL="0" indent="0" algn="ctr">
              <a:lnSpc>
                <a:spcPct val="100000"/>
              </a:lnSpc>
              <a:spcBef>
                <a:spcPts val="0"/>
              </a:spcBef>
              <a:buNone/>
            </a:pPr>
            <a:r>
              <a:rPr lang="it-IT" sz="1800" b="1" dirty="0">
                <a:solidFill>
                  <a:srgbClr val="FFFFFF"/>
                </a:solidFill>
              </a:rPr>
              <a:t>4 · Grave</a:t>
            </a:r>
          </a:p>
        </p:txBody>
      </p:sp>
      <p:sp>
        <p:nvSpPr>
          <p:cNvPr id="12" name="Problema"/>
          <p:cNvSpPr txBox="1"/>
          <p:nvPr/>
        </p:nvSpPr>
        <p:spPr>
          <a:xfrm>
            <a:off x="609600" y="1625600"/>
            <a:ext cx="5130800" cy="2616200"/>
          </a:xfrm>
          <a:prstGeom prst="rect">
            <a:avLst/>
          </a:prstGeom>
          <a:noFill/>
          <a:ln>
            <a:noFill/>
          </a:ln>
        </p:spPr>
        <p:txBody>
          <a:bodyPr wrap="square" lIns="0" tIns="0" rIns="0" bIns="0" anchor="t">
            <a:noAutofit/>
          </a:bodyPr>
          <a:lstStyle/>
          <a:p>
            <a:pPr marL="0" indent="0" algn="l">
              <a:lnSpc>
                <a:spcPct val="100000"/>
              </a:lnSpc>
              <a:spcBef>
                <a:spcPts val="0"/>
              </a:spcBef>
              <a:buNone/>
            </a:pPr>
            <a:r>
              <a:rPr lang="it-IT" sz="1400" b="1" dirty="0">
                <a:solidFill>
                  <a:srgbClr val="6C0850"/>
                </a:solidFill>
              </a:rPr>
              <a:t>Problema</a:t>
            </a:r>
          </a:p>
          <a:p>
            <a:pPr marL="228600" indent="-228600" algn="l">
              <a:lnSpc>
                <a:spcPct val="100000"/>
              </a:lnSpc>
              <a:spcBef>
                <a:spcPts val="500"/>
              </a:spcBef>
              <a:buClr>
                <a:srgbClr val="6C0850"/>
              </a:buClr>
              <a:buFont typeface="Arial"/>
              <a:buChar char="•"/>
            </a:pPr>
            <a:r>
              <a:rPr lang="it-IT" sz="1400" b="0" dirty="0">
                <a:solidFill>
                  <a:srgbClr val="231C21"/>
                </a:solidFill>
              </a:rPr>
              <a:t>Il blu ha un buon contrasto (circa 6:1), ma i </a:t>
            </a:r>
            <a:r>
              <a:rPr lang="it-IT" sz="1400" b="1" dirty="0">
                <a:solidFill>
                  <a:srgbClr val="231C21"/>
                </a:solidFill>
              </a:rPr>
              <a:t>titoli arancioni</a:t>
            </a:r>
            <a:r>
              <a:rPr lang="it-IT" sz="1400" b="0" dirty="0">
                <a:solidFill>
                  <a:srgbClr val="231C21"/>
                </a:solidFill>
              </a:rPr>
              <a:t> arrivano a circa 2,5:1 che è insufficiente</a:t>
            </a:r>
          </a:p>
          <a:p>
            <a:pPr marL="228600" indent="-228600" algn="l">
              <a:lnSpc>
                <a:spcPct val="100000"/>
              </a:lnSpc>
              <a:spcBef>
                <a:spcPts val="500"/>
              </a:spcBef>
              <a:buClr>
                <a:srgbClr val="6C0850"/>
              </a:buClr>
              <a:buFont typeface="Arial"/>
              <a:buChar char="•"/>
            </a:pPr>
            <a:r>
              <a:rPr lang="it-IT" sz="1400" dirty="0">
                <a:solidFill>
                  <a:srgbClr val="231C21"/>
                </a:solidFill>
              </a:rPr>
              <a:t>I chip «Obiettivo raggiunto!» hanno un contrasto sufficiente di 3.5:1 ma un testo piccolo che rendono difficile la lettura </a:t>
            </a:r>
            <a:endParaRPr lang="it-IT" sz="1400" b="0" dirty="0">
              <a:solidFill>
                <a:srgbClr val="231C21"/>
              </a:solidFill>
            </a:endParaRPr>
          </a:p>
          <a:p>
            <a:pPr marL="228600" indent="-228600" algn="l">
              <a:lnSpc>
                <a:spcPct val="100000"/>
              </a:lnSpc>
              <a:spcBef>
                <a:spcPts val="500"/>
              </a:spcBef>
              <a:buClr>
                <a:srgbClr val="6C0850"/>
              </a:buClr>
              <a:buFont typeface="Arial"/>
              <a:buChar char="•"/>
            </a:pPr>
            <a:r>
              <a:rPr lang="it-IT" sz="1400" b="0" dirty="0">
                <a:solidFill>
                  <a:srgbClr val="231C21"/>
                </a:solidFill>
              </a:rPr>
              <a:t>Anche i pulsanti a sfondo verde con testo bianco non hanno un contrasto sufficiente</a:t>
            </a:r>
          </a:p>
          <a:p>
            <a:pPr marL="228600" indent="-228600" algn="l">
              <a:lnSpc>
                <a:spcPct val="100000"/>
              </a:lnSpc>
              <a:spcBef>
                <a:spcPts val="500"/>
              </a:spcBef>
              <a:buClr>
                <a:srgbClr val="6C0850"/>
              </a:buClr>
              <a:buFont typeface="Arial"/>
              <a:buChar char="•"/>
            </a:pPr>
            <a:r>
              <a:rPr lang="it-IT" sz="1400" b="0" dirty="0">
                <a:solidFill>
                  <a:srgbClr val="231C21"/>
                </a:solidFill>
              </a:rPr>
              <a:t>Footer con contrast</a:t>
            </a:r>
            <a:r>
              <a:rPr lang="it-IT" sz="1400" dirty="0">
                <a:solidFill>
                  <a:srgbClr val="231C21"/>
                </a:solidFill>
              </a:rPr>
              <a:t>o di</a:t>
            </a:r>
            <a:r>
              <a:rPr lang="it-IT" sz="1400" b="0" dirty="0">
                <a:solidFill>
                  <a:srgbClr val="231C21"/>
                </a:solidFill>
              </a:rPr>
              <a:t> </a:t>
            </a:r>
            <a:r>
              <a:rPr lang="it-IT" sz="1400" b="1" dirty="0">
                <a:solidFill>
                  <a:srgbClr val="231C21"/>
                </a:solidFill>
              </a:rPr>
              <a:t>2:1</a:t>
            </a:r>
            <a:r>
              <a:rPr lang="it-IT" sz="1400" dirty="0">
                <a:solidFill>
                  <a:srgbClr val="231C21"/>
                </a:solidFill>
              </a:rPr>
              <a:t> e</a:t>
            </a:r>
            <a:r>
              <a:rPr lang="it-IT" sz="1400" b="0" dirty="0">
                <a:solidFill>
                  <a:srgbClr val="231C21"/>
                </a:solidFill>
              </a:rPr>
              <a:t> titoli di sezione molto piccoli</a:t>
            </a:r>
          </a:p>
          <a:p>
            <a:pPr marL="228600" indent="-228600" algn="l">
              <a:lnSpc>
                <a:spcPct val="100000"/>
              </a:lnSpc>
              <a:spcBef>
                <a:spcPts val="500"/>
              </a:spcBef>
              <a:buClr>
                <a:srgbClr val="6C0850"/>
              </a:buClr>
              <a:buFont typeface="Arial"/>
              <a:buChar char="•"/>
            </a:pPr>
            <a:endParaRPr lang="it-IT" sz="1400" dirty="0">
              <a:solidFill>
                <a:srgbClr val="231C21"/>
              </a:solidFill>
            </a:endParaRPr>
          </a:p>
          <a:p>
            <a:pPr algn="l">
              <a:lnSpc>
                <a:spcPct val="100000"/>
              </a:lnSpc>
              <a:spcBef>
                <a:spcPts val="500"/>
              </a:spcBef>
              <a:buClr>
                <a:srgbClr val="6C0850"/>
              </a:buClr>
            </a:pPr>
            <a:r>
              <a:rPr lang="it-IT" sz="1100" b="0" dirty="0">
                <a:solidFill>
                  <a:srgbClr val="6B6168"/>
                </a:solidFill>
              </a:rPr>
              <a:t>Gravità 4: La pagina in alcuni punti risulta molto difficoltosa da leggere e il </a:t>
            </a:r>
            <a:r>
              <a:rPr lang="it-IT" sz="1100" b="0" dirty="0" err="1">
                <a:solidFill>
                  <a:srgbClr val="6B6168"/>
                </a:solidFill>
              </a:rPr>
              <a:t>footer</a:t>
            </a:r>
            <a:r>
              <a:rPr lang="it-IT" sz="1100" b="0" dirty="0">
                <a:solidFill>
                  <a:srgbClr val="6B6168"/>
                </a:solidFill>
              </a:rPr>
              <a:t> ha un pessimo contrasto che lo rende quasi incomprensibile</a:t>
            </a:r>
          </a:p>
        </p:txBody>
      </p:sp>
      <p:sp>
        <p:nvSpPr>
          <p:cNvPr id="13" name="Soluzione"/>
          <p:cNvSpPr/>
          <p:nvPr/>
        </p:nvSpPr>
        <p:spPr>
          <a:xfrm>
            <a:off x="609600" y="4470400"/>
            <a:ext cx="5130800" cy="1727200"/>
          </a:xfrm>
          <a:prstGeom prst="rect">
            <a:avLst/>
          </a:prstGeom>
          <a:solidFill>
            <a:srgbClr val="F3EEF1"/>
          </a:solidFill>
          <a:ln>
            <a:noFill/>
          </a:ln>
        </p:spPr>
        <p:txBody>
          <a:bodyPr wrap="square" lIns="152400" tIns="152400" rIns="152400" bIns="152400" anchor="t">
            <a:noAutofit/>
          </a:bodyPr>
          <a:lstStyle/>
          <a:p>
            <a:pPr marL="0" indent="0" algn="l">
              <a:lnSpc>
                <a:spcPct val="100000"/>
              </a:lnSpc>
              <a:spcBef>
                <a:spcPts val="0"/>
              </a:spcBef>
              <a:buNone/>
            </a:pPr>
            <a:r>
              <a:rPr lang="it-IT" sz="1400" b="1" dirty="0">
                <a:solidFill>
                  <a:srgbClr val="6C0850"/>
                </a:solidFill>
              </a:rPr>
              <a:t>Possibile soluzione</a:t>
            </a:r>
          </a:p>
          <a:p>
            <a:pPr marL="0" indent="0" algn="l">
              <a:lnSpc>
                <a:spcPct val="100000"/>
              </a:lnSpc>
              <a:spcBef>
                <a:spcPts val="400"/>
              </a:spcBef>
              <a:buNone/>
            </a:pPr>
            <a:r>
              <a:rPr lang="it-IT" sz="1400" b="0" dirty="0">
                <a:solidFill>
                  <a:srgbClr val="231C21"/>
                </a:solidFill>
              </a:rPr>
              <a:t>Scurire gli sfondi delle sezioni a basso contrasto fino ad ottenere un contrasto di almeno </a:t>
            </a:r>
            <a:r>
              <a:rPr lang="it-IT" sz="1400" dirty="0">
                <a:solidFill>
                  <a:srgbClr val="231C21"/>
                </a:solidFill>
              </a:rPr>
              <a:t>3</a:t>
            </a:r>
            <a:r>
              <a:rPr lang="it-IT" sz="1400" b="0" dirty="0">
                <a:solidFill>
                  <a:srgbClr val="231C21"/>
                </a:solidFill>
              </a:rPr>
              <a:t>:1</a:t>
            </a:r>
            <a:r>
              <a:rPr lang="it-IT" sz="1400" dirty="0">
                <a:solidFill>
                  <a:srgbClr val="231C21"/>
                </a:solidFill>
              </a:rPr>
              <a:t>. Inoltre bisogna ingrandire i titoli delle sezioni del </a:t>
            </a:r>
            <a:r>
              <a:rPr lang="it-IT" sz="1400" dirty="0" err="1">
                <a:solidFill>
                  <a:srgbClr val="231C21"/>
                </a:solidFill>
              </a:rPr>
              <a:t>footer</a:t>
            </a:r>
            <a:r>
              <a:rPr lang="it-IT" sz="1400" dirty="0">
                <a:solidFill>
                  <a:srgbClr val="231C21"/>
                </a:solidFill>
              </a:rPr>
              <a:t>.</a:t>
            </a:r>
            <a:endParaRPr lang="it-IT" sz="1400" b="0" dirty="0">
              <a:solidFill>
                <a:srgbClr val="231C21"/>
              </a:solidFill>
            </a:endParaRPr>
          </a:p>
        </p:txBody>
      </p:sp>
      <p:sp>
        <p:nvSpPr>
          <p:cNvPr id="15" name="Pagine e task"/>
          <p:cNvSpPr txBox="1"/>
          <p:nvPr/>
        </p:nvSpPr>
        <p:spPr>
          <a:xfrm>
            <a:off x="609600" y="6273800"/>
            <a:ext cx="10972800" cy="381000"/>
          </a:xfrm>
          <a:prstGeom prst="rect">
            <a:avLst/>
          </a:prstGeom>
          <a:noFill/>
          <a:ln>
            <a:noFill/>
          </a:ln>
        </p:spPr>
        <p:txBody>
          <a:bodyPr wrap="square" lIns="0" tIns="0" rIns="0" bIns="0" anchor="b">
            <a:noAutofit/>
          </a:bodyPr>
          <a:lstStyle/>
          <a:p>
            <a:pPr marL="0" indent="0" algn="l">
              <a:lnSpc>
                <a:spcPct val="100000"/>
              </a:lnSpc>
              <a:spcBef>
                <a:spcPts val="0"/>
              </a:spcBef>
              <a:buNone/>
            </a:pPr>
            <a:r>
              <a:rPr lang="it-IT" sz="1000" b="1" dirty="0">
                <a:solidFill>
                  <a:srgbClr val="6B6168"/>
                </a:solidFill>
              </a:rPr>
              <a:t>Pagine:</a:t>
            </a:r>
            <a:r>
              <a:rPr lang="it-IT" sz="1000" b="0" dirty="0">
                <a:solidFill>
                  <a:srgbClr val="6B6168"/>
                </a:solidFill>
              </a:rPr>
              <a:t> Partner UniTo › Partnership e Progetti </a:t>
            </a:r>
            <a:r>
              <a:rPr lang="it-IT" sz="1000" b="1" dirty="0">
                <a:solidFill>
                  <a:srgbClr val="6B6168"/>
                </a:solidFill>
              </a:rPr>
              <a:t>Task:</a:t>
            </a:r>
            <a:r>
              <a:rPr lang="it-IT" sz="1000" b="0" dirty="0">
                <a:solidFill>
                  <a:srgbClr val="6B6168"/>
                </a:solidFill>
              </a:rPr>
              <a:t> T2, T4</a:t>
            </a:r>
          </a:p>
        </p:txBody>
      </p:sp>
      <p:pic>
        <p:nvPicPr>
          <p:cNvPr id="16" name="Immagine 15">
            <a:extLst>
              <a:ext uri="{FF2B5EF4-FFF2-40B4-BE49-F238E27FC236}">
                <a16:creationId xmlns:a16="http://schemas.microsoft.com/office/drawing/2014/main" id="{9BCAC503-77CC-8723-BB87-221267378838}"/>
              </a:ext>
            </a:extLst>
          </p:cNvPr>
          <p:cNvPicPr>
            <a:picLocks noChangeAspect="1"/>
          </p:cNvPicPr>
          <p:nvPr/>
        </p:nvPicPr>
        <p:blipFill>
          <a:blip r:embed="rId2"/>
          <a:srcRect l="39644"/>
          <a:stretch>
            <a:fillRect/>
          </a:stretch>
        </p:blipFill>
        <p:spPr>
          <a:xfrm>
            <a:off x="5996152" y="1625600"/>
            <a:ext cx="5933747" cy="4495800"/>
          </a:xfrm>
          <a:prstGeom prst="rect">
            <a:avLst/>
          </a:prstGeom>
        </p:spPr>
      </p:pic>
    </p:spTree>
    <p:extLst>
      <p:ext uri="{BB962C8B-B14F-4D97-AF65-F5344CB8AC3E}">
        <p14:creationId xmlns:p14="http://schemas.microsoft.com/office/powerpoint/2010/main" val="118762767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EAD7DA22-05A3-B58F-EB9F-03F453D5F754}"/>
              </a:ext>
            </a:extLst>
          </p:cNvPr>
          <p:cNvSpPr>
            <a:spLocks noGrp="1"/>
          </p:cNvSpPr>
          <p:nvPr>
            <p:ph type="title"/>
          </p:nvPr>
        </p:nvSpPr>
        <p:spPr>
          <a:xfrm>
            <a:off x="609600" y="558800"/>
            <a:ext cx="8991600" cy="889000"/>
          </a:xfrm>
        </p:spPr>
        <p:txBody>
          <a:bodyPr anchor="t"/>
          <a:lstStyle/>
          <a:p>
            <a:pPr>
              <a:lnSpc>
                <a:spcPct val="90000"/>
              </a:lnSpc>
            </a:pPr>
            <a:r>
              <a:rPr lang="it-IT" sz="2600" b="1" dirty="0"/>
              <a:t>A fine elenco «ALTRI» scompare senza dire che i progetti sono finiti</a:t>
            </a:r>
          </a:p>
        </p:txBody>
      </p:sp>
      <p:sp>
        <p:nvSpPr>
          <p:cNvPr id="10" name="Euristica"/>
          <p:cNvSpPr txBox="1"/>
          <p:nvPr/>
        </p:nvSpPr>
        <p:spPr>
          <a:xfrm>
            <a:off x="609600" y="254000"/>
            <a:ext cx="8890000" cy="279400"/>
          </a:xfrm>
          <a:prstGeom prst="rect">
            <a:avLst/>
          </a:prstGeom>
          <a:noFill/>
          <a:ln>
            <a:noFill/>
          </a:ln>
        </p:spPr>
        <p:txBody>
          <a:bodyPr wrap="square" lIns="0" tIns="0" rIns="0" bIns="0" anchor="t">
            <a:noAutofit/>
          </a:bodyPr>
          <a:lstStyle/>
          <a:p>
            <a:pPr marL="0" indent="0" algn="l">
              <a:lnSpc>
                <a:spcPct val="100000"/>
              </a:lnSpc>
              <a:spcBef>
                <a:spcPts val="0"/>
              </a:spcBef>
              <a:buNone/>
            </a:pPr>
            <a:r>
              <a:rPr lang="it-IT" sz="1200" b="1" dirty="0">
                <a:solidFill>
                  <a:srgbClr val="6C0850"/>
                </a:solidFill>
              </a:rPr>
              <a:t>H9 · ERRORI</a:t>
            </a:r>
          </a:p>
        </p:txBody>
      </p:sp>
      <p:sp>
        <p:nvSpPr>
          <p:cNvPr id="11" name="Badge gravità"/>
          <p:cNvSpPr/>
          <p:nvPr/>
        </p:nvSpPr>
        <p:spPr>
          <a:xfrm>
            <a:off x="9855200" y="381000"/>
            <a:ext cx="1727200" cy="736600"/>
          </a:xfrm>
          <a:prstGeom prst="roundRect">
            <a:avLst/>
          </a:prstGeom>
          <a:solidFill>
            <a:srgbClr val="C7A2BB"/>
          </a:solidFill>
          <a:ln>
            <a:noFill/>
          </a:ln>
        </p:spPr>
        <p:txBody>
          <a:bodyPr wrap="square" lIns="0" tIns="0" rIns="0" bIns="0" anchor="ctr">
            <a:noAutofit/>
          </a:bodyPr>
          <a:lstStyle/>
          <a:p>
            <a:pPr marL="0" indent="0" algn="ctr">
              <a:lnSpc>
                <a:spcPct val="100000"/>
              </a:lnSpc>
              <a:spcBef>
                <a:spcPts val="0"/>
              </a:spcBef>
              <a:buNone/>
            </a:pPr>
            <a:r>
              <a:rPr lang="it-IT" sz="1000" b="1" dirty="0">
                <a:solidFill>
                  <a:srgbClr val="41002F"/>
                </a:solidFill>
              </a:rPr>
              <a:t>GRAVITÀ</a:t>
            </a:r>
          </a:p>
          <a:p>
            <a:pPr marL="0" indent="0" algn="ctr">
              <a:lnSpc>
                <a:spcPct val="100000"/>
              </a:lnSpc>
              <a:spcBef>
                <a:spcPts val="0"/>
              </a:spcBef>
              <a:buNone/>
            </a:pPr>
            <a:r>
              <a:rPr lang="it-IT" sz="1800" b="1" dirty="0">
                <a:solidFill>
                  <a:srgbClr val="41002F"/>
                </a:solidFill>
              </a:rPr>
              <a:t>2 · Minore</a:t>
            </a:r>
          </a:p>
        </p:txBody>
      </p:sp>
      <p:sp>
        <p:nvSpPr>
          <p:cNvPr id="12" name="Problema"/>
          <p:cNvSpPr txBox="1"/>
          <p:nvPr/>
        </p:nvSpPr>
        <p:spPr>
          <a:xfrm>
            <a:off x="609600" y="1625600"/>
            <a:ext cx="5130800" cy="2616200"/>
          </a:xfrm>
          <a:prstGeom prst="rect">
            <a:avLst/>
          </a:prstGeom>
          <a:noFill/>
          <a:ln>
            <a:noFill/>
          </a:ln>
        </p:spPr>
        <p:txBody>
          <a:bodyPr wrap="square" lIns="0" tIns="0" rIns="0" bIns="0" anchor="t">
            <a:noAutofit/>
          </a:bodyPr>
          <a:lstStyle/>
          <a:p>
            <a:pPr marL="0" indent="0" algn="l">
              <a:lnSpc>
                <a:spcPct val="100000"/>
              </a:lnSpc>
              <a:spcBef>
                <a:spcPts val="0"/>
              </a:spcBef>
              <a:buNone/>
            </a:pPr>
            <a:r>
              <a:rPr lang="it-IT" sz="1400" b="1" dirty="0">
                <a:solidFill>
                  <a:srgbClr val="6C0850"/>
                </a:solidFill>
              </a:rPr>
              <a:t>Problema</a:t>
            </a:r>
          </a:p>
          <a:p>
            <a:pPr marL="228600" indent="-228600" algn="l">
              <a:lnSpc>
                <a:spcPct val="100000"/>
              </a:lnSpc>
              <a:spcBef>
                <a:spcPts val="500"/>
              </a:spcBef>
              <a:buClr>
                <a:srgbClr val="6C0850"/>
              </a:buClr>
              <a:buFont typeface="Arial"/>
              <a:buChar char="•"/>
            </a:pPr>
            <a:r>
              <a:rPr lang="it-IT" sz="1400" b="0" dirty="0">
                <a:solidFill>
                  <a:srgbClr val="231C21"/>
                </a:solidFill>
              </a:rPr>
              <a:t>A fine elenco il pulsante </a:t>
            </a:r>
            <a:r>
              <a:rPr lang="it-IT" sz="1400" b="1" dirty="0">
                <a:solidFill>
                  <a:srgbClr val="231C21"/>
                </a:solidFill>
              </a:rPr>
              <a:t>scompare senza messaggio</a:t>
            </a:r>
            <a:r>
              <a:rPr lang="it-IT" sz="1400" b="0" dirty="0">
                <a:solidFill>
                  <a:srgbClr val="231C21"/>
                </a:solidFill>
              </a:rPr>
              <a:t>: l’utente deve intuire che è finito</a:t>
            </a:r>
          </a:p>
          <a:p>
            <a:pPr marL="0" indent="0" algn="l">
              <a:lnSpc>
                <a:spcPct val="100000"/>
              </a:lnSpc>
              <a:spcBef>
                <a:spcPts val="900"/>
              </a:spcBef>
              <a:buNone/>
            </a:pPr>
            <a:r>
              <a:rPr lang="it-IT" sz="1100" b="0" dirty="0">
                <a:solidFill>
                  <a:srgbClr val="6B6168"/>
                </a:solidFill>
              </a:rPr>
              <a:t>Gravità 1: Per l’utente è facilmente intuibile che siano finiti però sarebbe meglio specificarlo chiaramente</a:t>
            </a:r>
          </a:p>
        </p:txBody>
      </p:sp>
      <p:sp>
        <p:nvSpPr>
          <p:cNvPr id="13" name="Soluzione"/>
          <p:cNvSpPr/>
          <p:nvPr/>
        </p:nvSpPr>
        <p:spPr>
          <a:xfrm>
            <a:off x="609600" y="4394200"/>
            <a:ext cx="5130800" cy="1727200"/>
          </a:xfrm>
          <a:prstGeom prst="rect">
            <a:avLst/>
          </a:prstGeom>
          <a:solidFill>
            <a:srgbClr val="F3EEF1"/>
          </a:solidFill>
          <a:ln>
            <a:noFill/>
          </a:ln>
        </p:spPr>
        <p:txBody>
          <a:bodyPr wrap="square" lIns="152400" tIns="152400" rIns="152400" bIns="152400" anchor="t">
            <a:noAutofit/>
          </a:bodyPr>
          <a:lstStyle/>
          <a:p>
            <a:pPr marL="0" indent="0" algn="l">
              <a:lnSpc>
                <a:spcPct val="100000"/>
              </a:lnSpc>
              <a:spcBef>
                <a:spcPts val="0"/>
              </a:spcBef>
              <a:buNone/>
            </a:pPr>
            <a:r>
              <a:rPr lang="it-IT" sz="1400" b="1" dirty="0">
                <a:solidFill>
                  <a:srgbClr val="6C0850"/>
                </a:solidFill>
              </a:rPr>
              <a:t>Possibile soluzione</a:t>
            </a:r>
          </a:p>
          <a:p>
            <a:pPr marL="0" indent="0" algn="l">
              <a:lnSpc>
                <a:spcPct val="100000"/>
              </a:lnSpc>
              <a:spcBef>
                <a:spcPts val="400"/>
              </a:spcBef>
              <a:buNone/>
            </a:pPr>
            <a:r>
              <a:rPr lang="it-IT" sz="1400" b="0" dirty="0">
                <a:solidFill>
                  <a:srgbClr val="231C21"/>
                </a:solidFill>
              </a:rPr>
              <a:t>A fine elenco mostrare il messaggio «Hai visto tutti i progetti conclusi».</a:t>
            </a:r>
          </a:p>
        </p:txBody>
      </p:sp>
      <p:sp>
        <p:nvSpPr>
          <p:cNvPr id="15" name="Pagine e task"/>
          <p:cNvSpPr txBox="1"/>
          <p:nvPr/>
        </p:nvSpPr>
        <p:spPr>
          <a:xfrm>
            <a:off x="609600" y="6273800"/>
            <a:ext cx="10972800" cy="381000"/>
          </a:xfrm>
          <a:prstGeom prst="rect">
            <a:avLst/>
          </a:prstGeom>
          <a:noFill/>
          <a:ln>
            <a:noFill/>
          </a:ln>
        </p:spPr>
        <p:txBody>
          <a:bodyPr wrap="square" lIns="0" tIns="0" rIns="0" bIns="0" anchor="b">
            <a:noAutofit/>
          </a:bodyPr>
          <a:lstStyle/>
          <a:p>
            <a:pPr marL="0" indent="0" algn="l">
              <a:lnSpc>
                <a:spcPct val="100000"/>
              </a:lnSpc>
              <a:spcBef>
                <a:spcPts val="0"/>
              </a:spcBef>
              <a:buNone/>
            </a:pPr>
            <a:r>
              <a:rPr lang="it-IT" sz="1000" b="1" dirty="0">
                <a:solidFill>
                  <a:srgbClr val="6B6168"/>
                </a:solidFill>
              </a:rPr>
              <a:t>Pagina:</a:t>
            </a:r>
            <a:r>
              <a:rPr lang="it-IT" sz="1000" b="0" dirty="0">
                <a:solidFill>
                  <a:srgbClr val="6B6168"/>
                </a:solidFill>
              </a:rPr>
              <a:t> Partner UniTo › Progetti   </a:t>
            </a:r>
            <a:r>
              <a:rPr lang="it-IT" sz="1000" b="1" dirty="0">
                <a:solidFill>
                  <a:srgbClr val="6B6168"/>
                </a:solidFill>
              </a:rPr>
              <a:t>Task:</a:t>
            </a:r>
            <a:r>
              <a:rPr lang="it-IT" sz="1000" b="0" dirty="0">
                <a:solidFill>
                  <a:srgbClr val="6B6168"/>
                </a:solidFill>
              </a:rPr>
              <a:t> T2, T4</a:t>
            </a:r>
          </a:p>
        </p:txBody>
      </p:sp>
      <p:pic>
        <p:nvPicPr>
          <p:cNvPr id="4" name="Immagine 3">
            <a:extLst>
              <a:ext uri="{FF2B5EF4-FFF2-40B4-BE49-F238E27FC236}">
                <a16:creationId xmlns:a16="http://schemas.microsoft.com/office/drawing/2014/main" id="{303085A7-8743-AF95-9192-F7F71A23F8D3}"/>
              </a:ext>
            </a:extLst>
          </p:cNvPr>
          <p:cNvPicPr>
            <a:picLocks noChangeAspect="1"/>
          </p:cNvPicPr>
          <p:nvPr/>
        </p:nvPicPr>
        <p:blipFill>
          <a:blip r:embed="rId2"/>
          <a:srcRect l="24667" r="25231"/>
          <a:stretch>
            <a:fillRect/>
          </a:stretch>
        </p:blipFill>
        <p:spPr>
          <a:xfrm>
            <a:off x="6096000" y="1894090"/>
            <a:ext cx="5395273" cy="3936523"/>
          </a:xfrm>
          <a:prstGeom prst="rect">
            <a:avLst/>
          </a:prstGeom>
        </p:spPr>
      </p:pic>
      <p:sp>
        <p:nvSpPr>
          <p:cNvPr id="7" name="Ovale 6">
            <a:extLst>
              <a:ext uri="{FF2B5EF4-FFF2-40B4-BE49-F238E27FC236}">
                <a16:creationId xmlns:a16="http://schemas.microsoft.com/office/drawing/2014/main" id="{266B7C85-B1A5-A5F8-82FD-BA79A6BDCDAC}"/>
              </a:ext>
            </a:extLst>
          </p:cNvPr>
          <p:cNvSpPr/>
          <p:nvPr/>
        </p:nvSpPr>
        <p:spPr>
          <a:xfrm>
            <a:off x="8186663" y="4642945"/>
            <a:ext cx="1213945" cy="275896"/>
          </a:xfrm>
          <a:prstGeom prst="ellipse">
            <a:avLst/>
          </a:prstGeom>
          <a:noFill/>
          <a:ln w="28575">
            <a:solidFill>
              <a:schemeClr val="accent5">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extLst>
      <p:ext uri="{BB962C8B-B14F-4D97-AF65-F5344CB8AC3E}">
        <p14:creationId xmlns:p14="http://schemas.microsoft.com/office/powerpoint/2010/main" val="270055070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EBAF1E28-0067-105E-E5F8-A13E96141B66}"/>
              </a:ext>
            </a:extLst>
          </p:cNvPr>
          <p:cNvSpPr>
            <a:spLocks noGrp="1"/>
          </p:cNvSpPr>
          <p:nvPr>
            <p:ph type="title"/>
          </p:nvPr>
        </p:nvSpPr>
        <p:spPr>
          <a:xfrm>
            <a:off x="609600" y="558800"/>
            <a:ext cx="8991600" cy="889000"/>
          </a:xfrm>
        </p:spPr>
        <p:txBody>
          <a:bodyPr anchor="t"/>
          <a:lstStyle/>
          <a:p>
            <a:pPr>
              <a:lnSpc>
                <a:spcPct val="90000"/>
              </a:lnSpc>
            </a:pPr>
            <a:r>
              <a:rPr lang="it-IT" sz="2600" b="1" dirty="0"/>
              <a:t>La pagina non riporta nessun contatto UniTo</a:t>
            </a:r>
          </a:p>
        </p:txBody>
      </p:sp>
      <p:sp>
        <p:nvSpPr>
          <p:cNvPr id="10" name="Euristica"/>
          <p:cNvSpPr/>
          <p:nvPr/>
        </p:nvSpPr>
        <p:spPr>
          <a:xfrm>
            <a:off x="609600" y="254000"/>
            <a:ext cx="8890000" cy="279400"/>
          </a:xfrm>
          <a:prstGeom prst="rect">
            <a:avLst/>
          </a:prstGeom>
          <a:noFill/>
          <a:ln>
            <a:noFill/>
          </a:ln>
        </p:spPr>
        <p:txBody>
          <a:bodyPr wrap="square" lIns="0" tIns="0" rIns="0" bIns="0" anchor="t">
            <a:noAutofit/>
          </a:bodyPr>
          <a:lstStyle/>
          <a:p>
            <a:pPr marL="0" indent="0" algn="l">
              <a:lnSpc>
                <a:spcPct val="100000"/>
              </a:lnSpc>
              <a:spcBef>
                <a:spcPts val="0"/>
              </a:spcBef>
              <a:buNone/>
            </a:pPr>
            <a:r>
              <a:rPr lang="it-IT" sz="1200" b="1" i="0" dirty="0">
                <a:solidFill>
                  <a:srgbClr val="6C0850"/>
                </a:solidFill>
              </a:rPr>
              <a:t>H10 · AIUTO E DOCUMENTAZIONE</a:t>
            </a:r>
          </a:p>
        </p:txBody>
      </p:sp>
      <p:sp>
        <p:nvSpPr>
          <p:cNvPr id="11" name="Badge gravità"/>
          <p:cNvSpPr/>
          <p:nvPr/>
        </p:nvSpPr>
        <p:spPr>
          <a:xfrm>
            <a:off x="9855200" y="381000"/>
            <a:ext cx="1727200" cy="736600"/>
          </a:xfrm>
          <a:prstGeom prst="roundRect">
            <a:avLst/>
          </a:prstGeom>
          <a:solidFill>
            <a:srgbClr val="C7A2BB"/>
          </a:solidFill>
          <a:ln>
            <a:noFill/>
          </a:ln>
        </p:spPr>
        <p:txBody>
          <a:bodyPr wrap="square" lIns="0" tIns="0" rIns="0" bIns="0" anchor="ctr">
            <a:noAutofit/>
          </a:bodyPr>
          <a:lstStyle/>
          <a:p>
            <a:pPr marL="0" indent="0" algn="ctr">
              <a:lnSpc>
                <a:spcPct val="100000"/>
              </a:lnSpc>
              <a:spcBef>
                <a:spcPts val="0"/>
              </a:spcBef>
              <a:buNone/>
            </a:pPr>
            <a:r>
              <a:rPr lang="it-IT" sz="1000" b="1" i="0" dirty="0">
                <a:solidFill>
                  <a:srgbClr val="41002F"/>
                </a:solidFill>
              </a:rPr>
              <a:t>GRAVITÀ</a:t>
            </a:r>
          </a:p>
          <a:p>
            <a:pPr marL="0" indent="0" algn="ctr">
              <a:lnSpc>
                <a:spcPct val="100000"/>
              </a:lnSpc>
              <a:spcBef>
                <a:spcPts val="0"/>
              </a:spcBef>
              <a:buNone/>
            </a:pPr>
            <a:r>
              <a:rPr lang="it-IT" sz="1800" b="1" i="0" dirty="0">
                <a:solidFill>
                  <a:srgbClr val="41002F"/>
                </a:solidFill>
              </a:rPr>
              <a:t>2 </a:t>
            </a:r>
            <a:r>
              <a:rPr lang="it-IT" sz="1800" b="1" i="0">
                <a:solidFill>
                  <a:srgbClr val="41002F"/>
                </a:solidFill>
              </a:rPr>
              <a:t>· Minore</a:t>
            </a:r>
            <a:endParaRPr lang="it-IT" sz="1800" b="1" i="0" dirty="0">
              <a:solidFill>
                <a:srgbClr val="41002F"/>
              </a:solidFill>
            </a:endParaRPr>
          </a:p>
        </p:txBody>
      </p:sp>
      <p:sp>
        <p:nvSpPr>
          <p:cNvPr id="12" name="Problema"/>
          <p:cNvSpPr/>
          <p:nvPr/>
        </p:nvSpPr>
        <p:spPr>
          <a:xfrm>
            <a:off x="609600" y="1625600"/>
            <a:ext cx="5130800" cy="2616200"/>
          </a:xfrm>
          <a:prstGeom prst="rect">
            <a:avLst/>
          </a:prstGeom>
          <a:noFill/>
          <a:ln>
            <a:noFill/>
          </a:ln>
        </p:spPr>
        <p:txBody>
          <a:bodyPr wrap="square" lIns="0" tIns="0" rIns="0" bIns="0" anchor="t">
            <a:noAutofit/>
          </a:bodyPr>
          <a:lstStyle/>
          <a:p>
            <a:pPr marL="0" indent="0" algn="l">
              <a:lnSpc>
                <a:spcPct val="100000"/>
              </a:lnSpc>
              <a:spcBef>
                <a:spcPts val="0"/>
              </a:spcBef>
              <a:buNone/>
            </a:pPr>
            <a:r>
              <a:rPr lang="it-IT" sz="1400" b="1" i="0" dirty="0">
                <a:solidFill>
                  <a:srgbClr val="6C0850"/>
                </a:solidFill>
              </a:rPr>
              <a:t>Problema</a:t>
            </a:r>
          </a:p>
          <a:p>
            <a:pPr marL="228600" indent="-228600">
              <a:spcBef>
                <a:spcPts val="500"/>
              </a:spcBef>
              <a:buClr>
                <a:srgbClr val="6C0850"/>
              </a:buClr>
              <a:buFont typeface="Arial"/>
              <a:buChar char="•"/>
            </a:pPr>
            <a:r>
              <a:rPr lang="it-IT" sz="1400" dirty="0">
                <a:solidFill>
                  <a:srgbClr val="231C21"/>
                </a:solidFill>
              </a:rPr>
              <a:t>La pagina spiega le fasi ma non dice </a:t>
            </a:r>
            <a:r>
              <a:rPr lang="it-IT" sz="1400" b="1" dirty="0">
                <a:solidFill>
                  <a:srgbClr val="231C21"/>
                </a:solidFill>
              </a:rPr>
              <a:t>chi può candidarsi, entro quando, con quale modulo</a:t>
            </a:r>
            <a:r>
              <a:rPr lang="it-IT" sz="1400" dirty="0">
                <a:solidFill>
                  <a:srgbClr val="231C21"/>
                </a:solidFill>
              </a:rPr>
              <a:t> né chi contattare</a:t>
            </a:r>
          </a:p>
          <a:p>
            <a:pPr marL="228600" indent="-228600">
              <a:spcBef>
                <a:spcPts val="500"/>
              </a:spcBef>
              <a:buClr>
                <a:srgbClr val="6C0850"/>
              </a:buClr>
              <a:buFont typeface="Arial"/>
              <a:buChar char="•"/>
            </a:pPr>
            <a:r>
              <a:rPr lang="it-IT" sz="1400" b="0" i="0" dirty="0">
                <a:solidFill>
                  <a:srgbClr val="231C21"/>
                </a:solidFill>
              </a:rPr>
              <a:t>Nella pagina </a:t>
            </a:r>
            <a:r>
              <a:rPr lang="it-IT" sz="1400" b="1" i="0" dirty="0">
                <a:solidFill>
                  <a:srgbClr val="231C21"/>
                </a:solidFill>
              </a:rPr>
              <a:t>non c’è un contatto UniTo</a:t>
            </a:r>
            <a:r>
              <a:rPr lang="it-IT" sz="1400" b="0" i="0" dirty="0">
                <a:solidFill>
                  <a:srgbClr val="231C21"/>
                </a:solidFill>
              </a:rPr>
              <a:t> di riferimento per l’iniziativa. Bisogna cliccare sul pulsante </a:t>
            </a:r>
            <a:r>
              <a:rPr lang="it-IT" sz="1400" dirty="0">
                <a:solidFill>
                  <a:srgbClr val="231C21"/>
                </a:solidFill>
              </a:rPr>
              <a:t>«Scopri la guida dell’iniziativa» per avere qualche dettaglio in più e la mail di contatto</a:t>
            </a:r>
            <a:endParaRPr lang="it-IT" sz="1400" b="0" i="0" dirty="0">
              <a:solidFill>
                <a:srgbClr val="231C21"/>
              </a:solidFill>
            </a:endParaRPr>
          </a:p>
          <a:p>
            <a:pPr marL="228600" indent="-228600" algn="l">
              <a:lnSpc>
                <a:spcPct val="100000"/>
              </a:lnSpc>
              <a:spcBef>
                <a:spcPts val="500"/>
              </a:spcBef>
              <a:buClr>
                <a:srgbClr val="6C0850"/>
              </a:buClr>
              <a:buFont typeface="Arial"/>
              <a:buChar char="•"/>
            </a:pPr>
            <a:endParaRPr lang="it-IT" sz="1400" dirty="0">
              <a:solidFill>
                <a:srgbClr val="231C21"/>
              </a:solidFill>
            </a:endParaRPr>
          </a:p>
          <a:p>
            <a:pPr>
              <a:spcBef>
                <a:spcPts val="900"/>
              </a:spcBef>
              <a:buClr>
                <a:srgbClr val="6C0850"/>
              </a:buClr>
            </a:pPr>
            <a:r>
              <a:rPr lang="it-IT" sz="1100" dirty="0">
                <a:solidFill>
                  <a:srgbClr val="6B6168"/>
                </a:solidFill>
              </a:rPr>
              <a:t>Gravità 2: Questi problemi impattano un numero ridotto di utenti dato che la piattaforma si occupa solamente di crowdfunding e che, probabilmente, i ricercatori di UniTo avranno ricevuto dettagli aggiuntivi per aderire all’iniziativa</a:t>
            </a:r>
          </a:p>
        </p:txBody>
      </p:sp>
      <p:sp>
        <p:nvSpPr>
          <p:cNvPr id="13" name="Possibile soluzione"/>
          <p:cNvSpPr/>
          <p:nvPr/>
        </p:nvSpPr>
        <p:spPr>
          <a:xfrm>
            <a:off x="609600" y="4394200"/>
            <a:ext cx="5130800" cy="1727200"/>
          </a:xfrm>
          <a:prstGeom prst="rect">
            <a:avLst/>
          </a:prstGeom>
          <a:solidFill>
            <a:srgbClr val="F3EEF1"/>
          </a:solidFill>
          <a:ln>
            <a:noFill/>
          </a:ln>
        </p:spPr>
        <p:txBody>
          <a:bodyPr wrap="square" lIns="152400" tIns="152400" rIns="152400" bIns="152400" anchor="t">
            <a:noAutofit/>
          </a:bodyPr>
          <a:lstStyle/>
          <a:p>
            <a:pPr marL="0" indent="0" algn="l">
              <a:lnSpc>
                <a:spcPct val="100000"/>
              </a:lnSpc>
              <a:spcBef>
                <a:spcPts val="0"/>
              </a:spcBef>
              <a:buNone/>
            </a:pPr>
            <a:r>
              <a:rPr lang="it-IT" sz="1400" b="1" i="0" dirty="0">
                <a:solidFill>
                  <a:srgbClr val="6C0850"/>
                </a:solidFill>
              </a:rPr>
              <a:t>Possibile soluzione</a:t>
            </a:r>
          </a:p>
          <a:p>
            <a:pPr marL="0" indent="0" algn="l">
              <a:lnSpc>
                <a:spcPct val="100000"/>
              </a:lnSpc>
              <a:spcBef>
                <a:spcPts val="400"/>
              </a:spcBef>
              <a:buNone/>
            </a:pPr>
            <a:r>
              <a:rPr lang="it-IT" sz="1400" b="0" i="0" dirty="0">
                <a:solidFill>
                  <a:srgbClr val="231C21"/>
                </a:solidFill>
              </a:rPr>
              <a:t>Aggiungere direttamente sul sito la mail di contatto ufficiale di UniTo per l’iniziativa e aggiungere una sezione che spieghi, anche in maniera sintetica, come funziona la selezione dei progetti che partecipano all’iniziativa</a:t>
            </a:r>
          </a:p>
        </p:txBody>
      </p:sp>
      <p:sp>
        <p:nvSpPr>
          <p:cNvPr id="15" name="Pagine e task"/>
          <p:cNvSpPr/>
          <p:nvPr/>
        </p:nvSpPr>
        <p:spPr>
          <a:xfrm>
            <a:off x="609600" y="6273800"/>
            <a:ext cx="10972800" cy="381000"/>
          </a:xfrm>
          <a:prstGeom prst="rect">
            <a:avLst/>
          </a:prstGeom>
          <a:noFill/>
          <a:ln>
            <a:noFill/>
          </a:ln>
        </p:spPr>
        <p:txBody>
          <a:bodyPr wrap="square" lIns="0" tIns="0" rIns="0" bIns="0" anchor="b">
            <a:noAutofit/>
          </a:bodyPr>
          <a:lstStyle/>
          <a:p>
            <a:pPr marL="0" indent="0" algn="l">
              <a:lnSpc>
                <a:spcPct val="100000"/>
              </a:lnSpc>
              <a:spcBef>
                <a:spcPts val="0"/>
              </a:spcBef>
              <a:buNone/>
            </a:pPr>
            <a:r>
              <a:rPr lang="it-IT" sz="1000" b="1" i="0" dirty="0">
                <a:solidFill>
                  <a:srgbClr val="6B6168"/>
                </a:solidFill>
              </a:rPr>
              <a:t>Pagine:</a:t>
            </a:r>
            <a:r>
              <a:rPr lang="it-IT" sz="1000" b="0" i="0" dirty="0">
                <a:solidFill>
                  <a:srgbClr val="6B6168"/>
                </a:solidFill>
              </a:rPr>
              <a:t> Partner UniTo › </a:t>
            </a:r>
            <a:r>
              <a:rPr lang="it-IT" sz="1000" b="1" i="0" dirty="0">
                <a:solidFill>
                  <a:srgbClr val="6B6168"/>
                </a:solidFill>
              </a:rPr>
              <a:t>Task:</a:t>
            </a:r>
            <a:r>
              <a:rPr lang="it-IT" sz="1000" b="0" i="0" dirty="0">
                <a:solidFill>
                  <a:srgbClr val="6B6168"/>
                </a:solidFill>
              </a:rPr>
              <a:t> </a:t>
            </a:r>
            <a:r>
              <a:rPr lang="it-IT" sz="1000" dirty="0">
                <a:solidFill>
                  <a:srgbClr val="6B6168"/>
                </a:solidFill>
              </a:rPr>
              <a:t>T7</a:t>
            </a:r>
            <a:endParaRPr lang="it-IT" sz="1000" b="0" i="0" dirty="0">
              <a:solidFill>
                <a:srgbClr val="6B6168"/>
              </a:solidFill>
            </a:endParaRPr>
          </a:p>
        </p:txBody>
      </p:sp>
      <p:pic>
        <p:nvPicPr>
          <p:cNvPr id="4" name="Immagine 3">
            <a:extLst>
              <a:ext uri="{FF2B5EF4-FFF2-40B4-BE49-F238E27FC236}">
                <a16:creationId xmlns:a16="http://schemas.microsoft.com/office/drawing/2014/main" id="{79EA33C7-CCA2-B4E7-B60B-871086B0BEA0}"/>
              </a:ext>
            </a:extLst>
          </p:cNvPr>
          <p:cNvPicPr>
            <a:picLocks noChangeAspect="1"/>
          </p:cNvPicPr>
          <p:nvPr/>
        </p:nvPicPr>
        <p:blipFill>
          <a:blip r:embed="rId2"/>
          <a:stretch>
            <a:fillRect/>
          </a:stretch>
        </p:blipFill>
        <p:spPr>
          <a:xfrm>
            <a:off x="6141424" y="4394199"/>
            <a:ext cx="2969941" cy="1727200"/>
          </a:xfrm>
          <a:prstGeom prst="rect">
            <a:avLst/>
          </a:prstGeom>
        </p:spPr>
      </p:pic>
      <p:pic>
        <p:nvPicPr>
          <p:cNvPr id="6" name="Immagine 5">
            <a:extLst>
              <a:ext uri="{FF2B5EF4-FFF2-40B4-BE49-F238E27FC236}">
                <a16:creationId xmlns:a16="http://schemas.microsoft.com/office/drawing/2014/main" id="{23EF0810-D593-0589-51C7-6E739C21E4AE}"/>
              </a:ext>
            </a:extLst>
          </p:cNvPr>
          <p:cNvPicPr>
            <a:picLocks noChangeAspect="1"/>
          </p:cNvPicPr>
          <p:nvPr/>
        </p:nvPicPr>
        <p:blipFill>
          <a:blip r:embed="rId3"/>
          <a:stretch>
            <a:fillRect/>
          </a:stretch>
        </p:blipFill>
        <p:spPr>
          <a:xfrm>
            <a:off x="6141424" y="1578626"/>
            <a:ext cx="5414628" cy="2663173"/>
          </a:xfrm>
          <a:prstGeom prst="rect">
            <a:avLst/>
          </a:prstGeom>
        </p:spPr>
      </p:pic>
    </p:spTree>
    <p:extLst>
      <p:ext uri="{BB962C8B-B14F-4D97-AF65-F5344CB8AC3E}">
        <p14:creationId xmlns:p14="http://schemas.microsoft.com/office/powerpoint/2010/main" val="285895639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54DA8CEB-DE7D-ADD3-24E4-0C971F0CED60}"/>
              </a:ext>
            </a:extLst>
          </p:cNvPr>
          <p:cNvSpPr>
            <a:spLocks noGrp="1"/>
          </p:cNvSpPr>
          <p:nvPr>
            <p:ph type="title"/>
          </p:nvPr>
        </p:nvSpPr>
        <p:spPr>
          <a:xfrm>
            <a:off x="609600" y="342900"/>
            <a:ext cx="10972800" cy="1016000"/>
          </a:xfrm>
        </p:spPr>
        <p:txBody>
          <a:bodyPr/>
          <a:lstStyle/>
          <a:p>
            <a:r>
              <a:rPr lang="it-IT" dirty="0"/>
              <a:t>Dalla scheda Progetti si apre la pagina di un progetto attivo: Mind the Climate</a:t>
            </a:r>
          </a:p>
        </p:txBody>
      </p:sp>
      <p:sp>
        <p:nvSpPr>
          <p:cNvPr id="10" name="Scheda Progetti"/>
          <p:cNvSpPr/>
          <p:nvPr/>
        </p:nvSpPr>
        <p:spPr>
          <a:xfrm>
            <a:off x="609600" y="1727200"/>
            <a:ext cx="3175000" cy="1397000"/>
          </a:xfrm>
          <a:prstGeom prst="roundRect">
            <a:avLst/>
          </a:prstGeom>
          <a:solidFill>
            <a:srgbClr val="F3EEF1"/>
          </a:solidFill>
          <a:ln w="15875">
            <a:solidFill>
              <a:srgbClr val="6C0850"/>
            </a:solidFill>
          </a:ln>
        </p:spPr>
        <p:txBody>
          <a:bodyPr wrap="square" lIns="177800" tIns="177800" rIns="177800" bIns="177800" anchor="ctr">
            <a:noAutofit/>
          </a:bodyPr>
          <a:lstStyle/>
          <a:p>
            <a:pPr marL="0" indent="0" algn="l">
              <a:spcBef>
                <a:spcPts val="0"/>
              </a:spcBef>
              <a:buNone/>
            </a:pPr>
            <a:r>
              <a:rPr lang="it-IT" sz="1100" b="1" dirty="0">
                <a:solidFill>
                  <a:srgbClr val="6C0850"/>
                </a:solidFill>
              </a:rPr>
              <a:t>SCHEDA 2</a:t>
            </a:r>
          </a:p>
          <a:p>
            <a:pPr marL="0" indent="0" algn="l">
              <a:spcBef>
                <a:spcPts val="200"/>
              </a:spcBef>
              <a:buNone/>
            </a:pPr>
            <a:r>
              <a:rPr lang="it-IT" sz="2000" b="1" dirty="0">
                <a:solidFill>
                  <a:srgbClr val="41002F"/>
                </a:solidFill>
              </a:rPr>
              <a:t>Progetti</a:t>
            </a:r>
          </a:p>
          <a:p>
            <a:pPr marL="0" indent="0" algn="l">
              <a:spcBef>
                <a:spcPts val="200"/>
              </a:spcBef>
              <a:buNone/>
            </a:pPr>
            <a:r>
              <a:rPr lang="it-IT" sz="1400" b="0" dirty="0">
                <a:solidFill>
                  <a:srgbClr val="231C21"/>
                </a:solidFill>
              </a:rPr>
              <a:t>Elenco delle 18 campagne UniTo</a:t>
            </a:r>
          </a:p>
        </p:txBody>
      </p:sp>
      <p:cxnSp>
        <p:nvCxnSpPr>
          <p:cNvPr id="11" name="Freccia"/>
          <p:cNvCxnSpPr/>
          <p:nvPr/>
        </p:nvCxnSpPr>
        <p:spPr>
          <a:xfrm>
            <a:off x="3886200" y="2425700"/>
            <a:ext cx="4419600" cy="0"/>
          </a:xfrm>
          <a:prstGeom prst="straightConnector1">
            <a:avLst/>
          </a:prstGeom>
          <a:ln w="22225">
            <a:solidFill>
              <a:srgbClr val="6C0850"/>
            </a:solidFill>
            <a:tailEnd type="triangle" w="med" len="med"/>
          </a:ln>
        </p:spPr>
      </p:cxnSp>
      <p:sp>
        <p:nvSpPr>
          <p:cNvPr id="12" name="Azione"/>
          <p:cNvSpPr/>
          <p:nvPr/>
        </p:nvSpPr>
        <p:spPr>
          <a:xfrm>
            <a:off x="3987800" y="1574800"/>
            <a:ext cx="4216400" cy="762000"/>
          </a:xfrm>
          <a:prstGeom prst="rect">
            <a:avLst/>
          </a:prstGeom>
          <a:noFill/>
          <a:ln>
            <a:noFill/>
          </a:ln>
        </p:spPr>
        <p:txBody>
          <a:bodyPr wrap="square" lIns="0" tIns="0" rIns="0" bIns="0" anchor="b">
            <a:noAutofit/>
          </a:bodyPr>
          <a:lstStyle/>
          <a:p>
            <a:pPr marL="0" indent="0" algn="ctr">
              <a:spcBef>
                <a:spcPts val="0"/>
              </a:spcBef>
              <a:buNone/>
            </a:pPr>
            <a:r>
              <a:rPr lang="it-IT" sz="1400" b="1" dirty="0">
                <a:solidFill>
                  <a:srgbClr val="6C0850"/>
                </a:solidFill>
              </a:rPr>
              <a:t>Clic su una card «in corso»</a:t>
            </a:r>
          </a:p>
        </p:txBody>
      </p:sp>
      <p:sp>
        <p:nvSpPr>
          <p:cNvPr id="13" name="Ritorno"/>
          <p:cNvSpPr/>
          <p:nvPr/>
        </p:nvSpPr>
        <p:spPr>
          <a:xfrm>
            <a:off x="3987800" y="2540000"/>
            <a:ext cx="4216400" cy="584200"/>
          </a:xfrm>
          <a:prstGeom prst="rect">
            <a:avLst/>
          </a:prstGeom>
          <a:noFill/>
          <a:ln>
            <a:noFill/>
          </a:ln>
        </p:spPr>
        <p:txBody>
          <a:bodyPr wrap="square" lIns="0" tIns="0" rIns="0" bIns="0" anchor="t">
            <a:noAutofit/>
          </a:bodyPr>
          <a:lstStyle/>
          <a:p>
            <a:pPr marL="0" indent="0" algn="ctr">
              <a:spcBef>
                <a:spcPts val="0"/>
              </a:spcBef>
              <a:buNone/>
            </a:pPr>
            <a:r>
              <a:rPr lang="it-IT" sz="1400" b="0" dirty="0">
                <a:solidFill>
                  <a:srgbClr val="231C21"/>
                </a:solidFill>
              </a:rPr>
              <a:t>Si torna indietro con il breadcrumb</a:t>
            </a:r>
          </a:p>
        </p:txBody>
      </p:sp>
      <p:sp>
        <p:nvSpPr>
          <p:cNvPr id="14" name="Pagina MTC"/>
          <p:cNvSpPr/>
          <p:nvPr/>
        </p:nvSpPr>
        <p:spPr>
          <a:xfrm>
            <a:off x="8407400" y="1727200"/>
            <a:ext cx="3175000" cy="1397000"/>
          </a:xfrm>
          <a:prstGeom prst="roundRect">
            <a:avLst/>
          </a:prstGeom>
          <a:solidFill>
            <a:srgbClr val="6C0850"/>
          </a:solidFill>
          <a:ln>
            <a:noFill/>
          </a:ln>
        </p:spPr>
        <p:txBody>
          <a:bodyPr wrap="square" lIns="177800" tIns="177800" rIns="177800" bIns="177800" anchor="ctr">
            <a:noAutofit/>
          </a:bodyPr>
          <a:lstStyle/>
          <a:p>
            <a:pPr marL="0" indent="0" algn="l">
              <a:spcBef>
                <a:spcPts val="0"/>
              </a:spcBef>
              <a:buNone/>
            </a:pPr>
            <a:r>
              <a:rPr lang="it-IT" sz="1100" b="1" dirty="0">
                <a:solidFill>
                  <a:srgbClr val="E9DCE5"/>
                </a:solidFill>
              </a:rPr>
              <a:t>PAGINA PROGETTO</a:t>
            </a:r>
          </a:p>
          <a:p>
            <a:pPr marL="0" indent="0" algn="l">
              <a:spcBef>
                <a:spcPts val="200"/>
              </a:spcBef>
              <a:buNone/>
            </a:pPr>
            <a:r>
              <a:rPr lang="it-IT" sz="2000" b="1" dirty="0">
                <a:solidFill>
                  <a:srgbClr val="FFFFFF"/>
                </a:solidFill>
              </a:rPr>
              <a:t>Mind the Climate</a:t>
            </a:r>
          </a:p>
          <a:p>
            <a:pPr marL="0" indent="0" algn="l">
              <a:spcBef>
                <a:spcPts val="200"/>
              </a:spcBef>
              <a:buNone/>
            </a:pPr>
            <a:r>
              <a:rPr lang="it-IT" sz="1400" b="0" dirty="0">
                <a:solidFill>
                  <a:srgbClr val="FFFFFF"/>
                </a:solidFill>
              </a:rPr>
              <a:t>App su clima e salute mentale</a:t>
            </a:r>
          </a:p>
        </p:txBody>
      </p:sp>
      <p:sp>
        <p:nvSpPr>
          <p:cNvPr id="15" name="Struttura pagina"/>
          <p:cNvSpPr/>
          <p:nvPr/>
        </p:nvSpPr>
        <p:spPr>
          <a:xfrm>
            <a:off x="609600" y="3454400"/>
            <a:ext cx="5130800" cy="2692400"/>
          </a:xfrm>
          <a:prstGeom prst="rect">
            <a:avLst/>
          </a:prstGeom>
          <a:noFill/>
          <a:ln>
            <a:noFill/>
          </a:ln>
        </p:spPr>
        <p:txBody>
          <a:bodyPr wrap="square" lIns="0" tIns="0" rIns="0" bIns="0" anchor="t">
            <a:noAutofit/>
          </a:bodyPr>
          <a:lstStyle/>
          <a:p>
            <a:pPr marL="0" indent="0" algn="l">
              <a:spcBef>
                <a:spcPts val="0"/>
              </a:spcBef>
              <a:buNone/>
            </a:pPr>
            <a:r>
              <a:rPr lang="it-IT" sz="1400" b="1" dirty="0">
                <a:solidFill>
                  <a:srgbClr val="6C0850"/>
                </a:solidFill>
              </a:rPr>
              <a:t>Cosa contiene la pagina, dall’alto</a:t>
            </a:r>
          </a:p>
          <a:p>
            <a:pPr marL="228600" indent="-228600" algn="l">
              <a:spcBef>
                <a:spcPts val="500"/>
              </a:spcBef>
              <a:buClr>
                <a:srgbClr val="6C0850"/>
              </a:buClr>
              <a:buFont typeface="+mj-lt"/>
              <a:buAutoNum type="arabicPeriod"/>
            </a:pPr>
            <a:r>
              <a:rPr lang="it-IT" sz="1400" b="0" dirty="0">
                <a:solidFill>
                  <a:srgbClr val="231C21"/>
                </a:solidFill>
              </a:rPr>
              <a:t>Breadcrumb, titolo, proponente, </a:t>
            </a:r>
            <a:r>
              <a:rPr lang="it-IT" sz="1400" b="1" dirty="0">
                <a:solidFill>
                  <a:srgbClr val="231C21"/>
                </a:solidFill>
              </a:rPr>
              <a:t>scadenza 18/11/2026</a:t>
            </a:r>
            <a:r>
              <a:rPr lang="it-IT" sz="1400" b="0" dirty="0">
                <a:solidFill>
                  <a:srgbClr val="231C21"/>
                </a:solidFill>
              </a:rPr>
              <a:t>, video</a:t>
            </a:r>
          </a:p>
          <a:p>
            <a:pPr marL="228600" indent="-228600" algn="l">
              <a:spcBef>
                <a:spcPts val="300"/>
              </a:spcBef>
              <a:buClr>
                <a:srgbClr val="6C0850"/>
              </a:buClr>
              <a:buFont typeface="+mj-lt"/>
              <a:buAutoNum type="arabicPeriod"/>
            </a:pPr>
            <a:r>
              <a:rPr lang="it-IT" sz="1400" b="0" dirty="0">
                <a:solidFill>
                  <a:srgbClr val="231C21"/>
                </a:solidFill>
              </a:rPr>
              <a:t>Box di stato: </a:t>
            </a:r>
            <a:r>
              <a:rPr lang="it-IT" sz="1400" b="1" dirty="0">
                <a:solidFill>
                  <a:srgbClr val="231C21"/>
                </a:solidFill>
              </a:rPr>
              <a:t>38% · € 2.690 su € 7.000 · 97 sostenitori</a:t>
            </a:r>
          </a:p>
          <a:p>
            <a:pPr marL="228600" indent="-228600" algn="l">
              <a:spcBef>
                <a:spcPts val="300"/>
              </a:spcBef>
              <a:buClr>
                <a:srgbClr val="6C0850"/>
              </a:buClr>
              <a:buFont typeface="+mj-lt"/>
              <a:buAutoNum type="arabicPeriod"/>
            </a:pPr>
            <a:r>
              <a:rPr lang="it-IT" sz="1400" b="0" dirty="0">
                <a:solidFill>
                  <a:srgbClr val="231C21"/>
                </a:solidFill>
              </a:rPr>
              <a:t>Schede Progetto · News · Commenti · Sostenitori · Condividi</a:t>
            </a:r>
          </a:p>
          <a:p>
            <a:pPr marL="228600" indent="-228600" algn="l">
              <a:spcBef>
                <a:spcPts val="300"/>
              </a:spcBef>
              <a:buClr>
                <a:srgbClr val="6C0850"/>
              </a:buClr>
              <a:buFont typeface="+mj-lt"/>
              <a:buAutoNum type="arabicPeriod"/>
            </a:pPr>
            <a:r>
              <a:rPr lang="it-IT" sz="1400" b="0" dirty="0">
                <a:solidFill>
                  <a:srgbClr val="231C21"/>
                </a:solidFill>
              </a:rPr>
              <a:t>Descrizione a domande e risposte, infografiche, budget</a:t>
            </a:r>
          </a:p>
          <a:p>
            <a:pPr marL="228600" indent="-228600" algn="l">
              <a:spcBef>
                <a:spcPts val="300"/>
              </a:spcBef>
              <a:buClr>
                <a:srgbClr val="6C0850"/>
              </a:buClr>
              <a:buFont typeface="+mj-lt"/>
              <a:buAutoNum type="arabicPeriod"/>
            </a:pPr>
            <a:r>
              <a:rPr lang="it-IT" sz="1400" b="1" dirty="0">
                <a:solidFill>
                  <a:srgbClr val="231C21"/>
                </a:solidFill>
              </a:rPr>
              <a:t>10 ricompense</a:t>
            </a:r>
            <a:r>
              <a:rPr lang="it-IT" sz="1400" b="0" dirty="0">
                <a:solidFill>
                  <a:srgbClr val="231C21"/>
                </a:solidFill>
              </a:rPr>
              <a:t>, team e «Contatta il progettista»</a:t>
            </a:r>
          </a:p>
        </p:txBody>
      </p:sp>
      <p:sp>
        <p:nvSpPr>
          <p:cNvPr id="16" name="Segnaposto screenshot MTC"/>
          <p:cNvSpPr/>
          <p:nvPr/>
        </p:nvSpPr>
        <p:spPr>
          <a:xfrm>
            <a:off x="6045200" y="3454400"/>
            <a:ext cx="5537200" cy="2692400"/>
          </a:xfrm>
          <a:prstGeom prst="rect">
            <a:avLst/>
          </a:prstGeom>
          <a:solidFill>
            <a:srgbClr val="F7F4F6"/>
          </a:solidFill>
          <a:ln w="15875">
            <a:solidFill>
              <a:srgbClr val="B07A9F"/>
            </a:solidFill>
            <a:prstDash val="dash"/>
          </a:ln>
        </p:spPr>
        <p:txBody>
          <a:bodyPr wrap="square" lIns="127000" tIns="127000" rIns="127000" bIns="127000" anchor="ctr">
            <a:noAutofit/>
          </a:bodyPr>
          <a:lstStyle/>
          <a:p>
            <a:pPr marL="0" indent="0" algn="ctr">
              <a:spcBef>
                <a:spcPts val="0"/>
              </a:spcBef>
              <a:buNone/>
            </a:pPr>
            <a:r>
              <a:rPr lang="it-IT" sz="1200" b="1" dirty="0">
                <a:solidFill>
                  <a:srgbClr val="6C0850"/>
                </a:solidFill>
              </a:rPr>
              <a:t>[ SCREENSHOT DA FARE ]</a:t>
            </a:r>
          </a:p>
          <a:p>
            <a:pPr marL="0" indent="0" algn="ctr">
              <a:spcBef>
                <a:spcPts val="400"/>
              </a:spcBef>
              <a:buNone/>
            </a:pPr>
            <a:r>
              <a:rPr lang="it-IT" sz="1400" b="1" dirty="0">
                <a:solidFill>
                  <a:srgbClr val="231C21"/>
                </a:solidFill>
              </a:rPr>
              <a:t>Mind the Climate, prima schermata con il box di stato</a:t>
            </a:r>
          </a:p>
          <a:p>
            <a:pPr marL="0" indent="0" algn="ctr">
              <a:spcBef>
                <a:spcPts val="300"/>
              </a:spcBef>
              <a:buNone/>
            </a:pPr>
            <a:r>
              <a:rPr lang="it-IT" sz="900" b="0" dirty="0">
                <a:solidFill>
                  <a:srgbClr val="6B6168"/>
                </a:solidFill>
              </a:rPr>
              <a:t>Salvare in /Users/andreock/Desktop/hci_gruppo_a/assignment1/parti/antofallea/src/</a:t>
            </a:r>
          </a:p>
          <a:p>
            <a:pPr marL="0" indent="0" algn="ctr">
              <a:spcBef>
                <a:spcPts val="300"/>
              </a:spcBef>
              <a:buNone/>
            </a:pPr>
            <a:r>
              <a:rPr lang="it-IT" sz="1000" b="0" dirty="0">
                <a:solidFill>
                  <a:srgbClr val="6B6168"/>
                </a:solidFill>
              </a:rPr>
              <a:t>/progetti/mind-the-climate.html · analisi del 12/10/2026</a:t>
            </a:r>
          </a:p>
        </p:txBody>
      </p:sp>
    </p:spTree>
    <p:extLst>
      <p:ext uri="{BB962C8B-B14F-4D97-AF65-F5344CB8AC3E}">
        <p14:creationId xmlns:p14="http://schemas.microsoft.com/office/powerpoint/2010/main" val="61651367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63BC906D-F1F5-42C4-7288-C1FAD208E775}"/>
              </a:ext>
            </a:extLst>
          </p:cNvPr>
          <p:cNvSpPr>
            <a:spLocks noGrp="1"/>
          </p:cNvSpPr>
          <p:nvPr>
            <p:ph type="title"/>
          </p:nvPr>
        </p:nvSpPr>
        <p:spPr>
          <a:xfrm>
            <a:off x="609600" y="558800"/>
            <a:ext cx="8991600" cy="889000"/>
          </a:xfrm>
        </p:spPr>
        <p:txBody>
          <a:bodyPr anchor="t"/>
          <a:lstStyle/>
          <a:p>
            <a:pPr>
              <a:lnSpc>
                <a:spcPct val="90000"/>
              </a:lnSpc>
            </a:pPr>
            <a:r>
              <a:rPr lang="it-IT" sz="2600" b="1" dirty="0"/>
              <a:t>Mind the Climate spiega bene il progetto e guida la scelta della ricompensa</a:t>
            </a:r>
          </a:p>
        </p:txBody>
      </p:sp>
      <p:sp>
        <p:nvSpPr>
          <p:cNvPr id="10" name="Euristica"/>
          <p:cNvSpPr/>
          <p:nvPr/>
        </p:nvSpPr>
        <p:spPr>
          <a:xfrm>
            <a:off x="609600" y="254000"/>
            <a:ext cx="8890000" cy="279400"/>
          </a:xfrm>
          <a:prstGeom prst="rect">
            <a:avLst/>
          </a:prstGeom>
          <a:noFill/>
          <a:ln>
            <a:noFill/>
          </a:ln>
        </p:spPr>
        <p:txBody>
          <a:bodyPr wrap="square" lIns="0" tIns="0" rIns="0" bIns="0" anchor="t">
            <a:noAutofit/>
          </a:bodyPr>
          <a:lstStyle/>
          <a:p>
            <a:pPr marL="0" indent="0" algn="l">
              <a:spcBef>
                <a:spcPts val="0"/>
              </a:spcBef>
              <a:buNone/>
            </a:pPr>
            <a:r>
              <a:rPr lang="it-IT" sz="1200" b="1" dirty="0">
                <a:solidFill>
                  <a:srgbClr val="6C0850"/>
                </a:solidFill>
              </a:rPr>
              <a:t>ASPETTI POSITIVI · H1, H2, H3, H4, H5, H7, H8, H9, H10</a:t>
            </a:r>
          </a:p>
        </p:txBody>
      </p:sp>
      <p:sp>
        <p:nvSpPr>
          <p:cNvPr id="11" name="Badge gravità"/>
          <p:cNvSpPr/>
          <p:nvPr/>
        </p:nvSpPr>
        <p:spPr>
          <a:xfrm>
            <a:off x="9855200" y="381000"/>
            <a:ext cx="1727200" cy="736600"/>
          </a:xfrm>
          <a:prstGeom prst="roundRect">
            <a:avLst/>
          </a:prstGeom>
          <a:solidFill>
            <a:srgbClr val="D9D9D9"/>
          </a:solidFill>
          <a:ln>
            <a:noFill/>
          </a:ln>
        </p:spPr>
        <p:txBody>
          <a:bodyPr wrap="square" lIns="0" tIns="0" rIns="0" bIns="0" anchor="ctr">
            <a:noAutofit/>
          </a:bodyPr>
          <a:lstStyle/>
          <a:p>
            <a:pPr marL="0" indent="0" algn="ctr">
              <a:spcBef>
                <a:spcPts val="0"/>
              </a:spcBef>
              <a:buNone/>
            </a:pPr>
            <a:r>
              <a:rPr lang="it-IT" sz="1000" b="1" dirty="0">
                <a:solidFill>
                  <a:srgbClr val="231C21"/>
                </a:solidFill>
              </a:rPr>
              <a:t>GRAVITÀ</a:t>
            </a:r>
          </a:p>
          <a:p>
            <a:pPr marL="0" indent="0" algn="ctr">
              <a:spcBef>
                <a:spcPts val="0"/>
              </a:spcBef>
              <a:buNone/>
            </a:pPr>
            <a:r>
              <a:rPr lang="it-IT" sz="1400" b="1" dirty="0">
                <a:solidFill>
                  <a:srgbClr val="231C21"/>
                </a:solidFill>
              </a:rPr>
              <a:t>0 </a:t>
            </a:r>
            <a:r>
              <a:rPr lang="it-IT" sz="1400" b="1">
                <a:solidFill>
                  <a:srgbClr val="231C21"/>
                </a:solidFill>
              </a:rPr>
              <a:t>· Nessun problema</a:t>
            </a:r>
            <a:endParaRPr lang="it-IT" sz="1400" b="1" dirty="0">
              <a:solidFill>
                <a:srgbClr val="231C21"/>
              </a:solidFill>
            </a:endParaRPr>
          </a:p>
        </p:txBody>
      </p:sp>
      <p:sp>
        <p:nvSpPr>
          <p:cNvPr id="12" name="Tag H1"/>
          <p:cNvSpPr/>
          <p:nvPr/>
        </p:nvSpPr>
        <p:spPr>
          <a:xfrm>
            <a:off x="609600" y="1676400"/>
            <a:ext cx="660400" cy="330200"/>
          </a:xfrm>
          <a:prstGeom prst="roundRect">
            <a:avLst/>
          </a:prstGeom>
          <a:solidFill>
            <a:srgbClr val="E9DCE5"/>
          </a:solidFill>
          <a:ln>
            <a:noFill/>
          </a:ln>
        </p:spPr>
        <p:txBody>
          <a:bodyPr wrap="square" lIns="0" tIns="0" rIns="0" bIns="0" anchor="ctr">
            <a:noAutofit/>
          </a:bodyPr>
          <a:lstStyle/>
          <a:p>
            <a:pPr marL="0" indent="0" algn="ctr">
              <a:spcBef>
                <a:spcPts val="0"/>
              </a:spcBef>
              <a:buNone/>
            </a:pPr>
            <a:r>
              <a:rPr lang="it-IT" sz="1200" b="1" dirty="0">
                <a:solidFill>
                  <a:srgbClr val="41002F"/>
                </a:solidFill>
              </a:rPr>
              <a:t>H1</a:t>
            </a:r>
          </a:p>
        </p:txBody>
      </p:sp>
      <p:sp>
        <p:nvSpPr>
          <p:cNvPr id="13" name="Positivo H1"/>
          <p:cNvSpPr/>
          <p:nvPr/>
        </p:nvSpPr>
        <p:spPr>
          <a:xfrm>
            <a:off x="1473200" y="1625600"/>
            <a:ext cx="10109200" cy="457200"/>
          </a:xfrm>
          <a:prstGeom prst="rect">
            <a:avLst/>
          </a:prstGeom>
          <a:noFill/>
          <a:ln>
            <a:noFill/>
          </a:ln>
        </p:spPr>
        <p:txBody>
          <a:bodyPr wrap="square" lIns="0" tIns="0" rIns="0" bIns="0" anchor="ctr">
            <a:noAutofit/>
          </a:bodyPr>
          <a:lstStyle/>
          <a:p>
            <a:pPr marL="0" indent="0" algn="l">
              <a:spcBef>
                <a:spcPts val="0"/>
              </a:spcBef>
              <a:buNone/>
            </a:pPr>
            <a:r>
              <a:rPr lang="it-IT" sz="1400" b="0" dirty="0">
                <a:solidFill>
                  <a:srgbClr val="231C21"/>
                </a:solidFill>
              </a:rPr>
              <a:t>Box di stato completo e </a:t>
            </a:r>
            <a:r>
              <a:rPr lang="it-IT" sz="1400" b="1" dirty="0">
                <a:solidFill>
                  <a:srgbClr val="231C21"/>
                </a:solidFill>
              </a:rPr>
              <a:t>scadenza esplicita</a:t>
            </a:r>
            <a:r>
              <a:rPr lang="it-IT" sz="1400" b="0" dirty="0">
                <a:solidFill>
                  <a:srgbClr val="231C21"/>
                </a:solidFill>
              </a:rPr>
              <a:t>; ogni scheda mostra quanti elementi contiene e quella attiva è evidenziata</a:t>
            </a:r>
          </a:p>
        </p:txBody>
      </p:sp>
      <p:sp>
        <p:nvSpPr>
          <p:cNvPr id="14" name="Tag H2"/>
          <p:cNvSpPr/>
          <p:nvPr/>
        </p:nvSpPr>
        <p:spPr>
          <a:xfrm>
            <a:off x="609600" y="2184400"/>
            <a:ext cx="660400" cy="330200"/>
          </a:xfrm>
          <a:prstGeom prst="roundRect">
            <a:avLst/>
          </a:prstGeom>
          <a:solidFill>
            <a:srgbClr val="E9DCE5"/>
          </a:solidFill>
          <a:ln>
            <a:noFill/>
          </a:ln>
        </p:spPr>
        <p:txBody>
          <a:bodyPr wrap="square" lIns="0" tIns="0" rIns="0" bIns="0" anchor="ctr">
            <a:noAutofit/>
          </a:bodyPr>
          <a:lstStyle/>
          <a:p>
            <a:pPr marL="0" indent="0" algn="ctr">
              <a:spcBef>
                <a:spcPts val="0"/>
              </a:spcBef>
              <a:buNone/>
            </a:pPr>
            <a:r>
              <a:rPr lang="it-IT" sz="1200" b="1" dirty="0">
                <a:solidFill>
                  <a:srgbClr val="41002F"/>
                </a:solidFill>
              </a:rPr>
              <a:t>H2</a:t>
            </a:r>
          </a:p>
        </p:txBody>
      </p:sp>
      <p:sp>
        <p:nvSpPr>
          <p:cNvPr id="15" name="Positivo H2"/>
          <p:cNvSpPr/>
          <p:nvPr/>
        </p:nvSpPr>
        <p:spPr>
          <a:xfrm>
            <a:off x="1473200" y="2133600"/>
            <a:ext cx="10109200" cy="457200"/>
          </a:xfrm>
          <a:prstGeom prst="rect">
            <a:avLst/>
          </a:prstGeom>
          <a:noFill/>
          <a:ln>
            <a:noFill/>
          </a:ln>
        </p:spPr>
        <p:txBody>
          <a:bodyPr wrap="square" lIns="0" tIns="0" rIns="0" bIns="0" anchor="ctr">
            <a:noAutofit/>
          </a:bodyPr>
          <a:lstStyle/>
          <a:p>
            <a:pPr marL="0" indent="0" algn="l">
              <a:spcBef>
                <a:spcPts val="0"/>
              </a:spcBef>
              <a:buNone/>
            </a:pPr>
            <a:r>
              <a:rPr lang="it-IT" sz="1400" b="0" dirty="0">
                <a:solidFill>
                  <a:srgbClr val="231C21"/>
                </a:solidFill>
              </a:rPr>
              <a:t>Testo a </a:t>
            </a:r>
            <a:r>
              <a:rPr lang="it-IT" sz="1400" b="1" dirty="0">
                <a:solidFill>
                  <a:srgbClr val="231C21"/>
                </a:solidFill>
              </a:rPr>
              <a:t>domande e risposte</a:t>
            </a:r>
            <a:r>
              <a:rPr lang="it-IT" sz="1400" b="0" dirty="0">
                <a:solidFill>
                  <a:srgbClr val="231C21"/>
                </a:solidFill>
              </a:rPr>
              <a:t> dal punto di vista di chi valuta se donare; ogni livello di sostegno è spiegato</a:t>
            </a:r>
          </a:p>
        </p:txBody>
      </p:sp>
      <p:sp>
        <p:nvSpPr>
          <p:cNvPr id="16" name="Tag H3"/>
          <p:cNvSpPr/>
          <p:nvPr/>
        </p:nvSpPr>
        <p:spPr>
          <a:xfrm>
            <a:off x="609600" y="2692400"/>
            <a:ext cx="660400" cy="330200"/>
          </a:xfrm>
          <a:prstGeom prst="roundRect">
            <a:avLst/>
          </a:prstGeom>
          <a:solidFill>
            <a:srgbClr val="E9DCE5"/>
          </a:solidFill>
          <a:ln>
            <a:noFill/>
          </a:ln>
        </p:spPr>
        <p:txBody>
          <a:bodyPr wrap="square" lIns="0" tIns="0" rIns="0" bIns="0" anchor="ctr">
            <a:noAutofit/>
          </a:bodyPr>
          <a:lstStyle/>
          <a:p>
            <a:pPr marL="0" indent="0" algn="ctr">
              <a:spcBef>
                <a:spcPts val="0"/>
              </a:spcBef>
              <a:buNone/>
            </a:pPr>
            <a:r>
              <a:rPr lang="it-IT" sz="1200" b="1" dirty="0">
                <a:solidFill>
                  <a:srgbClr val="41002F"/>
                </a:solidFill>
              </a:rPr>
              <a:t>H3</a:t>
            </a:r>
          </a:p>
        </p:txBody>
      </p:sp>
      <p:sp>
        <p:nvSpPr>
          <p:cNvPr id="17" name="Positivo H3"/>
          <p:cNvSpPr/>
          <p:nvPr/>
        </p:nvSpPr>
        <p:spPr>
          <a:xfrm>
            <a:off x="1473200" y="2641600"/>
            <a:ext cx="10109200" cy="457200"/>
          </a:xfrm>
          <a:prstGeom prst="rect">
            <a:avLst/>
          </a:prstGeom>
          <a:noFill/>
          <a:ln>
            <a:noFill/>
          </a:ln>
        </p:spPr>
        <p:txBody>
          <a:bodyPr wrap="square" lIns="0" tIns="0" rIns="0" bIns="0" anchor="ctr">
            <a:noAutofit/>
          </a:bodyPr>
          <a:lstStyle/>
          <a:p>
            <a:pPr marL="0" indent="0" algn="l">
              <a:spcBef>
                <a:spcPts val="0"/>
              </a:spcBef>
              <a:buNone/>
            </a:pPr>
            <a:r>
              <a:rPr lang="it-IT" sz="1400" b="1" dirty="0">
                <a:solidFill>
                  <a:srgbClr val="231C21"/>
                </a:solidFill>
              </a:rPr>
              <a:t>Breadcrumb</a:t>
            </a:r>
            <a:r>
              <a:rPr lang="it-IT" sz="1400" b="0" dirty="0">
                <a:solidFill>
                  <a:srgbClr val="231C21"/>
                </a:solidFill>
              </a:rPr>
              <a:t> cliccabile, schede di sezione </a:t>
            </a:r>
            <a:r>
              <a:rPr lang="it-IT" sz="1400" b="1" dirty="0">
                <a:solidFill>
                  <a:srgbClr val="231C21"/>
                </a:solidFill>
              </a:rPr>
              <a:t>sticky</a:t>
            </a:r>
            <a:r>
              <a:rPr lang="it-IT" sz="1400" b="0" dirty="0">
                <a:solidFill>
                  <a:srgbClr val="231C21"/>
                </a:solidFill>
              </a:rPr>
              <a:t>, video controllabile dall’utente</a:t>
            </a:r>
          </a:p>
        </p:txBody>
      </p:sp>
      <p:sp>
        <p:nvSpPr>
          <p:cNvPr id="18" name="Tag H4"/>
          <p:cNvSpPr/>
          <p:nvPr/>
        </p:nvSpPr>
        <p:spPr>
          <a:xfrm>
            <a:off x="609600" y="3200400"/>
            <a:ext cx="660400" cy="330200"/>
          </a:xfrm>
          <a:prstGeom prst="roundRect">
            <a:avLst/>
          </a:prstGeom>
          <a:solidFill>
            <a:srgbClr val="E9DCE5"/>
          </a:solidFill>
          <a:ln>
            <a:noFill/>
          </a:ln>
        </p:spPr>
        <p:txBody>
          <a:bodyPr wrap="square" lIns="0" tIns="0" rIns="0" bIns="0" anchor="ctr">
            <a:noAutofit/>
          </a:bodyPr>
          <a:lstStyle/>
          <a:p>
            <a:pPr marL="0" indent="0" algn="ctr">
              <a:spcBef>
                <a:spcPts val="0"/>
              </a:spcBef>
              <a:buNone/>
            </a:pPr>
            <a:r>
              <a:rPr lang="it-IT" sz="1200" b="1" dirty="0">
                <a:solidFill>
                  <a:srgbClr val="41002F"/>
                </a:solidFill>
              </a:rPr>
              <a:t>H4</a:t>
            </a:r>
          </a:p>
        </p:txBody>
      </p:sp>
      <p:sp>
        <p:nvSpPr>
          <p:cNvPr id="19" name="Positivo H4"/>
          <p:cNvSpPr/>
          <p:nvPr/>
        </p:nvSpPr>
        <p:spPr>
          <a:xfrm>
            <a:off x="1473200" y="3149600"/>
            <a:ext cx="10109200" cy="457200"/>
          </a:xfrm>
          <a:prstGeom prst="rect">
            <a:avLst/>
          </a:prstGeom>
          <a:noFill/>
          <a:ln>
            <a:noFill/>
          </a:ln>
        </p:spPr>
        <p:txBody>
          <a:bodyPr wrap="square" lIns="0" tIns="0" rIns="0" bIns="0" anchor="ctr">
            <a:noAutofit/>
          </a:bodyPr>
          <a:lstStyle/>
          <a:p>
            <a:pPr marL="0" indent="0" algn="l">
              <a:spcBef>
                <a:spcPts val="0"/>
              </a:spcBef>
              <a:buNone/>
            </a:pPr>
            <a:r>
              <a:rPr lang="it-IT" sz="1400" b="0" dirty="0">
                <a:solidFill>
                  <a:srgbClr val="231C21"/>
                </a:solidFill>
              </a:rPr>
              <a:t>Ricompense con </a:t>
            </a:r>
            <a:r>
              <a:rPr lang="it-IT" sz="1400" b="1" dirty="0">
                <a:solidFill>
                  <a:srgbClr val="231C21"/>
                </a:solidFill>
              </a:rPr>
              <a:t>struttura uniforme</a:t>
            </a:r>
            <a:r>
              <a:rPr lang="it-IT" sz="1400" b="0" dirty="0">
                <a:solidFill>
                  <a:srgbClr val="231C21"/>
                </a:solidFill>
              </a:rPr>
              <a:t>, pagina coerente con gli altri progetti</a:t>
            </a:r>
          </a:p>
        </p:txBody>
      </p:sp>
      <p:sp>
        <p:nvSpPr>
          <p:cNvPr id="20" name="Tag H5"/>
          <p:cNvSpPr/>
          <p:nvPr/>
        </p:nvSpPr>
        <p:spPr>
          <a:xfrm>
            <a:off x="609600" y="3708400"/>
            <a:ext cx="660400" cy="330200"/>
          </a:xfrm>
          <a:prstGeom prst="roundRect">
            <a:avLst/>
          </a:prstGeom>
          <a:solidFill>
            <a:srgbClr val="E9DCE5"/>
          </a:solidFill>
          <a:ln>
            <a:noFill/>
          </a:ln>
        </p:spPr>
        <p:txBody>
          <a:bodyPr wrap="square" lIns="0" tIns="0" rIns="0" bIns="0" anchor="ctr">
            <a:noAutofit/>
          </a:bodyPr>
          <a:lstStyle/>
          <a:p>
            <a:pPr marL="0" indent="0" algn="ctr">
              <a:spcBef>
                <a:spcPts val="0"/>
              </a:spcBef>
              <a:buNone/>
            </a:pPr>
            <a:r>
              <a:rPr lang="it-IT" sz="1200" b="1" dirty="0">
                <a:solidFill>
                  <a:srgbClr val="41002F"/>
                </a:solidFill>
              </a:rPr>
              <a:t>H5</a:t>
            </a:r>
          </a:p>
        </p:txBody>
      </p:sp>
      <p:sp>
        <p:nvSpPr>
          <p:cNvPr id="21" name="Positivo H5"/>
          <p:cNvSpPr/>
          <p:nvPr/>
        </p:nvSpPr>
        <p:spPr>
          <a:xfrm>
            <a:off x="1473200" y="3657600"/>
            <a:ext cx="10109200" cy="457200"/>
          </a:xfrm>
          <a:prstGeom prst="rect">
            <a:avLst/>
          </a:prstGeom>
          <a:noFill/>
          <a:ln>
            <a:noFill/>
          </a:ln>
        </p:spPr>
        <p:txBody>
          <a:bodyPr wrap="square" lIns="0" tIns="0" rIns="0" bIns="0" anchor="ctr">
            <a:noAutofit/>
          </a:bodyPr>
          <a:lstStyle/>
          <a:p>
            <a:pPr marL="0" indent="0" algn="l">
              <a:spcBef>
                <a:spcPts val="0"/>
              </a:spcBef>
              <a:buNone/>
            </a:pPr>
            <a:r>
              <a:rPr lang="it-IT" sz="1400" b="0" dirty="0">
                <a:solidFill>
                  <a:srgbClr val="231C21"/>
                </a:solidFill>
              </a:rPr>
              <a:t>Ogni livello impone il proprio </a:t>
            </a:r>
            <a:r>
              <a:rPr lang="it-IT" sz="1400" b="1" dirty="0">
                <a:solidFill>
                  <a:srgbClr val="231C21"/>
                </a:solidFill>
              </a:rPr>
              <a:t>importo minimo</a:t>
            </a:r>
            <a:r>
              <a:rPr lang="it-IT" sz="1400" b="0" dirty="0">
                <a:solidFill>
                  <a:srgbClr val="231C21"/>
                </a:solidFill>
              </a:rPr>
              <a:t>; le ricompense dicono quante ne restano</a:t>
            </a:r>
          </a:p>
        </p:txBody>
      </p:sp>
      <p:sp>
        <p:nvSpPr>
          <p:cNvPr id="22" name="Tag H7"/>
          <p:cNvSpPr/>
          <p:nvPr/>
        </p:nvSpPr>
        <p:spPr>
          <a:xfrm>
            <a:off x="609600" y="4216400"/>
            <a:ext cx="660400" cy="330200"/>
          </a:xfrm>
          <a:prstGeom prst="roundRect">
            <a:avLst/>
          </a:prstGeom>
          <a:solidFill>
            <a:srgbClr val="E9DCE5"/>
          </a:solidFill>
          <a:ln>
            <a:noFill/>
          </a:ln>
        </p:spPr>
        <p:txBody>
          <a:bodyPr wrap="square" lIns="0" tIns="0" rIns="0" bIns="0" anchor="ctr">
            <a:noAutofit/>
          </a:bodyPr>
          <a:lstStyle/>
          <a:p>
            <a:pPr marL="0" indent="0" algn="ctr">
              <a:spcBef>
                <a:spcPts val="0"/>
              </a:spcBef>
              <a:buNone/>
            </a:pPr>
            <a:r>
              <a:rPr lang="it-IT" sz="1200" b="1" dirty="0">
                <a:solidFill>
                  <a:srgbClr val="41002F"/>
                </a:solidFill>
              </a:rPr>
              <a:t>H7</a:t>
            </a:r>
          </a:p>
        </p:txBody>
      </p:sp>
      <p:sp>
        <p:nvSpPr>
          <p:cNvPr id="23" name="Positivo H7"/>
          <p:cNvSpPr/>
          <p:nvPr/>
        </p:nvSpPr>
        <p:spPr>
          <a:xfrm>
            <a:off x="1473200" y="4165600"/>
            <a:ext cx="10109200" cy="457200"/>
          </a:xfrm>
          <a:prstGeom prst="rect">
            <a:avLst/>
          </a:prstGeom>
          <a:noFill/>
          <a:ln>
            <a:noFill/>
          </a:ln>
        </p:spPr>
        <p:txBody>
          <a:bodyPr wrap="square" lIns="0" tIns="0" rIns="0" bIns="0" anchor="ctr">
            <a:noAutofit/>
          </a:bodyPr>
          <a:lstStyle/>
          <a:p>
            <a:pPr marL="0" indent="0" algn="l">
              <a:spcBef>
                <a:spcPts val="0"/>
              </a:spcBef>
              <a:buNone/>
            </a:pPr>
            <a:r>
              <a:rPr lang="it-IT" sz="1400" b="1" dirty="0">
                <a:solidFill>
                  <a:srgbClr val="231C21"/>
                </a:solidFill>
              </a:rPr>
              <a:t>«Copia link»</a:t>
            </a:r>
            <a:r>
              <a:rPr lang="it-IT" sz="1400" b="0" dirty="0">
                <a:solidFill>
                  <a:srgbClr val="231C21"/>
                </a:solidFill>
              </a:rPr>
              <a:t> e condivisione su 9 canali</a:t>
            </a:r>
          </a:p>
        </p:txBody>
      </p:sp>
      <p:sp>
        <p:nvSpPr>
          <p:cNvPr id="24" name="Tag H8"/>
          <p:cNvSpPr/>
          <p:nvPr/>
        </p:nvSpPr>
        <p:spPr>
          <a:xfrm>
            <a:off x="609600" y="4724400"/>
            <a:ext cx="660400" cy="330200"/>
          </a:xfrm>
          <a:prstGeom prst="roundRect">
            <a:avLst/>
          </a:prstGeom>
          <a:solidFill>
            <a:srgbClr val="E9DCE5"/>
          </a:solidFill>
          <a:ln>
            <a:noFill/>
          </a:ln>
        </p:spPr>
        <p:txBody>
          <a:bodyPr wrap="square" lIns="0" tIns="0" rIns="0" bIns="0" anchor="ctr">
            <a:noAutofit/>
          </a:bodyPr>
          <a:lstStyle/>
          <a:p>
            <a:pPr marL="0" indent="0" algn="ctr">
              <a:spcBef>
                <a:spcPts val="0"/>
              </a:spcBef>
              <a:buNone/>
            </a:pPr>
            <a:r>
              <a:rPr lang="it-IT" sz="1200" b="1" dirty="0">
                <a:solidFill>
                  <a:srgbClr val="41002F"/>
                </a:solidFill>
              </a:rPr>
              <a:t>H8</a:t>
            </a:r>
          </a:p>
        </p:txBody>
      </p:sp>
      <p:sp>
        <p:nvSpPr>
          <p:cNvPr id="25" name="Positivo H8"/>
          <p:cNvSpPr/>
          <p:nvPr/>
        </p:nvSpPr>
        <p:spPr>
          <a:xfrm>
            <a:off x="1473200" y="4673600"/>
            <a:ext cx="10109200" cy="457200"/>
          </a:xfrm>
          <a:prstGeom prst="rect">
            <a:avLst/>
          </a:prstGeom>
          <a:noFill/>
          <a:ln>
            <a:noFill/>
          </a:ln>
        </p:spPr>
        <p:txBody>
          <a:bodyPr wrap="square" lIns="0" tIns="0" rIns="0" bIns="0" anchor="ctr">
            <a:noAutofit/>
          </a:bodyPr>
          <a:lstStyle/>
          <a:p>
            <a:pPr marL="0" indent="0" algn="l">
              <a:spcBef>
                <a:spcPts val="0"/>
              </a:spcBef>
              <a:buNone/>
            </a:pPr>
            <a:r>
              <a:rPr lang="it-IT" sz="1400" b="0" dirty="0">
                <a:solidFill>
                  <a:srgbClr val="231C21"/>
                </a:solidFill>
              </a:rPr>
              <a:t>Gerarchia dei titoli chiara, parole chiave in grassetto, </a:t>
            </a:r>
            <a:r>
              <a:rPr lang="it-IT" sz="1400" b="1" dirty="0">
                <a:solidFill>
                  <a:srgbClr val="231C21"/>
                </a:solidFill>
              </a:rPr>
              <a:t>infografiche</a:t>
            </a:r>
            <a:r>
              <a:rPr lang="it-IT" sz="1400" b="0" dirty="0">
                <a:solidFill>
                  <a:srgbClr val="231C21"/>
                </a:solidFill>
              </a:rPr>
              <a:t> che spiegano il testo</a:t>
            </a:r>
          </a:p>
        </p:txBody>
      </p:sp>
      <p:sp>
        <p:nvSpPr>
          <p:cNvPr id="26" name="Tag H9"/>
          <p:cNvSpPr/>
          <p:nvPr/>
        </p:nvSpPr>
        <p:spPr>
          <a:xfrm>
            <a:off x="609600" y="5232400"/>
            <a:ext cx="660400" cy="330200"/>
          </a:xfrm>
          <a:prstGeom prst="roundRect">
            <a:avLst/>
          </a:prstGeom>
          <a:solidFill>
            <a:srgbClr val="E9DCE5"/>
          </a:solidFill>
          <a:ln>
            <a:noFill/>
          </a:ln>
        </p:spPr>
        <p:txBody>
          <a:bodyPr wrap="square" lIns="0" tIns="0" rIns="0" bIns="0" anchor="ctr">
            <a:noAutofit/>
          </a:bodyPr>
          <a:lstStyle/>
          <a:p>
            <a:pPr marL="0" indent="0" algn="ctr">
              <a:spcBef>
                <a:spcPts val="0"/>
              </a:spcBef>
              <a:buNone/>
            </a:pPr>
            <a:r>
              <a:rPr lang="it-IT" sz="1200" b="1" dirty="0">
                <a:solidFill>
                  <a:srgbClr val="41002F"/>
                </a:solidFill>
              </a:rPr>
              <a:t>H9</a:t>
            </a:r>
          </a:p>
        </p:txBody>
      </p:sp>
      <p:sp>
        <p:nvSpPr>
          <p:cNvPr id="27" name="Positivo H9"/>
          <p:cNvSpPr/>
          <p:nvPr/>
        </p:nvSpPr>
        <p:spPr>
          <a:xfrm>
            <a:off x="1473200" y="5181600"/>
            <a:ext cx="10109200" cy="457200"/>
          </a:xfrm>
          <a:prstGeom prst="rect">
            <a:avLst/>
          </a:prstGeom>
          <a:noFill/>
          <a:ln>
            <a:noFill/>
          </a:ln>
        </p:spPr>
        <p:txBody>
          <a:bodyPr wrap="square" lIns="0" tIns="0" rIns="0" bIns="0" anchor="ctr">
            <a:noAutofit/>
          </a:bodyPr>
          <a:lstStyle/>
          <a:p>
            <a:pPr marL="0" indent="0" algn="l">
              <a:spcBef>
                <a:spcPts val="0"/>
              </a:spcBef>
              <a:buNone/>
            </a:pPr>
            <a:r>
              <a:rPr lang="it-IT" sz="1400" b="0" dirty="0">
                <a:solidFill>
                  <a:srgbClr val="231C21"/>
                </a:solidFill>
              </a:rPr>
              <a:t>Nella donazione libera un </a:t>
            </a:r>
            <a:r>
              <a:rPr lang="it-IT" sz="1400" b="1" dirty="0">
                <a:solidFill>
                  <a:srgbClr val="231C21"/>
                </a:solidFill>
              </a:rPr>
              <a:t>errore chiaro</a:t>
            </a:r>
            <a:r>
              <a:rPr lang="it-IT" sz="1400" b="0" dirty="0">
                <a:solidFill>
                  <a:srgbClr val="231C21"/>
                </a:solidFill>
              </a:rPr>
              <a:t> segnala l’importo sotto il minimo</a:t>
            </a:r>
          </a:p>
        </p:txBody>
      </p:sp>
      <p:sp>
        <p:nvSpPr>
          <p:cNvPr id="28" name="Tag H10"/>
          <p:cNvSpPr/>
          <p:nvPr/>
        </p:nvSpPr>
        <p:spPr>
          <a:xfrm>
            <a:off x="609600" y="5740400"/>
            <a:ext cx="660400" cy="330200"/>
          </a:xfrm>
          <a:prstGeom prst="roundRect">
            <a:avLst/>
          </a:prstGeom>
          <a:solidFill>
            <a:srgbClr val="E9DCE5"/>
          </a:solidFill>
          <a:ln>
            <a:noFill/>
          </a:ln>
        </p:spPr>
        <p:txBody>
          <a:bodyPr wrap="square" lIns="0" tIns="0" rIns="0" bIns="0" anchor="ctr">
            <a:noAutofit/>
          </a:bodyPr>
          <a:lstStyle/>
          <a:p>
            <a:pPr marL="0" indent="0" algn="ctr">
              <a:spcBef>
                <a:spcPts val="0"/>
              </a:spcBef>
              <a:buNone/>
            </a:pPr>
            <a:r>
              <a:rPr lang="it-IT" sz="1200" b="1" dirty="0">
                <a:solidFill>
                  <a:srgbClr val="41002F"/>
                </a:solidFill>
              </a:rPr>
              <a:t>H10</a:t>
            </a:r>
          </a:p>
        </p:txBody>
      </p:sp>
      <p:sp>
        <p:nvSpPr>
          <p:cNvPr id="29" name="Positivo H10"/>
          <p:cNvSpPr/>
          <p:nvPr/>
        </p:nvSpPr>
        <p:spPr>
          <a:xfrm>
            <a:off x="1473200" y="5689600"/>
            <a:ext cx="10109200" cy="457200"/>
          </a:xfrm>
          <a:prstGeom prst="rect">
            <a:avLst/>
          </a:prstGeom>
          <a:noFill/>
          <a:ln>
            <a:noFill/>
          </a:ln>
        </p:spPr>
        <p:txBody>
          <a:bodyPr wrap="square" lIns="0" tIns="0" rIns="0" bIns="0" anchor="ctr">
            <a:noAutofit/>
          </a:bodyPr>
          <a:lstStyle/>
          <a:p>
            <a:pPr marL="0" indent="0" algn="l">
              <a:spcBef>
                <a:spcPts val="0"/>
              </a:spcBef>
              <a:buNone/>
            </a:pPr>
            <a:r>
              <a:rPr lang="it-IT" sz="1400" b="0" dirty="0">
                <a:solidFill>
                  <a:srgbClr val="231C21"/>
                </a:solidFill>
              </a:rPr>
              <a:t>La descrizione anticipa le domande: </a:t>
            </a:r>
            <a:r>
              <a:rPr lang="it-IT" sz="1400" b="1" dirty="0">
                <a:solidFill>
                  <a:srgbClr val="231C21"/>
                </a:solidFill>
              </a:rPr>
              <a:t>uso dei fondi</a:t>
            </a:r>
            <a:r>
              <a:rPr lang="it-IT" sz="1400" b="0" dirty="0">
                <a:solidFill>
                  <a:srgbClr val="231C21"/>
                </a:solidFill>
              </a:rPr>
              <a:t>, uso dei dati, ricadute sul territorio, team</a:t>
            </a:r>
          </a:p>
        </p:txBody>
      </p:sp>
      <p:sp>
        <p:nvSpPr>
          <p:cNvPr id="30" name="Pagine e task"/>
          <p:cNvSpPr/>
          <p:nvPr/>
        </p:nvSpPr>
        <p:spPr>
          <a:xfrm>
            <a:off x="609600" y="6273800"/>
            <a:ext cx="10972800" cy="381000"/>
          </a:xfrm>
          <a:prstGeom prst="rect">
            <a:avLst/>
          </a:prstGeom>
          <a:noFill/>
          <a:ln>
            <a:noFill/>
          </a:ln>
        </p:spPr>
        <p:txBody>
          <a:bodyPr wrap="square" lIns="0" tIns="0" rIns="0" bIns="0" anchor="b">
            <a:noAutofit/>
          </a:bodyPr>
          <a:lstStyle/>
          <a:p>
            <a:pPr marL="0" indent="0" algn="l">
              <a:spcBef>
                <a:spcPts val="0"/>
              </a:spcBef>
              <a:buNone/>
            </a:pPr>
            <a:r>
              <a:rPr lang="it-IT" sz="1000" b="1" dirty="0">
                <a:solidFill>
                  <a:srgbClr val="6B6168"/>
                </a:solidFill>
              </a:rPr>
              <a:t>Pagina:</a:t>
            </a:r>
            <a:r>
              <a:rPr lang="it-IT" sz="1000" b="0" dirty="0">
                <a:solidFill>
                  <a:srgbClr val="6B6168"/>
                </a:solidFill>
              </a:rPr>
              <a:t> Progetto «Mind the </a:t>
            </a:r>
            <a:r>
              <a:rPr lang="it-IT" sz="1000" b="0">
                <a:solidFill>
                  <a:srgbClr val="6B6168"/>
                </a:solidFill>
              </a:rPr>
              <a:t>Climate»   </a:t>
            </a:r>
            <a:r>
              <a:rPr lang="it-IT" sz="1000" b="1" dirty="0">
                <a:solidFill>
                  <a:srgbClr val="6B6168"/>
                </a:solidFill>
              </a:rPr>
              <a:t>Task:</a:t>
            </a:r>
            <a:r>
              <a:rPr lang="it-IT" sz="1000" b="0" dirty="0">
                <a:solidFill>
                  <a:srgbClr val="6B6168"/>
                </a:solidFill>
              </a:rPr>
              <a:t> T3, T5, T6</a:t>
            </a:r>
          </a:p>
        </p:txBody>
      </p:sp>
    </p:spTree>
    <p:extLst>
      <p:ext uri="{BB962C8B-B14F-4D97-AF65-F5344CB8AC3E}">
        <p14:creationId xmlns:p14="http://schemas.microsoft.com/office/powerpoint/2010/main" val="64407753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088EACE2-79C9-B89B-5268-E229215382E3}"/>
              </a:ext>
            </a:extLst>
          </p:cNvPr>
          <p:cNvSpPr>
            <a:spLocks noGrp="1"/>
          </p:cNvSpPr>
          <p:nvPr>
            <p:ph type="title"/>
          </p:nvPr>
        </p:nvSpPr>
        <p:spPr>
          <a:xfrm>
            <a:off x="609600" y="558800"/>
            <a:ext cx="8991600" cy="889000"/>
          </a:xfrm>
        </p:spPr>
        <p:txBody>
          <a:bodyPr anchor="t"/>
          <a:lstStyle/>
          <a:p>
            <a:pPr>
              <a:lnSpc>
                <a:spcPct val="90000"/>
              </a:lnSpc>
            </a:pPr>
            <a:r>
              <a:rPr lang="it-IT" sz="2600" b="1" dirty="0"/>
              <a:t>«Contatta il progettista» risponde con molto ritardo e sembra non aver preso il clic</a:t>
            </a:r>
          </a:p>
        </p:txBody>
      </p:sp>
      <p:sp>
        <p:nvSpPr>
          <p:cNvPr id="10" name="Euristica"/>
          <p:cNvSpPr txBox="1"/>
          <p:nvPr/>
        </p:nvSpPr>
        <p:spPr>
          <a:xfrm>
            <a:off x="609600" y="254000"/>
            <a:ext cx="8890000" cy="279400"/>
          </a:xfrm>
          <a:prstGeom prst="rect">
            <a:avLst/>
          </a:prstGeom>
          <a:noFill/>
          <a:ln>
            <a:noFill/>
          </a:ln>
        </p:spPr>
        <p:txBody>
          <a:bodyPr wrap="square" lIns="0" tIns="0" rIns="0" bIns="0" anchor="t">
            <a:noAutofit/>
          </a:bodyPr>
          <a:lstStyle/>
          <a:p>
            <a:pPr marL="0" indent="0" algn="l">
              <a:lnSpc>
                <a:spcPct val="100000"/>
              </a:lnSpc>
              <a:spcBef>
                <a:spcPts val="0"/>
              </a:spcBef>
              <a:buNone/>
            </a:pPr>
            <a:r>
              <a:rPr lang="it-IT" sz="1200" b="1" dirty="0">
                <a:solidFill>
                  <a:srgbClr val="6C0850"/>
                </a:solidFill>
              </a:rPr>
              <a:t>H1 · VISIBILITÀ DELLO STATO DEL SISTEMA</a:t>
            </a:r>
          </a:p>
        </p:txBody>
      </p:sp>
      <p:sp>
        <p:nvSpPr>
          <p:cNvPr id="11" name="Badge gravità"/>
          <p:cNvSpPr/>
          <p:nvPr/>
        </p:nvSpPr>
        <p:spPr>
          <a:xfrm>
            <a:off x="9855200" y="381000"/>
            <a:ext cx="1727200" cy="736600"/>
          </a:xfrm>
          <a:prstGeom prst="roundRect">
            <a:avLst/>
          </a:prstGeom>
          <a:solidFill>
            <a:srgbClr val="8E2F72"/>
          </a:solidFill>
          <a:ln>
            <a:noFill/>
          </a:ln>
        </p:spPr>
        <p:txBody>
          <a:bodyPr wrap="square" lIns="0" tIns="0" rIns="0" bIns="0" anchor="ctr">
            <a:noAutofit/>
          </a:bodyPr>
          <a:lstStyle/>
          <a:p>
            <a:pPr marL="0" indent="0" algn="ctr">
              <a:lnSpc>
                <a:spcPct val="100000"/>
              </a:lnSpc>
              <a:spcBef>
                <a:spcPts val="0"/>
              </a:spcBef>
              <a:buNone/>
            </a:pPr>
            <a:r>
              <a:rPr lang="it-IT" sz="1000" b="1" dirty="0">
                <a:solidFill>
                  <a:srgbClr val="FFFFFF"/>
                </a:solidFill>
              </a:rPr>
              <a:t>GRAVITÀ</a:t>
            </a:r>
          </a:p>
          <a:p>
            <a:pPr marL="0" indent="0" algn="ctr">
              <a:lnSpc>
                <a:spcPct val="100000"/>
              </a:lnSpc>
              <a:spcBef>
                <a:spcPts val="0"/>
              </a:spcBef>
              <a:buNone/>
            </a:pPr>
            <a:r>
              <a:rPr lang="it-IT" sz="1800" b="1" dirty="0">
                <a:solidFill>
                  <a:srgbClr val="FFFFFF"/>
                </a:solidFill>
              </a:rPr>
              <a:t>3 </a:t>
            </a:r>
            <a:r>
              <a:rPr lang="it-IT" sz="1800" b="1">
                <a:solidFill>
                  <a:srgbClr val="FFFFFF"/>
                </a:solidFill>
              </a:rPr>
              <a:t>· Importante</a:t>
            </a:r>
            <a:endParaRPr lang="it-IT" sz="1800" b="1" dirty="0">
              <a:solidFill>
                <a:srgbClr val="FFFFFF"/>
              </a:solidFill>
            </a:endParaRPr>
          </a:p>
        </p:txBody>
      </p:sp>
      <p:sp>
        <p:nvSpPr>
          <p:cNvPr id="12" name="Problema"/>
          <p:cNvSpPr txBox="1"/>
          <p:nvPr/>
        </p:nvSpPr>
        <p:spPr>
          <a:xfrm>
            <a:off x="609600" y="1625600"/>
            <a:ext cx="5130800" cy="2616200"/>
          </a:xfrm>
          <a:prstGeom prst="rect">
            <a:avLst/>
          </a:prstGeom>
          <a:noFill/>
          <a:ln>
            <a:noFill/>
          </a:ln>
        </p:spPr>
        <p:txBody>
          <a:bodyPr wrap="square" lIns="0" tIns="0" rIns="0" bIns="0" anchor="t">
            <a:noAutofit/>
          </a:bodyPr>
          <a:lstStyle/>
          <a:p>
            <a:pPr marL="0" indent="0" algn="l">
              <a:lnSpc>
                <a:spcPct val="100000"/>
              </a:lnSpc>
              <a:spcBef>
                <a:spcPts val="0"/>
              </a:spcBef>
              <a:buNone/>
            </a:pPr>
            <a:r>
              <a:rPr lang="it-IT" sz="1400" b="1" dirty="0">
                <a:solidFill>
                  <a:srgbClr val="6C0850"/>
                </a:solidFill>
              </a:rPr>
              <a:t>Problema</a:t>
            </a:r>
          </a:p>
          <a:p>
            <a:pPr marL="228600" indent="-228600" algn="l">
              <a:lnSpc>
                <a:spcPct val="100000"/>
              </a:lnSpc>
              <a:spcBef>
                <a:spcPts val="500"/>
              </a:spcBef>
              <a:buClr>
                <a:srgbClr val="6C0850"/>
              </a:buClr>
              <a:buFont typeface="Arial"/>
              <a:buChar char="•"/>
            </a:pPr>
            <a:r>
              <a:rPr lang="it-IT" sz="1400" b="0" dirty="0">
                <a:solidFill>
                  <a:srgbClr val="231C21"/>
                </a:solidFill>
              </a:rPr>
              <a:t>Dopo il clic i contatti compaiono </a:t>
            </a:r>
            <a:r>
              <a:rPr lang="it-IT" sz="1400" b="1" dirty="0">
                <a:solidFill>
                  <a:srgbClr val="231C21"/>
                </a:solidFill>
              </a:rPr>
              <a:t>dopo diversi secondi</a:t>
            </a:r>
          </a:p>
          <a:p>
            <a:pPr marL="228600" indent="-228600" algn="l">
              <a:lnSpc>
                <a:spcPct val="100000"/>
              </a:lnSpc>
              <a:spcBef>
                <a:spcPts val="500"/>
              </a:spcBef>
              <a:buClr>
                <a:srgbClr val="6C0850"/>
              </a:buClr>
              <a:buFont typeface="Arial"/>
              <a:buChar char="•"/>
            </a:pPr>
            <a:r>
              <a:rPr lang="it-IT" sz="1400" b="0" dirty="0">
                <a:solidFill>
                  <a:srgbClr val="231C21"/>
                </a:solidFill>
              </a:rPr>
              <a:t>Nel frattempo </a:t>
            </a:r>
            <a:r>
              <a:rPr lang="it-IT" sz="1400" b="1" dirty="0">
                <a:solidFill>
                  <a:srgbClr val="231C21"/>
                </a:solidFill>
              </a:rPr>
              <a:t>nessun indicatore</a:t>
            </a:r>
            <a:r>
              <a:rPr lang="it-IT" sz="1400" b="0" dirty="0">
                <a:solidFill>
                  <a:srgbClr val="231C21"/>
                </a:solidFill>
              </a:rPr>
              <a:t> di caricamento</a:t>
            </a:r>
          </a:p>
          <a:p>
            <a:pPr marL="228600" indent="-228600" algn="l">
              <a:lnSpc>
                <a:spcPct val="100000"/>
              </a:lnSpc>
              <a:spcBef>
                <a:spcPts val="500"/>
              </a:spcBef>
              <a:buClr>
                <a:srgbClr val="6C0850"/>
              </a:buClr>
              <a:buFont typeface="Arial"/>
              <a:buChar char="•"/>
            </a:pPr>
            <a:r>
              <a:rPr lang="it-IT" sz="1400" b="0" dirty="0">
                <a:solidFill>
                  <a:srgbClr val="231C21"/>
                </a:solidFill>
              </a:rPr>
              <a:t>L’utente tende a cliccare di nuovo o a rinunciare a contattare il team</a:t>
            </a:r>
          </a:p>
          <a:p>
            <a:pPr marL="0" indent="0" algn="l">
              <a:lnSpc>
                <a:spcPct val="100000"/>
              </a:lnSpc>
              <a:spcBef>
                <a:spcPts val="900"/>
              </a:spcBef>
              <a:buNone/>
            </a:pPr>
            <a:r>
              <a:rPr lang="it-IT" sz="1100" b="0" dirty="0">
                <a:solidFill>
                  <a:srgbClr val="6B6168"/>
                </a:solidFill>
              </a:rPr>
              <a:t>Gravità 3 dalle note. [ DA VERIFICARE ] il tempo di attesa su più browser e connessioni.</a:t>
            </a:r>
          </a:p>
        </p:txBody>
      </p:sp>
      <p:sp>
        <p:nvSpPr>
          <p:cNvPr id="13" name="Soluzione"/>
          <p:cNvSpPr/>
          <p:nvPr/>
        </p:nvSpPr>
        <p:spPr>
          <a:xfrm>
            <a:off x="609600" y="4394200"/>
            <a:ext cx="5130800" cy="1727200"/>
          </a:xfrm>
          <a:prstGeom prst="rect">
            <a:avLst/>
          </a:prstGeom>
          <a:solidFill>
            <a:srgbClr val="F3EEF1"/>
          </a:solidFill>
          <a:ln>
            <a:noFill/>
          </a:ln>
        </p:spPr>
        <p:txBody>
          <a:bodyPr wrap="square" lIns="152400" tIns="152400" rIns="152400" bIns="152400" anchor="t">
            <a:noAutofit/>
          </a:bodyPr>
          <a:lstStyle/>
          <a:p>
            <a:pPr marL="0" indent="0" algn="l">
              <a:lnSpc>
                <a:spcPct val="100000"/>
              </a:lnSpc>
              <a:spcBef>
                <a:spcPts val="0"/>
              </a:spcBef>
              <a:buNone/>
            </a:pPr>
            <a:r>
              <a:rPr lang="it-IT" sz="1400" b="1" dirty="0">
                <a:solidFill>
                  <a:srgbClr val="6C0850"/>
                </a:solidFill>
              </a:rPr>
              <a:t>Possibile soluzione</a:t>
            </a:r>
          </a:p>
          <a:p>
            <a:pPr marL="0" indent="0" algn="l">
              <a:lnSpc>
                <a:spcPct val="100000"/>
              </a:lnSpc>
              <a:spcBef>
                <a:spcPts val="400"/>
              </a:spcBef>
              <a:buNone/>
            </a:pPr>
            <a:r>
              <a:rPr lang="it-IT" sz="1400" b="0" dirty="0">
                <a:solidFill>
                  <a:srgbClr val="231C21"/>
                </a:solidFill>
              </a:rPr>
              <a:t>Feedback immediato al clic (spinner o testo «Caricamento contatti…») e contatti già presenti nella pagina invece di caricarli dopo.</a:t>
            </a:r>
          </a:p>
        </p:txBody>
      </p:sp>
      <p:sp>
        <p:nvSpPr>
          <p:cNvPr id="14" name="Segnaposto immagine 1"/>
          <p:cNvSpPr/>
          <p:nvPr/>
        </p:nvSpPr>
        <p:spPr>
          <a:xfrm>
            <a:off x="6045200" y="1625600"/>
            <a:ext cx="5537200" cy="4495800"/>
          </a:xfrm>
          <a:prstGeom prst="rect">
            <a:avLst/>
          </a:prstGeom>
          <a:solidFill>
            <a:srgbClr val="F7F4F6"/>
          </a:solidFill>
          <a:ln w="15875">
            <a:solidFill>
              <a:srgbClr val="B07A9F"/>
            </a:solidFill>
            <a:prstDash val="dash"/>
          </a:ln>
        </p:spPr>
        <p:txBody>
          <a:bodyPr wrap="square" lIns="127000" tIns="127000" rIns="127000" bIns="127000" anchor="ctr">
            <a:noAutofit/>
          </a:bodyPr>
          <a:lstStyle/>
          <a:p>
            <a:pPr marL="0" indent="0" algn="ctr">
              <a:lnSpc>
                <a:spcPct val="100000"/>
              </a:lnSpc>
              <a:spcBef>
                <a:spcPts val="0"/>
              </a:spcBef>
              <a:buNone/>
            </a:pPr>
            <a:r>
              <a:rPr lang="it-IT" sz="1200" b="1" dirty="0">
                <a:solidFill>
                  <a:srgbClr val="6C0850"/>
                </a:solidFill>
              </a:rPr>
              <a:t>[ SCREENSHOT DA FARE ]</a:t>
            </a:r>
          </a:p>
          <a:p>
            <a:pPr marL="0" indent="0" algn="ctr">
              <a:lnSpc>
                <a:spcPct val="100000"/>
              </a:lnSpc>
              <a:spcBef>
                <a:spcPts val="400"/>
              </a:spcBef>
              <a:buNone/>
            </a:pPr>
            <a:r>
              <a:rPr lang="it-IT" sz="1400" b="1" dirty="0">
                <a:solidFill>
                  <a:srgbClr val="231C21"/>
                </a:solidFill>
              </a:rPr>
              <a:t>Clic su «Contatta il progettista» durante l’attesa</a:t>
            </a:r>
          </a:p>
          <a:p>
            <a:pPr marL="0" indent="0" algn="ctr">
              <a:lnSpc>
                <a:spcPct val="100000"/>
              </a:lnSpc>
              <a:spcBef>
                <a:spcPts val="300"/>
              </a:spcBef>
              <a:buNone/>
            </a:pPr>
            <a:r>
              <a:rPr lang="it-IT" sz="900" b="0" dirty="0">
                <a:solidFill>
                  <a:srgbClr val="6B6168"/>
                </a:solidFill>
              </a:rPr>
              <a:t>Salvare in /Users/andreock/Desktop/hci_gruppo_a/assignment1/parti/antofallea/src/</a:t>
            </a:r>
          </a:p>
          <a:p>
            <a:pPr marL="0" indent="0" algn="ctr">
              <a:lnSpc>
                <a:spcPct val="100000"/>
              </a:lnSpc>
              <a:spcBef>
                <a:spcPts val="300"/>
              </a:spcBef>
              <a:buNone/>
            </a:pPr>
            <a:r>
              <a:rPr lang="it-IT" sz="1000" b="0" dirty="0">
                <a:solidFill>
                  <a:srgbClr val="6B6168"/>
                </a:solidFill>
              </a:rPr>
              <a:t>Annotare con cerchi e frecce</a:t>
            </a:r>
          </a:p>
        </p:txBody>
      </p:sp>
      <p:sp>
        <p:nvSpPr>
          <p:cNvPr id="15" name="Pagine e task"/>
          <p:cNvSpPr txBox="1"/>
          <p:nvPr/>
        </p:nvSpPr>
        <p:spPr>
          <a:xfrm>
            <a:off x="609600" y="6273800"/>
            <a:ext cx="10972800" cy="381000"/>
          </a:xfrm>
          <a:prstGeom prst="rect">
            <a:avLst/>
          </a:prstGeom>
          <a:noFill/>
          <a:ln>
            <a:noFill/>
          </a:ln>
        </p:spPr>
        <p:txBody>
          <a:bodyPr wrap="square" lIns="0" tIns="0" rIns="0" bIns="0" anchor="b">
            <a:noAutofit/>
          </a:bodyPr>
          <a:lstStyle/>
          <a:p>
            <a:pPr marL="0" indent="0" algn="l">
              <a:lnSpc>
                <a:spcPct val="100000"/>
              </a:lnSpc>
              <a:spcBef>
                <a:spcPts val="0"/>
              </a:spcBef>
              <a:buNone/>
            </a:pPr>
            <a:r>
              <a:rPr lang="it-IT" sz="1000" b="1" dirty="0">
                <a:solidFill>
                  <a:srgbClr val="6B6168"/>
                </a:solidFill>
              </a:rPr>
              <a:t>Pagina:</a:t>
            </a:r>
            <a:r>
              <a:rPr lang="it-IT" sz="1000" b="0" dirty="0">
                <a:solidFill>
                  <a:srgbClr val="6B6168"/>
                </a:solidFill>
              </a:rPr>
              <a:t> Progetto «Mind the </a:t>
            </a:r>
            <a:r>
              <a:rPr lang="it-IT" sz="1000" b="0">
                <a:solidFill>
                  <a:srgbClr val="6B6168"/>
                </a:solidFill>
              </a:rPr>
              <a:t>Climate»   </a:t>
            </a:r>
            <a:r>
              <a:rPr lang="it-IT" sz="1000" b="1" dirty="0">
                <a:solidFill>
                  <a:srgbClr val="6B6168"/>
                </a:solidFill>
              </a:rPr>
              <a:t>Task:</a:t>
            </a:r>
            <a:r>
              <a:rPr lang="it-IT" sz="1000" b="0" dirty="0">
                <a:solidFill>
                  <a:srgbClr val="6B6168"/>
                </a:solidFill>
              </a:rPr>
              <a:t> T3</a:t>
            </a:r>
            <a:r>
              <a:rPr lang="it-IT" sz="1000" b="0">
                <a:solidFill>
                  <a:srgbClr val="6B6168"/>
                </a:solidFill>
              </a:rPr>
              <a:t>, T6</a:t>
            </a:r>
            <a:endParaRPr lang="it-IT" sz="1000" b="0" dirty="0">
              <a:solidFill>
                <a:srgbClr val="6B6168"/>
              </a:solidFill>
            </a:endParaRPr>
          </a:p>
        </p:txBody>
      </p:sp>
    </p:spTree>
    <p:extLst>
      <p:ext uri="{BB962C8B-B14F-4D97-AF65-F5344CB8AC3E}">
        <p14:creationId xmlns:p14="http://schemas.microsoft.com/office/powerpoint/2010/main" val="177886868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F3C4A97B-CC4E-6A5C-E1DF-E276FA053CF2}"/>
              </a:ext>
            </a:extLst>
          </p:cNvPr>
          <p:cNvSpPr>
            <a:spLocks noGrp="1"/>
          </p:cNvSpPr>
          <p:nvPr>
            <p:ph type="title"/>
          </p:nvPr>
        </p:nvSpPr>
        <p:spPr>
          <a:xfrm>
            <a:off x="609600" y="558800"/>
            <a:ext cx="8991600" cy="889000"/>
          </a:xfrm>
        </p:spPr>
        <p:txBody>
          <a:bodyPr anchor="t"/>
          <a:lstStyle/>
          <a:p>
            <a:pPr>
              <a:lnSpc>
                <a:spcPct val="90000"/>
              </a:lnSpc>
            </a:pPr>
            <a:r>
              <a:rPr lang="it-IT" sz="2600" b="1" dirty="0"/>
              <a:t>La versione inglese è incompleta e la scheda News porta lì senza avvisare</a:t>
            </a:r>
          </a:p>
        </p:txBody>
      </p:sp>
      <p:sp>
        <p:nvSpPr>
          <p:cNvPr id="10" name="Euristica"/>
          <p:cNvSpPr txBox="1"/>
          <p:nvPr/>
        </p:nvSpPr>
        <p:spPr>
          <a:xfrm>
            <a:off x="609600" y="254000"/>
            <a:ext cx="8890000" cy="279400"/>
          </a:xfrm>
          <a:prstGeom prst="rect">
            <a:avLst/>
          </a:prstGeom>
          <a:noFill/>
          <a:ln>
            <a:noFill/>
          </a:ln>
        </p:spPr>
        <p:txBody>
          <a:bodyPr wrap="square" lIns="0" tIns="0" rIns="0" bIns="0" anchor="t">
            <a:noAutofit/>
          </a:bodyPr>
          <a:lstStyle/>
          <a:p>
            <a:pPr marL="0" indent="0" algn="l">
              <a:lnSpc>
                <a:spcPct val="100000"/>
              </a:lnSpc>
              <a:spcBef>
                <a:spcPts val="0"/>
              </a:spcBef>
              <a:buNone/>
            </a:pPr>
            <a:r>
              <a:rPr lang="it-IT" sz="1200" b="1" dirty="0">
                <a:solidFill>
                  <a:srgbClr val="6C0850"/>
                </a:solidFill>
              </a:rPr>
              <a:t>H4 · COERENZA E STANDARD  ·  H2 CORRISPONDENZA</a:t>
            </a:r>
          </a:p>
        </p:txBody>
      </p:sp>
      <p:sp>
        <p:nvSpPr>
          <p:cNvPr id="11" name="Badge gravità"/>
          <p:cNvSpPr/>
          <p:nvPr/>
        </p:nvSpPr>
        <p:spPr>
          <a:xfrm>
            <a:off x="9855200" y="381000"/>
            <a:ext cx="1727200" cy="736600"/>
          </a:xfrm>
          <a:prstGeom prst="roundRect">
            <a:avLst/>
          </a:prstGeom>
          <a:solidFill>
            <a:srgbClr val="FFFFFF"/>
          </a:solidFill>
          <a:ln w="15875">
            <a:solidFill>
              <a:srgbClr val="B07A9F"/>
            </a:solidFill>
            <a:prstDash val="dash"/>
          </a:ln>
        </p:spPr>
        <p:txBody>
          <a:bodyPr wrap="square" lIns="0" tIns="0" rIns="0" bIns="0" anchor="ctr">
            <a:noAutofit/>
          </a:bodyPr>
          <a:lstStyle/>
          <a:p>
            <a:pPr marL="0" indent="0" algn="ctr">
              <a:lnSpc>
                <a:spcPct val="100000"/>
              </a:lnSpc>
              <a:spcBef>
                <a:spcPts val="0"/>
              </a:spcBef>
              <a:buNone/>
            </a:pPr>
            <a:r>
              <a:rPr lang="it-IT" sz="1000" b="1" dirty="0">
                <a:solidFill>
                  <a:srgbClr val="6C0850"/>
                </a:solidFill>
              </a:rPr>
              <a:t>GRAVITÀ</a:t>
            </a:r>
          </a:p>
          <a:p>
            <a:pPr marL="0" indent="0" algn="ctr">
              <a:lnSpc>
                <a:spcPct val="100000"/>
              </a:lnSpc>
              <a:spcBef>
                <a:spcPts val="0"/>
              </a:spcBef>
              <a:buNone/>
            </a:pPr>
            <a:r>
              <a:rPr lang="it-IT" sz="1600" b="1" dirty="0">
                <a:solidFill>
                  <a:srgbClr val="6C0850"/>
                </a:solidFill>
              </a:rPr>
              <a:t>? </a:t>
            </a:r>
            <a:r>
              <a:rPr lang="it-IT" sz="1600" b="1">
                <a:solidFill>
                  <a:srgbClr val="6C0850"/>
                </a:solidFill>
              </a:rPr>
              <a:t>· Da decidere</a:t>
            </a:r>
            <a:endParaRPr lang="it-IT" sz="1600" b="1" dirty="0">
              <a:solidFill>
                <a:srgbClr val="6C0850"/>
              </a:solidFill>
            </a:endParaRPr>
          </a:p>
        </p:txBody>
      </p:sp>
      <p:sp>
        <p:nvSpPr>
          <p:cNvPr id="12" name="Problema"/>
          <p:cNvSpPr txBox="1"/>
          <p:nvPr/>
        </p:nvSpPr>
        <p:spPr>
          <a:xfrm>
            <a:off x="609600" y="1625600"/>
            <a:ext cx="5130800" cy="2616200"/>
          </a:xfrm>
          <a:prstGeom prst="rect">
            <a:avLst/>
          </a:prstGeom>
          <a:noFill/>
          <a:ln>
            <a:noFill/>
          </a:ln>
        </p:spPr>
        <p:txBody>
          <a:bodyPr wrap="square" lIns="0" tIns="0" rIns="0" bIns="0" anchor="t">
            <a:noAutofit/>
          </a:bodyPr>
          <a:lstStyle/>
          <a:p>
            <a:pPr marL="0" indent="0" algn="l">
              <a:lnSpc>
                <a:spcPct val="100000"/>
              </a:lnSpc>
              <a:spcBef>
                <a:spcPts val="0"/>
              </a:spcBef>
              <a:buNone/>
            </a:pPr>
            <a:r>
              <a:rPr lang="it-IT" sz="1400" b="1" dirty="0">
                <a:solidFill>
                  <a:srgbClr val="6C0850"/>
                </a:solidFill>
              </a:rPr>
              <a:t>Problema</a:t>
            </a:r>
          </a:p>
          <a:p>
            <a:pPr marL="228600" indent="-228600" algn="l">
              <a:lnSpc>
                <a:spcPct val="100000"/>
              </a:lnSpc>
              <a:spcBef>
                <a:spcPts val="500"/>
              </a:spcBef>
              <a:buClr>
                <a:srgbClr val="6C0850"/>
              </a:buClr>
              <a:buFont typeface="Arial"/>
              <a:buChar char="•"/>
            </a:pPr>
            <a:r>
              <a:rPr lang="it-IT" sz="1400" b="0" dirty="0">
                <a:solidFill>
                  <a:srgbClr val="231C21"/>
                </a:solidFill>
              </a:rPr>
              <a:t>In inglese cambia solo la </a:t>
            </a:r>
            <a:r>
              <a:rPr lang="it-IT" sz="1400" b="1" dirty="0">
                <a:solidFill>
                  <a:srgbClr val="231C21"/>
                </a:solidFill>
              </a:rPr>
              <a:t>panoramica del progetto</a:t>
            </a:r>
            <a:r>
              <a:rPr lang="it-IT" sz="1400" b="0" dirty="0">
                <a:solidFill>
                  <a:srgbClr val="231C21"/>
                </a:solidFill>
              </a:rPr>
              <a:t>: il resto del sito resta in italiano, con testi sovrapposti</a:t>
            </a:r>
          </a:p>
          <a:p>
            <a:pPr marL="228600" indent="-228600" algn="l">
              <a:lnSpc>
                <a:spcPct val="100000"/>
              </a:lnSpc>
              <a:spcBef>
                <a:spcPts val="500"/>
              </a:spcBef>
              <a:buClr>
                <a:srgbClr val="6C0850"/>
              </a:buClr>
              <a:buFont typeface="Arial"/>
              <a:buChar char="•"/>
            </a:pPr>
            <a:r>
              <a:rPr lang="it-IT" sz="1400" b="0" dirty="0">
                <a:solidFill>
                  <a:srgbClr val="231C21"/>
                </a:solidFill>
              </a:rPr>
              <a:t>Mancano parti della versione italiana: </a:t>
            </a:r>
            <a:r>
              <a:rPr lang="it-IT" sz="1400" b="1" dirty="0">
                <a:solidFill>
                  <a:srgbClr val="231C21"/>
                </a:solidFill>
              </a:rPr>
              <a:t>obiettivi di sostenibilità</a:t>
            </a:r>
            <a:r>
              <a:rPr lang="it-IT" sz="1400" b="0" dirty="0">
                <a:solidFill>
                  <a:srgbClr val="231C21"/>
                </a:solidFill>
              </a:rPr>
              <a:t> e formula «tutto o niente»</a:t>
            </a:r>
          </a:p>
          <a:p>
            <a:pPr marL="228600" indent="-228600" algn="l">
              <a:lnSpc>
                <a:spcPct val="100000"/>
              </a:lnSpc>
              <a:spcBef>
                <a:spcPts val="500"/>
              </a:spcBef>
              <a:buClr>
                <a:srgbClr val="6C0850"/>
              </a:buClr>
              <a:buFont typeface="Arial"/>
              <a:buChar char="•"/>
            </a:pPr>
            <a:r>
              <a:rPr lang="it-IT" sz="1400" b="0" dirty="0">
                <a:solidFill>
                  <a:srgbClr val="231C21"/>
                </a:solidFill>
              </a:rPr>
              <a:t>La scheda </a:t>
            </a:r>
            <a:r>
              <a:rPr lang="it-IT" sz="1400" b="1" dirty="0">
                <a:solidFill>
                  <a:srgbClr val="231C21"/>
                </a:solidFill>
              </a:rPr>
              <a:t>News</a:t>
            </a:r>
            <a:r>
              <a:rPr lang="it-IT" sz="1400" b="0" dirty="0">
                <a:solidFill>
                  <a:srgbClr val="231C21"/>
                </a:solidFill>
              </a:rPr>
              <a:t> apre la versione inglese: chi voleva le notizie si ritrova in un’altra lingua</a:t>
            </a:r>
          </a:p>
          <a:p>
            <a:pPr marL="0" indent="0" algn="l">
              <a:lnSpc>
                <a:spcPct val="100000"/>
              </a:lnSpc>
              <a:spcBef>
                <a:spcPts val="900"/>
              </a:spcBef>
              <a:buNone/>
            </a:pPr>
            <a:r>
              <a:rPr lang="it-IT" sz="1100" b="0" dirty="0">
                <a:solidFill>
                  <a:srgbClr val="6B6168"/>
                </a:solidFill>
              </a:rPr>
              <a:t>Nelle note gravità 5 (fuori scala 0–4) per la versione inglese e 3 per News: decidere.</a:t>
            </a:r>
          </a:p>
        </p:txBody>
      </p:sp>
      <p:sp>
        <p:nvSpPr>
          <p:cNvPr id="13" name="Soluzione"/>
          <p:cNvSpPr/>
          <p:nvPr/>
        </p:nvSpPr>
        <p:spPr>
          <a:xfrm>
            <a:off x="609600" y="4394200"/>
            <a:ext cx="5130800" cy="1727200"/>
          </a:xfrm>
          <a:prstGeom prst="rect">
            <a:avLst/>
          </a:prstGeom>
          <a:solidFill>
            <a:srgbClr val="F3EEF1"/>
          </a:solidFill>
          <a:ln>
            <a:noFill/>
          </a:ln>
        </p:spPr>
        <p:txBody>
          <a:bodyPr wrap="square" lIns="152400" tIns="152400" rIns="152400" bIns="152400" anchor="t">
            <a:noAutofit/>
          </a:bodyPr>
          <a:lstStyle/>
          <a:p>
            <a:pPr marL="0" indent="0" algn="l">
              <a:lnSpc>
                <a:spcPct val="100000"/>
              </a:lnSpc>
              <a:spcBef>
                <a:spcPts val="0"/>
              </a:spcBef>
              <a:buNone/>
            </a:pPr>
            <a:r>
              <a:rPr lang="it-IT" sz="1400" b="1" dirty="0">
                <a:solidFill>
                  <a:srgbClr val="6C0850"/>
                </a:solidFill>
              </a:rPr>
              <a:t>Possibile soluzione</a:t>
            </a:r>
          </a:p>
          <a:p>
            <a:pPr marL="0" indent="0" algn="l">
              <a:lnSpc>
                <a:spcPct val="100000"/>
              </a:lnSpc>
              <a:spcBef>
                <a:spcPts val="400"/>
              </a:spcBef>
              <a:buNone/>
            </a:pPr>
            <a:r>
              <a:rPr lang="it-IT" sz="1400" b="0" dirty="0">
                <a:solidFill>
                  <a:srgbClr val="231C21"/>
                </a:solidFill>
              </a:rPr>
              <a:t>Versione inglese completa e allineata all’italiana, con selettore di lingua; News nella lingua corrente o con avviso «disponibile solo in inglese».</a:t>
            </a:r>
          </a:p>
        </p:txBody>
      </p:sp>
      <p:sp>
        <p:nvSpPr>
          <p:cNvPr id="14" name="Segnaposto immagine 1"/>
          <p:cNvSpPr/>
          <p:nvPr/>
        </p:nvSpPr>
        <p:spPr>
          <a:xfrm>
            <a:off x="6045200" y="1625600"/>
            <a:ext cx="5537200" cy="4495800"/>
          </a:xfrm>
          <a:prstGeom prst="rect">
            <a:avLst/>
          </a:prstGeom>
          <a:solidFill>
            <a:srgbClr val="F7F4F6"/>
          </a:solidFill>
          <a:ln w="15875">
            <a:solidFill>
              <a:srgbClr val="B07A9F"/>
            </a:solidFill>
            <a:prstDash val="dash"/>
          </a:ln>
        </p:spPr>
        <p:txBody>
          <a:bodyPr wrap="square" lIns="127000" tIns="127000" rIns="127000" bIns="127000" anchor="ctr">
            <a:noAutofit/>
          </a:bodyPr>
          <a:lstStyle/>
          <a:p>
            <a:pPr marL="0" indent="0" algn="ctr">
              <a:lnSpc>
                <a:spcPct val="100000"/>
              </a:lnSpc>
              <a:spcBef>
                <a:spcPts val="0"/>
              </a:spcBef>
              <a:buNone/>
            </a:pPr>
            <a:r>
              <a:rPr lang="it-IT" sz="1200" b="1" dirty="0">
                <a:solidFill>
                  <a:srgbClr val="6C0850"/>
                </a:solidFill>
              </a:rPr>
              <a:t>[ SCREENSHOT DA INSERIRE ]</a:t>
            </a:r>
          </a:p>
          <a:p>
            <a:pPr marL="0" indent="0" algn="ctr">
              <a:lnSpc>
                <a:spcPct val="100000"/>
              </a:lnSpc>
              <a:spcBef>
                <a:spcPts val="400"/>
              </a:spcBef>
              <a:buNone/>
            </a:pPr>
            <a:r>
              <a:rPr lang="it-IT" sz="1400" b="1" dirty="0">
                <a:solidFill>
                  <a:srgbClr val="231C21"/>
                </a:solidFill>
              </a:rPr>
              <a:t>Screenshot 2026-10-12 alle 23.11.07.png</a:t>
            </a:r>
          </a:p>
          <a:p>
            <a:pPr marL="0" indent="0" algn="ctr">
              <a:lnSpc>
                <a:spcPct val="100000"/>
              </a:lnSpc>
              <a:spcBef>
                <a:spcPts val="300"/>
              </a:spcBef>
              <a:buNone/>
            </a:pPr>
            <a:r>
              <a:rPr lang="it-IT" sz="900" b="0" dirty="0">
                <a:solidFill>
                  <a:srgbClr val="6B6168"/>
                </a:solidFill>
              </a:rPr>
              <a:t>/Users/andreock/Desktop/hci_gruppo_a/assignment1/parti/antofallea/src/Screenshot 2026-10-12 alle 23.11.07.png</a:t>
            </a:r>
          </a:p>
          <a:p>
            <a:pPr marL="0" indent="0" algn="ctr">
              <a:lnSpc>
                <a:spcPct val="100000"/>
              </a:lnSpc>
              <a:spcBef>
                <a:spcPts val="300"/>
              </a:spcBef>
              <a:buNone/>
            </a:pPr>
            <a:r>
              <a:rPr lang="it-IT" sz="1000" b="0" dirty="0">
                <a:solidFill>
                  <a:srgbClr val="6B6168"/>
                </a:solidFill>
              </a:rPr>
              <a:t>Annotare con cerchi e frecce</a:t>
            </a:r>
          </a:p>
        </p:txBody>
      </p:sp>
      <p:sp>
        <p:nvSpPr>
          <p:cNvPr id="15" name="Pagine e task"/>
          <p:cNvSpPr txBox="1"/>
          <p:nvPr/>
        </p:nvSpPr>
        <p:spPr>
          <a:xfrm>
            <a:off x="609600" y="6273800"/>
            <a:ext cx="10972800" cy="381000"/>
          </a:xfrm>
          <a:prstGeom prst="rect">
            <a:avLst/>
          </a:prstGeom>
          <a:noFill/>
          <a:ln>
            <a:noFill/>
          </a:ln>
        </p:spPr>
        <p:txBody>
          <a:bodyPr wrap="square" lIns="0" tIns="0" rIns="0" bIns="0" anchor="b">
            <a:noAutofit/>
          </a:bodyPr>
          <a:lstStyle/>
          <a:p>
            <a:pPr marL="0" indent="0" algn="l">
              <a:lnSpc>
                <a:spcPct val="100000"/>
              </a:lnSpc>
              <a:spcBef>
                <a:spcPts val="0"/>
              </a:spcBef>
              <a:buNone/>
            </a:pPr>
            <a:r>
              <a:rPr lang="it-IT" sz="1000" b="1" dirty="0">
                <a:solidFill>
                  <a:srgbClr val="6B6168"/>
                </a:solidFill>
              </a:rPr>
              <a:t>Pagina:</a:t>
            </a:r>
            <a:r>
              <a:rPr lang="it-IT" sz="1000" b="0" dirty="0">
                <a:solidFill>
                  <a:srgbClr val="6B6168"/>
                </a:solidFill>
              </a:rPr>
              <a:t> Progetto «Mind the </a:t>
            </a:r>
            <a:r>
              <a:rPr lang="it-IT" sz="1000" b="0">
                <a:solidFill>
                  <a:srgbClr val="6B6168"/>
                </a:solidFill>
              </a:rPr>
              <a:t>Climate», </a:t>
            </a:r>
            <a:r>
              <a:rPr lang="it-IT" sz="1000" b="0" dirty="0">
                <a:solidFill>
                  <a:srgbClr val="6B6168"/>
                </a:solidFill>
              </a:rPr>
              <a:t>versione EN e scheda News   </a:t>
            </a:r>
            <a:r>
              <a:rPr lang="it-IT" sz="1000" b="1" dirty="0">
                <a:solidFill>
                  <a:srgbClr val="6B6168"/>
                </a:solidFill>
              </a:rPr>
              <a:t>Task</a:t>
            </a:r>
            <a:r>
              <a:rPr lang="it-IT" sz="1000" b="1">
                <a:solidFill>
                  <a:srgbClr val="6B6168"/>
                </a:solidFill>
              </a:rPr>
              <a:t>:</a:t>
            </a:r>
            <a:r>
              <a:rPr lang="it-IT" sz="1000" b="0">
                <a:solidFill>
                  <a:srgbClr val="6B6168"/>
                </a:solidFill>
              </a:rPr>
              <a:t> T3</a:t>
            </a:r>
            <a:endParaRPr lang="it-IT" sz="1000" b="0" dirty="0">
              <a:solidFill>
                <a:srgbClr val="6B6168"/>
              </a:solidFill>
            </a:endParaRPr>
          </a:p>
        </p:txBody>
      </p:sp>
    </p:spTree>
    <p:extLst>
      <p:ext uri="{BB962C8B-B14F-4D97-AF65-F5344CB8AC3E}">
        <p14:creationId xmlns:p14="http://schemas.microsoft.com/office/powerpoint/2010/main" val="410130096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5F09F87C-EEDE-A5F5-2C7F-A4BCB9D4AD66}"/>
              </a:ext>
            </a:extLst>
          </p:cNvPr>
          <p:cNvSpPr>
            <a:spLocks noGrp="1"/>
          </p:cNvSpPr>
          <p:nvPr>
            <p:ph type="title"/>
          </p:nvPr>
        </p:nvSpPr>
        <p:spPr>
          <a:xfrm>
            <a:off x="609600" y="558800"/>
            <a:ext cx="8991600" cy="889000"/>
          </a:xfrm>
        </p:spPr>
        <p:txBody>
          <a:bodyPr anchor="t"/>
          <a:lstStyle/>
          <a:p>
            <a:pPr>
              <a:lnSpc>
                <a:spcPct val="90000"/>
              </a:lnSpc>
            </a:pPr>
            <a:r>
              <a:rPr lang="it-IT" sz="2600" b="1" dirty="0"/>
              <a:t>La lista delle 10 ricompense è lunga e non si può compattare</a:t>
            </a:r>
          </a:p>
        </p:txBody>
      </p:sp>
      <p:sp>
        <p:nvSpPr>
          <p:cNvPr id="10" name="Euristica"/>
          <p:cNvSpPr txBox="1"/>
          <p:nvPr/>
        </p:nvSpPr>
        <p:spPr>
          <a:xfrm>
            <a:off x="609600" y="254000"/>
            <a:ext cx="8890000" cy="279400"/>
          </a:xfrm>
          <a:prstGeom prst="rect">
            <a:avLst/>
          </a:prstGeom>
          <a:noFill/>
          <a:ln>
            <a:noFill/>
          </a:ln>
        </p:spPr>
        <p:txBody>
          <a:bodyPr wrap="square" lIns="0" tIns="0" rIns="0" bIns="0" anchor="t">
            <a:noAutofit/>
          </a:bodyPr>
          <a:lstStyle/>
          <a:p>
            <a:pPr marL="0" indent="0" algn="l">
              <a:lnSpc>
                <a:spcPct val="100000"/>
              </a:lnSpc>
              <a:spcBef>
                <a:spcPts val="0"/>
              </a:spcBef>
              <a:buNone/>
            </a:pPr>
            <a:r>
              <a:rPr lang="it-IT" sz="1200" b="1" dirty="0">
                <a:solidFill>
                  <a:srgbClr val="6C0850"/>
                </a:solidFill>
              </a:rPr>
              <a:t>H3 · CONTROLLO E LIBERTÀ DELL’UTENTE</a:t>
            </a:r>
          </a:p>
        </p:txBody>
      </p:sp>
      <p:sp>
        <p:nvSpPr>
          <p:cNvPr id="11" name="Badge gravità"/>
          <p:cNvSpPr/>
          <p:nvPr/>
        </p:nvSpPr>
        <p:spPr>
          <a:xfrm>
            <a:off x="9855200" y="381000"/>
            <a:ext cx="1727200" cy="736600"/>
          </a:xfrm>
          <a:prstGeom prst="roundRect">
            <a:avLst/>
          </a:prstGeom>
          <a:solidFill>
            <a:srgbClr val="8E2F72"/>
          </a:solidFill>
          <a:ln>
            <a:noFill/>
          </a:ln>
        </p:spPr>
        <p:txBody>
          <a:bodyPr wrap="square" lIns="0" tIns="0" rIns="0" bIns="0" anchor="ctr">
            <a:noAutofit/>
          </a:bodyPr>
          <a:lstStyle/>
          <a:p>
            <a:pPr marL="0" indent="0" algn="ctr">
              <a:lnSpc>
                <a:spcPct val="100000"/>
              </a:lnSpc>
              <a:spcBef>
                <a:spcPts val="0"/>
              </a:spcBef>
              <a:buNone/>
            </a:pPr>
            <a:r>
              <a:rPr lang="it-IT" sz="1000" b="1" dirty="0">
                <a:solidFill>
                  <a:srgbClr val="FFFFFF"/>
                </a:solidFill>
              </a:rPr>
              <a:t>GRAVITÀ</a:t>
            </a:r>
          </a:p>
          <a:p>
            <a:pPr marL="0" indent="0" algn="ctr">
              <a:lnSpc>
                <a:spcPct val="100000"/>
              </a:lnSpc>
              <a:spcBef>
                <a:spcPts val="0"/>
              </a:spcBef>
              <a:buNone/>
            </a:pPr>
            <a:r>
              <a:rPr lang="it-IT" sz="1800" b="1" dirty="0">
                <a:solidFill>
                  <a:srgbClr val="FFFFFF"/>
                </a:solidFill>
              </a:rPr>
              <a:t>3 </a:t>
            </a:r>
            <a:r>
              <a:rPr lang="it-IT" sz="1800" b="1">
                <a:solidFill>
                  <a:srgbClr val="FFFFFF"/>
                </a:solidFill>
              </a:rPr>
              <a:t>· Importante</a:t>
            </a:r>
            <a:endParaRPr lang="it-IT" sz="1800" b="1" dirty="0">
              <a:solidFill>
                <a:srgbClr val="FFFFFF"/>
              </a:solidFill>
            </a:endParaRPr>
          </a:p>
        </p:txBody>
      </p:sp>
      <p:sp>
        <p:nvSpPr>
          <p:cNvPr id="12" name="Problema"/>
          <p:cNvSpPr txBox="1"/>
          <p:nvPr/>
        </p:nvSpPr>
        <p:spPr>
          <a:xfrm>
            <a:off x="609600" y="1625600"/>
            <a:ext cx="5130800" cy="2616200"/>
          </a:xfrm>
          <a:prstGeom prst="rect">
            <a:avLst/>
          </a:prstGeom>
          <a:noFill/>
          <a:ln>
            <a:noFill/>
          </a:ln>
        </p:spPr>
        <p:txBody>
          <a:bodyPr wrap="square" lIns="0" tIns="0" rIns="0" bIns="0" anchor="t">
            <a:noAutofit/>
          </a:bodyPr>
          <a:lstStyle/>
          <a:p>
            <a:pPr marL="0" indent="0" algn="l">
              <a:lnSpc>
                <a:spcPct val="100000"/>
              </a:lnSpc>
              <a:spcBef>
                <a:spcPts val="0"/>
              </a:spcBef>
              <a:buNone/>
            </a:pPr>
            <a:r>
              <a:rPr lang="it-IT" sz="1400" b="1" dirty="0">
                <a:solidFill>
                  <a:srgbClr val="6C0850"/>
                </a:solidFill>
              </a:rPr>
              <a:t>Problema</a:t>
            </a:r>
          </a:p>
          <a:p>
            <a:pPr marL="228600" indent="-228600" algn="l">
              <a:lnSpc>
                <a:spcPct val="100000"/>
              </a:lnSpc>
              <a:spcBef>
                <a:spcPts val="500"/>
              </a:spcBef>
              <a:buClr>
                <a:srgbClr val="6C0850"/>
              </a:buClr>
              <a:buFont typeface="Arial"/>
              <a:buChar char="•"/>
            </a:pPr>
            <a:r>
              <a:rPr lang="it-IT" sz="1400" b="0" dirty="0">
                <a:solidFill>
                  <a:srgbClr val="231C21"/>
                </a:solidFill>
              </a:rPr>
              <a:t>Le </a:t>
            </a:r>
            <a:r>
              <a:rPr lang="it-IT" sz="1400" b="1" dirty="0">
                <a:solidFill>
                  <a:srgbClr val="231C21"/>
                </a:solidFill>
              </a:rPr>
              <a:t>10 ricompense</a:t>
            </a:r>
            <a:r>
              <a:rPr lang="it-IT" sz="1400" b="0" dirty="0">
                <a:solidFill>
                  <a:srgbClr val="231C21"/>
                </a:solidFill>
              </a:rPr>
              <a:t> (da «FAI TU» a 1.000 €) sono in un unico elenco verticale</a:t>
            </a:r>
          </a:p>
          <a:p>
            <a:pPr marL="228600" indent="-228600" algn="l">
              <a:lnSpc>
                <a:spcPct val="100000"/>
              </a:lnSpc>
              <a:spcBef>
                <a:spcPts val="500"/>
              </a:spcBef>
              <a:buClr>
                <a:srgbClr val="6C0850"/>
              </a:buClr>
              <a:buFont typeface="Arial"/>
              <a:buChar char="•"/>
            </a:pPr>
            <a:r>
              <a:rPr lang="it-IT" sz="1400" b="0" dirty="0">
                <a:solidFill>
                  <a:srgbClr val="231C21"/>
                </a:solidFill>
              </a:rPr>
              <a:t>Ogni blocco ha immagine, testo bilingue e contatori: trovare il livello voluto richiede </a:t>
            </a:r>
            <a:r>
              <a:rPr lang="it-IT" sz="1400" b="1" dirty="0">
                <a:solidFill>
                  <a:srgbClr val="231C21"/>
                </a:solidFill>
              </a:rPr>
              <a:t>molto scorrimento</a:t>
            </a:r>
          </a:p>
          <a:p>
            <a:pPr marL="228600" indent="-228600" algn="l">
              <a:lnSpc>
                <a:spcPct val="100000"/>
              </a:lnSpc>
              <a:spcBef>
                <a:spcPts val="500"/>
              </a:spcBef>
              <a:buClr>
                <a:srgbClr val="6C0850"/>
              </a:buClr>
              <a:buFont typeface="Arial"/>
              <a:buChar char="•"/>
            </a:pPr>
            <a:r>
              <a:rPr lang="it-IT" sz="1400" b="0" dirty="0">
                <a:solidFill>
                  <a:srgbClr val="231C21"/>
                </a:solidFill>
              </a:rPr>
              <a:t>L’utente non può filtrare, comprimere o confrontare i livelli</a:t>
            </a:r>
          </a:p>
          <a:p>
            <a:pPr marL="0" indent="0" algn="l">
              <a:lnSpc>
                <a:spcPct val="100000"/>
              </a:lnSpc>
              <a:spcBef>
                <a:spcPts val="900"/>
              </a:spcBef>
              <a:buNone/>
            </a:pPr>
            <a:r>
              <a:rPr lang="it-IT" sz="1100" b="0" dirty="0">
                <a:solidFill>
                  <a:srgbClr val="6B6168"/>
                </a:solidFill>
              </a:rPr>
              <a:t>Gravità 3 dalle note.</a:t>
            </a:r>
          </a:p>
        </p:txBody>
      </p:sp>
      <p:sp>
        <p:nvSpPr>
          <p:cNvPr id="13" name="Soluzione"/>
          <p:cNvSpPr/>
          <p:nvPr/>
        </p:nvSpPr>
        <p:spPr>
          <a:xfrm>
            <a:off x="609600" y="4394200"/>
            <a:ext cx="5130800" cy="1727200"/>
          </a:xfrm>
          <a:prstGeom prst="rect">
            <a:avLst/>
          </a:prstGeom>
          <a:solidFill>
            <a:srgbClr val="F3EEF1"/>
          </a:solidFill>
          <a:ln>
            <a:noFill/>
          </a:ln>
        </p:spPr>
        <p:txBody>
          <a:bodyPr wrap="square" lIns="152400" tIns="152400" rIns="152400" bIns="152400" anchor="t">
            <a:noAutofit/>
          </a:bodyPr>
          <a:lstStyle/>
          <a:p>
            <a:pPr marL="0" indent="0" algn="l">
              <a:lnSpc>
                <a:spcPct val="100000"/>
              </a:lnSpc>
              <a:spcBef>
                <a:spcPts val="0"/>
              </a:spcBef>
              <a:buNone/>
            </a:pPr>
            <a:r>
              <a:rPr lang="it-IT" sz="1400" b="1" dirty="0">
                <a:solidFill>
                  <a:srgbClr val="6C0850"/>
                </a:solidFill>
              </a:rPr>
              <a:t>Possibile soluzione</a:t>
            </a:r>
          </a:p>
          <a:p>
            <a:pPr marL="0" indent="0" algn="l">
              <a:lnSpc>
                <a:spcPct val="100000"/>
              </a:lnSpc>
              <a:spcBef>
                <a:spcPts val="400"/>
              </a:spcBef>
              <a:buNone/>
            </a:pPr>
            <a:r>
              <a:rPr lang="it-IT" sz="1400" b="0" dirty="0">
                <a:solidFill>
                  <a:srgbClr val="231C21"/>
                </a:solidFill>
              </a:rPr>
              <a:t>Elenco compatto con importo e titolo, dettagli che si aprono al clic, oppure tabella di confronto dei livelli.</a:t>
            </a:r>
          </a:p>
        </p:txBody>
      </p:sp>
      <p:sp>
        <p:nvSpPr>
          <p:cNvPr id="14" name="Segnaposto immagine 1"/>
          <p:cNvSpPr/>
          <p:nvPr/>
        </p:nvSpPr>
        <p:spPr>
          <a:xfrm>
            <a:off x="6045200" y="1625600"/>
            <a:ext cx="5537200" cy="4495800"/>
          </a:xfrm>
          <a:prstGeom prst="rect">
            <a:avLst/>
          </a:prstGeom>
          <a:solidFill>
            <a:srgbClr val="F7F4F6"/>
          </a:solidFill>
          <a:ln w="15875">
            <a:solidFill>
              <a:srgbClr val="B07A9F"/>
            </a:solidFill>
            <a:prstDash val="dash"/>
          </a:ln>
        </p:spPr>
        <p:txBody>
          <a:bodyPr wrap="square" lIns="127000" tIns="127000" rIns="127000" bIns="127000" anchor="ctr">
            <a:noAutofit/>
          </a:bodyPr>
          <a:lstStyle/>
          <a:p>
            <a:pPr marL="0" indent="0" algn="ctr">
              <a:lnSpc>
                <a:spcPct val="100000"/>
              </a:lnSpc>
              <a:spcBef>
                <a:spcPts val="0"/>
              </a:spcBef>
              <a:buNone/>
            </a:pPr>
            <a:r>
              <a:rPr lang="it-IT" sz="1200" b="1" dirty="0">
                <a:solidFill>
                  <a:srgbClr val="6C0850"/>
                </a:solidFill>
              </a:rPr>
              <a:t>[ SCREENSHOT DA FARE ]</a:t>
            </a:r>
          </a:p>
          <a:p>
            <a:pPr marL="0" indent="0" algn="ctr">
              <a:lnSpc>
                <a:spcPct val="100000"/>
              </a:lnSpc>
              <a:spcBef>
                <a:spcPts val="400"/>
              </a:spcBef>
              <a:buNone/>
            </a:pPr>
            <a:r>
              <a:rPr lang="it-IT" sz="1400" b="1" dirty="0">
                <a:solidFill>
                  <a:srgbClr val="231C21"/>
                </a:solidFill>
              </a:rPr>
              <a:t>Elenco delle ricompense</a:t>
            </a:r>
          </a:p>
          <a:p>
            <a:pPr marL="0" indent="0" algn="ctr">
              <a:lnSpc>
                <a:spcPct val="100000"/>
              </a:lnSpc>
              <a:spcBef>
                <a:spcPts val="300"/>
              </a:spcBef>
              <a:buNone/>
            </a:pPr>
            <a:r>
              <a:rPr lang="it-IT" sz="900" b="0" dirty="0">
                <a:solidFill>
                  <a:srgbClr val="6B6168"/>
                </a:solidFill>
              </a:rPr>
              <a:t>Salvare in /Users/andreock/Desktop/hci_gruppo_a/assignment1/parti/antofallea/src/</a:t>
            </a:r>
          </a:p>
          <a:p>
            <a:pPr marL="0" indent="0" algn="ctr">
              <a:lnSpc>
                <a:spcPct val="100000"/>
              </a:lnSpc>
              <a:spcBef>
                <a:spcPts val="300"/>
              </a:spcBef>
              <a:buNone/>
            </a:pPr>
            <a:r>
              <a:rPr lang="it-IT" sz="1000" b="0" dirty="0">
                <a:solidFill>
                  <a:srgbClr val="6B6168"/>
                </a:solidFill>
              </a:rPr>
              <a:t>Annotare con cerchi e frecce</a:t>
            </a:r>
          </a:p>
        </p:txBody>
      </p:sp>
      <p:sp>
        <p:nvSpPr>
          <p:cNvPr id="15" name="Pagine e task"/>
          <p:cNvSpPr txBox="1"/>
          <p:nvPr/>
        </p:nvSpPr>
        <p:spPr>
          <a:xfrm>
            <a:off x="609600" y="6273800"/>
            <a:ext cx="10972800" cy="381000"/>
          </a:xfrm>
          <a:prstGeom prst="rect">
            <a:avLst/>
          </a:prstGeom>
          <a:noFill/>
          <a:ln>
            <a:noFill/>
          </a:ln>
        </p:spPr>
        <p:txBody>
          <a:bodyPr wrap="square" lIns="0" tIns="0" rIns="0" bIns="0" anchor="b">
            <a:noAutofit/>
          </a:bodyPr>
          <a:lstStyle/>
          <a:p>
            <a:pPr marL="0" indent="0" algn="l">
              <a:lnSpc>
                <a:spcPct val="100000"/>
              </a:lnSpc>
              <a:spcBef>
                <a:spcPts val="0"/>
              </a:spcBef>
              <a:buNone/>
            </a:pPr>
            <a:r>
              <a:rPr lang="it-IT" sz="1000" b="1" dirty="0">
                <a:solidFill>
                  <a:srgbClr val="6B6168"/>
                </a:solidFill>
              </a:rPr>
              <a:t>Pagina:</a:t>
            </a:r>
            <a:r>
              <a:rPr lang="it-IT" sz="1000" b="0" dirty="0">
                <a:solidFill>
                  <a:srgbClr val="6B6168"/>
                </a:solidFill>
              </a:rPr>
              <a:t> Progetto «Mind the </a:t>
            </a:r>
            <a:r>
              <a:rPr lang="it-IT" sz="1000" b="0">
                <a:solidFill>
                  <a:srgbClr val="6B6168"/>
                </a:solidFill>
              </a:rPr>
              <a:t>Climate»   </a:t>
            </a:r>
            <a:r>
              <a:rPr lang="it-IT" sz="1000" b="1" dirty="0">
                <a:solidFill>
                  <a:srgbClr val="6B6168"/>
                </a:solidFill>
              </a:rPr>
              <a:t>Task</a:t>
            </a:r>
            <a:r>
              <a:rPr lang="it-IT" sz="1000" b="1">
                <a:solidFill>
                  <a:srgbClr val="6B6168"/>
                </a:solidFill>
              </a:rPr>
              <a:t>:</a:t>
            </a:r>
            <a:r>
              <a:rPr lang="it-IT" sz="1000" b="0">
                <a:solidFill>
                  <a:srgbClr val="6B6168"/>
                </a:solidFill>
              </a:rPr>
              <a:t> T5</a:t>
            </a:r>
            <a:endParaRPr lang="it-IT" sz="1000" b="0" dirty="0">
              <a:solidFill>
                <a:srgbClr val="6B6168"/>
              </a:solidFill>
            </a:endParaRPr>
          </a:p>
        </p:txBody>
      </p:sp>
    </p:spTree>
    <p:extLst>
      <p:ext uri="{BB962C8B-B14F-4D97-AF65-F5344CB8AC3E}">
        <p14:creationId xmlns:p14="http://schemas.microsoft.com/office/powerpoint/2010/main" val="251516415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BB235101-5A93-0B63-9E1D-51584D7B7BE0}"/>
              </a:ext>
            </a:extLst>
          </p:cNvPr>
          <p:cNvSpPr>
            <a:spLocks noGrp="1"/>
          </p:cNvSpPr>
          <p:nvPr>
            <p:ph type="title"/>
          </p:nvPr>
        </p:nvSpPr>
        <p:spPr>
          <a:xfrm>
            <a:off x="609600" y="558800"/>
            <a:ext cx="8991600" cy="889000"/>
          </a:xfrm>
        </p:spPr>
        <p:txBody>
          <a:bodyPr anchor="t"/>
          <a:lstStyle/>
          <a:p>
            <a:pPr>
              <a:lnSpc>
                <a:spcPct val="90000"/>
              </a:lnSpc>
            </a:pPr>
            <a:r>
              <a:rPr lang="it-IT" sz="2600" b="1" dirty="0"/>
              <a:t>I tooltip sembrano link ma non portano da nessuna parte</a:t>
            </a:r>
          </a:p>
        </p:txBody>
      </p:sp>
      <p:sp>
        <p:nvSpPr>
          <p:cNvPr id="10" name="Euristica"/>
          <p:cNvSpPr txBox="1"/>
          <p:nvPr/>
        </p:nvSpPr>
        <p:spPr>
          <a:xfrm>
            <a:off x="609600" y="254000"/>
            <a:ext cx="8890000" cy="279400"/>
          </a:xfrm>
          <a:prstGeom prst="rect">
            <a:avLst/>
          </a:prstGeom>
          <a:noFill/>
          <a:ln>
            <a:noFill/>
          </a:ln>
        </p:spPr>
        <p:txBody>
          <a:bodyPr wrap="square" lIns="0" tIns="0" rIns="0" bIns="0" anchor="t">
            <a:noAutofit/>
          </a:bodyPr>
          <a:lstStyle/>
          <a:p>
            <a:pPr marL="0" indent="0" algn="l">
              <a:lnSpc>
                <a:spcPct val="100000"/>
              </a:lnSpc>
              <a:spcBef>
                <a:spcPts val="0"/>
              </a:spcBef>
              <a:buNone/>
            </a:pPr>
            <a:r>
              <a:rPr lang="it-IT" sz="1200" b="1" dirty="0">
                <a:solidFill>
                  <a:srgbClr val="6C0850"/>
                </a:solidFill>
              </a:rPr>
              <a:t>H4 · COERENZA E STANDARD  ·  H10 AIUTO</a:t>
            </a:r>
          </a:p>
        </p:txBody>
      </p:sp>
      <p:sp>
        <p:nvSpPr>
          <p:cNvPr id="11" name="Badge gravità"/>
          <p:cNvSpPr/>
          <p:nvPr/>
        </p:nvSpPr>
        <p:spPr>
          <a:xfrm>
            <a:off x="9855200" y="381000"/>
            <a:ext cx="1727200" cy="736600"/>
          </a:xfrm>
          <a:prstGeom prst="roundRect">
            <a:avLst/>
          </a:prstGeom>
          <a:solidFill>
            <a:srgbClr val="C7A2BB"/>
          </a:solidFill>
          <a:ln>
            <a:noFill/>
          </a:ln>
        </p:spPr>
        <p:txBody>
          <a:bodyPr wrap="square" lIns="0" tIns="0" rIns="0" bIns="0" anchor="ctr">
            <a:noAutofit/>
          </a:bodyPr>
          <a:lstStyle/>
          <a:p>
            <a:pPr marL="0" indent="0" algn="ctr">
              <a:lnSpc>
                <a:spcPct val="100000"/>
              </a:lnSpc>
              <a:spcBef>
                <a:spcPts val="0"/>
              </a:spcBef>
              <a:buNone/>
            </a:pPr>
            <a:r>
              <a:rPr lang="it-IT" sz="1000" b="1" dirty="0">
                <a:solidFill>
                  <a:srgbClr val="41002F"/>
                </a:solidFill>
              </a:rPr>
              <a:t>GRAVITÀ</a:t>
            </a:r>
          </a:p>
          <a:p>
            <a:pPr marL="0" indent="0" algn="ctr">
              <a:lnSpc>
                <a:spcPct val="100000"/>
              </a:lnSpc>
              <a:spcBef>
                <a:spcPts val="0"/>
              </a:spcBef>
              <a:buNone/>
            </a:pPr>
            <a:r>
              <a:rPr lang="it-IT" sz="1800" b="1" dirty="0">
                <a:solidFill>
                  <a:srgbClr val="41002F"/>
                </a:solidFill>
              </a:rPr>
              <a:t>2 </a:t>
            </a:r>
            <a:r>
              <a:rPr lang="it-IT" sz="1800" b="1">
                <a:solidFill>
                  <a:srgbClr val="41002F"/>
                </a:solidFill>
              </a:rPr>
              <a:t>· Minore</a:t>
            </a:r>
            <a:endParaRPr lang="it-IT" sz="1800" b="1" dirty="0">
              <a:solidFill>
                <a:srgbClr val="41002F"/>
              </a:solidFill>
            </a:endParaRPr>
          </a:p>
        </p:txBody>
      </p:sp>
      <p:sp>
        <p:nvSpPr>
          <p:cNvPr id="12" name="Problema"/>
          <p:cNvSpPr txBox="1"/>
          <p:nvPr/>
        </p:nvSpPr>
        <p:spPr>
          <a:xfrm>
            <a:off x="609600" y="1625600"/>
            <a:ext cx="5130800" cy="2616200"/>
          </a:xfrm>
          <a:prstGeom prst="rect">
            <a:avLst/>
          </a:prstGeom>
          <a:noFill/>
          <a:ln>
            <a:noFill/>
          </a:ln>
        </p:spPr>
        <p:txBody>
          <a:bodyPr wrap="square" lIns="0" tIns="0" rIns="0" bIns="0" anchor="t">
            <a:noAutofit/>
          </a:bodyPr>
          <a:lstStyle/>
          <a:p>
            <a:pPr marL="0" indent="0" algn="l">
              <a:lnSpc>
                <a:spcPct val="100000"/>
              </a:lnSpc>
              <a:spcBef>
                <a:spcPts val="0"/>
              </a:spcBef>
              <a:buNone/>
            </a:pPr>
            <a:r>
              <a:rPr lang="it-IT" sz="1400" b="1" dirty="0">
                <a:solidFill>
                  <a:srgbClr val="6C0850"/>
                </a:solidFill>
              </a:rPr>
              <a:t>Problema</a:t>
            </a:r>
          </a:p>
          <a:p>
            <a:pPr marL="228600" indent="-228600" algn="l">
              <a:lnSpc>
                <a:spcPct val="100000"/>
              </a:lnSpc>
              <a:spcBef>
                <a:spcPts val="500"/>
              </a:spcBef>
              <a:buClr>
                <a:srgbClr val="6C0850"/>
              </a:buClr>
              <a:buFont typeface="Arial"/>
              <a:buChar char="•"/>
            </a:pPr>
            <a:r>
              <a:rPr lang="it-IT" sz="1400" b="0" dirty="0">
                <a:solidFill>
                  <a:srgbClr val="231C21"/>
                </a:solidFill>
              </a:rPr>
              <a:t>«O tutto o niente!» e gli </a:t>
            </a:r>
            <a:r>
              <a:rPr lang="it-IT" sz="1400" b="1" dirty="0">
                <a:solidFill>
                  <a:srgbClr val="231C21"/>
                </a:solidFill>
              </a:rPr>
              <a:t>obiettivi di sostenibilità</a:t>
            </a:r>
            <a:r>
              <a:rPr lang="it-IT" sz="1400" b="0" dirty="0">
                <a:solidFill>
                  <a:srgbClr val="231C21"/>
                </a:solidFill>
              </a:rPr>
              <a:t> sono resi come link: il browser li tratta come tali</a:t>
            </a:r>
          </a:p>
          <a:p>
            <a:pPr marL="228600" indent="-228600" algn="l">
              <a:lnSpc>
                <a:spcPct val="100000"/>
              </a:lnSpc>
              <a:spcBef>
                <a:spcPts val="500"/>
              </a:spcBef>
              <a:buClr>
                <a:srgbClr val="6C0850"/>
              </a:buClr>
              <a:buFont typeface="Arial"/>
              <a:buChar char="•"/>
            </a:pPr>
            <a:r>
              <a:rPr lang="it-IT" sz="1400" b="0" dirty="0">
                <a:solidFill>
                  <a:srgbClr val="231C21"/>
                </a:solidFill>
              </a:rPr>
              <a:t>Il link punta a «#»: </a:t>
            </a:r>
            <a:r>
              <a:rPr lang="it-IT" sz="1400" b="1" dirty="0">
                <a:solidFill>
                  <a:srgbClr val="231C21"/>
                </a:solidFill>
              </a:rPr>
              <a:t>nessuna pagina</a:t>
            </a:r>
            <a:r>
              <a:rPr lang="it-IT" sz="1400" b="0" dirty="0">
                <a:solidFill>
                  <a:srgbClr val="231C21"/>
                </a:solidFill>
              </a:rPr>
              <a:t> di spiegazione</a:t>
            </a:r>
          </a:p>
          <a:p>
            <a:pPr marL="228600" indent="-228600" algn="l">
              <a:lnSpc>
                <a:spcPct val="100000"/>
              </a:lnSpc>
              <a:spcBef>
                <a:spcPts val="500"/>
              </a:spcBef>
              <a:buClr>
                <a:srgbClr val="6C0850"/>
              </a:buClr>
              <a:buFont typeface="Arial"/>
              <a:buChar char="•"/>
            </a:pPr>
            <a:r>
              <a:rPr lang="it-IT" sz="1400" b="0" dirty="0">
                <a:solidFill>
                  <a:srgbClr val="231C21"/>
                </a:solidFill>
              </a:rPr>
              <a:t>La regola che decide la restituzione del denaro sta </a:t>
            </a:r>
            <a:r>
              <a:rPr lang="it-IT" sz="1400" b="1" dirty="0">
                <a:solidFill>
                  <a:srgbClr val="231C21"/>
                </a:solidFill>
              </a:rPr>
              <a:t>solo nel tooltip</a:t>
            </a:r>
            <a:r>
              <a:rPr lang="it-IT" sz="1400" b="0" dirty="0">
                <a:solidFill>
                  <a:srgbClr val="231C21"/>
                </a:solidFill>
              </a:rPr>
              <a:t> e non è richiamata nel modulo di donazione</a:t>
            </a:r>
          </a:p>
          <a:p>
            <a:pPr marL="0" indent="0" algn="l">
              <a:lnSpc>
                <a:spcPct val="100000"/>
              </a:lnSpc>
              <a:spcBef>
                <a:spcPts val="900"/>
              </a:spcBef>
              <a:buNone/>
            </a:pPr>
            <a:r>
              <a:rPr lang="it-IT" sz="1100" b="0" dirty="0">
                <a:solidFill>
                  <a:srgbClr val="6B6168"/>
                </a:solidFill>
              </a:rPr>
              <a:t>Gravità 2 dal CSV (P21), confermato su Mind the Climate. Le note indicano il tooltip anche come aspetto positivo: è utile, ma è nascosto.</a:t>
            </a:r>
          </a:p>
        </p:txBody>
      </p:sp>
      <p:sp>
        <p:nvSpPr>
          <p:cNvPr id="13" name="Soluzione"/>
          <p:cNvSpPr/>
          <p:nvPr/>
        </p:nvSpPr>
        <p:spPr>
          <a:xfrm>
            <a:off x="609600" y="4394200"/>
            <a:ext cx="5130800" cy="1727200"/>
          </a:xfrm>
          <a:prstGeom prst="rect">
            <a:avLst/>
          </a:prstGeom>
          <a:solidFill>
            <a:srgbClr val="F3EEF1"/>
          </a:solidFill>
          <a:ln>
            <a:noFill/>
          </a:ln>
        </p:spPr>
        <p:txBody>
          <a:bodyPr wrap="square" lIns="152400" tIns="152400" rIns="152400" bIns="152400" anchor="t">
            <a:noAutofit/>
          </a:bodyPr>
          <a:lstStyle/>
          <a:p>
            <a:pPr marL="0" indent="0" algn="l">
              <a:lnSpc>
                <a:spcPct val="100000"/>
              </a:lnSpc>
              <a:spcBef>
                <a:spcPts val="0"/>
              </a:spcBef>
              <a:buNone/>
            </a:pPr>
            <a:r>
              <a:rPr lang="it-IT" sz="1400" b="1" dirty="0">
                <a:solidFill>
                  <a:srgbClr val="6C0850"/>
                </a:solidFill>
              </a:rPr>
              <a:t>Possibile soluzione</a:t>
            </a:r>
          </a:p>
          <a:p>
            <a:pPr marL="0" indent="0" algn="l">
              <a:lnSpc>
                <a:spcPct val="100000"/>
              </a:lnSpc>
              <a:spcBef>
                <a:spcPts val="400"/>
              </a:spcBef>
              <a:buNone/>
            </a:pPr>
            <a:r>
              <a:rPr lang="it-IT" sz="1400" b="0" dirty="0">
                <a:solidFill>
                  <a:srgbClr val="231C21"/>
                </a:solidFill>
              </a:rPr>
              <a:t>Icona «?» con pannello che si apre al clic, link alla FAQ, testo adattato allo stato della campagna e richiamo nel modulo di donazione.</a:t>
            </a:r>
          </a:p>
        </p:txBody>
      </p:sp>
      <p:sp>
        <p:nvSpPr>
          <p:cNvPr id="14" name="Segnaposto immagine 1"/>
          <p:cNvSpPr/>
          <p:nvPr/>
        </p:nvSpPr>
        <p:spPr>
          <a:xfrm>
            <a:off x="6045200" y="1625600"/>
            <a:ext cx="5537200" cy="4495800"/>
          </a:xfrm>
          <a:prstGeom prst="rect">
            <a:avLst/>
          </a:prstGeom>
          <a:solidFill>
            <a:srgbClr val="F7F4F6"/>
          </a:solidFill>
          <a:ln w="15875">
            <a:solidFill>
              <a:srgbClr val="B07A9F"/>
            </a:solidFill>
            <a:prstDash val="dash"/>
          </a:ln>
        </p:spPr>
        <p:txBody>
          <a:bodyPr wrap="square" lIns="127000" tIns="127000" rIns="127000" bIns="127000" anchor="ctr">
            <a:noAutofit/>
          </a:bodyPr>
          <a:lstStyle/>
          <a:p>
            <a:pPr marL="0" indent="0" algn="ctr">
              <a:lnSpc>
                <a:spcPct val="100000"/>
              </a:lnSpc>
              <a:spcBef>
                <a:spcPts val="0"/>
              </a:spcBef>
              <a:buNone/>
            </a:pPr>
            <a:r>
              <a:rPr lang="it-IT" sz="1200" b="1" dirty="0">
                <a:solidFill>
                  <a:srgbClr val="6C0850"/>
                </a:solidFill>
              </a:rPr>
              <a:t>[ SCREENSHOT DA INSERIRE ]</a:t>
            </a:r>
          </a:p>
          <a:p>
            <a:pPr marL="0" indent="0" algn="ctr">
              <a:lnSpc>
                <a:spcPct val="100000"/>
              </a:lnSpc>
              <a:spcBef>
                <a:spcPts val="400"/>
              </a:spcBef>
              <a:buNone/>
            </a:pPr>
            <a:r>
              <a:rPr lang="it-IT" sz="1400" b="1" dirty="0">
                <a:solidFill>
                  <a:srgbClr val="231C21"/>
                </a:solidFill>
              </a:rPr>
              <a:t>bright_tooltip.jpg</a:t>
            </a:r>
          </a:p>
          <a:p>
            <a:pPr marL="0" indent="0" algn="ctr">
              <a:lnSpc>
                <a:spcPct val="100000"/>
              </a:lnSpc>
              <a:spcBef>
                <a:spcPts val="300"/>
              </a:spcBef>
              <a:buNone/>
            </a:pPr>
            <a:r>
              <a:rPr lang="it-IT" sz="900" b="0" dirty="0">
                <a:solidFill>
                  <a:srgbClr val="6B6168"/>
                </a:solidFill>
              </a:rPr>
              <a:t>/Users/andreock/Desktop/hci_gruppo_a/assignment1/parti/antofallea/src/bright_tooltip.jpg</a:t>
            </a:r>
          </a:p>
          <a:p>
            <a:pPr marL="0" indent="0" algn="ctr">
              <a:lnSpc>
                <a:spcPct val="100000"/>
              </a:lnSpc>
              <a:spcBef>
                <a:spcPts val="300"/>
              </a:spcBef>
              <a:buNone/>
            </a:pPr>
            <a:r>
              <a:rPr lang="it-IT" sz="1000" b="0" dirty="0">
                <a:solidFill>
                  <a:srgbClr val="6B6168"/>
                </a:solidFill>
              </a:rPr>
              <a:t>Annotare con cerchi e frecce</a:t>
            </a:r>
          </a:p>
        </p:txBody>
      </p:sp>
      <p:sp>
        <p:nvSpPr>
          <p:cNvPr id="15" name="Pagine e task"/>
          <p:cNvSpPr txBox="1"/>
          <p:nvPr/>
        </p:nvSpPr>
        <p:spPr>
          <a:xfrm>
            <a:off x="609600" y="6273800"/>
            <a:ext cx="10972800" cy="381000"/>
          </a:xfrm>
          <a:prstGeom prst="rect">
            <a:avLst/>
          </a:prstGeom>
          <a:noFill/>
          <a:ln>
            <a:noFill/>
          </a:ln>
        </p:spPr>
        <p:txBody>
          <a:bodyPr wrap="square" lIns="0" tIns="0" rIns="0" bIns="0" anchor="b">
            <a:noAutofit/>
          </a:bodyPr>
          <a:lstStyle/>
          <a:p>
            <a:pPr marL="0" indent="0" algn="l">
              <a:lnSpc>
                <a:spcPct val="100000"/>
              </a:lnSpc>
              <a:spcBef>
                <a:spcPts val="0"/>
              </a:spcBef>
              <a:buNone/>
            </a:pPr>
            <a:r>
              <a:rPr lang="it-IT" sz="1000" b="1" dirty="0">
                <a:solidFill>
                  <a:srgbClr val="6B6168"/>
                </a:solidFill>
              </a:rPr>
              <a:t>Pagine:</a:t>
            </a:r>
            <a:r>
              <a:rPr lang="it-IT" sz="1000" b="0" dirty="0">
                <a:solidFill>
                  <a:srgbClr val="6B6168"/>
                </a:solidFill>
              </a:rPr>
              <a:t> Progetti «Mind the Climate», «BRIGHT», «Fai Brillare la Ricerca!», «MILK-ACT»   </a:t>
            </a:r>
            <a:r>
              <a:rPr lang="it-IT" sz="1000" b="1" dirty="0">
                <a:solidFill>
                  <a:srgbClr val="6B6168"/>
                </a:solidFill>
              </a:rPr>
              <a:t>Task:</a:t>
            </a:r>
            <a:r>
              <a:rPr lang="it-IT" sz="1000" b="0" dirty="0">
                <a:solidFill>
                  <a:srgbClr val="6B6168"/>
                </a:solidFill>
              </a:rPr>
              <a:t> T6</a:t>
            </a:r>
            <a:r>
              <a:rPr lang="it-IT" sz="1000" b="0">
                <a:solidFill>
                  <a:srgbClr val="6B6168"/>
                </a:solidFill>
              </a:rPr>
              <a:t>, T4</a:t>
            </a:r>
            <a:endParaRPr lang="it-IT" sz="1000" b="0" dirty="0">
              <a:solidFill>
                <a:srgbClr val="6B6168"/>
              </a:solidFill>
            </a:endParaRPr>
          </a:p>
        </p:txBody>
      </p:sp>
    </p:spTree>
    <p:extLst>
      <p:ext uri="{BB962C8B-B14F-4D97-AF65-F5344CB8AC3E}">
        <p14:creationId xmlns:p14="http://schemas.microsoft.com/office/powerpoint/2010/main" val="209400653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3A6E829C-9A53-D7BF-33B9-030C5B7A9044}"/>
              </a:ext>
            </a:extLst>
          </p:cNvPr>
          <p:cNvSpPr>
            <a:spLocks noGrp="1"/>
          </p:cNvSpPr>
          <p:nvPr>
            <p:ph type="title"/>
          </p:nvPr>
        </p:nvSpPr>
        <p:spPr>
          <a:xfrm>
            <a:off x="609600" y="558800"/>
            <a:ext cx="8991600" cy="889000"/>
          </a:xfrm>
        </p:spPr>
        <p:txBody>
          <a:bodyPr anchor="t"/>
          <a:lstStyle/>
          <a:p>
            <a:pPr>
              <a:lnSpc>
                <a:spcPct val="90000"/>
              </a:lnSpc>
            </a:pPr>
            <a:r>
              <a:rPr lang="it-IT" sz="2600" b="1" dirty="0"/>
              <a:t>Le ricompense più alte non mostrano il numero di sostenitori</a:t>
            </a:r>
          </a:p>
        </p:txBody>
      </p:sp>
      <p:sp>
        <p:nvSpPr>
          <p:cNvPr id="10" name="Euristica"/>
          <p:cNvSpPr txBox="1"/>
          <p:nvPr/>
        </p:nvSpPr>
        <p:spPr>
          <a:xfrm>
            <a:off x="609600" y="254000"/>
            <a:ext cx="8890000" cy="279400"/>
          </a:xfrm>
          <a:prstGeom prst="rect">
            <a:avLst/>
          </a:prstGeom>
          <a:noFill/>
          <a:ln>
            <a:noFill/>
          </a:ln>
        </p:spPr>
        <p:txBody>
          <a:bodyPr wrap="square" lIns="0" tIns="0" rIns="0" bIns="0" anchor="t">
            <a:noAutofit/>
          </a:bodyPr>
          <a:lstStyle/>
          <a:p>
            <a:pPr marL="0" indent="0" algn="l">
              <a:lnSpc>
                <a:spcPct val="100000"/>
              </a:lnSpc>
              <a:spcBef>
                <a:spcPts val="0"/>
              </a:spcBef>
              <a:buNone/>
            </a:pPr>
            <a:r>
              <a:rPr lang="it-IT" sz="1200" b="1" dirty="0">
                <a:solidFill>
                  <a:srgbClr val="6C0850"/>
                </a:solidFill>
              </a:rPr>
              <a:t>H4 · COERENZA E STANDARD</a:t>
            </a:r>
          </a:p>
        </p:txBody>
      </p:sp>
      <p:sp>
        <p:nvSpPr>
          <p:cNvPr id="11" name="Badge gravità"/>
          <p:cNvSpPr/>
          <p:nvPr/>
        </p:nvSpPr>
        <p:spPr>
          <a:xfrm>
            <a:off x="9855200" y="381000"/>
            <a:ext cx="1727200" cy="736600"/>
          </a:xfrm>
          <a:prstGeom prst="roundRect">
            <a:avLst/>
          </a:prstGeom>
          <a:solidFill>
            <a:srgbClr val="E9DCE5"/>
          </a:solidFill>
          <a:ln>
            <a:noFill/>
          </a:ln>
        </p:spPr>
        <p:txBody>
          <a:bodyPr wrap="square" lIns="0" tIns="0" rIns="0" bIns="0" anchor="ctr">
            <a:noAutofit/>
          </a:bodyPr>
          <a:lstStyle/>
          <a:p>
            <a:pPr marL="0" indent="0" algn="ctr">
              <a:lnSpc>
                <a:spcPct val="100000"/>
              </a:lnSpc>
              <a:spcBef>
                <a:spcPts val="0"/>
              </a:spcBef>
              <a:buNone/>
            </a:pPr>
            <a:r>
              <a:rPr lang="it-IT" sz="1000" b="1" dirty="0">
                <a:solidFill>
                  <a:srgbClr val="41002F"/>
                </a:solidFill>
              </a:rPr>
              <a:t>GRAVITÀ</a:t>
            </a:r>
          </a:p>
          <a:p>
            <a:pPr marL="0" indent="0" algn="ctr">
              <a:lnSpc>
                <a:spcPct val="100000"/>
              </a:lnSpc>
              <a:spcBef>
                <a:spcPts val="0"/>
              </a:spcBef>
              <a:buNone/>
            </a:pPr>
            <a:r>
              <a:rPr lang="it-IT" sz="1800" b="1" dirty="0">
                <a:solidFill>
                  <a:srgbClr val="41002F"/>
                </a:solidFill>
              </a:rPr>
              <a:t>1 </a:t>
            </a:r>
            <a:r>
              <a:rPr lang="it-IT" sz="1800" b="1">
                <a:solidFill>
                  <a:srgbClr val="41002F"/>
                </a:solidFill>
              </a:rPr>
              <a:t>· Superficiale</a:t>
            </a:r>
            <a:endParaRPr lang="it-IT" sz="1800" b="1" dirty="0">
              <a:solidFill>
                <a:srgbClr val="41002F"/>
              </a:solidFill>
            </a:endParaRPr>
          </a:p>
        </p:txBody>
      </p:sp>
      <p:sp>
        <p:nvSpPr>
          <p:cNvPr id="12" name="Problema"/>
          <p:cNvSpPr txBox="1"/>
          <p:nvPr/>
        </p:nvSpPr>
        <p:spPr>
          <a:xfrm>
            <a:off x="609600" y="1625600"/>
            <a:ext cx="5130800" cy="2616200"/>
          </a:xfrm>
          <a:prstGeom prst="rect">
            <a:avLst/>
          </a:prstGeom>
          <a:noFill/>
          <a:ln>
            <a:noFill/>
          </a:ln>
        </p:spPr>
        <p:txBody>
          <a:bodyPr wrap="square" lIns="0" tIns="0" rIns="0" bIns="0" anchor="t">
            <a:noAutofit/>
          </a:bodyPr>
          <a:lstStyle/>
          <a:p>
            <a:pPr marL="0" indent="0" algn="l">
              <a:lnSpc>
                <a:spcPct val="100000"/>
              </a:lnSpc>
              <a:spcBef>
                <a:spcPts val="0"/>
              </a:spcBef>
              <a:buNone/>
            </a:pPr>
            <a:r>
              <a:rPr lang="it-IT" sz="1400" b="1" dirty="0">
                <a:solidFill>
                  <a:srgbClr val="6C0850"/>
                </a:solidFill>
              </a:rPr>
              <a:t>Problema</a:t>
            </a:r>
          </a:p>
          <a:p>
            <a:pPr marL="228600" indent="-228600" algn="l">
              <a:lnSpc>
                <a:spcPct val="100000"/>
              </a:lnSpc>
              <a:spcBef>
                <a:spcPts val="500"/>
              </a:spcBef>
              <a:buClr>
                <a:srgbClr val="6C0850"/>
              </a:buClr>
              <a:buFont typeface="Arial"/>
              <a:buChar char="•"/>
            </a:pPr>
            <a:r>
              <a:rPr lang="it-IT" sz="1400" b="0" dirty="0">
                <a:solidFill>
                  <a:srgbClr val="231C21"/>
                </a:solidFill>
              </a:rPr>
              <a:t>Le ricompense basse riportano quanti le hanno scelte e quante ne restano</a:t>
            </a:r>
          </a:p>
          <a:p>
            <a:pPr marL="228600" indent="-228600" algn="l">
              <a:lnSpc>
                <a:spcPct val="100000"/>
              </a:lnSpc>
              <a:spcBef>
                <a:spcPts val="500"/>
              </a:spcBef>
              <a:buClr>
                <a:srgbClr val="6C0850"/>
              </a:buClr>
              <a:buFont typeface="Arial"/>
              <a:buChar char="•"/>
            </a:pPr>
            <a:r>
              <a:rPr lang="it-IT" sz="1400" b="0" dirty="0">
                <a:solidFill>
                  <a:srgbClr val="231C21"/>
                </a:solidFill>
              </a:rPr>
              <a:t>Per quelle più alte il </a:t>
            </a:r>
            <a:r>
              <a:rPr lang="it-IT" sz="1400" b="1" dirty="0">
                <a:solidFill>
                  <a:srgbClr val="231C21"/>
                </a:solidFill>
              </a:rPr>
              <a:t>contatore manca</a:t>
            </a:r>
            <a:r>
              <a:rPr lang="it-IT" sz="1400" b="0" dirty="0">
                <a:solidFill>
                  <a:srgbClr val="231C21"/>
                </a:solidFill>
              </a:rPr>
              <a:t> (probabilmente zero sostenitori)</a:t>
            </a:r>
          </a:p>
          <a:p>
            <a:pPr marL="228600" indent="-228600" algn="l">
              <a:lnSpc>
                <a:spcPct val="100000"/>
              </a:lnSpc>
              <a:spcBef>
                <a:spcPts val="500"/>
              </a:spcBef>
              <a:buClr>
                <a:srgbClr val="6C0850"/>
              </a:buClr>
              <a:buFont typeface="Arial"/>
              <a:buChar char="•"/>
            </a:pPr>
            <a:r>
              <a:rPr lang="it-IT" sz="1400" b="0" dirty="0">
                <a:solidFill>
                  <a:srgbClr val="231C21"/>
                </a:solidFill>
              </a:rPr>
              <a:t>Il formato non è uniforme e l’assenza non si spiega da sola</a:t>
            </a:r>
          </a:p>
          <a:p>
            <a:pPr marL="0" indent="0" algn="l">
              <a:lnSpc>
                <a:spcPct val="100000"/>
              </a:lnSpc>
              <a:spcBef>
                <a:spcPts val="900"/>
              </a:spcBef>
              <a:buNone/>
            </a:pPr>
            <a:r>
              <a:rPr lang="it-IT" sz="1100" b="0" dirty="0">
                <a:solidFill>
                  <a:srgbClr val="6B6168"/>
                </a:solidFill>
              </a:rPr>
              <a:t>Gravità 1 dalle note: l’informazione mancante pesa poco sulla scelta.</a:t>
            </a:r>
          </a:p>
        </p:txBody>
      </p:sp>
      <p:sp>
        <p:nvSpPr>
          <p:cNvPr id="13" name="Soluzione"/>
          <p:cNvSpPr/>
          <p:nvPr/>
        </p:nvSpPr>
        <p:spPr>
          <a:xfrm>
            <a:off x="609600" y="4394200"/>
            <a:ext cx="5130800" cy="1727200"/>
          </a:xfrm>
          <a:prstGeom prst="rect">
            <a:avLst/>
          </a:prstGeom>
          <a:solidFill>
            <a:srgbClr val="F3EEF1"/>
          </a:solidFill>
          <a:ln>
            <a:noFill/>
          </a:ln>
        </p:spPr>
        <p:txBody>
          <a:bodyPr wrap="square" lIns="152400" tIns="152400" rIns="152400" bIns="152400" anchor="t">
            <a:noAutofit/>
          </a:bodyPr>
          <a:lstStyle/>
          <a:p>
            <a:pPr marL="0" indent="0" algn="l">
              <a:lnSpc>
                <a:spcPct val="100000"/>
              </a:lnSpc>
              <a:spcBef>
                <a:spcPts val="0"/>
              </a:spcBef>
              <a:buNone/>
            </a:pPr>
            <a:r>
              <a:rPr lang="it-IT" sz="1400" b="1" dirty="0">
                <a:solidFill>
                  <a:srgbClr val="6C0850"/>
                </a:solidFill>
              </a:rPr>
              <a:t>Possibile soluzione</a:t>
            </a:r>
          </a:p>
          <a:p>
            <a:pPr marL="0" indent="0" algn="l">
              <a:lnSpc>
                <a:spcPct val="100000"/>
              </a:lnSpc>
              <a:spcBef>
                <a:spcPts val="400"/>
              </a:spcBef>
              <a:buNone/>
            </a:pPr>
            <a:r>
              <a:rPr lang="it-IT" sz="1400" b="0" dirty="0">
                <a:solidFill>
                  <a:srgbClr val="231C21"/>
                </a:solidFill>
              </a:rPr>
              <a:t>Mostrare sempre il contatore, anche «0 sostenitori · sii il primo».</a:t>
            </a:r>
          </a:p>
        </p:txBody>
      </p:sp>
      <p:sp>
        <p:nvSpPr>
          <p:cNvPr id="14" name="Segnaposto immagine 1"/>
          <p:cNvSpPr/>
          <p:nvPr/>
        </p:nvSpPr>
        <p:spPr>
          <a:xfrm>
            <a:off x="6045200" y="1625600"/>
            <a:ext cx="5537200" cy="4495800"/>
          </a:xfrm>
          <a:prstGeom prst="rect">
            <a:avLst/>
          </a:prstGeom>
          <a:solidFill>
            <a:srgbClr val="F7F4F6"/>
          </a:solidFill>
          <a:ln w="15875">
            <a:solidFill>
              <a:srgbClr val="B07A9F"/>
            </a:solidFill>
            <a:prstDash val="dash"/>
          </a:ln>
        </p:spPr>
        <p:txBody>
          <a:bodyPr wrap="square" lIns="127000" tIns="127000" rIns="127000" bIns="127000" anchor="ctr">
            <a:noAutofit/>
          </a:bodyPr>
          <a:lstStyle/>
          <a:p>
            <a:pPr marL="0" indent="0" algn="ctr">
              <a:lnSpc>
                <a:spcPct val="100000"/>
              </a:lnSpc>
              <a:spcBef>
                <a:spcPts val="0"/>
              </a:spcBef>
              <a:buNone/>
            </a:pPr>
            <a:r>
              <a:rPr lang="it-IT" sz="1200" b="1" dirty="0">
                <a:solidFill>
                  <a:srgbClr val="6C0850"/>
                </a:solidFill>
              </a:rPr>
              <a:t>[ SCREENSHOT DA FARE ]</a:t>
            </a:r>
          </a:p>
          <a:p>
            <a:pPr marL="0" indent="0" algn="ctr">
              <a:lnSpc>
                <a:spcPct val="100000"/>
              </a:lnSpc>
              <a:spcBef>
                <a:spcPts val="400"/>
              </a:spcBef>
              <a:buNone/>
            </a:pPr>
            <a:r>
              <a:rPr lang="it-IT" sz="1400" b="1" dirty="0">
                <a:solidFill>
                  <a:srgbClr val="231C21"/>
                </a:solidFill>
              </a:rPr>
              <a:t>Ricompensa alta senza contatore accanto a una con contatore</a:t>
            </a:r>
          </a:p>
          <a:p>
            <a:pPr marL="0" indent="0" algn="ctr">
              <a:lnSpc>
                <a:spcPct val="100000"/>
              </a:lnSpc>
              <a:spcBef>
                <a:spcPts val="300"/>
              </a:spcBef>
              <a:buNone/>
            </a:pPr>
            <a:r>
              <a:rPr lang="it-IT" sz="900" b="0" dirty="0">
                <a:solidFill>
                  <a:srgbClr val="6B6168"/>
                </a:solidFill>
              </a:rPr>
              <a:t>Salvare in /Users/andreock/Desktop/hci_gruppo_a/assignment1/parti/antofallea/src/</a:t>
            </a:r>
          </a:p>
          <a:p>
            <a:pPr marL="0" indent="0" algn="ctr">
              <a:lnSpc>
                <a:spcPct val="100000"/>
              </a:lnSpc>
              <a:spcBef>
                <a:spcPts val="300"/>
              </a:spcBef>
              <a:buNone/>
            </a:pPr>
            <a:r>
              <a:rPr lang="it-IT" sz="1000" b="0" dirty="0">
                <a:solidFill>
                  <a:srgbClr val="6B6168"/>
                </a:solidFill>
              </a:rPr>
              <a:t>Annotare con cerchi e frecce</a:t>
            </a:r>
          </a:p>
        </p:txBody>
      </p:sp>
      <p:sp>
        <p:nvSpPr>
          <p:cNvPr id="15" name="Pagine e task"/>
          <p:cNvSpPr txBox="1"/>
          <p:nvPr/>
        </p:nvSpPr>
        <p:spPr>
          <a:xfrm>
            <a:off x="609600" y="6273800"/>
            <a:ext cx="10972800" cy="381000"/>
          </a:xfrm>
          <a:prstGeom prst="rect">
            <a:avLst/>
          </a:prstGeom>
          <a:noFill/>
          <a:ln>
            <a:noFill/>
          </a:ln>
        </p:spPr>
        <p:txBody>
          <a:bodyPr wrap="square" lIns="0" tIns="0" rIns="0" bIns="0" anchor="b">
            <a:noAutofit/>
          </a:bodyPr>
          <a:lstStyle/>
          <a:p>
            <a:pPr marL="0" indent="0" algn="l">
              <a:lnSpc>
                <a:spcPct val="100000"/>
              </a:lnSpc>
              <a:spcBef>
                <a:spcPts val="0"/>
              </a:spcBef>
              <a:buNone/>
            </a:pPr>
            <a:r>
              <a:rPr lang="it-IT" sz="1000" b="1" dirty="0">
                <a:solidFill>
                  <a:srgbClr val="6B6168"/>
                </a:solidFill>
              </a:rPr>
              <a:t>Pagina:</a:t>
            </a:r>
            <a:r>
              <a:rPr lang="it-IT" sz="1000" b="0" dirty="0">
                <a:solidFill>
                  <a:srgbClr val="6B6168"/>
                </a:solidFill>
              </a:rPr>
              <a:t> Progetto «Mind the </a:t>
            </a:r>
            <a:r>
              <a:rPr lang="it-IT" sz="1000" b="0">
                <a:solidFill>
                  <a:srgbClr val="6B6168"/>
                </a:solidFill>
              </a:rPr>
              <a:t>Climate»   </a:t>
            </a:r>
            <a:r>
              <a:rPr lang="it-IT" sz="1000" b="1" dirty="0">
                <a:solidFill>
                  <a:srgbClr val="6B6168"/>
                </a:solidFill>
              </a:rPr>
              <a:t>Task</a:t>
            </a:r>
            <a:r>
              <a:rPr lang="it-IT" sz="1000" b="1">
                <a:solidFill>
                  <a:srgbClr val="6B6168"/>
                </a:solidFill>
              </a:rPr>
              <a:t>:</a:t>
            </a:r>
            <a:r>
              <a:rPr lang="it-IT" sz="1000" b="0">
                <a:solidFill>
                  <a:srgbClr val="6B6168"/>
                </a:solidFill>
              </a:rPr>
              <a:t> T5</a:t>
            </a:r>
            <a:endParaRPr lang="it-IT" sz="1000" b="0" dirty="0">
              <a:solidFill>
                <a:srgbClr val="6B6168"/>
              </a:solidFill>
            </a:endParaRPr>
          </a:p>
        </p:txBody>
      </p:sp>
    </p:spTree>
    <p:extLst>
      <p:ext uri="{BB962C8B-B14F-4D97-AF65-F5344CB8AC3E}">
        <p14:creationId xmlns:p14="http://schemas.microsoft.com/office/powerpoint/2010/main" val="57510804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85308EE0-7946-9A4A-DEDA-91CD6155570B}"/>
              </a:ext>
            </a:extLst>
          </p:cNvPr>
          <p:cNvSpPr>
            <a:spLocks noGrp="1"/>
          </p:cNvSpPr>
          <p:nvPr>
            <p:ph type="title"/>
          </p:nvPr>
        </p:nvSpPr>
        <p:spPr>
          <a:xfrm>
            <a:off x="609600" y="558800"/>
            <a:ext cx="8991600" cy="889000"/>
          </a:xfrm>
        </p:spPr>
        <p:txBody>
          <a:bodyPr anchor="t"/>
          <a:lstStyle/>
          <a:p>
            <a:pPr>
              <a:lnSpc>
                <a:spcPct val="90000"/>
              </a:lnSpc>
            </a:pPr>
            <a:r>
              <a:rPr lang="it-IT" sz="2600" b="1" dirty="0"/>
              <a:t>Il nome del donatore diventa pubblico se non si spunta «anonimo»</a:t>
            </a:r>
          </a:p>
        </p:txBody>
      </p:sp>
      <p:sp>
        <p:nvSpPr>
          <p:cNvPr id="10" name="Euristica"/>
          <p:cNvSpPr txBox="1"/>
          <p:nvPr/>
        </p:nvSpPr>
        <p:spPr>
          <a:xfrm>
            <a:off x="609600" y="254000"/>
            <a:ext cx="8890000" cy="279400"/>
          </a:xfrm>
          <a:prstGeom prst="rect">
            <a:avLst/>
          </a:prstGeom>
          <a:noFill/>
          <a:ln>
            <a:noFill/>
          </a:ln>
        </p:spPr>
        <p:txBody>
          <a:bodyPr wrap="square" lIns="0" tIns="0" rIns="0" bIns="0" anchor="t">
            <a:noAutofit/>
          </a:bodyPr>
          <a:lstStyle/>
          <a:p>
            <a:pPr marL="0" indent="0" algn="l">
              <a:lnSpc>
                <a:spcPct val="100000"/>
              </a:lnSpc>
              <a:spcBef>
                <a:spcPts val="0"/>
              </a:spcBef>
              <a:buNone/>
            </a:pPr>
            <a:r>
              <a:rPr lang="it-IT" sz="1200" b="1" dirty="0">
                <a:solidFill>
                  <a:srgbClr val="6C0850"/>
                </a:solidFill>
              </a:rPr>
              <a:t>H5 · PREVENZIONE DEGLI ERRORI</a:t>
            </a:r>
          </a:p>
        </p:txBody>
      </p:sp>
      <p:sp>
        <p:nvSpPr>
          <p:cNvPr id="11" name="Badge gravità"/>
          <p:cNvSpPr/>
          <p:nvPr/>
        </p:nvSpPr>
        <p:spPr>
          <a:xfrm>
            <a:off x="9855200" y="381000"/>
            <a:ext cx="1727200" cy="736600"/>
          </a:xfrm>
          <a:prstGeom prst="roundRect">
            <a:avLst/>
          </a:prstGeom>
          <a:solidFill>
            <a:srgbClr val="8E2F72"/>
          </a:solidFill>
          <a:ln>
            <a:noFill/>
          </a:ln>
        </p:spPr>
        <p:txBody>
          <a:bodyPr wrap="square" lIns="0" tIns="0" rIns="0" bIns="0" anchor="ctr">
            <a:noAutofit/>
          </a:bodyPr>
          <a:lstStyle/>
          <a:p>
            <a:pPr marL="0" indent="0" algn="ctr">
              <a:lnSpc>
                <a:spcPct val="100000"/>
              </a:lnSpc>
              <a:spcBef>
                <a:spcPts val="0"/>
              </a:spcBef>
              <a:buNone/>
            </a:pPr>
            <a:r>
              <a:rPr lang="it-IT" sz="1000" b="1" dirty="0">
                <a:solidFill>
                  <a:srgbClr val="FFFFFF"/>
                </a:solidFill>
              </a:rPr>
              <a:t>GRAVITÀ</a:t>
            </a:r>
          </a:p>
          <a:p>
            <a:pPr marL="0" indent="0" algn="ctr">
              <a:lnSpc>
                <a:spcPct val="100000"/>
              </a:lnSpc>
              <a:spcBef>
                <a:spcPts val="0"/>
              </a:spcBef>
              <a:buNone/>
            </a:pPr>
            <a:r>
              <a:rPr lang="it-IT" sz="1800" b="1" dirty="0">
                <a:solidFill>
                  <a:srgbClr val="FFFFFF"/>
                </a:solidFill>
              </a:rPr>
              <a:t>3 </a:t>
            </a:r>
            <a:r>
              <a:rPr lang="it-IT" sz="1800" b="1">
                <a:solidFill>
                  <a:srgbClr val="FFFFFF"/>
                </a:solidFill>
              </a:rPr>
              <a:t>· Importante</a:t>
            </a:r>
            <a:endParaRPr lang="it-IT" sz="1800" b="1" dirty="0">
              <a:solidFill>
                <a:srgbClr val="FFFFFF"/>
              </a:solidFill>
            </a:endParaRPr>
          </a:p>
        </p:txBody>
      </p:sp>
      <p:sp>
        <p:nvSpPr>
          <p:cNvPr id="12" name="Problema"/>
          <p:cNvSpPr txBox="1"/>
          <p:nvPr/>
        </p:nvSpPr>
        <p:spPr>
          <a:xfrm>
            <a:off x="609600" y="1625600"/>
            <a:ext cx="5130800" cy="2616200"/>
          </a:xfrm>
          <a:prstGeom prst="rect">
            <a:avLst/>
          </a:prstGeom>
          <a:noFill/>
          <a:ln>
            <a:noFill/>
          </a:ln>
        </p:spPr>
        <p:txBody>
          <a:bodyPr wrap="square" lIns="0" tIns="0" rIns="0" bIns="0" anchor="t">
            <a:noAutofit/>
          </a:bodyPr>
          <a:lstStyle/>
          <a:p>
            <a:pPr marL="0" indent="0" algn="l">
              <a:lnSpc>
                <a:spcPct val="100000"/>
              </a:lnSpc>
              <a:spcBef>
                <a:spcPts val="0"/>
              </a:spcBef>
              <a:buNone/>
            </a:pPr>
            <a:r>
              <a:rPr lang="it-IT" sz="1400" b="1" dirty="0">
                <a:solidFill>
                  <a:srgbClr val="6C0850"/>
                </a:solidFill>
              </a:rPr>
              <a:t>Problema</a:t>
            </a:r>
          </a:p>
          <a:p>
            <a:pPr marL="228600" indent="-228600" algn="l">
              <a:lnSpc>
                <a:spcPct val="100000"/>
              </a:lnSpc>
              <a:spcBef>
                <a:spcPts val="500"/>
              </a:spcBef>
              <a:buClr>
                <a:srgbClr val="6C0850"/>
              </a:buClr>
              <a:buFont typeface="Arial"/>
              <a:buChar char="•"/>
            </a:pPr>
            <a:r>
              <a:rPr lang="it-IT" sz="1400" b="0" dirty="0">
                <a:solidFill>
                  <a:srgbClr val="231C21"/>
                </a:solidFill>
              </a:rPr>
              <a:t>Il testo dice che il nome comparirà sul sito </a:t>
            </a:r>
            <a:r>
              <a:rPr lang="it-IT" sz="1400" b="1" dirty="0">
                <a:solidFill>
                  <a:srgbClr val="231C21"/>
                </a:solidFill>
              </a:rPr>
              <a:t>«se lo vorrai»</a:t>
            </a:r>
          </a:p>
          <a:p>
            <a:pPr marL="228600" indent="-228600" algn="l">
              <a:lnSpc>
                <a:spcPct val="100000"/>
              </a:lnSpc>
              <a:spcBef>
                <a:spcPts val="500"/>
              </a:spcBef>
              <a:buClr>
                <a:srgbClr val="6C0850"/>
              </a:buClr>
              <a:buFont typeface="Arial"/>
              <a:buChar char="•"/>
            </a:pPr>
            <a:r>
              <a:rPr lang="it-IT" sz="1400" b="0" dirty="0">
                <a:solidFill>
                  <a:srgbClr val="231C21"/>
                </a:solidFill>
              </a:rPr>
              <a:t>Ma la casella «donatore anonimo» è </a:t>
            </a:r>
            <a:r>
              <a:rPr lang="it-IT" sz="1400" b="1" dirty="0">
                <a:solidFill>
                  <a:srgbClr val="231C21"/>
                </a:solidFill>
              </a:rPr>
              <a:t>non spuntata di default</a:t>
            </a:r>
          </a:p>
          <a:p>
            <a:pPr marL="228600" indent="-228600" algn="l">
              <a:lnSpc>
                <a:spcPct val="100000"/>
              </a:lnSpc>
              <a:spcBef>
                <a:spcPts val="500"/>
              </a:spcBef>
              <a:buClr>
                <a:srgbClr val="6C0850"/>
              </a:buClr>
              <a:buFont typeface="Arial"/>
              <a:buChar char="•"/>
            </a:pPr>
            <a:r>
              <a:rPr lang="it-IT" sz="1400" b="0" dirty="0">
                <a:solidFill>
                  <a:srgbClr val="231C21"/>
                </a:solidFill>
              </a:rPr>
              <a:t>Chi non la nota rende pubblico il proprio nome senza averlo scelto</a:t>
            </a:r>
          </a:p>
          <a:p>
            <a:pPr marL="0" indent="0" algn="l">
              <a:lnSpc>
                <a:spcPct val="100000"/>
              </a:lnSpc>
              <a:spcBef>
                <a:spcPts val="900"/>
              </a:spcBef>
              <a:buNone/>
            </a:pPr>
            <a:r>
              <a:rPr lang="it-IT" sz="1100" b="0" dirty="0">
                <a:solidFill>
                  <a:srgbClr val="6B6168"/>
                </a:solidFill>
              </a:rPr>
              <a:t>Gravità 3 dalle note: tocca la privacy di ogni donatore distratto.</a:t>
            </a:r>
          </a:p>
        </p:txBody>
      </p:sp>
      <p:sp>
        <p:nvSpPr>
          <p:cNvPr id="13" name="Soluzione"/>
          <p:cNvSpPr/>
          <p:nvPr/>
        </p:nvSpPr>
        <p:spPr>
          <a:xfrm>
            <a:off x="609600" y="4394200"/>
            <a:ext cx="5130800" cy="1727200"/>
          </a:xfrm>
          <a:prstGeom prst="rect">
            <a:avLst/>
          </a:prstGeom>
          <a:solidFill>
            <a:srgbClr val="F3EEF1"/>
          </a:solidFill>
          <a:ln>
            <a:noFill/>
          </a:ln>
        </p:spPr>
        <p:txBody>
          <a:bodyPr wrap="square" lIns="152400" tIns="152400" rIns="152400" bIns="152400" anchor="t">
            <a:noAutofit/>
          </a:bodyPr>
          <a:lstStyle/>
          <a:p>
            <a:pPr marL="0" indent="0" algn="l">
              <a:lnSpc>
                <a:spcPct val="100000"/>
              </a:lnSpc>
              <a:spcBef>
                <a:spcPts val="0"/>
              </a:spcBef>
              <a:buNone/>
            </a:pPr>
            <a:r>
              <a:rPr lang="it-IT" sz="1400" b="1" dirty="0">
                <a:solidFill>
                  <a:srgbClr val="6C0850"/>
                </a:solidFill>
              </a:rPr>
              <a:t>Possibile soluzione</a:t>
            </a:r>
          </a:p>
          <a:p>
            <a:pPr marL="0" indent="0" algn="l">
              <a:lnSpc>
                <a:spcPct val="100000"/>
              </a:lnSpc>
              <a:spcBef>
                <a:spcPts val="400"/>
              </a:spcBef>
              <a:buNone/>
            </a:pPr>
            <a:r>
              <a:rPr lang="it-IT" sz="1400" b="0" dirty="0">
                <a:solidFill>
                  <a:srgbClr val="231C21"/>
                </a:solidFill>
              </a:rPr>
              <a:t>Due pulsanti radio obbligatori «Mostra il mio nome» / «Dona in forma anonima», senza scelta preimpostata.</a:t>
            </a:r>
          </a:p>
        </p:txBody>
      </p:sp>
      <p:sp>
        <p:nvSpPr>
          <p:cNvPr id="14" name="Segnaposto immagine 1"/>
          <p:cNvSpPr/>
          <p:nvPr/>
        </p:nvSpPr>
        <p:spPr>
          <a:xfrm>
            <a:off x="6045200" y="1625600"/>
            <a:ext cx="5537200" cy="4495800"/>
          </a:xfrm>
          <a:prstGeom prst="rect">
            <a:avLst/>
          </a:prstGeom>
          <a:solidFill>
            <a:srgbClr val="F7F4F6"/>
          </a:solidFill>
          <a:ln w="15875">
            <a:solidFill>
              <a:srgbClr val="B07A9F"/>
            </a:solidFill>
            <a:prstDash val="dash"/>
          </a:ln>
        </p:spPr>
        <p:txBody>
          <a:bodyPr wrap="square" lIns="127000" tIns="127000" rIns="127000" bIns="127000" anchor="ctr">
            <a:noAutofit/>
          </a:bodyPr>
          <a:lstStyle/>
          <a:p>
            <a:pPr marL="0" indent="0" algn="ctr">
              <a:lnSpc>
                <a:spcPct val="100000"/>
              </a:lnSpc>
              <a:spcBef>
                <a:spcPts val="0"/>
              </a:spcBef>
              <a:buNone/>
            </a:pPr>
            <a:r>
              <a:rPr lang="it-IT" sz="1200" b="1" dirty="0">
                <a:solidFill>
                  <a:srgbClr val="6C0850"/>
                </a:solidFill>
              </a:rPr>
              <a:t>[ SCREENSHOT DA FARE ]</a:t>
            </a:r>
          </a:p>
          <a:p>
            <a:pPr marL="0" indent="0" algn="ctr">
              <a:lnSpc>
                <a:spcPct val="100000"/>
              </a:lnSpc>
              <a:spcBef>
                <a:spcPts val="400"/>
              </a:spcBef>
              <a:buNone/>
            </a:pPr>
            <a:r>
              <a:rPr lang="it-IT" sz="1400" b="1" dirty="0">
                <a:solidFill>
                  <a:srgbClr val="231C21"/>
                </a:solidFill>
              </a:rPr>
              <a:t>Casella «anonimo» nel modulo di donazione</a:t>
            </a:r>
          </a:p>
          <a:p>
            <a:pPr marL="0" indent="0" algn="ctr">
              <a:lnSpc>
                <a:spcPct val="100000"/>
              </a:lnSpc>
              <a:spcBef>
                <a:spcPts val="300"/>
              </a:spcBef>
              <a:buNone/>
            </a:pPr>
            <a:r>
              <a:rPr lang="it-IT" sz="900" b="0" dirty="0">
                <a:solidFill>
                  <a:srgbClr val="6B6168"/>
                </a:solidFill>
              </a:rPr>
              <a:t>Salvare in /Users/andreock/Desktop/hci_gruppo_a/assignment1/parti/antofallea/src/</a:t>
            </a:r>
          </a:p>
          <a:p>
            <a:pPr marL="0" indent="0" algn="ctr">
              <a:lnSpc>
                <a:spcPct val="100000"/>
              </a:lnSpc>
              <a:spcBef>
                <a:spcPts val="300"/>
              </a:spcBef>
              <a:buNone/>
            </a:pPr>
            <a:r>
              <a:rPr lang="it-IT" sz="1000" b="0" dirty="0">
                <a:solidFill>
                  <a:srgbClr val="6B6168"/>
                </a:solidFill>
              </a:rPr>
              <a:t>Annotare con cerchi e frecce</a:t>
            </a:r>
          </a:p>
        </p:txBody>
      </p:sp>
      <p:sp>
        <p:nvSpPr>
          <p:cNvPr id="15" name="Pagine e task"/>
          <p:cNvSpPr txBox="1"/>
          <p:nvPr/>
        </p:nvSpPr>
        <p:spPr>
          <a:xfrm>
            <a:off x="609600" y="6273800"/>
            <a:ext cx="10972800" cy="381000"/>
          </a:xfrm>
          <a:prstGeom prst="rect">
            <a:avLst/>
          </a:prstGeom>
          <a:noFill/>
          <a:ln>
            <a:noFill/>
          </a:ln>
        </p:spPr>
        <p:txBody>
          <a:bodyPr wrap="square" lIns="0" tIns="0" rIns="0" bIns="0" anchor="b">
            <a:noAutofit/>
          </a:bodyPr>
          <a:lstStyle/>
          <a:p>
            <a:pPr marL="0" indent="0" algn="l">
              <a:lnSpc>
                <a:spcPct val="100000"/>
              </a:lnSpc>
              <a:spcBef>
                <a:spcPts val="0"/>
              </a:spcBef>
              <a:buNone/>
            </a:pPr>
            <a:r>
              <a:rPr lang="it-IT" sz="1000" b="1" dirty="0">
                <a:solidFill>
                  <a:srgbClr val="6B6168"/>
                </a:solidFill>
              </a:rPr>
              <a:t>Pagine:</a:t>
            </a:r>
            <a:r>
              <a:rPr lang="it-IT" sz="1000" b="0" dirty="0">
                <a:solidFill>
                  <a:srgbClr val="6B6168"/>
                </a:solidFill>
              </a:rPr>
              <a:t> Progetto «Mind the Climate» › modulo di donazione   </a:t>
            </a:r>
            <a:r>
              <a:rPr lang="it-IT" sz="1000" b="1" dirty="0">
                <a:solidFill>
                  <a:srgbClr val="6B6168"/>
                </a:solidFill>
              </a:rPr>
              <a:t>Task</a:t>
            </a:r>
            <a:r>
              <a:rPr lang="it-IT" sz="1000" b="1">
                <a:solidFill>
                  <a:srgbClr val="6B6168"/>
                </a:solidFill>
              </a:rPr>
              <a:t>:</a:t>
            </a:r>
            <a:r>
              <a:rPr lang="it-IT" sz="1000" b="0">
                <a:solidFill>
                  <a:srgbClr val="6B6168"/>
                </a:solidFill>
              </a:rPr>
              <a:t> T5</a:t>
            </a:r>
            <a:endParaRPr lang="it-IT" sz="1000" b="0" dirty="0">
              <a:solidFill>
                <a:srgbClr val="6B6168"/>
              </a:solidFill>
            </a:endParaRPr>
          </a:p>
        </p:txBody>
      </p:sp>
    </p:spTree>
    <p:extLst>
      <p:ext uri="{BB962C8B-B14F-4D97-AF65-F5344CB8AC3E}">
        <p14:creationId xmlns:p14="http://schemas.microsoft.com/office/powerpoint/2010/main" val="225803234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78B580C-A7C7-E367-0CDE-F5958E24AC79}"/>
              </a:ext>
            </a:extLst>
          </p:cNvPr>
          <p:cNvSpPr>
            <a:spLocks noGrp="1"/>
          </p:cNvSpPr>
          <p:nvPr>
            <p:ph type="title"/>
          </p:nvPr>
        </p:nvSpPr>
        <p:spPr>
          <a:xfrm>
            <a:off x="609600" y="558800"/>
            <a:ext cx="8991600" cy="889000"/>
          </a:xfrm>
        </p:spPr>
        <p:txBody>
          <a:bodyPr anchor="t"/>
          <a:lstStyle/>
          <a:p>
            <a:pPr>
              <a:lnSpc>
                <a:spcPct val="90000"/>
              </a:lnSpc>
            </a:pPr>
            <a:r>
              <a:rPr lang="it-IT" sz="2600" b="1" dirty="0"/>
              <a:t>Le informazioni per decidere di donare sono lontane dal punto in cui si dona</a:t>
            </a:r>
          </a:p>
        </p:txBody>
      </p:sp>
      <p:sp>
        <p:nvSpPr>
          <p:cNvPr id="10" name="Euristica"/>
          <p:cNvSpPr txBox="1"/>
          <p:nvPr/>
        </p:nvSpPr>
        <p:spPr>
          <a:xfrm>
            <a:off x="609600" y="254000"/>
            <a:ext cx="8890000" cy="279400"/>
          </a:xfrm>
          <a:prstGeom prst="rect">
            <a:avLst/>
          </a:prstGeom>
          <a:noFill/>
          <a:ln>
            <a:noFill/>
          </a:ln>
        </p:spPr>
        <p:txBody>
          <a:bodyPr wrap="square" lIns="0" tIns="0" rIns="0" bIns="0" anchor="t">
            <a:noAutofit/>
          </a:bodyPr>
          <a:lstStyle/>
          <a:p>
            <a:pPr marL="0" indent="0" algn="l">
              <a:lnSpc>
                <a:spcPct val="100000"/>
              </a:lnSpc>
              <a:spcBef>
                <a:spcPts val="0"/>
              </a:spcBef>
              <a:buNone/>
            </a:pPr>
            <a:r>
              <a:rPr lang="it-IT" sz="1200" b="1" dirty="0">
                <a:solidFill>
                  <a:srgbClr val="6C0850"/>
                </a:solidFill>
              </a:rPr>
              <a:t>H6 · RICONOSCIMENTO  ·  H1 VISIBILITÀ  ·  H7 EFFICIENZA</a:t>
            </a:r>
          </a:p>
        </p:txBody>
      </p:sp>
      <p:sp>
        <p:nvSpPr>
          <p:cNvPr id="11" name="Badge gravità"/>
          <p:cNvSpPr/>
          <p:nvPr/>
        </p:nvSpPr>
        <p:spPr>
          <a:xfrm>
            <a:off x="9855200" y="381000"/>
            <a:ext cx="1727200" cy="736600"/>
          </a:xfrm>
          <a:prstGeom prst="roundRect">
            <a:avLst/>
          </a:prstGeom>
          <a:solidFill>
            <a:srgbClr val="8E2F72"/>
          </a:solidFill>
          <a:ln>
            <a:noFill/>
          </a:ln>
        </p:spPr>
        <p:txBody>
          <a:bodyPr wrap="square" lIns="0" tIns="0" rIns="0" bIns="0" anchor="ctr">
            <a:noAutofit/>
          </a:bodyPr>
          <a:lstStyle/>
          <a:p>
            <a:pPr marL="0" indent="0" algn="ctr">
              <a:lnSpc>
                <a:spcPct val="100000"/>
              </a:lnSpc>
              <a:spcBef>
                <a:spcPts val="0"/>
              </a:spcBef>
              <a:buNone/>
            </a:pPr>
            <a:r>
              <a:rPr lang="it-IT" sz="1000" b="1" dirty="0">
                <a:solidFill>
                  <a:srgbClr val="FFFFFF"/>
                </a:solidFill>
              </a:rPr>
              <a:t>GRAVITÀ</a:t>
            </a:r>
          </a:p>
          <a:p>
            <a:pPr marL="0" indent="0" algn="ctr">
              <a:lnSpc>
                <a:spcPct val="100000"/>
              </a:lnSpc>
              <a:spcBef>
                <a:spcPts val="0"/>
              </a:spcBef>
              <a:buNone/>
            </a:pPr>
            <a:r>
              <a:rPr lang="it-IT" sz="1800" b="1" dirty="0">
                <a:solidFill>
                  <a:srgbClr val="FFFFFF"/>
                </a:solidFill>
              </a:rPr>
              <a:t>3 </a:t>
            </a:r>
            <a:r>
              <a:rPr lang="it-IT" sz="1800" b="1">
                <a:solidFill>
                  <a:srgbClr val="FFFFFF"/>
                </a:solidFill>
              </a:rPr>
              <a:t>· Importante</a:t>
            </a:r>
            <a:endParaRPr lang="it-IT" sz="1800" b="1" dirty="0">
              <a:solidFill>
                <a:srgbClr val="FFFFFF"/>
              </a:solidFill>
            </a:endParaRPr>
          </a:p>
        </p:txBody>
      </p:sp>
      <p:sp>
        <p:nvSpPr>
          <p:cNvPr id="12" name="Problema"/>
          <p:cNvSpPr txBox="1"/>
          <p:nvPr/>
        </p:nvSpPr>
        <p:spPr>
          <a:xfrm>
            <a:off x="609600" y="1625600"/>
            <a:ext cx="5130800" cy="2616200"/>
          </a:xfrm>
          <a:prstGeom prst="rect">
            <a:avLst/>
          </a:prstGeom>
          <a:noFill/>
          <a:ln>
            <a:noFill/>
          </a:ln>
        </p:spPr>
        <p:txBody>
          <a:bodyPr wrap="square" lIns="0" tIns="0" rIns="0" bIns="0" anchor="t">
            <a:noAutofit/>
          </a:bodyPr>
          <a:lstStyle/>
          <a:p>
            <a:pPr marL="0" indent="0" algn="l">
              <a:lnSpc>
                <a:spcPct val="100000"/>
              </a:lnSpc>
              <a:spcBef>
                <a:spcPts val="0"/>
              </a:spcBef>
              <a:buNone/>
            </a:pPr>
            <a:r>
              <a:rPr lang="it-IT" sz="1400" b="1" dirty="0">
                <a:solidFill>
                  <a:srgbClr val="6C0850"/>
                </a:solidFill>
              </a:rPr>
              <a:t>Problema</a:t>
            </a:r>
          </a:p>
          <a:p>
            <a:pPr marL="228600" indent="-228600" algn="l">
              <a:lnSpc>
                <a:spcPct val="100000"/>
              </a:lnSpc>
              <a:spcBef>
                <a:spcPts val="500"/>
              </a:spcBef>
              <a:buClr>
                <a:srgbClr val="6C0850"/>
              </a:buClr>
              <a:buFont typeface="Arial"/>
              <a:buChar char="•"/>
            </a:pPr>
            <a:r>
              <a:rPr lang="it-IT" sz="1400" b="0" dirty="0">
                <a:solidFill>
                  <a:srgbClr val="231C21"/>
                </a:solidFill>
              </a:rPr>
              <a:t>Raddoppio UniTo, soglie e uso dei fondi stanno nella descrizione; le </a:t>
            </a:r>
            <a:r>
              <a:rPr lang="it-IT" sz="1400" b="1" dirty="0">
                <a:solidFill>
                  <a:srgbClr val="231C21"/>
                </a:solidFill>
              </a:rPr>
              <a:t>ricompense sono molto più in basso</a:t>
            </a:r>
          </a:p>
          <a:p>
            <a:pPr marL="228600" indent="-228600" algn="l">
              <a:lnSpc>
                <a:spcPct val="100000"/>
              </a:lnSpc>
              <a:spcBef>
                <a:spcPts val="500"/>
              </a:spcBef>
              <a:buClr>
                <a:srgbClr val="6C0850"/>
              </a:buClr>
              <a:buFont typeface="Arial"/>
              <a:buChar char="•"/>
            </a:pPr>
            <a:r>
              <a:rPr lang="it-IT" sz="1400" b="0" dirty="0">
                <a:solidFill>
                  <a:srgbClr val="231C21"/>
                </a:solidFill>
              </a:rPr>
              <a:t>Il box mostra «€ 2.690 su € 7.000» ma </a:t>
            </a:r>
            <a:r>
              <a:rPr lang="it-IT" sz="1400" b="1" dirty="0">
                <a:solidFill>
                  <a:srgbClr val="231C21"/>
                </a:solidFill>
              </a:rPr>
              <a:t>non dice che a 7.000 € UniTo raddoppia</a:t>
            </a:r>
          </a:p>
          <a:p>
            <a:pPr marL="228600" indent="-228600" algn="l">
              <a:lnSpc>
                <a:spcPct val="100000"/>
              </a:lnSpc>
              <a:spcBef>
                <a:spcPts val="500"/>
              </a:spcBef>
              <a:buClr>
                <a:srgbClr val="6C0850"/>
              </a:buClr>
              <a:buFont typeface="Arial"/>
              <a:buChar char="•"/>
            </a:pPr>
            <a:r>
              <a:rPr lang="it-IT" sz="1400" b="0" dirty="0">
                <a:solidFill>
                  <a:srgbClr val="231C21"/>
                </a:solidFill>
              </a:rPr>
              <a:t>Il pulsante «Sostieni» non resta visibile: finita la lettura bisogna risalire o scendere (P15)</a:t>
            </a:r>
          </a:p>
          <a:p>
            <a:pPr marL="0" indent="0" algn="l">
              <a:lnSpc>
                <a:spcPct val="100000"/>
              </a:lnSpc>
              <a:spcBef>
                <a:spcPts val="900"/>
              </a:spcBef>
              <a:buNone/>
            </a:pPr>
            <a:r>
              <a:rPr lang="it-IT" sz="1100" b="0" dirty="0">
                <a:solidFill>
                  <a:srgbClr val="6B6168"/>
                </a:solidFill>
              </a:rPr>
              <a:t>Gravità 3 (H6) e 1 (H1, il testo del progetto spiega il raddoppio) dalle note; 2 nel CSV per P15.</a:t>
            </a:r>
          </a:p>
        </p:txBody>
      </p:sp>
      <p:sp>
        <p:nvSpPr>
          <p:cNvPr id="13" name="Soluzione"/>
          <p:cNvSpPr/>
          <p:nvPr/>
        </p:nvSpPr>
        <p:spPr>
          <a:xfrm>
            <a:off x="609600" y="4394200"/>
            <a:ext cx="5130800" cy="1727200"/>
          </a:xfrm>
          <a:prstGeom prst="rect">
            <a:avLst/>
          </a:prstGeom>
          <a:solidFill>
            <a:srgbClr val="F3EEF1"/>
          </a:solidFill>
          <a:ln>
            <a:noFill/>
          </a:ln>
        </p:spPr>
        <p:txBody>
          <a:bodyPr wrap="square" lIns="152400" tIns="152400" rIns="152400" bIns="152400" anchor="t">
            <a:noAutofit/>
          </a:bodyPr>
          <a:lstStyle/>
          <a:p>
            <a:pPr marL="0" indent="0" algn="l">
              <a:lnSpc>
                <a:spcPct val="100000"/>
              </a:lnSpc>
              <a:spcBef>
                <a:spcPts val="0"/>
              </a:spcBef>
              <a:buNone/>
            </a:pPr>
            <a:r>
              <a:rPr lang="it-IT" sz="1400" b="1" dirty="0">
                <a:solidFill>
                  <a:srgbClr val="6C0850"/>
                </a:solidFill>
              </a:rPr>
              <a:t>Possibile soluzione</a:t>
            </a:r>
          </a:p>
          <a:p>
            <a:pPr marL="0" indent="0" algn="l">
              <a:lnSpc>
                <a:spcPct val="100000"/>
              </a:lnSpc>
              <a:spcBef>
                <a:spcPts val="400"/>
              </a:spcBef>
              <a:buNone/>
            </a:pPr>
            <a:r>
              <a:rPr lang="it-IT" sz="1400" b="0" dirty="0">
                <a:solidFill>
                  <a:srgbClr val="231C21"/>
                </a:solidFill>
              </a:rPr>
              <a:t>Nel box di stato: «A 7.000 € UniTo raddoppia» e pulsante «Sostieni» sempre visibile (colonna fissa su desktop, barra in basso su mobile); breve riepilogo sopra le ricompense.</a:t>
            </a:r>
          </a:p>
        </p:txBody>
      </p:sp>
      <p:sp>
        <p:nvSpPr>
          <p:cNvPr id="14" name="Segnaposto immagine 1"/>
          <p:cNvSpPr/>
          <p:nvPr/>
        </p:nvSpPr>
        <p:spPr>
          <a:xfrm>
            <a:off x="6045200" y="1625600"/>
            <a:ext cx="5537200" cy="4495800"/>
          </a:xfrm>
          <a:prstGeom prst="rect">
            <a:avLst/>
          </a:prstGeom>
          <a:solidFill>
            <a:srgbClr val="F7F4F6"/>
          </a:solidFill>
          <a:ln w="15875">
            <a:solidFill>
              <a:srgbClr val="B07A9F"/>
            </a:solidFill>
            <a:prstDash val="dash"/>
          </a:ln>
        </p:spPr>
        <p:txBody>
          <a:bodyPr wrap="square" lIns="127000" tIns="127000" rIns="127000" bIns="127000" anchor="ctr">
            <a:noAutofit/>
          </a:bodyPr>
          <a:lstStyle/>
          <a:p>
            <a:pPr marL="0" indent="0" algn="ctr">
              <a:lnSpc>
                <a:spcPct val="100000"/>
              </a:lnSpc>
              <a:spcBef>
                <a:spcPts val="0"/>
              </a:spcBef>
              <a:buNone/>
            </a:pPr>
            <a:r>
              <a:rPr lang="it-IT" sz="1200" b="1" dirty="0">
                <a:solidFill>
                  <a:srgbClr val="6C0850"/>
                </a:solidFill>
              </a:rPr>
              <a:t>[ SCREENSHOT DA FARE ]</a:t>
            </a:r>
          </a:p>
          <a:p>
            <a:pPr marL="0" indent="0" algn="ctr">
              <a:lnSpc>
                <a:spcPct val="100000"/>
              </a:lnSpc>
              <a:spcBef>
                <a:spcPts val="400"/>
              </a:spcBef>
              <a:buNone/>
            </a:pPr>
            <a:r>
              <a:rPr lang="it-IT" sz="1400" b="1" dirty="0">
                <a:solidFill>
                  <a:srgbClr val="231C21"/>
                </a:solidFill>
              </a:rPr>
              <a:t>Box di stato di Mind the Climate</a:t>
            </a:r>
          </a:p>
          <a:p>
            <a:pPr marL="0" indent="0" algn="ctr">
              <a:lnSpc>
                <a:spcPct val="100000"/>
              </a:lnSpc>
              <a:spcBef>
                <a:spcPts val="300"/>
              </a:spcBef>
              <a:buNone/>
            </a:pPr>
            <a:r>
              <a:rPr lang="it-IT" sz="900" b="0" dirty="0">
                <a:solidFill>
                  <a:srgbClr val="6B6168"/>
                </a:solidFill>
              </a:rPr>
              <a:t>Salvare in /Users/andreock/Desktop/hci_gruppo_a/assignment1/parti/antofallea/src/</a:t>
            </a:r>
          </a:p>
          <a:p>
            <a:pPr marL="0" indent="0" algn="ctr">
              <a:lnSpc>
                <a:spcPct val="100000"/>
              </a:lnSpc>
              <a:spcBef>
                <a:spcPts val="300"/>
              </a:spcBef>
              <a:buNone/>
            </a:pPr>
            <a:r>
              <a:rPr lang="it-IT" sz="1000" b="0" dirty="0">
                <a:solidFill>
                  <a:srgbClr val="6B6168"/>
                </a:solidFill>
              </a:rPr>
              <a:t>Annotare con cerchi e frecce</a:t>
            </a:r>
          </a:p>
        </p:txBody>
      </p:sp>
      <p:sp>
        <p:nvSpPr>
          <p:cNvPr id="15" name="Pagine e task"/>
          <p:cNvSpPr txBox="1"/>
          <p:nvPr/>
        </p:nvSpPr>
        <p:spPr>
          <a:xfrm>
            <a:off x="609600" y="6273800"/>
            <a:ext cx="10972800" cy="381000"/>
          </a:xfrm>
          <a:prstGeom prst="rect">
            <a:avLst/>
          </a:prstGeom>
          <a:noFill/>
          <a:ln>
            <a:noFill/>
          </a:ln>
        </p:spPr>
        <p:txBody>
          <a:bodyPr wrap="square" lIns="0" tIns="0" rIns="0" bIns="0" anchor="b">
            <a:noAutofit/>
          </a:bodyPr>
          <a:lstStyle/>
          <a:p>
            <a:pPr marL="0" indent="0" algn="l">
              <a:lnSpc>
                <a:spcPct val="100000"/>
              </a:lnSpc>
              <a:spcBef>
                <a:spcPts val="0"/>
              </a:spcBef>
              <a:buNone/>
            </a:pPr>
            <a:r>
              <a:rPr lang="it-IT" sz="1000" b="1" dirty="0">
                <a:solidFill>
                  <a:srgbClr val="6B6168"/>
                </a:solidFill>
              </a:rPr>
              <a:t>Pagine:</a:t>
            </a:r>
            <a:r>
              <a:rPr lang="it-IT" sz="1000" b="0" dirty="0">
                <a:solidFill>
                  <a:srgbClr val="6B6168"/>
                </a:solidFill>
              </a:rPr>
              <a:t> Progetti «Mind the Climate» e «MILK-ACT»   </a:t>
            </a:r>
            <a:r>
              <a:rPr lang="it-IT" sz="1000" b="1" dirty="0">
                <a:solidFill>
                  <a:srgbClr val="6B6168"/>
                </a:solidFill>
              </a:rPr>
              <a:t>Task:</a:t>
            </a:r>
            <a:r>
              <a:rPr lang="it-IT" sz="1000" b="0" dirty="0">
                <a:solidFill>
                  <a:srgbClr val="6B6168"/>
                </a:solidFill>
              </a:rPr>
              <a:t> T5</a:t>
            </a:r>
            <a:r>
              <a:rPr lang="it-IT" sz="1000" b="0">
                <a:solidFill>
                  <a:srgbClr val="6B6168"/>
                </a:solidFill>
              </a:rPr>
              <a:t>, T3</a:t>
            </a:r>
            <a:endParaRPr lang="it-IT" sz="1000" b="0" dirty="0">
              <a:solidFill>
                <a:srgbClr val="6B6168"/>
              </a:solidFill>
            </a:endParaRPr>
          </a:p>
        </p:txBody>
      </p:sp>
    </p:spTree>
    <p:extLst>
      <p:ext uri="{BB962C8B-B14F-4D97-AF65-F5344CB8AC3E}">
        <p14:creationId xmlns:p14="http://schemas.microsoft.com/office/powerpoint/2010/main" val="231665613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97732589-2EE3-B196-0871-072A3A5FABCF}"/>
              </a:ext>
            </a:extLst>
          </p:cNvPr>
          <p:cNvSpPr>
            <a:spLocks noGrp="1"/>
          </p:cNvSpPr>
          <p:nvPr>
            <p:ph type="title"/>
          </p:nvPr>
        </p:nvSpPr>
        <p:spPr>
          <a:xfrm>
            <a:off x="609600" y="558800"/>
            <a:ext cx="8991600" cy="889000"/>
          </a:xfrm>
        </p:spPr>
        <p:txBody>
          <a:bodyPr anchor="t"/>
          <a:lstStyle/>
          <a:p>
            <a:pPr>
              <a:lnSpc>
                <a:spcPct val="90000"/>
              </a:lnSpc>
            </a:pPr>
            <a:r>
              <a:rPr lang="it-IT" sz="2600" b="1" dirty="0"/>
              <a:t>La pagina è molto lunga e non ha indice né ancore verso le sezioni</a:t>
            </a:r>
          </a:p>
        </p:txBody>
      </p:sp>
      <p:sp>
        <p:nvSpPr>
          <p:cNvPr id="10" name="Euristica"/>
          <p:cNvSpPr txBox="1"/>
          <p:nvPr/>
        </p:nvSpPr>
        <p:spPr>
          <a:xfrm>
            <a:off x="609600" y="254000"/>
            <a:ext cx="8890000" cy="279400"/>
          </a:xfrm>
          <a:prstGeom prst="rect">
            <a:avLst/>
          </a:prstGeom>
          <a:noFill/>
          <a:ln>
            <a:noFill/>
          </a:ln>
        </p:spPr>
        <p:txBody>
          <a:bodyPr wrap="square" lIns="0" tIns="0" rIns="0" bIns="0" anchor="t">
            <a:noAutofit/>
          </a:bodyPr>
          <a:lstStyle/>
          <a:p>
            <a:pPr marL="0" indent="0" algn="l">
              <a:lnSpc>
                <a:spcPct val="100000"/>
              </a:lnSpc>
              <a:spcBef>
                <a:spcPts val="0"/>
              </a:spcBef>
              <a:buNone/>
            </a:pPr>
            <a:r>
              <a:rPr lang="it-IT" sz="1200" b="1" dirty="0">
                <a:solidFill>
                  <a:srgbClr val="6C0850"/>
                </a:solidFill>
              </a:rPr>
              <a:t>H7 · FLESSIBILITÀ ED EFFICIENZA  ·  H8 DESIGN MINIMALISTA</a:t>
            </a:r>
          </a:p>
        </p:txBody>
      </p:sp>
      <p:sp>
        <p:nvSpPr>
          <p:cNvPr id="11" name="Badge gravità"/>
          <p:cNvSpPr/>
          <p:nvPr/>
        </p:nvSpPr>
        <p:spPr>
          <a:xfrm>
            <a:off x="9855200" y="381000"/>
            <a:ext cx="1727200" cy="736600"/>
          </a:xfrm>
          <a:prstGeom prst="roundRect">
            <a:avLst/>
          </a:prstGeom>
          <a:solidFill>
            <a:srgbClr val="41002F"/>
          </a:solidFill>
          <a:ln>
            <a:noFill/>
          </a:ln>
        </p:spPr>
        <p:txBody>
          <a:bodyPr wrap="square" lIns="0" tIns="0" rIns="0" bIns="0" anchor="ctr">
            <a:noAutofit/>
          </a:bodyPr>
          <a:lstStyle/>
          <a:p>
            <a:pPr marL="0" indent="0" algn="ctr">
              <a:lnSpc>
                <a:spcPct val="100000"/>
              </a:lnSpc>
              <a:spcBef>
                <a:spcPts val="0"/>
              </a:spcBef>
              <a:buNone/>
            </a:pPr>
            <a:r>
              <a:rPr lang="it-IT" sz="1000" b="1" dirty="0">
                <a:solidFill>
                  <a:srgbClr val="FFFFFF"/>
                </a:solidFill>
              </a:rPr>
              <a:t>GRAVITÀ</a:t>
            </a:r>
          </a:p>
          <a:p>
            <a:pPr marL="0" indent="0" algn="ctr">
              <a:lnSpc>
                <a:spcPct val="100000"/>
              </a:lnSpc>
              <a:spcBef>
                <a:spcPts val="0"/>
              </a:spcBef>
              <a:buNone/>
            </a:pPr>
            <a:r>
              <a:rPr lang="it-IT" sz="1800" b="1" dirty="0">
                <a:solidFill>
                  <a:srgbClr val="FFFFFF"/>
                </a:solidFill>
              </a:rPr>
              <a:t>4 </a:t>
            </a:r>
            <a:r>
              <a:rPr lang="it-IT" sz="1800" b="1">
                <a:solidFill>
                  <a:srgbClr val="FFFFFF"/>
                </a:solidFill>
              </a:rPr>
              <a:t>· Catastrofico</a:t>
            </a:r>
            <a:endParaRPr lang="it-IT" sz="1800" b="1" dirty="0">
              <a:solidFill>
                <a:srgbClr val="FFFFFF"/>
              </a:solidFill>
            </a:endParaRPr>
          </a:p>
        </p:txBody>
      </p:sp>
      <p:sp>
        <p:nvSpPr>
          <p:cNvPr id="12" name="Problema"/>
          <p:cNvSpPr txBox="1"/>
          <p:nvPr/>
        </p:nvSpPr>
        <p:spPr>
          <a:xfrm>
            <a:off x="609600" y="1625600"/>
            <a:ext cx="5130800" cy="2616200"/>
          </a:xfrm>
          <a:prstGeom prst="rect">
            <a:avLst/>
          </a:prstGeom>
          <a:noFill/>
          <a:ln>
            <a:noFill/>
          </a:ln>
        </p:spPr>
        <p:txBody>
          <a:bodyPr wrap="square" lIns="0" tIns="0" rIns="0" bIns="0" anchor="t">
            <a:noAutofit/>
          </a:bodyPr>
          <a:lstStyle/>
          <a:p>
            <a:pPr marL="0" indent="0" algn="l">
              <a:lnSpc>
                <a:spcPct val="100000"/>
              </a:lnSpc>
              <a:spcBef>
                <a:spcPts val="0"/>
              </a:spcBef>
              <a:buNone/>
            </a:pPr>
            <a:r>
              <a:rPr lang="it-IT" sz="1400" b="1" dirty="0">
                <a:solidFill>
                  <a:srgbClr val="6C0850"/>
                </a:solidFill>
              </a:rPr>
              <a:t>Problema</a:t>
            </a:r>
          </a:p>
          <a:p>
            <a:pPr marL="228600" indent="-228600" algn="l">
              <a:lnSpc>
                <a:spcPct val="100000"/>
              </a:lnSpc>
              <a:spcBef>
                <a:spcPts val="500"/>
              </a:spcBef>
              <a:buClr>
                <a:srgbClr val="6C0850"/>
              </a:buClr>
              <a:buFont typeface="Arial"/>
              <a:buChar char="•"/>
            </a:pPr>
            <a:r>
              <a:rPr lang="it-IT" sz="1400" b="0" dirty="0">
                <a:solidFill>
                  <a:srgbClr val="231C21"/>
                </a:solidFill>
              </a:rPr>
              <a:t>Descrizione di </a:t>
            </a:r>
            <a:r>
              <a:rPr lang="it-IT" sz="1400" b="1" dirty="0">
                <a:solidFill>
                  <a:srgbClr val="231C21"/>
                </a:solidFill>
              </a:rPr>
              <a:t>circa 1.500–1.800 parole</a:t>
            </a:r>
            <a:r>
              <a:rPr lang="it-IT" sz="1400" b="0" dirty="0">
                <a:solidFill>
                  <a:srgbClr val="231C21"/>
                </a:solidFill>
              </a:rPr>
              <a:t> senza riassunto iniziale</a:t>
            </a:r>
          </a:p>
          <a:p>
            <a:pPr marL="228600" indent="-228600" algn="l">
              <a:lnSpc>
                <a:spcPct val="100000"/>
              </a:lnSpc>
              <a:spcBef>
                <a:spcPts val="500"/>
              </a:spcBef>
              <a:buClr>
                <a:srgbClr val="6C0850"/>
              </a:buClr>
              <a:buFont typeface="Arial"/>
              <a:buChar char="•"/>
            </a:pPr>
            <a:r>
              <a:rPr lang="it-IT" sz="1400" b="0" dirty="0">
                <a:solidFill>
                  <a:srgbClr val="231C21"/>
                </a:solidFill>
              </a:rPr>
              <a:t>Nessun indice o ancora verso budget, ricompense e team; </a:t>
            </a:r>
            <a:r>
              <a:rPr lang="it-IT" sz="1400" b="1" dirty="0">
                <a:solidFill>
                  <a:srgbClr val="231C21"/>
                </a:solidFill>
              </a:rPr>
              <a:t>nessuna scorciatoia</a:t>
            </a:r>
            <a:r>
              <a:rPr lang="it-IT" sz="1400" b="0" dirty="0">
                <a:solidFill>
                  <a:srgbClr val="231C21"/>
                </a:solidFill>
              </a:rPr>
              <a:t> per cambiare sezione</a:t>
            </a:r>
          </a:p>
          <a:p>
            <a:pPr marL="228600" indent="-228600" algn="l">
              <a:lnSpc>
                <a:spcPct val="100000"/>
              </a:lnSpc>
              <a:spcBef>
                <a:spcPts val="500"/>
              </a:spcBef>
              <a:buClr>
                <a:srgbClr val="6C0850"/>
              </a:buClr>
              <a:buFont typeface="Arial"/>
              <a:buChar char="•"/>
            </a:pPr>
            <a:r>
              <a:rPr lang="it-IT" sz="1400" b="0" dirty="0">
                <a:solidFill>
                  <a:srgbClr val="231C21"/>
                </a:solidFill>
              </a:rPr>
              <a:t>Le sezioni non hanno una collocazione fissa tra progetti diversi (P09)</a:t>
            </a:r>
          </a:p>
          <a:p>
            <a:pPr marL="0" indent="0" algn="l">
              <a:lnSpc>
                <a:spcPct val="100000"/>
              </a:lnSpc>
              <a:spcBef>
                <a:spcPts val="900"/>
              </a:spcBef>
              <a:buNone/>
            </a:pPr>
            <a:r>
              <a:rPr lang="it-IT" sz="1100" b="0" dirty="0">
                <a:solidFill>
                  <a:srgbClr val="6B6168"/>
                </a:solidFill>
              </a:rPr>
              <a:t>Gravità 4 dalle note (H7 e H8); 2 nel CSV per P09. [ DA DECIDERE ] se 4 è giustificato.</a:t>
            </a:r>
          </a:p>
        </p:txBody>
      </p:sp>
      <p:sp>
        <p:nvSpPr>
          <p:cNvPr id="13" name="Soluzione"/>
          <p:cNvSpPr/>
          <p:nvPr/>
        </p:nvSpPr>
        <p:spPr>
          <a:xfrm>
            <a:off x="609600" y="4394200"/>
            <a:ext cx="5130800" cy="1727200"/>
          </a:xfrm>
          <a:prstGeom prst="rect">
            <a:avLst/>
          </a:prstGeom>
          <a:solidFill>
            <a:srgbClr val="F3EEF1"/>
          </a:solidFill>
          <a:ln>
            <a:noFill/>
          </a:ln>
        </p:spPr>
        <p:txBody>
          <a:bodyPr wrap="square" lIns="152400" tIns="152400" rIns="152400" bIns="152400" anchor="t">
            <a:noAutofit/>
          </a:bodyPr>
          <a:lstStyle/>
          <a:p>
            <a:pPr marL="0" indent="0" algn="l">
              <a:lnSpc>
                <a:spcPct val="100000"/>
              </a:lnSpc>
              <a:spcBef>
                <a:spcPts val="0"/>
              </a:spcBef>
              <a:buNone/>
            </a:pPr>
            <a:r>
              <a:rPr lang="it-IT" sz="1400" b="1" dirty="0">
                <a:solidFill>
                  <a:srgbClr val="6C0850"/>
                </a:solidFill>
              </a:rPr>
              <a:t>Possibile soluzione</a:t>
            </a:r>
          </a:p>
          <a:p>
            <a:pPr marL="0" indent="0" algn="l">
              <a:lnSpc>
                <a:spcPct val="100000"/>
              </a:lnSpc>
              <a:spcBef>
                <a:spcPts val="400"/>
              </a:spcBef>
              <a:buNone/>
            </a:pPr>
            <a:r>
              <a:rPr lang="it-IT" sz="1400" b="0" dirty="0">
                <a:solidFill>
                  <a:srgbClr val="231C21"/>
                </a:solidFill>
              </a:rPr>
              <a:t>Modello di pagina con sezioni fisse e indice ancorato («In breve · Il team · Obiettivi · Uso dei fondi · Ricompense»), più un riassunto di 3 righe in cima.</a:t>
            </a:r>
          </a:p>
        </p:txBody>
      </p:sp>
      <p:sp>
        <p:nvSpPr>
          <p:cNvPr id="14" name="Segnaposto immagine 1"/>
          <p:cNvSpPr/>
          <p:nvPr/>
        </p:nvSpPr>
        <p:spPr>
          <a:xfrm>
            <a:off x="6045200" y="1625600"/>
            <a:ext cx="5537200" cy="4495800"/>
          </a:xfrm>
          <a:prstGeom prst="rect">
            <a:avLst/>
          </a:prstGeom>
          <a:solidFill>
            <a:srgbClr val="F7F4F6"/>
          </a:solidFill>
          <a:ln w="15875">
            <a:solidFill>
              <a:srgbClr val="B07A9F"/>
            </a:solidFill>
            <a:prstDash val="dash"/>
          </a:ln>
        </p:spPr>
        <p:txBody>
          <a:bodyPr wrap="square" lIns="127000" tIns="127000" rIns="127000" bIns="127000" anchor="ctr">
            <a:noAutofit/>
          </a:bodyPr>
          <a:lstStyle/>
          <a:p>
            <a:pPr marL="0" indent="0" algn="ctr">
              <a:lnSpc>
                <a:spcPct val="100000"/>
              </a:lnSpc>
              <a:spcBef>
                <a:spcPts val="0"/>
              </a:spcBef>
              <a:buNone/>
            </a:pPr>
            <a:r>
              <a:rPr lang="it-IT" sz="1200" b="1" dirty="0">
                <a:solidFill>
                  <a:srgbClr val="6C0850"/>
                </a:solidFill>
              </a:rPr>
              <a:t>[ SCREENSHOT DA FARE ]</a:t>
            </a:r>
          </a:p>
          <a:p>
            <a:pPr marL="0" indent="0" algn="ctr">
              <a:lnSpc>
                <a:spcPct val="100000"/>
              </a:lnSpc>
              <a:spcBef>
                <a:spcPts val="400"/>
              </a:spcBef>
              <a:buNone/>
            </a:pPr>
            <a:r>
              <a:rPr lang="it-IT" sz="1400" b="1" dirty="0">
                <a:solidFill>
                  <a:srgbClr val="231C21"/>
                </a:solidFill>
              </a:rPr>
              <a:t>Pagina intera ridotta, con le sezioni evidenziate</a:t>
            </a:r>
          </a:p>
          <a:p>
            <a:pPr marL="0" indent="0" algn="ctr">
              <a:lnSpc>
                <a:spcPct val="100000"/>
              </a:lnSpc>
              <a:spcBef>
                <a:spcPts val="300"/>
              </a:spcBef>
              <a:buNone/>
            </a:pPr>
            <a:r>
              <a:rPr lang="it-IT" sz="900" b="0" dirty="0">
                <a:solidFill>
                  <a:srgbClr val="6B6168"/>
                </a:solidFill>
              </a:rPr>
              <a:t>Salvare in /Users/andreock/Desktop/hci_gruppo_a/assignment1/parti/antofallea/src/</a:t>
            </a:r>
          </a:p>
          <a:p>
            <a:pPr marL="0" indent="0" algn="ctr">
              <a:lnSpc>
                <a:spcPct val="100000"/>
              </a:lnSpc>
              <a:spcBef>
                <a:spcPts val="300"/>
              </a:spcBef>
              <a:buNone/>
            </a:pPr>
            <a:r>
              <a:rPr lang="it-IT" sz="1000" b="0" dirty="0">
                <a:solidFill>
                  <a:srgbClr val="6B6168"/>
                </a:solidFill>
              </a:rPr>
              <a:t>Annotare con cerchi e frecce</a:t>
            </a:r>
          </a:p>
        </p:txBody>
      </p:sp>
      <p:sp>
        <p:nvSpPr>
          <p:cNvPr id="15" name="Pagine e task"/>
          <p:cNvSpPr txBox="1"/>
          <p:nvPr/>
        </p:nvSpPr>
        <p:spPr>
          <a:xfrm>
            <a:off x="609600" y="6273800"/>
            <a:ext cx="10972800" cy="381000"/>
          </a:xfrm>
          <a:prstGeom prst="rect">
            <a:avLst/>
          </a:prstGeom>
          <a:noFill/>
          <a:ln>
            <a:noFill/>
          </a:ln>
        </p:spPr>
        <p:txBody>
          <a:bodyPr wrap="square" lIns="0" tIns="0" rIns="0" bIns="0" anchor="b">
            <a:noAutofit/>
          </a:bodyPr>
          <a:lstStyle/>
          <a:p>
            <a:pPr marL="0" indent="0" algn="l">
              <a:lnSpc>
                <a:spcPct val="100000"/>
              </a:lnSpc>
              <a:spcBef>
                <a:spcPts val="0"/>
              </a:spcBef>
              <a:buNone/>
            </a:pPr>
            <a:r>
              <a:rPr lang="it-IT" sz="1000" b="1" dirty="0">
                <a:solidFill>
                  <a:srgbClr val="6B6168"/>
                </a:solidFill>
              </a:rPr>
              <a:t>Pagine:</a:t>
            </a:r>
            <a:r>
              <a:rPr lang="it-IT" sz="1000" b="0" dirty="0">
                <a:solidFill>
                  <a:srgbClr val="6B6168"/>
                </a:solidFill>
              </a:rPr>
              <a:t> Progetti «Mind the Climate», «BRIGHT», «Fai Brillare la Ricerca!»   </a:t>
            </a:r>
            <a:r>
              <a:rPr lang="it-IT" sz="1000" b="1" dirty="0">
                <a:solidFill>
                  <a:srgbClr val="6B6168"/>
                </a:solidFill>
              </a:rPr>
              <a:t>Task</a:t>
            </a:r>
            <a:r>
              <a:rPr lang="it-IT" sz="1000" b="1">
                <a:solidFill>
                  <a:srgbClr val="6B6168"/>
                </a:solidFill>
              </a:rPr>
              <a:t>:</a:t>
            </a:r>
            <a:r>
              <a:rPr lang="it-IT" sz="1000" b="0">
                <a:solidFill>
                  <a:srgbClr val="6B6168"/>
                </a:solidFill>
              </a:rPr>
              <a:t> T3</a:t>
            </a:r>
            <a:endParaRPr lang="it-IT" sz="1000" b="0" dirty="0">
              <a:solidFill>
                <a:srgbClr val="6B6168"/>
              </a:solidFill>
            </a:endParaRPr>
          </a:p>
        </p:txBody>
      </p:sp>
    </p:spTree>
    <p:extLst>
      <p:ext uri="{BB962C8B-B14F-4D97-AF65-F5344CB8AC3E}">
        <p14:creationId xmlns:p14="http://schemas.microsoft.com/office/powerpoint/2010/main" val="408875632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CFFB259E-0EEB-00ED-34C8-E54AD93A2F88}"/>
              </a:ext>
            </a:extLst>
          </p:cNvPr>
          <p:cNvSpPr>
            <a:spLocks noGrp="1"/>
          </p:cNvSpPr>
          <p:nvPr>
            <p:ph type="title"/>
          </p:nvPr>
        </p:nvSpPr>
        <p:spPr>
          <a:xfrm>
            <a:off x="609600" y="558800"/>
            <a:ext cx="8991600" cy="889000"/>
          </a:xfrm>
        </p:spPr>
        <p:txBody>
          <a:bodyPr anchor="t"/>
          <a:lstStyle/>
          <a:p>
            <a:pPr>
              <a:lnSpc>
                <a:spcPct val="90000"/>
              </a:lnSpc>
            </a:pPr>
            <a:r>
              <a:rPr lang="it-IT" sz="2600" b="1" dirty="0"/>
              <a:t>Il clic sulla barra dell’obiettivo ricarica la stessa pagina</a:t>
            </a:r>
          </a:p>
        </p:txBody>
      </p:sp>
      <p:sp>
        <p:nvSpPr>
          <p:cNvPr id="10" name="Euristica"/>
          <p:cNvSpPr txBox="1"/>
          <p:nvPr/>
        </p:nvSpPr>
        <p:spPr>
          <a:xfrm>
            <a:off x="609600" y="254000"/>
            <a:ext cx="8890000" cy="279400"/>
          </a:xfrm>
          <a:prstGeom prst="rect">
            <a:avLst/>
          </a:prstGeom>
          <a:noFill/>
          <a:ln>
            <a:noFill/>
          </a:ln>
        </p:spPr>
        <p:txBody>
          <a:bodyPr wrap="square" lIns="0" tIns="0" rIns="0" bIns="0" anchor="t">
            <a:noAutofit/>
          </a:bodyPr>
          <a:lstStyle/>
          <a:p>
            <a:pPr marL="0" indent="0" algn="l">
              <a:lnSpc>
                <a:spcPct val="100000"/>
              </a:lnSpc>
              <a:spcBef>
                <a:spcPts val="0"/>
              </a:spcBef>
              <a:buNone/>
            </a:pPr>
            <a:r>
              <a:rPr lang="it-IT" sz="1200" b="1" dirty="0">
                <a:solidFill>
                  <a:srgbClr val="6C0850"/>
                </a:solidFill>
              </a:rPr>
              <a:t>H7 · FLESSIBILITÀ ED EFFICIENZA D’USO</a:t>
            </a:r>
          </a:p>
        </p:txBody>
      </p:sp>
      <p:sp>
        <p:nvSpPr>
          <p:cNvPr id="11" name="Badge gravità"/>
          <p:cNvSpPr/>
          <p:nvPr/>
        </p:nvSpPr>
        <p:spPr>
          <a:xfrm>
            <a:off x="9855200" y="381000"/>
            <a:ext cx="1727200" cy="736600"/>
          </a:xfrm>
          <a:prstGeom prst="roundRect">
            <a:avLst/>
          </a:prstGeom>
          <a:solidFill>
            <a:srgbClr val="FFFFFF"/>
          </a:solidFill>
          <a:ln w="15875">
            <a:solidFill>
              <a:srgbClr val="B07A9F"/>
            </a:solidFill>
            <a:prstDash val="dash"/>
          </a:ln>
        </p:spPr>
        <p:txBody>
          <a:bodyPr wrap="square" lIns="0" tIns="0" rIns="0" bIns="0" anchor="ctr">
            <a:noAutofit/>
          </a:bodyPr>
          <a:lstStyle/>
          <a:p>
            <a:pPr marL="0" indent="0" algn="ctr">
              <a:lnSpc>
                <a:spcPct val="100000"/>
              </a:lnSpc>
              <a:spcBef>
                <a:spcPts val="0"/>
              </a:spcBef>
              <a:buNone/>
            </a:pPr>
            <a:r>
              <a:rPr lang="it-IT" sz="1000" b="1" dirty="0">
                <a:solidFill>
                  <a:srgbClr val="6C0850"/>
                </a:solidFill>
              </a:rPr>
              <a:t>GRAVITÀ</a:t>
            </a:r>
          </a:p>
          <a:p>
            <a:pPr marL="0" indent="0" algn="ctr">
              <a:lnSpc>
                <a:spcPct val="100000"/>
              </a:lnSpc>
              <a:spcBef>
                <a:spcPts val="0"/>
              </a:spcBef>
              <a:buNone/>
            </a:pPr>
            <a:r>
              <a:rPr lang="it-IT" sz="1600" b="1" dirty="0">
                <a:solidFill>
                  <a:srgbClr val="6C0850"/>
                </a:solidFill>
              </a:rPr>
              <a:t>? </a:t>
            </a:r>
            <a:r>
              <a:rPr lang="it-IT" sz="1600" b="1">
                <a:solidFill>
                  <a:srgbClr val="6C0850"/>
                </a:solidFill>
              </a:rPr>
              <a:t>· Da decidere</a:t>
            </a:r>
            <a:endParaRPr lang="it-IT" sz="1600" b="1" dirty="0">
              <a:solidFill>
                <a:srgbClr val="6C0850"/>
              </a:solidFill>
            </a:endParaRPr>
          </a:p>
        </p:txBody>
      </p:sp>
      <p:sp>
        <p:nvSpPr>
          <p:cNvPr id="12" name="Problema"/>
          <p:cNvSpPr txBox="1"/>
          <p:nvPr/>
        </p:nvSpPr>
        <p:spPr>
          <a:xfrm>
            <a:off x="609600" y="1625600"/>
            <a:ext cx="5130800" cy="2616200"/>
          </a:xfrm>
          <a:prstGeom prst="rect">
            <a:avLst/>
          </a:prstGeom>
          <a:noFill/>
          <a:ln>
            <a:noFill/>
          </a:ln>
        </p:spPr>
        <p:txBody>
          <a:bodyPr wrap="square" lIns="0" tIns="0" rIns="0" bIns="0" anchor="t">
            <a:noAutofit/>
          </a:bodyPr>
          <a:lstStyle/>
          <a:p>
            <a:pPr marL="0" indent="0" algn="l">
              <a:lnSpc>
                <a:spcPct val="100000"/>
              </a:lnSpc>
              <a:spcBef>
                <a:spcPts val="0"/>
              </a:spcBef>
              <a:buNone/>
            </a:pPr>
            <a:r>
              <a:rPr lang="it-IT" sz="1400" b="1" dirty="0">
                <a:solidFill>
                  <a:srgbClr val="6C0850"/>
                </a:solidFill>
              </a:rPr>
              <a:t>Problema</a:t>
            </a:r>
          </a:p>
          <a:p>
            <a:pPr marL="228600" indent="-228600" algn="l">
              <a:lnSpc>
                <a:spcPct val="100000"/>
              </a:lnSpc>
              <a:spcBef>
                <a:spcPts val="500"/>
              </a:spcBef>
              <a:buClr>
                <a:srgbClr val="6C0850"/>
              </a:buClr>
              <a:buFont typeface="Arial"/>
              <a:buChar char="•"/>
            </a:pPr>
            <a:r>
              <a:rPr lang="it-IT" sz="1400" b="0" dirty="0">
                <a:solidFill>
                  <a:srgbClr val="231C21"/>
                </a:solidFill>
              </a:rPr>
              <a:t>La barra del raccolto (gauge) è cliccabile</a:t>
            </a:r>
          </a:p>
          <a:p>
            <a:pPr marL="228600" indent="-228600" algn="l">
              <a:lnSpc>
                <a:spcPct val="100000"/>
              </a:lnSpc>
              <a:spcBef>
                <a:spcPts val="500"/>
              </a:spcBef>
              <a:buClr>
                <a:srgbClr val="6C0850"/>
              </a:buClr>
              <a:buFont typeface="Arial"/>
              <a:buChar char="•"/>
            </a:pPr>
            <a:r>
              <a:rPr lang="it-IT" sz="1400" b="0" dirty="0">
                <a:solidFill>
                  <a:srgbClr val="231C21"/>
                </a:solidFill>
              </a:rPr>
              <a:t>Il clic </a:t>
            </a:r>
            <a:r>
              <a:rPr lang="it-IT" sz="1400" b="1" dirty="0">
                <a:solidFill>
                  <a:srgbClr val="231C21"/>
                </a:solidFill>
              </a:rPr>
              <a:t>ricarica la pagina in cui ci si trova</a:t>
            </a:r>
            <a:r>
              <a:rPr lang="it-IT" sz="1400" b="0" dirty="0">
                <a:solidFill>
                  <a:srgbClr val="231C21"/>
                </a:solidFill>
              </a:rPr>
              <a:t>, senza nessun effetto utile</a:t>
            </a:r>
          </a:p>
          <a:p>
            <a:pPr marL="228600" indent="-228600" algn="l">
              <a:lnSpc>
                <a:spcPct val="100000"/>
              </a:lnSpc>
              <a:spcBef>
                <a:spcPts val="500"/>
              </a:spcBef>
              <a:buClr>
                <a:srgbClr val="6C0850"/>
              </a:buClr>
              <a:buFont typeface="Arial"/>
              <a:buChar char="•"/>
            </a:pPr>
            <a:r>
              <a:rPr lang="it-IT" sz="1400" b="0" dirty="0">
                <a:solidFill>
                  <a:srgbClr val="231C21"/>
                </a:solidFill>
              </a:rPr>
              <a:t>L’utente perde la posizione di lettura</a:t>
            </a:r>
          </a:p>
          <a:p>
            <a:pPr marL="0" indent="0" algn="l">
              <a:lnSpc>
                <a:spcPct val="100000"/>
              </a:lnSpc>
              <a:spcBef>
                <a:spcPts val="900"/>
              </a:spcBef>
              <a:buNone/>
            </a:pPr>
            <a:r>
              <a:rPr lang="it-IT" sz="1100" b="0" dirty="0">
                <a:solidFill>
                  <a:srgbClr val="6B6168"/>
                </a:solidFill>
              </a:rPr>
              <a:t>Gravità non indicata nelle note.</a:t>
            </a:r>
          </a:p>
        </p:txBody>
      </p:sp>
      <p:sp>
        <p:nvSpPr>
          <p:cNvPr id="13" name="Soluzione"/>
          <p:cNvSpPr/>
          <p:nvPr/>
        </p:nvSpPr>
        <p:spPr>
          <a:xfrm>
            <a:off x="609600" y="4394200"/>
            <a:ext cx="5130800" cy="1727200"/>
          </a:xfrm>
          <a:prstGeom prst="rect">
            <a:avLst/>
          </a:prstGeom>
          <a:solidFill>
            <a:srgbClr val="F3EEF1"/>
          </a:solidFill>
          <a:ln>
            <a:noFill/>
          </a:ln>
        </p:spPr>
        <p:txBody>
          <a:bodyPr wrap="square" lIns="152400" tIns="152400" rIns="152400" bIns="152400" anchor="t">
            <a:noAutofit/>
          </a:bodyPr>
          <a:lstStyle/>
          <a:p>
            <a:pPr marL="0" indent="0" algn="l">
              <a:lnSpc>
                <a:spcPct val="100000"/>
              </a:lnSpc>
              <a:spcBef>
                <a:spcPts val="0"/>
              </a:spcBef>
              <a:buNone/>
            </a:pPr>
            <a:r>
              <a:rPr lang="it-IT" sz="1400" b="1" dirty="0">
                <a:solidFill>
                  <a:srgbClr val="6C0850"/>
                </a:solidFill>
              </a:rPr>
              <a:t>Possibile soluzione</a:t>
            </a:r>
          </a:p>
          <a:p>
            <a:pPr marL="0" indent="0" algn="l">
              <a:lnSpc>
                <a:spcPct val="100000"/>
              </a:lnSpc>
              <a:spcBef>
                <a:spcPts val="400"/>
              </a:spcBef>
              <a:buNone/>
            </a:pPr>
            <a:r>
              <a:rPr lang="it-IT" sz="1400" b="0" dirty="0">
                <a:solidFill>
                  <a:srgbClr val="231C21"/>
                </a:solidFill>
              </a:rPr>
              <a:t>Rendere la barra non cliccabile, oppure collegarla alle ricompense o alla scheda «Sostenitori».</a:t>
            </a:r>
          </a:p>
        </p:txBody>
      </p:sp>
      <p:sp>
        <p:nvSpPr>
          <p:cNvPr id="14" name="Segnaposto immagine 1"/>
          <p:cNvSpPr/>
          <p:nvPr/>
        </p:nvSpPr>
        <p:spPr>
          <a:xfrm>
            <a:off x="6045200" y="1625600"/>
            <a:ext cx="5537200" cy="4495800"/>
          </a:xfrm>
          <a:prstGeom prst="rect">
            <a:avLst/>
          </a:prstGeom>
          <a:solidFill>
            <a:srgbClr val="F7F4F6"/>
          </a:solidFill>
          <a:ln w="15875">
            <a:solidFill>
              <a:srgbClr val="B07A9F"/>
            </a:solidFill>
            <a:prstDash val="dash"/>
          </a:ln>
        </p:spPr>
        <p:txBody>
          <a:bodyPr wrap="square" lIns="127000" tIns="127000" rIns="127000" bIns="127000" anchor="ctr">
            <a:noAutofit/>
          </a:bodyPr>
          <a:lstStyle/>
          <a:p>
            <a:pPr marL="0" indent="0" algn="ctr">
              <a:lnSpc>
                <a:spcPct val="100000"/>
              </a:lnSpc>
              <a:spcBef>
                <a:spcPts val="0"/>
              </a:spcBef>
              <a:buNone/>
            </a:pPr>
            <a:r>
              <a:rPr lang="it-IT" sz="1200" b="1" dirty="0">
                <a:solidFill>
                  <a:srgbClr val="6C0850"/>
                </a:solidFill>
              </a:rPr>
              <a:t>[ SCREENSHOT DA FARE ]</a:t>
            </a:r>
          </a:p>
          <a:p>
            <a:pPr marL="0" indent="0" algn="ctr">
              <a:lnSpc>
                <a:spcPct val="100000"/>
              </a:lnSpc>
              <a:spcBef>
                <a:spcPts val="400"/>
              </a:spcBef>
              <a:buNone/>
            </a:pPr>
            <a:r>
              <a:rPr lang="it-IT" sz="1400" b="1" dirty="0">
                <a:solidFill>
                  <a:srgbClr val="231C21"/>
                </a:solidFill>
              </a:rPr>
              <a:t>Barra dell’obiettivo nel box di stato</a:t>
            </a:r>
          </a:p>
          <a:p>
            <a:pPr marL="0" indent="0" algn="ctr">
              <a:lnSpc>
                <a:spcPct val="100000"/>
              </a:lnSpc>
              <a:spcBef>
                <a:spcPts val="300"/>
              </a:spcBef>
              <a:buNone/>
            </a:pPr>
            <a:r>
              <a:rPr lang="it-IT" sz="900" b="0" dirty="0">
                <a:solidFill>
                  <a:srgbClr val="6B6168"/>
                </a:solidFill>
              </a:rPr>
              <a:t>Salvare in /Users/andreock/Desktop/hci_gruppo_a/assignment1/parti/antofallea/src/</a:t>
            </a:r>
          </a:p>
          <a:p>
            <a:pPr marL="0" indent="0" algn="ctr">
              <a:lnSpc>
                <a:spcPct val="100000"/>
              </a:lnSpc>
              <a:spcBef>
                <a:spcPts val="300"/>
              </a:spcBef>
              <a:buNone/>
            </a:pPr>
            <a:r>
              <a:rPr lang="it-IT" sz="1000" b="0" dirty="0">
                <a:solidFill>
                  <a:srgbClr val="6B6168"/>
                </a:solidFill>
              </a:rPr>
              <a:t>Annotare con cerchi e frecce</a:t>
            </a:r>
          </a:p>
        </p:txBody>
      </p:sp>
      <p:sp>
        <p:nvSpPr>
          <p:cNvPr id="15" name="Pagine e task"/>
          <p:cNvSpPr txBox="1"/>
          <p:nvPr/>
        </p:nvSpPr>
        <p:spPr>
          <a:xfrm>
            <a:off x="609600" y="6273800"/>
            <a:ext cx="10972800" cy="381000"/>
          </a:xfrm>
          <a:prstGeom prst="rect">
            <a:avLst/>
          </a:prstGeom>
          <a:noFill/>
          <a:ln>
            <a:noFill/>
          </a:ln>
        </p:spPr>
        <p:txBody>
          <a:bodyPr wrap="square" lIns="0" tIns="0" rIns="0" bIns="0" anchor="b">
            <a:noAutofit/>
          </a:bodyPr>
          <a:lstStyle/>
          <a:p>
            <a:pPr marL="0" indent="0" algn="l">
              <a:lnSpc>
                <a:spcPct val="100000"/>
              </a:lnSpc>
              <a:spcBef>
                <a:spcPts val="0"/>
              </a:spcBef>
              <a:buNone/>
            </a:pPr>
            <a:r>
              <a:rPr lang="it-IT" sz="1000" b="1" dirty="0">
                <a:solidFill>
                  <a:srgbClr val="6B6168"/>
                </a:solidFill>
              </a:rPr>
              <a:t>Pagina:</a:t>
            </a:r>
            <a:r>
              <a:rPr lang="it-IT" sz="1000" b="0" dirty="0">
                <a:solidFill>
                  <a:srgbClr val="6B6168"/>
                </a:solidFill>
              </a:rPr>
              <a:t> Progetto «Mind the </a:t>
            </a:r>
            <a:r>
              <a:rPr lang="it-IT" sz="1000" b="0">
                <a:solidFill>
                  <a:srgbClr val="6B6168"/>
                </a:solidFill>
              </a:rPr>
              <a:t>Climate»   </a:t>
            </a:r>
            <a:r>
              <a:rPr lang="it-IT" sz="1000" b="1" dirty="0">
                <a:solidFill>
                  <a:srgbClr val="6B6168"/>
                </a:solidFill>
              </a:rPr>
              <a:t>Task</a:t>
            </a:r>
            <a:r>
              <a:rPr lang="it-IT" sz="1000" b="1">
                <a:solidFill>
                  <a:srgbClr val="6B6168"/>
                </a:solidFill>
              </a:rPr>
              <a:t>:</a:t>
            </a:r>
            <a:r>
              <a:rPr lang="it-IT" sz="1000" b="0">
                <a:solidFill>
                  <a:srgbClr val="6B6168"/>
                </a:solidFill>
              </a:rPr>
              <a:t> T4</a:t>
            </a:r>
            <a:endParaRPr lang="it-IT" sz="1000" b="0" dirty="0">
              <a:solidFill>
                <a:srgbClr val="6B6168"/>
              </a:solidFill>
            </a:endParaRPr>
          </a:p>
        </p:txBody>
      </p:sp>
    </p:spTree>
    <p:extLst>
      <p:ext uri="{BB962C8B-B14F-4D97-AF65-F5344CB8AC3E}">
        <p14:creationId xmlns:p14="http://schemas.microsoft.com/office/powerpoint/2010/main" val="90418157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A93608D2-6F28-A506-8C43-357C7BB50BDE}"/>
              </a:ext>
            </a:extLst>
          </p:cNvPr>
          <p:cNvSpPr>
            <a:spLocks noGrp="1"/>
          </p:cNvSpPr>
          <p:nvPr>
            <p:ph type="title"/>
          </p:nvPr>
        </p:nvSpPr>
        <p:spPr>
          <a:xfrm>
            <a:off x="609600" y="558800"/>
            <a:ext cx="8991600" cy="889000"/>
          </a:xfrm>
        </p:spPr>
        <p:txBody>
          <a:bodyPr anchor="t"/>
          <a:lstStyle/>
          <a:p>
            <a:pPr>
              <a:lnSpc>
                <a:spcPct val="90000"/>
              </a:lnSpc>
            </a:pPr>
            <a:r>
              <a:rPr lang="it-IT" sz="2600" b="1" dirty="0"/>
              <a:t>Le ricompense ripetono ogni testo in italiano e in inglese</a:t>
            </a:r>
          </a:p>
        </p:txBody>
      </p:sp>
      <p:sp>
        <p:nvSpPr>
          <p:cNvPr id="10" name="Euristica"/>
          <p:cNvSpPr txBox="1"/>
          <p:nvPr/>
        </p:nvSpPr>
        <p:spPr>
          <a:xfrm>
            <a:off x="609600" y="254000"/>
            <a:ext cx="8890000" cy="279400"/>
          </a:xfrm>
          <a:prstGeom prst="rect">
            <a:avLst/>
          </a:prstGeom>
          <a:noFill/>
          <a:ln>
            <a:noFill/>
          </a:ln>
        </p:spPr>
        <p:txBody>
          <a:bodyPr wrap="square" lIns="0" tIns="0" rIns="0" bIns="0" anchor="t">
            <a:noAutofit/>
          </a:bodyPr>
          <a:lstStyle/>
          <a:p>
            <a:pPr marL="0" indent="0" algn="l">
              <a:lnSpc>
                <a:spcPct val="100000"/>
              </a:lnSpc>
              <a:spcBef>
                <a:spcPts val="0"/>
              </a:spcBef>
              <a:buNone/>
            </a:pPr>
            <a:r>
              <a:rPr lang="it-IT" sz="1200" b="1" dirty="0">
                <a:solidFill>
                  <a:srgbClr val="6C0850"/>
                </a:solidFill>
              </a:rPr>
              <a:t>H8 · DESIGN ESTETICO E MINIMALISTA</a:t>
            </a:r>
          </a:p>
        </p:txBody>
      </p:sp>
      <p:sp>
        <p:nvSpPr>
          <p:cNvPr id="11" name="Badge gravità"/>
          <p:cNvSpPr/>
          <p:nvPr/>
        </p:nvSpPr>
        <p:spPr>
          <a:xfrm>
            <a:off x="9855200" y="381000"/>
            <a:ext cx="1727200" cy="736600"/>
          </a:xfrm>
          <a:prstGeom prst="roundRect">
            <a:avLst/>
          </a:prstGeom>
          <a:solidFill>
            <a:srgbClr val="8E2F72"/>
          </a:solidFill>
          <a:ln>
            <a:noFill/>
          </a:ln>
        </p:spPr>
        <p:txBody>
          <a:bodyPr wrap="square" lIns="0" tIns="0" rIns="0" bIns="0" anchor="ctr">
            <a:noAutofit/>
          </a:bodyPr>
          <a:lstStyle/>
          <a:p>
            <a:pPr marL="0" indent="0" algn="ctr">
              <a:lnSpc>
                <a:spcPct val="100000"/>
              </a:lnSpc>
              <a:spcBef>
                <a:spcPts val="0"/>
              </a:spcBef>
              <a:buNone/>
            </a:pPr>
            <a:r>
              <a:rPr lang="it-IT" sz="1000" b="1" dirty="0">
                <a:solidFill>
                  <a:srgbClr val="FFFFFF"/>
                </a:solidFill>
              </a:rPr>
              <a:t>GRAVITÀ</a:t>
            </a:r>
          </a:p>
          <a:p>
            <a:pPr marL="0" indent="0" algn="ctr">
              <a:lnSpc>
                <a:spcPct val="100000"/>
              </a:lnSpc>
              <a:spcBef>
                <a:spcPts val="0"/>
              </a:spcBef>
              <a:buNone/>
            </a:pPr>
            <a:r>
              <a:rPr lang="it-IT" sz="1800" b="1" dirty="0">
                <a:solidFill>
                  <a:srgbClr val="FFFFFF"/>
                </a:solidFill>
              </a:rPr>
              <a:t>3 </a:t>
            </a:r>
            <a:r>
              <a:rPr lang="it-IT" sz="1800" b="1">
                <a:solidFill>
                  <a:srgbClr val="FFFFFF"/>
                </a:solidFill>
              </a:rPr>
              <a:t>· Importante</a:t>
            </a:r>
            <a:endParaRPr lang="it-IT" sz="1800" b="1" dirty="0">
              <a:solidFill>
                <a:srgbClr val="FFFFFF"/>
              </a:solidFill>
            </a:endParaRPr>
          </a:p>
        </p:txBody>
      </p:sp>
      <p:sp>
        <p:nvSpPr>
          <p:cNvPr id="12" name="Problema"/>
          <p:cNvSpPr txBox="1"/>
          <p:nvPr/>
        </p:nvSpPr>
        <p:spPr>
          <a:xfrm>
            <a:off x="609600" y="1625600"/>
            <a:ext cx="5130800" cy="2616200"/>
          </a:xfrm>
          <a:prstGeom prst="rect">
            <a:avLst/>
          </a:prstGeom>
          <a:noFill/>
          <a:ln>
            <a:noFill/>
          </a:ln>
        </p:spPr>
        <p:txBody>
          <a:bodyPr wrap="square" lIns="0" tIns="0" rIns="0" bIns="0" anchor="t">
            <a:noAutofit/>
          </a:bodyPr>
          <a:lstStyle/>
          <a:p>
            <a:pPr marL="0" indent="0" algn="l">
              <a:lnSpc>
                <a:spcPct val="100000"/>
              </a:lnSpc>
              <a:spcBef>
                <a:spcPts val="0"/>
              </a:spcBef>
              <a:buNone/>
            </a:pPr>
            <a:r>
              <a:rPr lang="it-IT" sz="1400" b="1" dirty="0">
                <a:solidFill>
                  <a:srgbClr val="6C0850"/>
                </a:solidFill>
              </a:rPr>
              <a:t>Problema</a:t>
            </a:r>
          </a:p>
          <a:p>
            <a:pPr marL="228600" indent="-228600" algn="l">
              <a:lnSpc>
                <a:spcPct val="100000"/>
              </a:lnSpc>
              <a:spcBef>
                <a:spcPts val="500"/>
              </a:spcBef>
              <a:buClr>
                <a:srgbClr val="6C0850"/>
              </a:buClr>
              <a:buFont typeface="Arial"/>
              <a:buChar char="•"/>
            </a:pPr>
            <a:r>
              <a:rPr lang="it-IT" sz="1400" b="0" dirty="0">
                <a:solidFill>
                  <a:srgbClr val="231C21"/>
                </a:solidFill>
              </a:rPr>
              <a:t>Ogni ricompensa ha il testo </a:t>
            </a:r>
            <a:r>
              <a:rPr lang="it-IT" sz="1400" b="1" dirty="0">
                <a:solidFill>
                  <a:srgbClr val="231C21"/>
                </a:solidFill>
              </a:rPr>
              <a:t>in due lingue</a:t>
            </a:r>
            <a:r>
              <a:rPr lang="it-IT" sz="1400" b="0" dirty="0">
                <a:solidFill>
                  <a:srgbClr val="231C21"/>
                </a:solidFill>
              </a:rPr>
              <a:t>, uno sotto l’altro</a:t>
            </a:r>
          </a:p>
          <a:p>
            <a:pPr marL="228600" indent="-228600" algn="l">
              <a:lnSpc>
                <a:spcPct val="100000"/>
              </a:lnSpc>
              <a:spcBef>
                <a:spcPts val="500"/>
              </a:spcBef>
              <a:buClr>
                <a:srgbClr val="6C0850"/>
              </a:buClr>
              <a:buFont typeface="Arial"/>
              <a:buChar char="•"/>
            </a:pPr>
            <a:r>
              <a:rPr lang="it-IT" sz="1400" b="0" dirty="0">
                <a:solidFill>
                  <a:srgbClr val="231C21"/>
                </a:solidFill>
              </a:rPr>
              <a:t>Ogni blocco </a:t>
            </a:r>
            <a:r>
              <a:rPr lang="it-IT" sz="1400" b="1" dirty="0">
                <a:solidFill>
                  <a:srgbClr val="231C21"/>
                </a:solidFill>
              </a:rPr>
              <a:t>raddoppia di lunghezza</a:t>
            </a:r>
            <a:r>
              <a:rPr lang="it-IT" sz="1400" b="0" dirty="0">
                <a:solidFill>
                  <a:srgbClr val="231C21"/>
                </a:solidFill>
              </a:rPr>
              <a:t> e allunga una lista già lunga</a:t>
            </a:r>
          </a:p>
          <a:p>
            <a:pPr marL="228600" indent="-228600" algn="l">
              <a:lnSpc>
                <a:spcPct val="100000"/>
              </a:lnSpc>
              <a:spcBef>
                <a:spcPts val="500"/>
              </a:spcBef>
              <a:buClr>
                <a:srgbClr val="6C0850"/>
              </a:buClr>
              <a:buFont typeface="Arial"/>
              <a:buChar char="•"/>
            </a:pPr>
            <a:r>
              <a:rPr lang="it-IT" sz="1400" b="0" dirty="0">
                <a:solidFill>
                  <a:srgbClr val="231C21"/>
                </a:solidFill>
              </a:rPr>
              <a:t>Manca invece un’internazionalizzazione completa del sito (vedi slide sulla versione inglese)</a:t>
            </a:r>
          </a:p>
          <a:p>
            <a:pPr marL="0" indent="0" algn="l">
              <a:lnSpc>
                <a:spcPct val="100000"/>
              </a:lnSpc>
              <a:spcBef>
                <a:spcPts val="900"/>
              </a:spcBef>
              <a:buNone/>
            </a:pPr>
            <a:r>
              <a:rPr lang="it-IT" sz="1100" b="0" dirty="0">
                <a:solidFill>
                  <a:srgbClr val="6B6168"/>
                </a:solidFill>
              </a:rPr>
              <a:t>Gravità 3 dalle note. Lo stesso schema riga per riga compare nel modulo di donazione (P17, CSV).</a:t>
            </a:r>
          </a:p>
        </p:txBody>
      </p:sp>
      <p:sp>
        <p:nvSpPr>
          <p:cNvPr id="13" name="Soluzione"/>
          <p:cNvSpPr/>
          <p:nvPr/>
        </p:nvSpPr>
        <p:spPr>
          <a:xfrm>
            <a:off x="609600" y="4394200"/>
            <a:ext cx="5130800" cy="1727200"/>
          </a:xfrm>
          <a:prstGeom prst="rect">
            <a:avLst/>
          </a:prstGeom>
          <a:solidFill>
            <a:srgbClr val="F3EEF1"/>
          </a:solidFill>
          <a:ln>
            <a:noFill/>
          </a:ln>
        </p:spPr>
        <p:txBody>
          <a:bodyPr wrap="square" lIns="152400" tIns="152400" rIns="152400" bIns="152400" anchor="t">
            <a:noAutofit/>
          </a:bodyPr>
          <a:lstStyle/>
          <a:p>
            <a:pPr marL="0" indent="0" algn="l">
              <a:lnSpc>
                <a:spcPct val="100000"/>
              </a:lnSpc>
              <a:spcBef>
                <a:spcPts val="0"/>
              </a:spcBef>
              <a:buNone/>
            </a:pPr>
            <a:r>
              <a:rPr lang="it-IT" sz="1400" b="1" dirty="0">
                <a:solidFill>
                  <a:srgbClr val="6C0850"/>
                </a:solidFill>
              </a:rPr>
              <a:t>Possibile soluzione</a:t>
            </a:r>
          </a:p>
          <a:p>
            <a:pPr marL="0" indent="0" algn="l">
              <a:lnSpc>
                <a:spcPct val="100000"/>
              </a:lnSpc>
              <a:spcBef>
                <a:spcPts val="400"/>
              </a:spcBef>
              <a:buNone/>
            </a:pPr>
            <a:r>
              <a:rPr lang="it-IT" sz="1400" b="0" dirty="0">
                <a:solidFill>
                  <a:srgbClr val="231C21"/>
                </a:solidFill>
              </a:rPr>
              <a:t>Selettore di lingua IT/EN, una sola lingua visibile alla volta, in tutta la pagina e nel modulo di donazione.</a:t>
            </a:r>
          </a:p>
        </p:txBody>
      </p:sp>
      <p:sp>
        <p:nvSpPr>
          <p:cNvPr id="14" name="Segnaposto immagine 1"/>
          <p:cNvSpPr/>
          <p:nvPr/>
        </p:nvSpPr>
        <p:spPr>
          <a:xfrm>
            <a:off x="6045200" y="1625600"/>
            <a:ext cx="5537200" cy="4495800"/>
          </a:xfrm>
          <a:prstGeom prst="rect">
            <a:avLst/>
          </a:prstGeom>
          <a:solidFill>
            <a:srgbClr val="F7F4F6"/>
          </a:solidFill>
          <a:ln w="15875">
            <a:solidFill>
              <a:srgbClr val="B07A9F"/>
            </a:solidFill>
            <a:prstDash val="dash"/>
          </a:ln>
        </p:spPr>
        <p:txBody>
          <a:bodyPr wrap="square" lIns="127000" tIns="127000" rIns="127000" bIns="127000" anchor="ctr">
            <a:noAutofit/>
          </a:bodyPr>
          <a:lstStyle/>
          <a:p>
            <a:pPr marL="0" indent="0" algn="ctr">
              <a:lnSpc>
                <a:spcPct val="100000"/>
              </a:lnSpc>
              <a:spcBef>
                <a:spcPts val="0"/>
              </a:spcBef>
              <a:buNone/>
            </a:pPr>
            <a:r>
              <a:rPr lang="it-IT" sz="1200" b="1" dirty="0">
                <a:solidFill>
                  <a:srgbClr val="6C0850"/>
                </a:solidFill>
              </a:rPr>
              <a:t>[ SCREENSHOT DA FARE ]</a:t>
            </a:r>
          </a:p>
          <a:p>
            <a:pPr marL="0" indent="0" algn="ctr">
              <a:lnSpc>
                <a:spcPct val="100000"/>
              </a:lnSpc>
              <a:spcBef>
                <a:spcPts val="400"/>
              </a:spcBef>
              <a:buNone/>
            </a:pPr>
            <a:r>
              <a:rPr lang="it-IT" sz="1400" b="1" dirty="0">
                <a:solidFill>
                  <a:srgbClr val="231C21"/>
                </a:solidFill>
              </a:rPr>
              <a:t>Una ricompensa con testo IT/EN</a:t>
            </a:r>
          </a:p>
          <a:p>
            <a:pPr marL="0" indent="0" algn="ctr">
              <a:lnSpc>
                <a:spcPct val="100000"/>
              </a:lnSpc>
              <a:spcBef>
                <a:spcPts val="300"/>
              </a:spcBef>
              <a:buNone/>
            </a:pPr>
            <a:r>
              <a:rPr lang="it-IT" sz="900" b="0" dirty="0">
                <a:solidFill>
                  <a:srgbClr val="6B6168"/>
                </a:solidFill>
              </a:rPr>
              <a:t>Salvare in /Users/andreock/Desktop/hci_gruppo_a/assignment1/parti/antofallea/src/</a:t>
            </a:r>
          </a:p>
          <a:p>
            <a:pPr marL="0" indent="0" algn="ctr">
              <a:lnSpc>
                <a:spcPct val="100000"/>
              </a:lnSpc>
              <a:spcBef>
                <a:spcPts val="300"/>
              </a:spcBef>
              <a:buNone/>
            </a:pPr>
            <a:r>
              <a:rPr lang="it-IT" sz="1000" b="0" dirty="0">
                <a:solidFill>
                  <a:srgbClr val="6B6168"/>
                </a:solidFill>
              </a:rPr>
              <a:t>Annotare con cerchi e frecce</a:t>
            </a:r>
          </a:p>
        </p:txBody>
      </p:sp>
      <p:sp>
        <p:nvSpPr>
          <p:cNvPr id="15" name="Pagine e task"/>
          <p:cNvSpPr txBox="1"/>
          <p:nvPr/>
        </p:nvSpPr>
        <p:spPr>
          <a:xfrm>
            <a:off x="609600" y="6273800"/>
            <a:ext cx="10972800" cy="381000"/>
          </a:xfrm>
          <a:prstGeom prst="rect">
            <a:avLst/>
          </a:prstGeom>
          <a:noFill/>
          <a:ln>
            <a:noFill/>
          </a:ln>
        </p:spPr>
        <p:txBody>
          <a:bodyPr wrap="square" lIns="0" tIns="0" rIns="0" bIns="0" anchor="b">
            <a:noAutofit/>
          </a:bodyPr>
          <a:lstStyle/>
          <a:p>
            <a:pPr marL="0" indent="0" algn="l">
              <a:lnSpc>
                <a:spcPct val="100000"/>
              </a:lnSpc>
              <a:spcBef>
                <a:spcPts val="0"/>
              </a:spcBef>
              <a:buNone/>
            </a:pPr>
            <a:r>
              <a:rPr lang="it-IT" sz="1000" b="1" dirty="0">
                <a:solidFill>
                  <a:srgbClr val="6B6168"/>
                </a:solidFill>
              </a:rPr>
              <a:t>Pagine:</a:t>
            </a:r>
            <a:r>
              <a:rPr lang="it-IT" sz="1000" b="0" dirty="0">
                <a:solidFill>
                  <a:srgbClr val="6B6168"/>
                </a:solidFill>
              </a:rPr>
              <a:t> Progetto «Mind the Climate» › ricompense · modulo di donazione   </a:t>
            </a:r>
            <a:r>
              <a:rPr lang="it-IT" sz="1000" b="1" dirty="0">
                <a:solidFill>
                  <a:srgbClr val="6B6168"/>
                </a:solidFill>
              </a:rPr>
              <a:t>Task</a:t>
            </a:r>
            <a:r>
              <a:rPr lang="it-IT" sz="1000" b="1">
                <a:solidFill>
                  <a:srgbClr val="6B6168"/>
                </a:solidFill>
              </a:rPr>
              <a:t>:</a:t>
            </a:r>
            <a:r>
              <a:rPr lang="it-IT" sz="1000" b="0">
                <a:solidFill>
                  <a:srgbClr val="6B6168"/>
                </a:solidFill>
              </a:rPr>
              <a:t> T5</a:t>
            </a:r>
            <a:endParaRPr lang="it-IT" sz="1000" b="0" dirty="0">
              <a:solidFill>
                <a:srgbClr val="6B6168"/>
              </a:solidFill>
            </a:endParaRPr>
          </a:p>
        </p:txBody>
      </p:sp>
    </p:spTree>
    <p:extLst>
      <p:ext uri="{BB962C8B-B14F-4D97-AF65-F5344CB8AC3E}">
        <p14:creationId xmlns:p14="http://schemas.microsoft.com/office/powerpoint/2010/main" val="285064466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0963BE3B-F8A8-240A-4650-3720A9208305}"/>
              </a:ext>
            </a:extLst>
          </p:cNvPr>
          <p:cNvSpPr>
            <a:spLocks noGrp="1"/>
          </p:cNvSpPr>
          <p:nvPr>
            <p:ph type="title"/>
          </p:nvPr>
        </p:nvSpPr>
        <p:spPr>
          <a:xfrm>
            <a:off x="609600" y="558800"/>
            <a:ext cx="8991600" cy="889000"/>
          </a:xfrm>
        </p:spPr>
        <p:txBody>
          <a:bodyPr anchor="t"/>
          <a:lstStyle/>
          <a:p>
            <a:pPr>
              <a:lnSpc>
                <a:spcPct val="90000"/>
              </a:lnSpc>
            </a:pPr>
            <a:r>
              <a:rPr lang="it-IT" sz="2600" b="1" dirty="0"/>
              <a:t>Gli errori del modulo compaiono solo dopo l’invio e solo in italiano</a:t>
            </a:r>
          </a:p>
        </p:txBody>
      </p:sp>
      <p:sp>
        <p:nvSpPr>
          <p:cNvPr id="10" name="Euristica"/>
          <p:cNvSpPr txBox="1"/>
          <p:nvPr/>
        </p:nvSpPr>
        <p:spPr>
          <a:xfrm>
            <a:off x="609600" y="254000"/>
            <a:ext cx="8890000" cy="279400"/>
          </a:xfrm>
          <a:prstGeom prst="rect">
            <a:avLst/>
          </a:prstGeom>
          <a:noFill/>
          <a:ln>
            <a:noFill/>
          </a:ln>
        </p:spPr>
        <p:txBody>
          <a:bodyPr wrap="square" lIns="0" tIns="0" rIns="0" bIns="0" anchor="t">
            <a:noAutofit/>
          </a:bodyPr>
          <a:lstStyle/>
          <a:p>
            <a:pPr marL="0" indent="0" algn="l">
              <a:lnSpc>
                <a:spcPct val="100000"/>
              </a:lnSpc>
              <a:spcBef>
                <a:spcPts val="0"/>
              </a:spcBef>
              <a:buNone/>
            </a:pPr>
            <a:r>
              <a:rPr lang="it-IT" sz="1200" b="1" dirty="0">
                <a:solidFill>
                  <a:srgbClr val="6C0850"/>
                </a:solidFill>
              </a:rPr>
              <a:t>H9 · AIUTARE A RICONOSCERE E CORREGGERE GLI ERRORI</a:t>
            </a:r>
          </a:p>
        </p:txBody>
      </p:sp>
      <p:sp>
        <p:nvSpPr>
          <p:cNvPr id="11" name="Badge gravità"/>
          <p:cNvSpPr/>
          <p:nvPr/>
        </p:nvSpPr>
        <p:spPr>
          <a:xfrm>
            <a:off x="9855200" y="381000"/>
            <a:ext cx="1727200" cy="736600"/>
          </a:xfrm>
          <a:prstGeom prst="roundRect">
            <a:avLst/>
          </a:prstGeom>
          <a:solidFill>
            <a:srgbClr val="FFFFFF"/>
          </a:solidFill>
          <a:ln w="15875">
            <a:solidFill>
              <a:srgbClr val="B07A9F"/>
            </a:solidFill>
            <a:prstDash val="dash"/>
          </a:ln>
        </p:spPr>
        <p:txBody>
          <a:bodyPr wrap="square" lIns="0" tIns="0" rIns="0" bIns="0" anchor="ctr">
            <a:noAutofit/>
          </a:bodyPr>
          <a:lstStyle/>
          <a:p>
            <a:pPr marL="0" indent="0" algn="ctr">
              <a:lnSpc>
                <a:spcPct val="100000"/>
              </a:lnSpc>
              <a:spcBef>
                <a:spcPts val="0"/>
              </a:spcBef>
              <a:buNone/>
            </a:pPr>
            <a:r>
              <a:rPr lang="it-IT" sz="1000" b="1" dirty="0">
                <a:solidFill>
                  <a:srgbClr val="6C0850"/>
                </a:solidFill>
              </a:rPr>
              <a:t>GRAVITÀ</a:t>
            </a:r>
          </a:p>
          <a:p>
            <a:pPr marL="0" indent="0" algn="ctr">
              <a:lnSpc>
                <a:spcPct val="100000"/>
              </a:lnSpc>
              <a:spcBef>
                <a:spcPts val="0"/>
              </a:spcBef>
              <a:buNone/>
            </a:pPr>
            <a:r>
              <a:rPr lang="it-IT" sz="1600" b="1" dirty="0">
                <a:solidFill>
                  <a:srgbClr val="6C0850"/>
                </a:solidFill>
              </a:rPr>
              <a:t>? </a:t>
            </a:r>
            <a:r>
              <a:rPr lang="it-IT" sz="1600" b="1">
                <a:solidFill>
                  <a:srgbClr val="6C0850"/>
                </a:solidFill>
              </a:rPr>
              <a:t>· Da decidere</a:t>
            </a:r>
            <a:endParaRPr lang="it-IT" sz="1600" b="1" dirty="0">
              <a:solidFill>
                <a:srgbClr val="6C0850"/>
              </a:solidFill>
            </a:endParaRPr>
          </a:p>
        </p:txBody>
      </p:sp>
      <p:sp>
        <p:nvSpPr>
          <p:cNvPr id="12" name="Problema"/>
          <p:cNvSpPr txBox="1"/>
          <p:nvPr/>
        </p:nvSpPr>
        <p:spPr>
          <a:xfrm>
            <a:off x="609600" y="1625600"/>
            <a:ext cx="5130800" cy="2616200"/>
          </a:xfrm>
          <a:prstGeom prst="rect">
            <a:avLst/>
          </a:prstGeom>
          <a:noFill/>
          <a:ln>
            <a:noFill/>
          </a:ln>
        </p:spPr>
        <p:txBody>
          <a:bodyPr wrap="square" lIns="0" tIns="0" rIns="0" bIns="0" anchor="t">
            <a:noAutofit/>
          </a:bodyPr>
          <a:lstStyle/>
          <a:p>
            <a:pPr marL="0" indent="0" algn="l">
              <a:lnSpc>
                <a:spcPct val="100000"/>
              </a:lnSpc>
              <a:spcBef>
                <a:spcPts val="0"/>
              </a:spcBef>
              <a:buNone/>
            </a:pPr>
            <a:r>
              <a:rPr lang="it-IT" sz="1400" b="1" dirty="0">
                <a:solidFill>
                  <a:srgbClr val="6C0850"/>
                </a:solidFill>
              </a:rPr>
              <a:t>Problema</a:t>
            </a:r>
          </a:p>
          <a:p>
            <a:pPr marL="228600" indent="-228600" algn="l">
              <a:lnSpc>
                <a:spcPct val="100000"/>
              </a:lnSpc>
              <a:spcBef>
                <a:spcPts val="500"/>
              </a:spcBef>
              <a:buClr>
                <a:srgbClr val="6C0850"/>
              </a:buClr>
              <a:buFont typeface="Arial"/>
              <a:buChar char="•"/>
            </a:pPr>
            <a:r>
              <a:rPr lang="it-IT" sz="1400" b="0" dirty="0">
                <a:solidFill>
                  <a:srgbClr val="231C21"/>
                </a:solidFill>
              </a:rPr>
              <a:t>Il messaggio sull’importo minimo arriva </a:t>
            </a:r>
            <a:r>
              <a:rPr lang="it-IT" sz="1400" b="1" dirty="0">
                <a:solidFill>
                  <a:srgbClr val="231C21"/>
                </a:solidFill>
              </a:rPr>
              <a:t>solo dopo aver premuto invio</a:t>
            </a:r>
            <a:r>
              <a:rPr lang="it-IT" sz="1400" b="0" dirty="0">
                <a:solidFill>
                  <a:srgbClr val="231C21"/>
                </a:solidFill>
              </a:rPr>
              <a:t>, non durante la compilazione</a:t>
            </a:r>
          </a:p>
          <a:p>
            <a:pPr marL="228600" indent="-228600" algn="l">
              <a:lnSpc>
                <a:spcPct val="100000"/>
              </a:lnSpc>
              <a:spcBef>
                <a:spcPts val="500"/>
              </a:spcBef>
              <a:buClr>
                <a:srgbClr val="6C0850"/>
              </a:buClr>
              <a:buFont typeface="Arial"/>
              <a:buChar char="•"/>
            </a:pPr>
            <a:r>
              <a:rPr lang="it-IT" sz="1400" b="0" dirty="0">
                <a:solidFill>
                  <a:srgbClr val="231C21"/>
                </a:solidFill>
              </a:rPr>
              <a:t>I messaggi </a:t>
            </a:r>
            <a:r>
              <a:rPr lang="it-IT" sz="1400" b="1" dirty="0">
                <a:solidFill>
                  <a:srgbClr val="231C21"/>
                </a:solidFill>
              </a:rPr>
              <a:t>non hanno una versione inglese</a:t>
            </a:r>
            <a:r>
              <a:rPr lang="it-IT" sz="1400" b="0" dirty="0">
                <a:solidFill>
                  <a:srgbClr val="231C21"/>
                </a:solidFill>
              </a:rPr>
              <a:t>, mentre il resto del modulo è bilingue</a:t>
            </a:r>
          </a:p>
          <a:p>
            <a:pPr marL="228600" indent="-228600" algn="l">
              <a:lnSpc>
                <a:spcPct val="100000"/>
              </a:lnSpc>
              <a:spcBef>
                <a:spcPts val="500"/>
              </a:spcBef>
              <a:buClr>
                <a:srgbClr val="6C0850"/>
              </a:buClr>
              <a:buFont typeface="Arial"/>
              <a:buChar char="•"/>
            </a:pPr>
            <a:r>
              <a:rPr lang="it-IT" sz="1400" b="0" dirty="0">
                <a:solidFill>
                  <a:srgbClr val="231C21"/>
                </a:solidFill>
              </a:rPr>
              <a:t>Chi dona dall’estero non capisce cosa correggere</a:t>
            </a:r>
          </a:p>
          <a:p>
            <a:pPr marL="0" indent="0" algn="l">
              <a:lnSpc>
                <a:spcPct val="100000"/>
              </a:lnSpc>
              <a:spcBef>
                <a:spcPts val="900"/>
              </a:spcBef>
              <a:buNone/>
            </a:pPr>
            <a:r>
              <a:rPr lang="it-IT" sz="1100" b="0" dirty="0">
                <a:solidFill>
                  <a:srgbClr val="6B6168"/>
                </a:solidFill>
              </a:rPr>
              <a:t>Nelle note gravità 5 (fuori scala 0–4) per la lingua e 1 per il ritardo: decidere. Il testo dell’errore è chiaro (vedi aspetti positivi).</a:t>
            </a:r>
          </a:p>
        </p:txBody>
      </p:sp>
      <p:sp>
        <p:nvSpPr>
          <p:cNvPr id="13" name="Soluzione"/>
          <p:cNvSpPr/>
          <p:nvPr/>
        </p:nvSpPr>
        <p:spPr>
          <a:xfrm>
            <a:off x="609600" y="4394200"/>
            <a:ext cx="5130800" cy="1727200"/>
          </a:xfrm>
          <a:prstGeom prst="rect">
            <a:avLst/>
          </a:prstGeom>
          <a:solidFill>
            <a:srgbClr val="F3EEF1"/>
          </a:solidFill>
          <a:ln>
            <a:noFill/>
          </a:ln>
        </p:spPr>
        <p:txBody>
          <a:bodyPr wrap="square" lIns="152400" tIns="152400" rIns="152400" bIns="152400" anchor="t">
            <a:noAutofit/>
          </a:bodyPr>
          <a:lstStyle/>
          <a:p>
            <a:pPr marL="0" indent="0" algn="l">
              <a:lnSpc>
                <a:spcPct val="100000"/>
              </a:lnSpc>
              <a:spcBef>
                <a:spcPts val="0"/>
              </a:spcBef>
              <a:buNone/>
            </a:pPr>
            <a:r>
              <a:rPr lang="it-IT" sz="1400" b="1" dirty="0">
                <a:solidFill>
                  <a:srgbClr val="6C0850"/>
                </a:solidFill>
              </a:rPr>
              <a:t>Possibile soluzione</a:t>
            </a:r>
          </a:p>
          <a:p>
            <a:pPr marL="0" indent="0" algn="l">
              <a:lnSpc>
                <a:spcPct val="100000"/>
              </a:lnSpc>
              <a:spcBef>
                <a:spcPts val="400"/>
              </a:spcBef>
              <a:buNone/>
            </a:pPr>
            <a:r>
              <a:rPr lang="it-IT" sz="1400" b="0" dirty="0">
                <a:solidFill>
                  <a:srgbClr val="231C21"/>
                </a:solidFill>
              </a:rPr>
              <a:t>Validazione in linea accanto al campo, mentre si scrive, con messaggi nella lingua scelta dall’utente.</a:t>
            </a:r>
          </a:p>
        </p:txBody>
      </p:sp>
      <p:sp>
        <p:nvSpPr>
          <p:cNvPr id="14" name="Segnaposto immagine 1"/>
          <p:cNvSpPr/>
          <p:nvPr/>
        </p:nvSpPr>
        <p:spPr>
          <a:xfrm>
            <a:off x="6045200" y="1625600"/>
            <a:ext cx="5537200" cy="4495800"/>
          </a:xfrm>
          <a:prstGeom prst="rect">
            <a:avLst/>
          </a:prstGeom>
          <a:solidFill>
            <a:srgbClr val="F7F4F6"/>
          </a:solidFill>
          <a:ln w="15875">
            <a:solidFill>
              <a:srgbClr val="B07A9F"/>
            </a:solidFill>
            <a:prstDash val="dash"/>
          </a:ln>
        </p:spPr>
        <p:txBody>
          <a:bodyPr wrap="square" lIns="127000" tIns="127000" rIns="127000" bIns="127000" anchor="ctr">
            <a:noAutofit/>
          </a:bodyPr>
          <a:lstStyle/>
          <a:p>
            <a:pPr marL="0" indent="0" algn="ctr">
              <a:lnSpc>
                <a:spcPct val="100000"/>
              </a:lnSpc>
              <a:spcBef>
                <a:spcPts val="0"/>
              </a:spcBef>
              <a:buNone/>
            </a:pPr>
            <a:r>
              <a:rPr lang="it-IT" sz="1200" b="1" dirty="0">
                <a:solidFill>
                  <a:srgbClr val="6C0850"/>
                </a:solidFill>
              </a:rPr>
              <a:t>[ SCREENSHOT DA INSERIRE ]</a:t>
            </a:r>
          </a:p>
          <a:p>
            <a:pPr marL="0" indent="0" algn="ctr">
              <a:lnSpc>
                <a:spcPct val="100000"/>
              </a:lnSpc>
              <a:spcBef>
                <a:spcPts val="400"/>
              </a:spcBef>
              <a:buNone/>
            </a:pPr>
            <a:r>
              <a:rPr lang="it-IT" sz="1400" b="1" dirty="0">
                <a:solidFill>
                  <a:srgbClr val="231C21"/>
                </a:solidFill>
              </a:rPr>
              <a:t>Screenshot 2026-10-12 alle 23.08.28.png</a:t>
            </a:r>
          </a:p>
          <a:p>
            <a:pPr marL="0" indent="0" algn="ctr">
              <a:lnSpc>
                <a:spcPct val="100000"/>
              </a:lnSpc>
              <a:spcBef>
                <a:spcPts val="300"/>
              </a:spcBef>
              <a:buNone/>
            </a:pPr>
            <a:r>
              <a:rPr lang="it-IT" sz="900" b="0" dirty="0">
                <a:solidFill>
                  <a:srgbClr val="6B6168"/>
                </a:solidFill>
              </a:rPr>
              <a:t>/Users/andreock/Desktop/hci_gruppo_a/assignment1/parti/antofallea/src/Screenshot 2026-10-12 alle 23.08.28.png</a:t>
            </a:r>
          </a:p>
          <a:p>
            <a:pPr marL="0" indent="0" algn="ctr">
              <a:lnSpc>
                <a:spcPct val="100000"/>
              </a:lnSpc>
              <a:spcBef>
                <a:spcPts val="300"/>
              </a:spcBef>
              <a:buNone/>
            </a:pPr>
            <a:r>
              <a:rPr lang="it-IT" sz="1000" b="0" dirty="0">
                <a:solidFill>
                  <a:srgbClr val="6B6168"/>
                </a:solidFill>
              </a:rPr>
              <a:t>Annotare con cerchi e frecce</a:t>
            </a:r>
          </a:p>
        </p:txBody>
      </p:sp>
      <p:sp>
        <p:nvSpPr>
          <p:cNvPr id="15" name="Pagine e task"/>
          <p:cNvSpPr txBox="1"/>
          <p:nvPr/>
        </p:nvSpPr>
        <p:spPr>
          <a:xfrm>
            <a:off x="609600" y="6273800"/>
            <a:ext cx="10972800" cy="381000"/>
          </a:xfrm>
          <a:prstGeom prst="rect">
            <a:avLst/>
          </a:prstGeom>
          <a:noFill/>
          <a:ln>
            <a:noFill/>
          </a:ln>
        </p:spPr>
        <p:txBody>
          <a:bodyPr wrap="square" lIns="0" tIns="0" rIns="0" bIns="0" anchor="b">
            <a:noAutofit/>
          </a:bodyPr>
          <a:lstStyle/>
          <a:p>
            <a:pPr marL="0" indent="0" algn="l">
              <a:lnSpc>
                <a:spcPct val="100000"/>
              </a:lnSpc>
              <a:spcBef>
                <a:spcPts val="0"/>
              </a:spcBef>
              <a:buNone/>
            </a:pPr>
            <a:r>
              <a:rPr lang="it-IT" sz="1000" b="1" dirty="0">
                <a:solidFill>
                  <a:srgbClr val="6B6168"/>
                </a:solidFill>
              </a:rPr>
              <a:t>Pagine:</a:t>
            </a:r>
            <a:r>
              <a:rPr lang="it-IT" sz="1000" b="0" dirty="0">
                <a:solidFill>
                  <a:srgbClr val="6B6168"/>
                </a:solidFill>
              </a:rPr>
              <a:t> Progetto «Mind the Climate» › donazione libera «FAI TU»   </a:t>
            </a:r>
            <a:r>
              <a:rPr lang="it-IT" sz="1000" b="1" dirty="0">
                <a:solidFill>
                  <a:srgbClr val="6B6168"/>
                </a:solidFill>
              </a:rPr>
              <a:t>Task</a:t>
            </a:r>
            <a:r>
              <a:rPr lang="it-IT" sz="1000" b="1">
                <a:solidFill>
                  <a:srgbClr val="6B6168"/>
                </a:solidFill>
              </a:rPr>
              <a:t>:</a:t>
            </a:r>
            <a:r>
              <a:rPr lang="it-IT" sz="1000" b="0">
                <a:solidFill>
                  <a:srgbClr val="6B6168"/>
                </a:solidFill>
              </a:rPr>
              <a:t> T5</a:t>
            </a:r>
            <a:endParaRPr lang="it-IT" sz="1000" b="0" dirty="0">
              <a:solidFill>
                <a:srgbClr val="6B6168"/>
              </a:solidFill>
            </a:endParaRPr>
          </a:p>
        </p:txBody>
      </p:sp>
    </p:spTree>
    <p:extLst>
      <p:ext uri="{BB962C8B-B14F-4D97-AF65-F5344CB8AC3E}">
        <p14:creationId xmlns:p14="http://schemas.microsoft.com/office/powerpoint/2010/main" val="62940524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9B3BD582-0E89-788E-C895-1E940DC8274F}"/>
              </a:ext>
            </a:extLst>
          </p:cNvPr>
          <p:cNvSpPr>
            <a:spLocks noGrp="1"/>
          </p:cNvSpPr>
          <p:nvPr>
            <p:ph type="title"/>
          </p:nvPr>
        </p:nvSpPr>
        <p:spPr>
          <a:xfrm>
            <a:off x="609600" y="342900"/>
            <a:ext cx="10972800" cy="1016000"/>
          </a:xfrm>
        </p:spPr>
        <p:txBody>
          <a:bodyPr/>
          <a:lstStyle/>
          <a:p>
            <a:r>
              <a:rPr lang="it-IT" dirty="0"/>
              <a:t>[ DA RIGUARDARE ] Dubbi aperti su Mind the Climate</a:t>
            </a:r>
          </a:p>
        </p:txBody>
      </p:sp>
      <p:sp>
        <p:nvSpPr>
          <p:cNvPr id="10" name="Dubbi gravità"/>
          <p:cNvSpPr/>
          <p:nvPr/>
        </p:nvSpPr>
        <p:spPr>
          <a:xfrm>
            <a:off x="609600" y="1524000"/>
            <a:ext cx="5334000" cy="4622800"/>
          </a:xfrm>
          <a:prstGeom prst="rect">
            <a:avLst/>
          </a:prstGeom>
          <a:solidFill>
            <a:srgbClr val="F7F4F6"/>
          </a:solidFill>
          <a:ln w="15875">
            <a:solidFill>
              <a:srgbClr val="B07A9F"/>
            </a:solidFill>
            <a:prstDash val="dash"/>
          </a:ln>
        </p:spPr>
        <p:txBody>
          <a:bodyPr wrap="square" lIns="177800" tIns="177800" rIns="177800" bIns="177800" anchor="t">
            <a:noAutofit/>
          </a:bodyPr>
          <a:lstStyle/>
          <a:p>
            <a:pPr marL="0" indent="0" algn="l">
              <a:spcBef>
                <a:spcPts val="0"/>
              </a:spcBef>
              <a:buNone/>
            </a:pPr>
            <a:r>
              <a:rPr lang="it-IT" sz="1400" b="1" dirty="0">
                <a:solidFill>
                  <a:srgbClr val="6C0850"/>
                </a:solidFill>
              </a:rPr>
              <a:t>Gravità da decidere</a:t>
            </a:r>
          </a:p>
          <a:p>
            <a:pPr marL="228600" indent="-228600" algn="l">
              <a:spcBef>
                <a:spcPts val="600"/>
              </a:spcBef>
              <a:buClr>
                <a:srgbClr val="6C0850"/>
              </a:buClr>
              <a:buFont typeface="Arial"/>
              <a:buChar char="•"/>
            </a:pPr>
            <a:r>
              <a:rPr lang="it-IT" sz="1300" b="0" dirty="0">
                <a:solidFill>
                  <a:srgbClr val="231C21"/>
                </a:solidFill>
              </a:rPr>
              <a:t>Note con </a:t>
            </a:r>
            <a:r>
              <a:rPr lang="it-IT" sz="1300" b="1" dirty="0">
                <a:solidFill>
                  <a:srgbClr val="231C21"/>
                </a:solidFill>
              </a:rPr>
              <a:t>gravità 5</a:t>
            </a:r>
            <a:r>
              <a:rPr lang="it-IT" sz="1300" b="0" dirty="0">
                <a:solidFill>
                  <a:srgbClr val="231C21"/>
                </a:solidFill>
              </a:rPr>
              <a:t>: versione inglese incompleta, errori senza inglese</a:t>
            </a:r>
          </a:p>
          <a:p>
            <a:pPr marL="228600" indent="-228600" algn="l">
              <a:spcBef>
                <a:spcPts val="400"/>
              </a:spcBef>
              <a:buClr>
                <a:srgbClr val="6C0850"/>
              </a:buClr>
              <a:buFont typeface="Arial"/>
              <a:buChar char="•"/>
            </a:pPr>
            <a:r>
              <a:rPr lang="it-IT" sz="1300" b="0" dirty="0">
                <a:solidFill>
                  <a:srgbClr val="231C21"/>
                </a:solidFill>
              </a:rPr>
              <a:t>Senza gravità nelle note: clic sul gauge che ricarica la pagina</a:t>
            </a:r>
          </a:p>
          <a:p>
            <a:pPr marL="228600" indent="-228600" algn="l">
              <a:spcBef>
                <a:spcPts val="400"/>
              </a:spcBef>
              <a:buClr>
                <a:srgbClr val="6C0850"/>
              </a:buClr>
              <a:buFont typeface="Arial"/>
              <a:buChar char="•"/>
            </a:pPr>
            <a:r>
              <a:rPr lang="it-IT" sz="1300" b="0" dirty="0">
                <a:solidFill>
                  <a:srgbClr val="231C21"/>
                </a:solidFill>
              </a:rPr>
              <a:t>Valori diversi da CSV: pagina lunga (note 4, P09: 2), info lontane (note 3, P15: 2)</a:t>
            </a:r>
          </a:p>
          <a:p>
            <a:pPr marL="228600" indent="-228600" algn="l">
              <a:spcBef>
                <a:spcPts val="400"/>
              </a:spcBef>
              <a:buClr>
                <a:srgbClr val="6C0850"/>
              </a:buClr>
              <a:buFont typeface="Arial"/>
              <a:buChar char="•"/>
            </a:pPr>
            <a:r>
              <a:rPr lang="it-IT" sz="1300" b="0" dirty="0">
                <a:solidFill>
                  <a:srgbClr val="231C21"/>
                </a:solidFill>
              </a:rPr>
              <a:t>Tooltip: positivo nelle note (H2, H10), problema nel CSV (P21) e nelle note (H4). Ho tenuto il problema</a:t>
            </a:r>
          </a:p>
          <a:p>
            <a:pPr marL="228600" indent="-228600" algn="l">
              <a:spcBef>
                <a:spcPts val="400"/>
              </a:spcBef>
              <a:buClr>
                <a:srgbClr val="6C0850"/>
              </a:buClr>
              <a:buFont typeface="Arial"/>
              <a:buChar char="•"/>
            </a:pPr>
            <a:r>
              <a:rPr lang="it-IT" sz="1300" b="0" dirty="0">
                <a:solidFill>
                  <a:srgbClr val="231C21"/>
                </a:solidFill>
              </a:rPr>
              <a:t>Le note citano un obiettivo di </a:t>
            </a:r>
            <a:r>
              <a:rPr lang="it-IT" sz="1300" b="1" dirty="0">
                <a:solidFill>
                  <a:srgbClr val="231C21"/>
                </a:solidFill>
              </a:rPr>
              <a:t>14.000 € nel testo e 7.000 € nel box</a:t>
            </a:r>
            <a:r>
              <a:rPr lang="it-IT" sz="1300" b="0" dirty="0">
                <a:solidFill>
                  <a:srgbClr val="231C21"/>
                </a:solidFill>
              </a:rPr>
              <a:t>: verificare</a:t>
            </a:r>
          </a:p>
        </p:txBody>
      </p:sp>
      <p:sp>
        <p:nvSpPr>
          <p:cNvPr id="11" name="Verifiche e scelte"/>
          <p:cNvSpPr/>
          <p:nvPr/>
        </p:nvSpPr>
        <p:spPr>
          <a:xfrm>
            <a:off x="6248400" y="1524000"/>
            <a:ext cx="5334000" cy="4622800"/>
          </a:xfrm>
          <a:prstGeom prst="rect">
            <a:avLst/>
          </a:prstGeom>
          <a:solidFill>
            <a:srgbClr val="F7F4F6"/>
          </a:solidFill>
          <a:ln w="15875">
            <a:solidFill>
              <a:srgbClr val="B07A9F"/>
            </a:solidFill>
            <a:prstDash val="dash"/>
          </a:ln>
        </p:spPr>
        <p:txBody>
          <a:bodyPr wrap="square" lIns="177800" tIns="177800" rIns="177800" bIns="177800" anchor="t">
            <a:noAutofit/>
          </a:bodyPr>
          <a:lstStyle/>
          <a:p>
            <a:pPr marL="0" indent="0" algn="l">
              <a:spcBef>
                <a:spcPts val="0"/>
              </a:spcBef>
              <a:buNone/>
            </a:pPr>
            <a:r>
              <a:rPr lang="it-IT" sz="1400" b="1" dirty="0">
                <a:solidFill>
                  <a:srgbClr val="6C0850"/>
                </a:solidFill>
              </a:rPr>
              <a:t>Verifiche da fare a mano</a:t>
            </a:r>
          </a:p>
          <a:p>
            <a:pPr marL="228600" indent="-228600" algn="l">
              <a:spcBef>
                <a:spcPts val="600"/>
              </a:spcBef>
              <a:buClr>
                <a:srgbClr val="6C0850"/>
              </a:buClr>
              <a:buFont typeface="Arial"/>
              <a:buChar char="•"/>
            </a:pPr>
            <a:r>
              <a:rPr lang="it-IT" sz="1300" b="0" dirty="0">
                <a:solidFill>
                  <a:srgbClr val="231C21"/>
                </a:solidFill>
              </a:rPr>
              <a:t>Mobile: il box di stato e «Sostieni» restano raggiungibili? Schede leggibili? Target touch ≥ 24×24 px</a:t>
            </a:r>
          </a:p>
          <a:p>
            <a:pPr marL="228600" indent="-228600" algn="l">
              <a:spcBef>
                <a:spcPts val="400"/>
              </a:spcBef>
              <a:buClr>
                <a:srgbClr val="6C0850"/>
              </a:buClr>
              <a:buFont typeface="Arial"/>
              <a:buChar char="•"/>
            </a:pPr>
            <a:r>
              <a:rPr lang="it-IT" sz="1300" b="0" dirty="0">
                <a:solidFill>
                  <a:srgbClr val="231C21"/>
                </a:solidFill>
              </a:rPr>
              <a:t>Tempo di attesa di «Contatta il progettista»</a:t>
            </a:r>
          </a:p>
          <a:p>
            <a:pPr marL="0" indent="0" algn="l">
              <a:spcBef>
                <a:spcPts val="1000"/>
              </a:spcBef>
              <a:buNone/>
            </a:pPr>
            <a:r>
              <a:rPr lang="it-IT" sz="1400" b="1" dirty="0">
                <a:solidFill>
                  <a:srgbClr val="6C0850"/>
                </a:solidFill>
              </a:rPr>
              <a:t>Aggiunti a slide esistenti, non duplicati</a:t>
            </a:r>
          </a:p>
          <a:p>
            <a:pPr marL="228600" indent="-228600" algn="l">
              <a:spcBef>
                <a:spcPts val="400"/>
              </a:spcBef>
              <a:buClr>
                <a:srgbClr val="6C0850"/>
              </a:buClr>
              <a:buFont typeface="Arial"/>
              <a:buChar char="•"/>
            </a:pPr>
            <a:r>
              <a:rPr lang="it-IT" sz="1300" b="0" dirty="0">
                <a:solidFill>
                  <a:srgbClr val="231C21"/>
                </a:solidFill>
              </a:rPr>
              <a:t>Termini non spiegati → slide 11 (P06); «Torna su» → slide 23; «-37 giorni» → slide 12 (P04); contrasto titoli e pulsanti verdi → slide 27</a:t>
            </a:r>
          </a:p>
          <a:p>
            <a:pPr marL="228600" indent="-228600" algn="l">
              <a:spcBef>
                <a:spcPts val="400"/>
              </a:spcBef>
              <a:buClr>
                <a:srgbClr val="6C0850"/>
              </a:buClr>
              <a:buFont typeface="Arial"/>
              <a:buChar char="•"/>
            </a:pPr>
            <a:r>
              <a:rPr lang="it-IT" sz="1300" b="0" dirty="0">
                <a:solidFill>
                  <a:srgbClr val="231C21"/>
                </a:solidFill>
              </a:rPr>
              <a:t>Non inseriti: design responsivo (già negli aspetti positivi, slide 8)</a:t>
            </a:r>
          </a:p>
        </p:txBody>
      </p:sp>
    </p:spTree>
    <p:extLst>
      <p:ext uri="{BB962C8B-B14F-4D97-AF65-F5344CB8AC3E}">
        <p14:creationId xmlns:p14="http://schemas.microsoft.com/office/powerpoint/2010/main" val="112017006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8D3ECBFD-3A95-CD2C-C3D7-0E486EDEFF9D}"/>
              </a:ext>
            </a:extLst>
          </p:cNvPr>
          <p:cNvSpPr>
            <a:spLocks noGrp="1"/>
          </p:cNvSpPr>
          <p:nvPr>
            <p:ph type="title"/>
          </p:nvPr>
        </p:nvSpPr>
        <p:spPr/>
        <p:txBody>
          <a:bodyPr/>
          <a:lstStyle/>
          <a:p>
            <a:r>
              <a:rPr lang="it-IT"/>
              <a:t>Fase 2 · Linee guida specifiche</a:t>
            </a:r>
          </a:p>
        </p:txBody>
      </p:sp>
      <p:sp>
        <p:nvSpPr>
          <p:cNvPr id="3" name="Segnaposto testo 2">
            <a:extLst>
              <a:ext uri="{FF2B5EF4-FFF2-40B4-BE49-F238E27FC236}">
                <a16:creationId xmlns:a16="http://schemas.microsoft.com/office/drawing/2014/main" id="{CBEFE77E-99F4-F97A-79E8-E75CE1EDA2B9}"/>
              </a:ext>
            </a:extLst>
          </p:cNvPr>
          <p:cNvSpPr>
            <a:spLocks noGrp="1"/>
          </p:cNvSpPr>
          <p:nvPr>
            <p:ph type="body" idx="1"/>
          </p:nvPr>
        </p:nvSpPr>
        <p:spPr/>
        <p:txBody>
          <a:bodyPr/>
          <a:lstStyle/>
          <a:p>
            <a:r>
              <a:rPr lang="it-IT"/>
              <a:t>[ Da completare: es. NN/g Top 10 Homepage Guidelines, Search guidelines ]</a:t>
            </a:r>
          </a:p>
        </p:txBody>
      </p:sp>
    </p:spTree>
    <p:extLst>
      <p:ext uri="{BB962C8B-B14F-4D97-AF65-F5344CB8AC3E}">
        <p14:creationId xmlns:p14="http://schemas.microsoft.com/office/powerpoint/2010/main" val="245487514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27A7DDF7-8302-C0B1-5D1D-9B970CEA2873}"/>
              </a:ext>
            </a:extLst>
          </p:cNvPr>
          <p:cNvSpPr>
            <a:spLocks noGrp="1"/>
          </p:cNvSpPr>
          <p:nvPr>
            <p:ph type="title"/>
          </p:nvPr>
        </p:nvSpPr>
        <p:spPr>
          <a:xfrm>
            <a:off x="609600" y="558800"/>
            <a:ext cx="8991600" cy="889000"/>
          </a:xfrm>
        </p:spPr>
        <p:txBody>
          <a:bodyPr lIns="0" anchor="t"/>
          <a:lstStyle/>
          <a:p>
            <a:pPr>
              <a:lnSpc>
                <a:spcPct val="90000"/>
              </a:lnSpc>
            </a:pPr>
            <a:r>
              <a:rPr lang="it-IT" sz="2600" b="1" dirty="0"/>
              <a:t>Nessuna indicazione operativa su come candidare un progetto</a:t>
            </a:r>
          </a:p>
        </p:txBody>
      </p:sp>
      <p:sp>
        <p:nvSpPr>
          <p:cNvPr id="10" name="Euristica"/>
          <p:cNvSpPr txBox="1"/>
          <p:nvPr/>
        </p:nvSpPr>
        <p:spPr>
          <a:xfrm>
            <a:off x="609600" y="254000"/>
            <a:ext cx="8128000" cy="279400"/>
          </a:xfrm>
          <a:prstGeom prst="rect">
            <a:avLst/>
          </a:prstGeom>
          <a:noFill/>
          <a:ln>
            <a:noFill/>
          </a:ln>
        </p:spPr>
        <p:txBody>
          <a:bodyPr wrap="square" lIns="0" tIns="0" rIns="0" bIns="0" anchor="t">
            <a:noAutofit/>
          </a:bodyPr>
          <a:lstStyle/>
          <a:p>
            <a:pPr marL="0" indent="0" algn="l">
              <a:lnSpc>
                <a:spcPct val="100000"/>
              </a:lnSpc>
              <a:spcBef>
                <a:spcPts val="0"/>
              </a:spcBef>
              <a:buNone/>
            </a:pPr>
            <a:r>
              <a:rPr lang="it-IT" sz="1200" b="1" dirty="0">
                <a:solidFill>
                  <a:srgbClr val="6C0850"/>
                </a:solidFill>
              </a:rPr>
              <a:t>H10 · AIUTO E DOCUMENTAZIONE</a:t>
            </a:r>
          </a:p>
        </p:txBody>
      </p:sp>
      <p:sp>
        <p:nvSpPr>
          <p:cNvPr id="11" name="Badge gravità"/>
          <p:cNvSpPr/>
          <p:nvPr/>
        </p:nvSpPr>
        <p:spPr>
          <a:xfrm>
            <a:off x="9855200" y="381000"/>
            <a:ext cx="1727200" cy="736600"/>
          </a:xfrm>
          <a:prstGeom prst="roundRect">
            <a:avLst/>
          </a:prstGeom>
          <a:solidFill>
            <a:srgbClr val="8E2F72"/>
          </a:solidFill>
          <a:ln>
            <a:noFill/>
          </a:ln>
        </p:spPr>
        <p:txBody>
          <a:bodyPr wrap="square" lIns="0" tIns="0" rIns="0" bIns="0" anchor="ctr">
            <a:noAutofit/>
          </a:bodyPr>
          <a:lstStyle/>
          <a:p>
            <a:pPr marL="0" indent="0" algn="ctr">
              <a:lnSpc>
                <a:spcPct val="100000"/>
              </a:lnSpc>
              <a:spcBef>
                <a:spcPts val="0"/>
              </a:spcBef>
              <a:buNone/>
            </a:pPr>
            <a:r>
              <a:rPr lang="it-IT" sz="1000" b="1" dirty="0">
                <a:solidFill>
                  <a:srgbClr val="FFFFFF"/>
                </a:solidFill>
              </a:rPr>
              <a:t>GRAVITÀ</a:t>
            </a:r>
          </a:p>
          <a:p>
            <a:pPr marL="0" indent="0" algn="ctr">
              <a:lnSpc>
                <a:spcPct val="100000"/>
              </a:lnSpc>
              <a:spcBef>
                <a:spcPts val="0"/>
              </a:spcBef>
              <a:buNone/>
            </a:pPr>
            <a:r>
              <a:rPr lang="it-IT" sz="1800" b="1" dirty="0">
                <a:solidFill>
                  <a:srgbClr val="FFFFFF"/>
                </a:solidFill>
              </a:rPr>
              <a:t>3 </a:t>
            </a:r>
            <a:r>
              <a:rPr lang="it-IT" sz="1800" b="1">
                <a:solidFill>
                  <a:srgbClr val="FFFFFF"/>
                </a:solidFill>
              </a:rPr>
              <a:t>· Importante</a:t>
            </a:r>
            <a:endParaRPr lang="it-IT" sz="1800" b="1" dirty="0">
              <a:solidFill>
                <a:srgbClr val="FFFFFF"/>
              </a:solidFill>
            </a:endParaRPr>
          </a:p>
        </p:txBody>
      </p:sp>
      <p:sp>
        <p:nvSpPr>
          <p:cNvPr id="12" name="Problema"/>
          <p:cNvSpPr txBox="1"/>
          <p:nvPr/>
        </p:nvSpPr>
        <p:spPr>
          <a:xfrm>
            <a:off x="609600" y="1625600"/>
            <a:ext cx="5130800" cy="2616200"/>
          </a:xfrm>
          <a:prstGeom prst="rect">
            <a:avLst/>
          </a:prstGeom>
          <a:noFill/>
          <a:ln>
            <a:noFill/>
          </a:ln>
        </p:spPr>
        <p:txBody>
          <a:bodyPr wrap="square" lIns="0" tIns="0" rIns="0" bIns="0" anchor="t">
            <a:noAutofit/>
          </a:bodyPr>
          <a:lstStyle/>
          <a:p>
            <a:pPr marL="0" indent="0" algn="l">
              <a:lnSpc>
                <a:spcPct val="100000"/>
              </a:lnSpc>
              <a:spcBef>
                <a:spcPts val="0"/>
              </a:spcBef>
              <a:buNone/>
            </a:pPr>
            <a:r>
              <a:rPr lang="it-IT" sz="1400" b="1" dirty="0">
                <a:solidFill>
                  <a:srgbClr val="6C0850"/>
                </a:solidFill>
              </a:rPr>
              <a:t>Problema</a:t>
            </a:r>
          </a:p>
          <a:p>
            <a:pPr marL="228600" indent="-228600" algn="l">
              <a:lnSpc>
                <a:spcPct val="100000"/>
              </a:lnSpc>
              <a:spcBef>
                <a:spcPts val="500"/>
              </a:spcBef>
              <a:buClr>
                <a:srgbClr val="6C0850"/>
              </a:buClr>
              <a:buFont typeface="Arial"/>
              <a:buChar char="•"/>
            </a:pPr>
            <a:r>
              <a:rPr lang="it-IT" sz="1400" b="0" dirty="0">
                <a:solidFill>
                  <a:srgbClr val="231C21"/>
                </a:solidFill>
              </a:rPr>
              <a:t>La pagina spiega le fasi ma non dice </a:t>
            </a:r>
            <a:r>
              <a:rPr lang="it-IT" sz="1400" b="1" dirty="0">
                <a:solidFill>
                  <a:srgbClr val="231C21"/>
                </a:solidFill>
              </a:rPr>
              <a:t>chi può candidarsi, entro quando, con quale modulo</a:t>
            </a:r>
            <a:r>
              <a:rPr lang="it-IT" sz="1400" b="0" dirty="0">
                <a:solidFill>
                  <a:srgbClr val="231C21"/>
                </a:solidFill>
              </a:rPr>
              <a:t> né chi contattare</a:t>
            </a:r>
          </a:p>
          <a:p>
            <a:pPr marL="228600" indent="-228600" algn="l">
              <a:lnSpc>
                <a:spcPct val="100000"/>
              </a:lnSpc>
              <a:spcBef>
                <a:spcPts val="500"/>
              </a:spcBef>
              <a:buClr>
                <a:srgbClr val="6C0850"/>
              </a:buClr>
              <a:buFont typeface="Arial"/>
              <a:buChar char="•"/>
            </a:pPr>
            <a:r>
              <a:rPr lang="it-IT" sz="1400" b="0" dirty="0">
                <a:solidFill>
                  <a:srgbClr val="231C21"/>
                </a:solidFill>
              </a:rPr>
              <a:t>L’unico rimando, «Scopri la guida dell’iniziativa», porta fuori, su </a:t>
            </a:r>
            <a:r>
              <a:rPr lang="it-IT" sz="1400" b="0" dirty="0" err="1">
                <a:solidFill>
                  <a:srgbClr val="231C21"/>
                </a:solidFill>
              </a:rPr>
              <a:t>unito.it</a:t>
            </a:r>
            <a:endParaRPr lang="it-IT" sz="1400" b="0" dirty="0">
              <a:solidFill>
                <a:srgbClr val="231C21"/>
              </a:solidFill>
            </a:endParaRPr>
          </a:p>
          <a:p>
            <a:pPr marL="228600" indent="-228600" algn="l">
              <a:lnSpc>
                <a:spcPct val="100000"/>
              </a:lnSpc>
              <a:spcBef>
                <a:spcPts val="500"/>
              </a:spcBef>
              <a:buClr>
                <a:srgbClr val="6C0850"/>
              </a:buClr>
              <a:buFont typeface="Arial"/>
              <a:buChar char="•"/>
            </a:pPr>
            <a:r>
              <a:rPr lang="it-IT" sz="1400" b="0" dirty="0">
                <a:solidFill>
                  <a:srgbClr val="231C21"/>
                </a:solidFill>
                <a:highlight>
                  <a:srgbClr val="FFFF00"/>
                </a:highlight>
              </a:rPr>
              <a:t>«Lancia una campagna» apre una registrazione generica; «Come funziona» indica </a:t>
            </a:r>
            <a:r>
              <a:rPr lang="it-IT" sz="1400" b="1" dirty="0">
                <a:solidFill>
                  <a:srgbClr val="231C21"/>
                </a:solidFill>
                <a:highlight>
                  <a:srgbClr val="FFFF00"/>
                </a:highlight>
              </a:rPr>
              <a:t>350 € + IVA</a:t>
            </a:r>
            <a:r>
              <a:rPr lang="it-IT" sz="1400" b="0" dirty="0">
                <a:solidFill>
                  <a:srgbClr val="231C21"/>
                </a:solidFill>
                <a:highlight>
                  <a:srgbClr val="FFFF00"/>
                </a:highlight>
              </a:rPr>
              <a:t> senza dire se valgono per i progetti cofinanziati</a:t>
            </a:r>
          </a:p>
          <a:p>
            <a:pPr marL="0" indent="0" algn="l">
              <a:lnSpc>
                <a:spcPct val="100000"/>
              </a:lnSpc>
              <a:spcBef>
                <a:spcPts val="900"/>
              </a:spcBef>
              <a:buNone/>
            </a:pPr>
            <a:r>
              <a:rPr lang="it-IT" sz="1200" b="0" dirty="0">
                <a:solidFill>
                  <a:srgbClr val="6B6168"/>
                </a:solidFill>
              </a:rPr>
              <a:t>Gravità 3: T7 non si completa restando sul sito; riguarda solo i ricercatori, ma per loro è l’intero task.</a:t>
            </a:r>
          </a:p>
        </p:txBody>
      </p:sp>
      <p:sp>
        <p:nvSpPr>
          <p:cNvPr id="13" name="Soluzione"/>
          <p:cNvSpPr/>
          <p:nvPr/>
        </p:nvSpPr>
        <p:spPr>
          <a:xfrm>
            <a:off x="609600" y="4394200"/>
            <a:ext cx="5130800" cy="1727200"/>
          </a:xfrm>
          <a:prstGeom prst="rect">
            <a:avLst/>
          </a:prstGeom>
          <a:solidFill>
            <a:srgbClr val="F3EEF1"/>
          </a:solidFill>
          <a:ln>
            <a:noFill/>
          </a:ln>
        </p:spPr>
        <p:txBody>
          <a:bodyPr wrap="square" lIns="152400" tIns="152400" rIns="152400" bIns="152400" anchor="t">
            <a:noAutofit/>
          </a:bodyPr>
          <a:lstStyle/>
          <a:p>
            <a:pPr marL="0" indent="0" algn="l">
              <a:lnSpc>
                <a:spcPct val="100000"/>
              </a:lnSpc>
              <a:spcBef>
                <a:spcPts val="0"/>
              </a:spcBef>
              <a:buNone/>
            </a:pPr>
            <a:r>
              <a:rPr lang="it-IT" sz="1400" b="1" dirty="0">
                <a:solidFill>
                  <a:srgbClr val="6C0850"/>
                </a:solidFill>
              </a:rPr>
              <a:t>Possibile soluzione</a:t>
            </a:r>
          </a:p>
          <a:p>
            <a:pPr marL="0" indent="0" algn="l">
              <a:lnSpc>
                <a:spcPct val="100000"/>
              </a:lnSpc>
              <a:spcBef>
                <a:spcPts val="400"/>
              </a:spcBef>
              <a:buNone/>
            </a:pPr>
            <a:r>
              <a:rPr lang="it-IT" sz="1400" b="0" dirty="0">
                <a:solidFill>
                  <a:srgbClr val="231C21"/>
                </a:solidFill>
              </a:rPr>
              <a:t>Riquadro «Sei un ricercatore UniTo?» con requisiti, scadenza, contatto dell’ufficio e pulsante «Vai al bando su </a:t>
            </a:r>
            <a:r>
              <a:rPr lang="it-IT" sz="1400" b="0" dirty="0" err="1">
                <a:solidFill>
                  <a:srgbClr val="231C21"/>
                </a:solidFill>
              </a:rPr>
              <a:t>unito.it</a:t>
            </a:r>
            <a:r>
              <a:rPr lang="it-IT" sz="1400" b="0" dirty="0">
                <a:solidFill>
                  <a:srgbClr val="231C21"/>
                </a:solidFill>
              </a:rPr>
              <a:t>»; nota esplicita su costi e registrazione.</a:t>
            </a:r>
          </a:p>
        </p:txBody>
      </p:sp>
      <p:sp>
        <p:nvSpPr>
          <p:cNvPr id="14" name="Segnaposto immagine"/>
          <p:cNvSpPr/>
          <p:nvPr/>
        </p:nvSpPr>
        <p:spPr>
          <a:xfrm>
            <a:off x="6045200" y="1625600"/>
            <a:ext cx="5537200" cy="2171700"/>
          </a:xfrm>
          <a:prstGeom prst="rect">
            <a:avLst/>
          </a:prstGeom>
          <a:solidFill>
            <a:srgbClr val="F7F4F6"/>
          </a:solidFill>
          <a:ln w="15875">
            <a:solidFill>
              <a:srgbClr val="B07A9F"/>
            </a:solidFill>
            <a:prstDash val="dash"/>
          </a:ln>
        </p:spPr>
        <p:txBody>
          <a:bodyPr wrap="square" lIns="127000" tIns="127000" rIns="127000" bIns="127000" anchor="ctr">
            <a:noAutofit/>
          </a:bodyPr>
          <a:lstStyle/>
          <a:p>
            <a:pPr marL="0" indent="0" algn="ctr">
              <a:lnSpc>
                <a:spcPct val="100000"/>
              </a:lnSpc>
              <a:spcBef>
                <a:spcPts val="0"/>
              </a:spcBef>
              <a:buNone/>
            </a:pPr>
            <a:r>
              <a:rPr lang="it-IT" sz="1200" b="1" dirty="0">
                <a:solidFill>
                  <a:srgbClr val="6C0850"/>
                </a:solidFill>
              </a:rPr>
              <a:t>[ SCREENSHOT DA INSERIRE ]</a:t>
            </a:r>
          </a:p>
          <a:p>
            <a:pPr marL="0" indent="0" algn="ctr">
              <a:lnSpc>
                <a:spcPct val="100000"/>
              </a:lnSpc>
              <a:spcBef>
                <a:spcPts val="400"/>
              </a:spcBef>
              <a:buNone/>
            </a:pPr>
            <a:r>
              <a:rPr lang="it-IT" sz="1400" b="1" dirty="0">
                <a:solidFill>
                  <a:srgbClr val="231C21"/>
                </a:solidFill>
              </a:rPr>
              <a:t>signup.jpg</a:t>
            </a:r>
          </a:p>
          <a:p>
            <a:pPr marL="0" indent="0" algn="ctr">
              <a:lnSpc>
                <a:spcPct val="100000"/>
              </a:lnSpc>
              <a:spcBef>
                <a:spcPts val="300"/>
              </a:spcBef>
              <a:buNone/>
            </a:pPr>
            <a:r>
              <a:rPr lang="it-IT" sz="900" b="0" dirty="0">
                <a:solidFill>
                  <a:srgbClr val="6B6168"/>
                </a:solidFill>
              </a:rPr>
              <a:t>/Users/andreock/Desktop/hci_gruppo_a/assignment1/parti/antofallea/src/signup.jpg</a:t>
            </a:r>
          </a:p>
          <a:p>
            <a:pPr marL="0" indent="0" algn="ctr">
              <a:lnSpc>
                <a:spcPct val="100000"/>
              </a:lnSpc>
              <a:spcBef>
                <a:spcPts val="300"/>
              </a:spcBef>
              <a:buNone/>
            </a:pPr>
            <a:r>
              <a:rPr lang="it-IT" sz="1000" b="0" dirty="0">
                <a:solidFill>
                  <a:srgbClr val="6B6168"/>
                </a:solidFill>
              </a:rPr>
              <a:t>Annotare con cerchi e frecce</a:t>
            </a:r>
          </a:p>
        </p:txBody>
      </p:sp>
      <p:sp>
        <p:nvSpPr>
          <p:cNvPr id="15" name="Segnaposto immagine"/>
          <p:cNvSpPr/>
          <p:nvPr/>
        </p:nvSpPr>
        <p:spPr>
          <a:xfrm>
            <a:off x="6045200" y="3949700"/>
            <a:ext cx="5537200" cy="2171700"/>
          </a:xfrm>
          <a:prstGeom prst="rect">
            <a:avLst/>
          </a:prstGeom>
          <a:solidFill>
            <a:srgbClr val="F7F4F6"/>
          </a:solidFill>
          <a:ln w="15875">
            <a:solidFill>
              <a:srgbClr val="B07A9F"/>
            </a:solidFill>
            <a:prstDash val="dash"/>
          </a:ln>
        </p:spPr>
        <p:txBody>
          <a:bodyPr wrap="square" lIns="127000" tIns="127000" rIns="127000" bIns="127000" anchor="ctr">
            <a:noAutofit/>
          </a:bodyPr>
          <a:lstStyle/>
          <a:p>
            <a:pPr marL="0" indent="0" algn="ctr">
              <a:lnSpc>
                <a:spcPct val="100000"/>
              </a:lnSpc>
              <a:spcBef>
                <a:spcPts val="0"/>
              </a:spcBef>
              <a:buNone/>
            </a:pPr>
            <a:r>
              <a:rPr lang="it-IT" sz="1200" b="1" dirty="0">
                <a:solidFill>
                  <a:srgbClr val="6C0850"/>
                </a:solidFill>
              </a:rPr>
              <a:t>[ SCREENSHOT DA INSERIRE ]</a:t>
            </a:r>
          </a:p>
          <a:p>
            <a:pPr marL="0" indent="0" algn="ctr">
              <a:lnSpc>
                <a:spcPct val="100000"/>
              </a:lnSpc>
              <a:spcBef>
                <a:spcPts val="400"/>
              </a:spcBef>
              <a:buNone/>
            </a:pPr>
            <a:r>
              <a:rPr lang="it-IT" sz="1400" b="1" dirty="0">
                <a:solidFill>
                  <a:srgbClr val="231C21"/>
                </a:solidFill>
              </a:rPr>
              <a:t>come_fee.jpg</a:t>
            </a:r>
          </a:p>
          <a:p>
            <a:pPr marL="0" indent="0" algn="ctr">
              <a:lnSpc>
                <a:spcPct val="100000"/>
              </a:lnSpc>
              <a:spcBef>
                <a:spcPts val="300"/>
              </a:spcBef>
              <a:buNone/>
            </a:pPr>
            <a:r>
              <a:rPr lang="it-IT" sz="900" b="0" dirty="0">
                <a:solidFill>
                  <a:srgbClr val="6B6168"/>
                </a:solidFill>
              </a:rPr>
              <a:t>/Users/andreock/Desktop/hci_gruppo_a/assignment1/parti/antofallea/src/come_fee.jpg</a:t>
            </a:r>
          </a:p>
          <a:p>
            <a:pPr marL="0" indent="0" algn="ctr">
              <a:lnSpc>
                <a:spcPct val="100000"/>
              </a:lnSpc>
              <a:spcBef>
                <a:spcPts val="300"/>
              </a:spcBef>
              <a:buNone/>
            </a:pPr>
            <a:r>
              <a:rPr lang="it-IT" sz="1000" b="0" dirty="0">
                <a:solidFill>
                  <a:srgbClr val="6B6168"/>
                </a:solidFill>
              </a:rPr>
              <a:t>Annotare con cerchi e frecce</a:t>
            </a:r>
          </a:p>
        </p:txBody>
      </p:sp>
      <p:sp>
        <p:nvSpPr>
          <p:cNvPr id="16" name="Pagine e task"/>
          <p:cNvSpPr txBox="1"/>
          <p:nvPr/>
        </p:nvSpPr>
        <p:spPr>
          <a:xfrm>
            <a:off x="609600" y="6273800"/>
            <a:ext cx="10972800" cy="381000"/>
          </a:xfrm>
          <a:prstGeom prst="rect">
            <a:avLst/>
          </a:prstGeom>
          <a:noFill/>
          <a:ln>
            <a:noFill/>
          </a:ln>
        </p:spPr>
        <p:txBody>
          <a:bodyPr wrap="square" lIns="0" tIns="0" rIns="0" bIns="0" anchor="b">
            <a:noAutofit/>
          </a:bodyPr>
          <a:lstStyle/>
          <a:p>
            <a:pPr marL="0" indent="0" algn="l">
              <a:lnSpc>
                <a:spcPct val="100000"/>
              </a:lnSpc>
              <a:spcBef>
                <a:spcPts val="0"/>
              </a:spcBef>
              <a:buNone/>
            </a:pPr>
            <a:r>
              <a:rPr lang="it-IT" sz="1000" b="1" dirty="0">
                <a:solidFill>
                  <a:srgbClr val="6B6168"/>
                </a:solidFill>
              </a:rPr>
              <a:t>Pagine:</a:t>
            </a:r>
            <a:r>
              <a:rPr lang="it-IT" sz="1000" b="0" dirty="0">
                <a:solidFill>
                  <a:srgbClr val="6B6168"/>
                </a:solidFill>
              </a:rPr>
              <a:t> Partner UniTo › Partnership · «Lancia una </a:t>
            </a:r>
            <a:r>
              <a:rPr lang="it-IT" sz="1000" b="0">
                <a:solidFill>
                  <a:srgbClr val="6B6168"/>
                </a:solidFill>
              </a:rPr>
              <a:t>campagna» </a:t>
            </a:r>
            <a:r>
              <a:rPr lang="it-IT" sz="1000" b="0" dirty="0">
                <a:solidFill>
                  <a:srgbClr val="6B6168"/>
                </a:solidFill>
              </a:rPr>
              <a:t>· «Come funziona» e FAQ   </a:t>
            </a:r>
            <a:r>
              <a:rPr lang="it-IT" sz="1000" b="1" dirty="0">
                <a:solidFill>
                  <a:srgbClr val="6B6168"/>
                </a:solidFill>
              </a:rPr>
              <a:t>Task</a:t>
            </a:r>
            <a:r>
              <a:rPr lang="it-IT" sz="1000" b="1">
                <a:solidFill>
                  <a:srgbClr val="6B6168"/>
                </a:solidFill>
              </a:rPr>
              <a:t>:</a:t>
            </a:r>
            <a:r>
              <a:rPr lang="it-IT" sz="1000" b="0">
                <a:solidFill>
                  <a:srgbClr val="6B6168"/>
                </a:solidFill>
              </a:rPr>
              <a:t> T7</a:t>
            </a:r>
            <a:endParaRPr lang="it-IT" sz="1000" b="0" dirty="0">
              <a:solidFill>
                <a:srgbClr val="6B6168"/>
              </a:solidFill>
            </a:endParaRPr>
          </a:p>
        </p:txBody>
      </p:sp>
    </p:spTree>
    <p:extLst>
      <p:ext uri="{BB962C8B-B14F-4D97-AF65-F5344CB8AC3E}">
        <p14:creationId xmlns:p14="http://schemas.microsoft.com/office/powerpoint/2010/main" val="329482382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E217BB7D-2AD3-2772-B5CC-6ADAA90C14EA}"/>
              </a:ext>
            </a:extLst>
          </p:cNvPr>
          <p:cNvSpPr>
            <a:spLocks noGrp="1"/>
          </p:cNvSpPr>
          <p:nvPr>
            <p:ph type="title"/>
          </p:nvPr>
        </p:nvSpPr>
        <p:spPr>
          <a:xfrm>
            <a:off x="609600" y="342900"/>
            <a:ext cx="10972800" cy="1016000"/>
          </a:xfrm>
        </p:spPr>
        <p:txBody>
          <a:bodyPr/>
          <a:lstStyle/>
          <a:p>
            <a:r>
              <a:rPr lang="it-IT" dirty="0"/>
              <a:t>Linee guida scelte e perché</a:t>
            </a:r>
          </a:p>
        </p:txBody>
      </p:sp>
      <p:sp>
        <p:nvSpPr>
          <p:cNvPr id="20" name="Segnaposto linee guida"/>
          <p:cNvSpPr/>
          <p:nvPr/>
        </p:nvSpPr>
        <p:spPr>
          <a:xfrm>
            <a:off x="609600" y="1524000"/>
            <a:ext cx="10972800" cy="4572000"/>
          </a:xfrm>
          <a:prstGeom prst="rect">
            <a:avLst/>
          </a:prstGeom>
          <a:solidFill>
            <a:srgbClr val="F7F4F6"/>
          </a:solidFill>
          <a:ln w="15875">
            <a:solidFill>
              <a:srgbClr val="B07A9F"/>
            </a:solidFill>
            <a:prstDash val="dash"/>
          </a:ln>
        </p:spPr>
        <p:txBody>
          <a:bodyPr wrap="square" lIns="203200" tIns="203200" rIns="203200" bIns="203200" anchor="t">
            <a:noAutofit/>
          </a:bodyPr>
          <a:lstStyle/>
          <a:p>
            <a:pPr marL="0" indent="0" algn="l">
              <a:spcBef>
                <a:spcPts val="0"/>
              </a:spcBef>
              <a:buNone/>
            </a:pPr>
            <a:r>
              <a:rPr lang="it-IT" sz="1400" b="1" i="0" dirty="0">
                <a:solidFill>
                  <a:srgbClr val="6C0850"/>
                </a:solidFill>
              </a:rPr>
              <a:t>[ DA COMPLETARE ]</a:t>
            </a:r>
          </a:p>
          <a:p>
            <a:pPr marL="0" indent="0" algn="l">
              <a:spcBef>
                <a:spcPts val="800"/>
              </a:spcBef>
              <a:buNone/>
            </a:pPr>
            <a:r>
              <a:rPr lang="it-IT" sz="1600" b="0" i="0" dirty="0">
                <a:solidFill>
                  <a:srgbClr val="231C21"/>
                </a:solidFill>
              </a:rPr>
              <a:t>Quali linee guida e perché si adattano a un sito di crowdfunding universitario.</a:t>
            </a:r>
          </a:p>
          <a:p>
            <a:pPr marL="0" indent="0" algn="l">
              <a:spcBef>
                <a:spcPts val="1400"/>
              </a:spcBef>
              <a:buNone/>
            </a:pPr>
            <a:r>
              <a:rPr lang="it-IT" sz="1400" b="1" i="0" dirty="0">
                <a:solidFill>
                  <a:srgbClr val="6C0850"/>
                </a:solidFill>
              </a:rPr>
              <a:t>Candidate dalle linee guida del corso:</a:t>
            </a:r>
          </a:p>
          <a:p>
            <a:pPr marL="0" indent="0" algn="l">
              <a:spcBef>
                <a:spcPts val="500"/>
              </a:spcBef>
              <a:buNone/>
            </a:pPr>
            <a:r>
              <a:rPr lang="it-IT" sz="1400" b="0" i="0" dirty="0">
                <a:solidFill>
                  <a:srgbClr val="231C21"/>
                </a:solidFill>
              </a:rPr>
              <a:t>NN/g Top 10 Homepage Guidelines</a:t>
            </a:r>
          </a:p>
          <a:p>
            <a:pPr marL="0" indent="0" algn="l">
              <a:spcBef>
                <a:spcPts val="300"/>
              </a:spcBef>
              <a:buNone/>
            </a:pPr>
            <a:r>
              <a:rPr lang="it-IT" sz="1400" b="0" i="0" dirty="0">
                <a:solidFill>
                  <a:srgbClr val="231C21"/>
                </a:solidFill>
              </a:rPr>
              <a:t>NN/g Search guidelines (ricerca progetti)</a:t>
            </a:r>
          </a:p>
          <a:p>
            <a:pPr marL="0" indent="0" algn="l">
              <a:spcBef>
                <a:spcPts val="300"/>
              </a:spcBef>
              <a:buNone/>
            </a:pPr>
            <a:r>
              <a:rPr lang="it-IT" sz="1400" b="0" i="0" dirty="0">
                <a:solidFill>
                  <a:srgbClr val="231C21"/>
                </a:solidFill>
              </a:rPr>
              <a:t>NN/g Ecommerce Product Pages (pagine progetto e donazione)</a:t>
            </a:r>
          </a:p>
          <a:p>
            <a:pPr marL="0" indent="0" algn="l">
              <a:spcBef>
                <a:spcPts val="1400"/>
              </a:spcBef>
              <a:buNone/>
            </a:pPr>
            <a:r>
              <a:rPr lang="it-IT" sz="1200" b="0" i="1" dirty="0">
                <a:solidFill>
                  <a:srgbClr val="6B6168"/>
                </a:solidFill>
              </a:rPr>
              <a:t>Dopo questa slide: una slide per linea guida con osservazione, soluzione e gravità.</a:t>
            </a:r>
          </a:p>
        </p:txBody>
      </p:sp>
    </p:spTree>
    <p:extLst>
      <p:ext uri="{BB962C8B-B14F-4D97-AF65-F5344CB8AC3E}">
        <p14:creationId xmlns:p14="http://schemas.microsoft.com/office/powerpoint/2010/main" val="369117546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988288A-59E8-0CA0-A15A-42E9DF53FDA3}"/>
              </a:ext>
            </a:extLst>
          </p:cNvPr>
          <p:cNvSpPr>
            <a:spLocks noGrp="1"/>
          </p:cNvSpPr>
          <p:nvPr>
            <p:ph type="title"/>
          </p:nvPr>
        </p:nvSpPr>
        <p:spPr/>
        <p:txBody>
          <a:bodyPr/>
          <a:lstStyle/>
          <a:p>
            <a:r>
              <a:rPr lang="it-IT"/>
              <a:t>Fase 3 · Analisi extra</a:t>
            </a:r>
          </a:p>
        </p:txBody>
      </p:sp>
      <p:sp>
        <p:nvSpPr>
          <p:cNvPr id="3" name="Segnaposto testo 2">
            <a:extLst>
              <a:ext uri="{FF2B5EF4-FFF2-40B4-BE49-F238E27FC236}">
                <a16:creationId xmlns:a16="http://schemas.microsoft.com/office/drawing/2014/main" id="{FBACBEE3-A5C5-ABA3-85B7-F8E513A8BCBF}"/>
              </a:ext>
            </a:extLst>
          </p:cNvPr>
          <p:cNvSpPr>
            <a:spLocks noGrp="1"/>
          </p:cNvSpPr>
          <p:nvPr>
            <p:ph type="body" idx="1"/>
          </p:nvPr>
        </p:nvSpPr>
        <p:spPr/>
        <p:txBody>
          <a:bodyPr/>
          <a:lstStyle/>
          <a:p>
            <a:r>
              <a:rPr lang="it-IT"/>
              <a:t>[ Da completare: versione mobile e tablet, accessibilità ]</a:t>
            </a:r>
          </a:p>
        </p:txBody>
      </p:sp>
    </p:spTree>
    <p:extLst>
      <p:ext uri="{BB962C8B-B14F-4D97-AF65-F5344CB8AC3E}">
        <p14:creationId xmlns:p14="http://schemas.microsoft.com/office/powerpoint/2010/main" val="86394510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B3728F9B-5641-5A6E-5EFC-758BD44A208A}"/>
              </a:ext>
            </a:extLst>
          </p:cNvPr>
          <p:cNvSpPr>
            <a:spLocks noGrp="1"/>
          </p:cNvSpPr>
          <p:nvPr>
            <p:ph type="title"/>
          </p:nvPr>
        </p:nvSpPr>
        <p:spPr>
          <a:xfrm>
            <a:off x="609600" y="558800"/>
            <a:ext cx="8991600" cy="889000"/>
          </a:xfrm>
        </p:spPr>
        <p:txBody>
          <a:bodyPr anchor="t"/>
          <a:lstStyle/>
          <a:p>
            <a:pPr>
              <a:lnSpc>
                <a:spcPct val="90000"/>
              </a:lnSpc>
            </a:pPr>
            <a:r>
              <a:rPr lang="it-IT" sz="2600" b="1" dirty="0"/>
              <a:t>Su mobile i caroselli di contatori e progetti non mostrano di poter scorrere</a:t>
            </a:r>
          </a:p>
        </p:txBody>
      </p:sp>
      <p:sp>
        <p:nvSpPr>
          <p:cNvPr id="10" name="Euristica"/>
          <p:cNvSpPr txBox="1"/>
          <p:nvPr/>
        </p:nvSpPr>
        <p:spPr>
          <a:xfrm>
            <a:off x="609600" y="254000"/>
            <a:ext cx="8890000" cy="279400"/>
          </a:xfrm>
          <a:prstGeom prst="rect">
            <a:avLst/>
          </a:prstGeom>
          <a:noFill/>
          <a:ln>
            <a:noFill/>
          </a:ln>
        </p:spPr>
        <p:txBody>
          <a:bodyPr wrap="square" lIns="0" tIns="0" rIns="0" bIns="0" anchor="t">
            <a:noAutofit/>
          </a:bodyPr>
          <a:lstStyle/>
          <a:p>
            <a:pPr marL="0" indent="0" algn="l">
              <a:lnSpc>
                <a:spcPct val="100000"/>
              </a:lnSpc>
              <a:spcBef>
                <a:spcPts val="0"/>
              </a:spcBef>
              <a:buNone/>
            </a:pPr>
            <a:r>
              <a:rPr lang="it-IT" sz="1200" b="1" dirty="0">
                <a:solidFill>
                  <a:srgbClr val="6C0850"/>
                </a:solidFill>
              </a:rPr>
              <a:t>H4 · COERENZA E STANDARD</a:t>
            </a:r>
          </a:p>
        </p:txBody>
      </p:sp>
      <p:sp>
        <p:nvSpPr>
          <p:cNvPr id="11" name="Badge gravità"/>
          <p:cNvSpPr/>
          <p:nvPr/>
        </p:nvSpPr>
        <p:spPr>
          <a:xfrm>
            <a:off x="9855200" y="381000"/>
            <a:ext cx="1727200" cy="736600"/>
          </a:xfrm>
          <a:prstGeom prst="roundRect">
            <a:avLst/>
          </a:prstGeom>
          <a:solidFill>
            <a:srgbClr val="FFFFFF"/>
          </a:solidFill>
          <a:ln w="15875">
            <a:solidFill>
              <a:srgbClr val="B07A9F"/>
            </a:solidFill>
            <a:prstDash val="dash"/>
          </a:ln>
        </p:spPr>
        <p:txBody>
          <a:bodyPr wrap="square" lIns="0" tIns="0" rIns="0" bIns="0" anchor="ctr">
            <a:noAutofit/>
          </a:bodyPr>
          <a:lstStyle/>
          <a:p>
            <a:pPr marL="0" indent="0" algn="ctr">
              <a:lnSpc>
                <a:spcPct val="100000"/>
              </a:lnSpc>
              <a:spcBef>
                <a:spcPts val="0"/>
              </a:spcBef>
              <a:buNone/>
            </a:pPr>
            <a:r>
              <a:rPr lang="it-IT" sz="1000" b="1" dirty="0">
                <a:solidFill>
                  <a:srgbClr val="6C0850"/>
                </a:solidFill>
              </a:rPr>
              <a:t>GRAVITÀ</a:t>
            </a:r>
          </a:p>
          <a:p>
            <a:pPr marL="0" indent="0" algn="ctr">
              <a:lnSpc>
                <a:spcPct val="100000"/>
              </a:lnSpc>
              <a:spcBef>
                <a:spcPts val="0"/>
              </a:spcBef>
              <a:buNone/>
            </a:pPr>
            <a:r>
              <a:rPr lang="it-IT" sz="1600" b="1" dirty="0">
                <a:solidFill>
                  <a:srgbClr val="6C0850"/>
                </a:solidFill>
              </a:rPr>
              <a:t>? </a:t>
            </a:r>
            <a:r>
              <a:rPr lang="it-IT" sz="1600" b="1">
                <a:solidFill>
                  <a:srgbClr val="6C0850"/>
                </a:solidFill>
              </a:rPr>
              <a:t>· Da decidere</a:t>
            </a:r>
            <a:endParaRPr lang="it-IT" sz="1600" b="1" dirty="0">
              <a:solidFill>
                <a:srgbClr val="6C0850"/>
              </a:solidFill>
            </a:endParaRPr>
          </a:p>
        </p:txBody>
      </p:sp>
      <p:sp>
        <p:nvSpPr>
          <p:cNvPr id="12" name="Problema"/>
          <p:cNvSpPr txBox="1"/>
          <p:nvPr/>
        </p:nvSpPr>
        <p:spPr>
          <a:xfrm>
            <a:off x="609600" y="1625600"/>
            <a:ext cx="5130800" cy="2616200"/>
          </a:xfrm>
          <a:prstGeom prst="rect">
            <a:avLst/>
          </a:prstGeom>
          <a:noFill/>
          <a:ln>
            <a:noFill/>
          </a:ln>
        </p:spPr>
        <p:txBody>
          <a:bodyPr wrap="square" lIns="0" tIns="0" rIns="0" bIns="0" anchor="t">
            <a:noAutofit/>
          </a:bodyPr>
          <a:lstStyle/>
          <a:p>
            <a:pPr marL="0" indent="0" algn="l">
              <a:lnSpc>
                <a:spcPct val="100000"/>
              </a:lnSpc>
              <a:spcBef>
                <a:spcPts val="0"/>
              </a:spcBef>
              <a:buNone/>
            </a:pPr>
            <a:r>
              <a:rPr lang="it-IT" sz="1400" b="1" dirty="0">
                <a:solidFill>
                  <a:srgbClr val="6C0850"/>
                </a:solidFill>
              </a:rPr>
              <a:t>Problema</a:t>
            </a:r>
          </a:p>
          <a:p>
            <a:pPr marL="228600" indent="-228600" algn="l">
              <a:lnSpc>
                <a:spcPct val="100000"/>
              </a:lnSpc>
              <a:spcBef>
                <a:spcPts val="500"/>
              </a:spcBef>
              <a:buClr>
                <a:srgbClr val="6C0850"/>
              </a:buClr>
              <a:buFont typeface="Arial"/>
              <a:buChar char="•"/>
            </a:pPr>
            <a:r>
              <a:rPr lang="it-IT" sz="1400" b="0" dirty="0">
                <a:solidFill>
                  <a:srgbClr val="231C21"/>
                </a:solidFill>
              </a:rPr>
              <a:t>Contatori (Partnership e Progetti) e progetti in corso e conclusi sono in caroselli </a:t>
            </a:r>
            <a:r>
              <a:rPr lang="it-IT" sz="1400" b="1" dirty="0">
                <a:solidFill>
                  <a:srgbClr val="231C21"/>
                </a:solidFill>
              </a:rPr>
              <a:t>senza frecce né indicatore</a:t>
            </a:r>
            <a:r>
              <a:rPr lang="it-IT" sz="1400" b="0" dirty="0">
                <a:solidFill>
                  <a:srgbClr val="231C21"/>
                </a:solidFill>
              </a:rPr>
              <a:t> di posizione</a:t>
            </a:r>
          </a:p>
          <a:p>
            <a:pPr marL="228600" indent="-228600" algn="l">
              <a:lnSpc>
                <a:spcPct val="100000"/>
              </a:lnSpc>
              <a:spcBef>
                <a:spcPts val="500"/>
              </a:spcBef>
              <a:buClr>
                <a:srgbClr val="6C0850"/>
              </a:buClr>
              <a:buFont typeface="Arial"/>
              <a:buChar char="•"/>
            </a:pPr>
            <a:r>
              <a:rPr lang="it-IT" sz="1400" b="0" dirty="0">
                <a:solidFill>
                  <a:srgbClr val="231C21"/>
                </a:solidFill>
              </a:rPr>
              <a:t>Vedendo un solo contatore o due progetti, l’utente può pensare che </a:t>
            </a:r>
            <a:r>
              <a:rPr lang="it-IT" sz="1400" b="1" dirty="0">
                <a:solidFill>
                  <a:srgbClr val="231C21"/>
                </a:solidFill>
              </a:rPr>
              <a:t>non ce ne siano altri</a:t>
            </a:r>
          </a:p>
          <a:p>
            <a:pPr marL="228600" indent="-228600" algn="l">
              <a:lnSpc>
                <a:spcPct val="100000"/>
              </a:lnSpc>
              <a:spcBef>
                <a:spcPts val="500"/>
              </a:spcBef>
              <a:buClr>
                <a:srgbClr val="6C0850"/>
              </a:buClr>
              <a:buFont typeface="Arial"/>
              <a:buChar char="•"/>
            </a:pPr>
            <a:r>
              <a:rPr lang="it-IT" sz="1400" b="0" dirty="0">
                <a:solidFill>
                  <a:srgbClr val="231C21"/>
                </a:solidFill>
              </a:rPr>
              <a:t>«ALTRI» aggiunge </a:t>
            </a:r>
            <a:r>
              <a:rPr lang="it-IT" sz="1400" b="1" dirty="0">
                <a:solidFill>
                  <a:srgbClr val="231C21"/>
                </a:solidFill>
              </a:rPr>
              <a:t>nuovi caroselli</a:t>
            </a:r>
            <a:r>
              <a:rPr lang="it-IT" sz="1400" b="0" dirty="0">
                <a:solidFill>
                  <a:srgbClr val="231C21"/>
                </a:solidFill>
              </a:rPr>
              <a:t> invece di allungare quello esistente</a:t>
            </a:r>
          </a:p>
          <a:p>
            <a:pPr marL="0" indent="0" algn="l">
              <a:lnSpc>
                <a:spcPct val="100000"/>
              </a:lnSpc>
              <a:spcBef>
                <a:spcPts val="900"/>
              </a:spcBef>
              <a:buNone/>
            </a:pPr>
            <a:r>
              <a:rPr lang="it-IT" sz="1100" b="0" dirty="0">
                <a:solidFill>
                  <a:srgbClr val="6B6168"/>
                </a:solidFill>
              </a:rPr>
              <a:t>Note Partnership: gravità 3. Note Progetti: 5 (fuori scala 0–4) per i caroselli, 2 per «ALTRI». Decidere.</a:t>
            </a:r>
          </a:p>
        </p:txBody>
      </p:sp>
      <p:sp>
        <p:nvSpPr>
          <p:cNvPr id="13" name="Soluzione"/>
          <p:cNvSpPr/>
          <p:nvPr/>
        </p:nvSpPr>
        <p:spPr>
          <a:xfrm>
            <a:off x="609600" y="4394200"/>
            <a:ext cx="5130800" cy="1727200"/>
          </a:xfrm>
          <a:prstGeom prst="rect">
            <a:avLst/>
          </a:prstGeom>
          <a:solidFill>
            <a:srgbClr val="F3EEF1"/>
          </a:solidFill>
          <a:ln>
            <a:noFill/>
          </a:ln>
        </p:spPr>
        <p:txBody>
          <a:bodyPr wrap="square" lIns="152400" tIns="152400" rIns="152400" bIns="152400" anchor="t">
            <a:noAutofit/>
          </a:bodyPr>
          <a:lstStyle/>
          <a:p>
            <a:pPr marL="0" indent="0" algn="l">
              <a:lnSpc>
                <a:spcPct val="100000"/>
              </a:lnSpc>
              <a:spcBef>
                <a:spcPts val="0"/>
              </a:spcBef>
              <a:buNone/>
            </a:pPr>
            <a:r>
              <a:rPr lang="it-IT" sz="1400" b="1" dirty="0">
                <a:solidFill>
                  <a:srgbClr val="6C0850"/>
                </a:solidFill>
              </a:rPr>
              <a:t>Possibile soluzione</a:t>
            </a:r>
          </a:p>
          <a:p>
            <a:pPr marL="0" indent="0" algn="l">
              <a:lnSpc>
                <a:spcPct val="100000"/>
              </a:lnSpc>
              <a:spcBef>
                <a:spcPts val="400"/>
              </a:spcBef>
              <a:buNone/>
            </a:pPr>
            <a:r>
              <a:rPr lang="it-IT" sz="1400" b="0" dirty="0">
                <a:solidFill>
                  <a:srgbClr val="231C21"/>
                </a:solidFill>
              </a:rPr>
              <a:t>Pallini di posizione e frecce, ultima card tagliata a metà come invito a scorrere; contatori impilati in verticale; un solo carosello per i conclusi.</a:t>
            </a:r>
          </a:p>
        </p:txBody>
      </p:sp>
      <p:sp>
        <p:nvSpPr>
          <p:cNvPr id="14" name="Segnaposto immagine 1"/>
          <p:cNvSpPr/>
          <p:nvPr/>
        </p:nvSpPr>
        <p:spPr>
          <a:xfrm>
            <a:off x="6045200" y="1625600"/>
            <a:ext cx="5537200" cy="4495800"/>
          </a:xfrm>
          <a:prstGeom prst="rect">
            <a:avLst/>
          </a:prstGeom>
          <a:solidFill>
            <a:srgbClr val="F7F4F6"/>
          </a:solidFill>
          <a:ln w="15875">
            <a:solidFill>
              <a:srgbClr val="B07A9F"/>
            </a:solidFill>
            <a:prstDash val="dash"/>
          </a:ln>
        </p:spPr>
        <p:txBody>
          <a:bodyPr wrap="square" lIns="127000" tIns="127000" rIns="127000" bIns="127000" anchor="ctr">
            <a:noAutofit/>
          </a:bodyPr>
          <a:lstStyle/>
          <a:p>
            <a:pPr marL="0" indent="0" algn="ctr">
              <a:lnSpc>
                <a:spcPct val="100000"/>
              </a:lnSpc>
              <a:spcBef>
                <a:spcPts val="0"/>
              </a:spcBef>
              <a:buNone/>
            </a:pPr>
            <a:r>
              <a:rPr lang="it-IT" sz="1200" b="1" dirty="0">
                <a:solidFill>
                  <a:srgbClr val="6C0850"/>
                </a:solidFill>
              </a:rPr>
              <a:t>[ SCREENSHOT DA INSERIRE ]</a:t>
            </a:r>
          </a:p>
          <a:p>
            <a:pPr marL="0" indent="0" algn="ctr">
              <a:lnSpc>
                <a:spcPct val="100000"/>
              </a:lnSpc>
              <a:spcBef>
                <a:spcPts val="400"/>
              </a:spcBef>
              <a:buNone/>
            </a:pPr>
            <a:r>
              <a:rPr lang="it-IT" sz="1400" b="1" dirty="0">
                <a:solidFill>
                  <a:srgbClr val="231C21"/>
                </a:solidFill>
              </a:rPr>
              <a:t>Screenshot 2026-10-12 alle 18.50.39.png</a:t>
            </a:r>
          </a:p>
          <a:p>
            <a:pPr marL="0" indent="0" algn="ctr">
              <a:lnSpc>
                <a:spcPct val="100000"/>
              </a:lnSpc>
              <a:spcBef>
                <a:spcPts val="300"/>
              </a:spcBef>
              <a:buNone/>
            </a:pPr>
            <a:r>
              <a:rPr lang="it-IT" sz="900" b="0" dirty="0">
                <a:solidFill>
                  <a:srgbClr val="6B6168"/>
                </a:solidFill>
              </a:rPr>
              <a:t>/Users/andreock/Desktop/hci_gruppo_a/assignment1/parti/antofallea/src/Screenshot 2026-10-12 alle 18.50.39.png</a:t>
            </a:r>
          </a:p>
          <a:p>
            <a:pPr marL="0" indent="0" algn="ctr">
              <a:lnSpc>
                <a:spcPct val="100000"/>
              </a:lnSpc>
              <a:spcBef>
                <a:spcPts val="300"/>
              </a:spcBef>
              <a:buNone/>
            </a:pPr>
            <a:r>
              <a:rPr lang="it-IT" sz="1000" b="0" dirty="0">
                <a:solidFill>
                  <a:srgbClr val="6B6168"/>
                </a:solidFill>
              </a:rPr>
              <a:t>Annotare con cerchi e frecce</a:t>
            </a:r>
          </a:p>
        </p:txBody>
      </p:sp>
      <p:sp>
        <p:nvSpPr>
          <p:cNvPr id="15" name="Pagine e task"/>
          <p:cNvSpPr txBox="1"/>
          <p:nvPr/>
        </p:nvSpPr>
        <p:spPr>
          <a:xfrm>
            <a:off x="609600" y="6273800"/>
            <a:ext cx="10972800" cy="381000"/>
          </a:xfrm>
          <a:prstGeom prst="rect">
            <a:avLst/>
          </a:prstGeom>
          <a:noFill/>
          <a:ln>
            <a:noFill/>
          </a:ln>
        </p:spPr>
        <p:txBody>
          <a:bodyPr wrap="square" lIns="0" tIns="0" rIns="0" bIns="0" anchor="b">
            <a:noAutofit/>
          </a:bodyPr>
          <a:lstStyle/>
          <a:p>
            <a:pPr marL="0" indent="0" algn="l">
              <a:lnSpc>
                <a:spcPct val="100000"/>
              </a:lnSpc>
              <a:spcBef>
                <a:spcPts val="0"/>
              </a:spcBef>
              <a:buNone/>
            </a:pPr>
            <a:r>
              <a:rPr lang="it-IT" sz="1000" b="1" dirty="0">
                <a:solidFill>
                  <a:srgbClr val="6B6168"/>
                </a:solidFill>
              </a:rPr>
              <a:t>Pagine:</a:t>
            </a:r>
            <a:r>
              <a:rPr lang="it-IT" sz="1000" b="0" dirty="0">
                <a:solidFill>
                  <a:srgbClr val="6B6168"/>
                </a:solidFill>
              </a:rPr>
              <a:t> Partner UniTo › Partnership e Progetti, versione mobile   </a:t>
            </a:r>
            <a:r>
              <a:rPr lang="it-IT" sz="1000" b="1" dirty="0">
                <a:solidFill>
                  <a:srgbClr val="6B6168"/>
                </a:solidFill>
              </a:rPr>
              <a:t>Task:</a:t>
            </a:r>
            <a:r>
              <a:rPr lang="it-IT" sz="1000" b="0" dirty="0">
                <a:solidFill>
                  <a:srgbClr val="6B6168"/>
                </a:solidFill>
              </a:rPr>
              <a:t> T1</a:t>
            </a:r>
            <a:r>
              <a:rPr lang="it-IT" sz="1000" b="0">
                <a:solidFill>
                  <a:srgbClr val="6B6168"/>
                </a:solidFill>
              </a:rPr>
              <a:t>, T2</a:t>
            </a:r>
            <a:endParaRPr lang="it-IT" sz="1000" b="0" dirty="0">
              <a:solidFill>
                <a:srgbClr val="6B6168"/>
              </a:solidFill>
            </a:endParaRPr>
          </a:p>
        </p:txBody>
      </p:sp>
    </p:spTree>
    <p:extLst>
      <p:ext uri="{BB962C8B-B14F-4D97-AF65-F5344CB8AC3E}">
        <p14:creationId xmlns:p14="http://schemas.microsoft.com/office/powerpoint/2010/main" val="92796235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33FF6169-C7DA-AC5F-4ABC-1295BF8BCD8E}"/>
              </a:ext>
            </a:extLst>
          </p:cNvPr>
          <p:cNvSpPr>
            <a:spLocks noGrp="1"/>
          </p:cNvSpPr>
          <p:nvPr>
            <p:ph type="title"/>
          </p:nvPr>
        </p:nvSpPr>
        <p:spPr>
          <a:xfrm>
            <a:off x="609600" y="342900"/>
            <a:ext cx="10972800" cy="1016000"/>
          </a:xfrm>
        </p:spPr>
        <p:txBody>
          <a:bodyPr/>
          <a:lstStyle/>
          <a:p>
            <a:r>
              <a:rPr lang="it-IT" dirty="0"/>
              <a:t>Versione mobile e accessibilità</a:t>
            </a:r>
          </a:p>
        </p:txBody>
      </p:sp>
      <p:sp>
        <p:nvSpPr>
          <p:cNvPr id="20" name="Segnaposto mobile"/>
          <p:cNvSpPr/>
          <p:nvPr/>
        </p:nvSpPr>
        <p:spPr>
          <a:xfrm>
            <a:off x="609600" y="1524000"/>
            <a:ext cx="5334000" cy="4572000"/>
          </a:xfrm>
          <a:prstGeom prst="rect">
            <a:avLst/>
          </a:prstGeom>
          <a:solidFill>
            <a:srgbClr val="F7F4F6"/>
          </a:solidFill>
          <a:ln w="15875">
            <a:solidFill>
              <a:srgbClr val="B07A9F"/>
            </a:solidFill>
            <a:prstDash val="dash"/>
          </a:ln>
        </p:spPr>
        <p:txBody>
          <a:bodyPr wrap="square" lIns="203200" tIns="203200" rIns="203200" bIns="203200" anchor="t">
            <a:noAutofit/>
          </a:bodyPr>
          <a:lstStyle/>
          <a:p>
            <a:pPr marL="0" indent="0" algn="l">
              <a:spcBef>
                <a:spcPts val="0"/>
              </a:spcBef>
              <a:buNone/>
            </a:pPr>
            <a:r>
              <a:rPr lang="it-IT" sz="1400" b="1" i="0" dirty="0">
                <a:solidFill>
                  <a:srgbClr val="6C0850"/>
                </a:solidFill>
              </a:rPr>
              <a:t>[ DA COMPLETARE ] Mobile e tablet</a:t>
            </a:r>
          </a:p>
          <a:p>
            <a:pPr marL="0" indent="0" algn="l">
              <a:spcBef>
                <a:spcPts val="800"/>
              </a:spcBef>
              <a:buNone/>
            </a:pPr>
            <a:r>
              <a:rPr lang="it-IT" sz="1400" b="0" i="0" dirty="0">
                <a:solidFill>
                  <a:srgbClr val="231C21"/>
                </a:solidFill>
              </a:rPr>
              <a:t>Login raggiungibile, menu hamburger, dimensione degli elementi touch, header fissi</a:t>
            </a:r>
          </a:p>
          <a:p>
            <a:pPr marL="0" indent="0" algn="l">
              <a:spcBef>
                <a:spcPts val="1200"/>
              </a:spcBef>
              <a:buNone/>
            </a:pPr>
            <a:r>
              <a:rPr lang="it-IT" sz="1200" b="0" i="0" dirty="0">
                <a:solidFill>
                  <a:srgbClr val="6B6168"/>
                </a:solidFill>
              </a:rPr>
              <a:t>Screenshot disponibili nel CSV (pagine diverse dalla homepage):</a:t>
            </a:r>
          </a:p>
          <a:p>
            <a:pPr marL="0" indent="0" algn="l">
              <a:spcBef>
                <a:spcPts val="300"/>
              </a:spcBef>
              <a:buNone/>
            </a:pPr>
            <a:r>
              <a:rPr lang="it-IT" sz="1400" b="1" i="0" dirty="0">
                <a:solidFill>
                  <a:srgbClr val="231C21"/>
                </a:solidFill>
              </a:rPr>
              <a:t>m_404.jpg · m_milk.jpg</a:t>
            </a:r>
          </a:p>
          <a:p>
            <a:pPr marL="0" indent="0" algn="l">
              <a:spcBef>
                <a:spcPts val="300"/>
              </a:spcBef>
              <a:buNone/>
            </a:pPr>
            <a:r>
              <a:rPr lang="it-IT" sz="900" b="0" i="0" dirty="0">
                <a:solidFill>
                  <a:srgbClr val="6B6168"/>
                </a:solidFill>
              </a:rPr>
              <a:t>/Users/andreock/Desktop/hci_gruppo_a/assignment1/parti/antofallea/src/</a:t>
            </a:r>
          </a:p>
          <a:p>
            <a:pPr marL="0" indent="0" algn="l">
              <a:spcBef>
                <a:spcPts val="1000"/>
              </a:spcBef>
              <a:buNone/>
            </a:pPr>
            <a:r>
              <a:rPr lang="it-IT" sz="1200" b="0" i="1" dirty="0">
                <a:solidFill>
                  <a:srgbClr val="6C0850"/>
                </a:solidFill>
              </a:rPr>
              <a:t>Manca uno screenshot mobile della homepage.</a:t>
            </a:r>
          </a:p>
        </p:txBody>
      </p:sp>
      <p:sp>
        <p:nvSpPr>
          <p:cNvPr id="21" name="Segnaposto accessibilità"/>
          <p:cNvSpPr/>
          <p:nvPr/>
        </p:nvSpPr>
        <p:spPr>
          <a:xfrm>
            <a:off x="6248400" y="1524000"/>
            <a:ext cx="5334000" cy="4572000"/>
          </a:xfrm>
          <a:prstGeom prst="rect">
            <a:avLst/>
          </a:prstGeom>
          <a:solidFill>
            <a:srgbClr val="F7F4F6"/>
          </a:solidFill>
          <a:ln w="15875">
            <a:solidFill>
              <a:srgbClr val="B07A9F"/>
            </a:solidFill>
            <a:prstDash val="dash"/>
          </a:ln>
        </p:spPr>
        <p:txBody>
          <a:bodyPr wrap="square" lIns="203200" tIns="203200" rIns="203200" bIns="203200" anchor="t">
            <a:noAutofit/>
          </a:bodyPr>
          <a:lstStyle/>
          <a:p>
            <a:pPr marL="0" indent="0" algn="l">
              <a:spcBef>
                <a:spcPts val="0"/>
              </a:spcBef>
              <a:buNone/>
            </a:pPr>
            <a:r>
              <a:rPr lang="it-IT" sz="1400" b="1" i="0" dirty="0">
                <a:solidFill>
                  <a:srgbClr val="6C0850"/>
                </a:solidFill>
              </a:rPr>
              <a:t>[ DA COMPLETARE ] Accessibilità</a:t>
            </a:r>
          </a:p>
          <a:p>
            <a:pPr marL="0" indent="0" algn="l">
              <a:spcBef>
                <a:spcPts val="800"/>
              </a:spcBef>
              <a:buNone/>
            </a:pPr>
            <a:r>
              <a:rPr lang="it-IT" sz="1400" b="0" i="0" dirty="0">
                <a:solidFill>
                  <a:srgbClr val="231C21"/>
                </a:solidFill>
              </a:rPr>
              <a:t>Navigazione con Tab</a:t>
            </a:r>
          </a:p>
          <a:p>
            <a:pPr marL="0" indent="0" algn="l">
              <a:spcBef>
                <a:spcPts val="300"/>
              </a:spcBef>
              <a:buNone/>
            </a:pPr>
            <a:r>
              <a:rPr lang="it-IT" sz="1400" b="0" i="0" dirty="0">
                <a:solidFill>
                  <a:srgbClr val="231C21"/>
                </a:solidFill>
              </a:rPr>
              <a:t>Zoom al 200–400%</a:t>
            </a:r>
          </a:p>
          <a:p>
            <a:pPr marL="0" indent="0" algn="l">
              <a:spcBef>
                <a:spcPts val="300"/>
              </a:spcBef>
              <a:buNone/>
            </a:pPr>
            <a:r>
              <a:rPr lang="it-IT" sz="1400" b="0" i="0" dirty="0">
                <a:solidFill>
                  <a:srgbClr val="231C21"/>
                </a:solidFill>
              </a:rPr>
              <a:t>Contrasto dei colori</a:t>
            </a:r>
          </a:p>
          <a:p>
            <a:pPr marL="0" indent="0" algn="l">
              <a:spcBef>
                <a:spcPts val="300"/>
              </a:spcBef>
              <a:buNone/>
            </a:pPr>
            <a:r>
              <a:rPr lang="it-IT" sz="1400" b="0" i="0" dirty="0">
                <a:solidFill>
                  <a:srgbClr val="231C21"/>
                </a:solidFill>
              </a:rPr>
              <a:t>Icone senza etichetta</a:t>
            </a:r>
          </a:p>
          <a:p>
            <a:pPr marL="0" indent="0" algn="l">
              <a:spcBef>
                <a:spcPts val="1200"/>
              </a:spcBef>
              <a:buNone/>
            </a:pPr>
            <a:r>
              <a:rPr lang="it-IT" sz="1200" b="0" i="1" dirty="0">
                <a:solidFill>
                  <a:srgbClr val="6B6168"/>
                </a:solidFill>
              </a:rPr>
              <a:t>Una slide per osservazione, con gravità e screenshot.</a:t>
            </a:r>
          </a:p>
        </p:txBody>
      </p:sp>
    </p:spTree>
    <p:extLst>
      <p:ext uri="{BB962C8B-B14F-4D97-AF65-F5344CB8AC3E}">
        <p14:creationId xmlns:p14="http://schemas.microsoft.com/office/powerpoint/2010/main" val="422170238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F2D2CEBA-54DA-F0A1-FC20-66D2C2D82D24}"/>
              </a:ext>
            </a:extLst>
          </p:cNvPr>
          <p:cNvSpPr>
            <a:spLocks noGrp="1"/>
          </p:cNvSpPr>
          <p:nvPr>
            <p:ph type="title"/>
          </p:nvPr>
        </p:nvSpPr>
        <p:spPr/>
        <p:txBody>
          <a:bodyPr/>
          <a:lstStyle/>
          <a:p>
            <a:r>
              <a:rPr lang="it-IT"/>
              <a:t>Fase 4 · Risultati e conclusioni</a:t>
            </a:r>
          </a:p>
        </p:txBody>
      </p:sp>
      <p:sp>
        <p:nvSpPr>
          <p:cNvPr id="3" name="Segnaposto testo 2">
            <a:extLst>
              <a:ext uri="{FF2B5EF4-FFF2-40B4-BE49-F238E27FC236}">
                <a16:creationId xmlns:a16="http://schemas.microsoft.com/office/drawing/2014/main" id="{F3E51DF5-36FA-9A7C-613D-EAA08047763F}"/>
              </a:ext>
            </a:extLst>
          </p:cNvPr>
          <p:cNvSpPr>
            <a:spLocks noGrp="1"/>
          </p:cNvSpPr>
          <p:nvPr>
            <p:ph type="body" idx="1"/>
          </p:nvPr>
        </p:nvSpPr>
        <p:spPr/>
        <p:txBody>
          <a:bodyPr/>
          <a:lstStyle/>
          <a:p>
            <a:r>
              <a:rPr lang="it-IT"/>
              <a:t>Distribuzione delle gravità, problemi principali, priorità di intervento</a:t>
            </a:r>
          </a:p>
        </p:txBody>
      </p:sp>
    </p:spTree>
    <p:extLst>
      <p:ext uri="{BB962C8B-B14F-4D97-AF65-F5344CB8AC3E}">
        <p14:creationId xmlns:p14="http://schemas.microsoft.com/office/powerpoint/2010/main" val="331855140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A6664694-5748-AA70-78E3-D73C3EBD70AE}"/>
              </a:ext>
            </a:extLst>
          </p:cNvPr>
          <p:cNvSpPr>
            <a:spLocks noGrp="1"/>
          </p:cNvSpPr>
          <p:nvPr>
            <p:ph type="title"/>
          </p:nvPr>
        </p:nvSpPr>
        <p:spPr>
          <a:xfrm>
            <a:off x="609600" y="342900"/>
            <a:ext cx="10972800" cy="1016000"/>
          </a:xfrm>
        </p:spPr>
        <p:txBody>
          <a:bodyPr/>
          <a:lstStyle/>
          <a:p>
            <a:r>
              <a:rPr lang="it-IT" dirty="0"/>
              <a:t>Risultati: [ N ] problemi, distribuzione delle gravità</a:t>
            </a:r>
          </a:p>
        </p:txBody>
      </p:sp>
      <p:sp>
        <p:nvSpPr>
          <p:cNvPr id="20" name="Segnaposto grafico"/>
          <p:cNvSpPr/>
          <p:nvPr/>
        </p:nvSpPr>
        <p:spPr>
          <a:xfrm>
            <a:off x="609600" y="1524000"/>
            <a:ext cx="10972800" cy="4572000"/>
          </a:xfrm>
          <a:prstGeom prst="rect">
            <a:avLst/>
          </a:prstGeom>
          <a:solidFill>
            <a:srgbClr val="F7F4F6"/>
          </a:solidFill>
          <a:ln w="15875">
            <a:solidFill>
              <a:srgbClr val="B07A9F"/>
            </a:solidFill>
            <a:prstDash val="dash"/>
          </a:ln>
        </p:spPr>
        <p:txBody>
          <a:bodyPr wrap="square" lIns="203200" tIns="203200" rIns="203200" bIns="203200" anchor="ctr">
            <a:noAutofit/>
          </a:bodyPr>
          <a:lstStyle/>
          <a:p>
            <a:pPr marL="0" indent="0" algn="ctr">
              <a:spcBef>
                <a:spcPts val="0"/>
              </a:spcBef>
              <a:buNone/>
            </a:pPr>
            <a:r>
              <a:rPr lang="it-IT" sz="1400" b="1" i="0" dirty="0">
                <a:solidFill>
                  <a:srgbClr val="6C0850"/>
                </a:solidFill>
              </a:rPr>
              <a:t>[ GRAFICO DA GENERARE ]</a:t>
            </a:r>
          </a:p>
          <a:p>
            <a:pPr marL="0" indent="0" algn="ctr">
              <a:spcBef>
                <a:spcPts val="800"/>
              </a:spcBef>
              <a:buNone/>
            </a:pPr>
            <a:r>
              <a:rPr lang="it-IT" sz="1600" b="0" i="0" dirty="0">
                <a:solidFill>
                  <a:srgbClr val="231C21"/>
                </a:solidFill>
              </a:rPr>
              <a:t>Numero di problemi per gravità (0–4), da costruire quando tutte le pagine sono inserite</a:t>
            </a:r>
          </a:p>
          <a:p>
            <a:pPr marL="0" indent="0" algn="ctr">
              <a:spcBef>
                <a:spcPts val="1200"/>
              </a:spcBef>
              <a:buNone/>
            </a:pPr>
            <a:r>
              <a:rPr lang="it-IT" sz="1400" b="0" i="0" dirty="0">
                <a:solidFill>
                  <a:srgbClr val="231C21"/>
                </a:solidFill>
              </a:rPr>
              <a:t>Finora in presentazione: 32 problemi (pagina partner UniTo: 21, Mind the Climate: 11) · gravità 1: 2 · gravità 2: 9 · gravità 3: 11 · gravità 4: 4 · da decidere: 6 (più 2 slide di aspetti positivi)</a:t>
            </a:r>
          </a:p>
          <a:p>
            <a:pPr marL="0" indent="0" algn="ctr">
              <a:spcBef>
                <a:spcPts val="600"/>
              </a:spcBef>
              <a:buNone/>
            </a:pPr>
            <a:r>
              <a:rPr lang="it-IT" sz="1200" b="0" i="1" dirty="0">
                <a:solidFill>
                  <a:srgbClr val="6B6168"/>
                </a:solidFill>
              </a:rPr>
              <a:t>Il CSV di antofallea ne contiene 22 in totale; mancano quelli degli altri componenti.</a:t>
            </a:r>
          </a:p>
          <a:p>
            <a:pPr marL="0" indent="0" algn="ctr">
              <a:spcBef>
                <a:spcPts val="300"/>
              </a:spcBef>
              <a:buNone/>
            </a:pPr>
            <a:r>
              <a:rPr lang="it-IT" sz="1200" b="0" i="1" dirty="0">
                <a:solidFill>
                  <a:srgbClr val="6B6168"/>
                </a:solidFill>
              </a:rPr>
              <a:t>Facoltativo: tabella euristica × gravità.</a:t>
            </a:r>
          </a:p>
        </p:txBody>
      </p:sp>
    </p:spTree>
    <p:extLst>
      <p:ext uri="{BB962C8B-B14F-4D97-AF65-F5344CB8AC3E}">
        <p14:creationId xmlns:p14="http://schemas.microsoft.com/office/powerpoint/2010/main" val="144612129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06C459D4-D8FB-852D-EFFA-AF223B4496DD}"/>
              </a:ext>
            </a:extLst>
          </p:cNvPr>
          <p:cNvSpPr>
            <a:spLocks noGrp="1"/>
          </p:cNvSpPr>
          <p:nvPr>
            <p:ph type="title"/>
          </p:nvPr>
        </p:nvSpPr>
        <p:spPr>
          <a:xfrm>
            <a:off x="609600" y="342900"/>
            <a:ext cx="10972800" cy="1016000"/>
          </a:xfrm>
        </p:spPr>
        <p:txBody>
          <a:bodyPr/>
          <a:lstStyle/>
          <a:p>
            <a:r>
              <a:rPr lang="it-IT" dirty="0"/>
              <a:t>Problemi principali e suggerimenti</a:t>
            </a:r>
          </a:p>
        </p:txBody>
      </p:sp>
      <p:sp>
        <p:nvSpPr>
          <p:cNvPr id="20" name="Segnaposto categoria 1"/>
          <p:cNvSpPr/>
          <p:nvPr/>
        </p:nvSpPr>
        <p:spPr>
          <a:xfrm>
            <a:off x="609600" y="1524000"/>
            <a:ext cx="2514600" cy="4572000"/>
          </a:xfrm>
          <a:prstGeom prst="rect">
            <a:avLst/>
          </a:prstGeom>
          <a:solidFill>
            <a:srgbClr val="F7F4F6"/>
          </a:solidFill>
          <a:ln w="15875">
            <a:solidFill>
              <a:srgbClr val="B07A9F"/>
            </a:solidFill>
            <a:prstDash val="dash"/>
          </a:ln>
        </p:spPr>
        <p:txBody>
          <a:bodyPr wrap="square" lIns="177800" tIns="177800" rIns="177800" bIns="177800" anchor="t">
            <a:noAutofit/>
          </a:bodyPr>
          <a:lstStyle/>
          <a:p>
            <a:pPr marL="0" indent="0" algn="l">
              <a:spcBef>
                <a:spcPts val="0"/>
              </a:spcBef>
              <a:buNone/>
            </a:pPr>
            <a:r>
              <a:rPr lang="it-IT" sz="1400" b="1" i="0" dirty="0">
                <a:solidFill>
                  <a:srgbClr val="6C0850"/>
                </a:solidFill>
              </a:rPr>
              <a:t>[ Macro-categoria 1 ]</a:t>
            </a:r>
          </a:p>
          <a:p>
            <a:pPr marL="0" indent="0" algn="l">
              <a:spcBef>
                <a:spcPts val="600"/>
              </a:spcBef>
              <a:buNone/>
            </a:pPr>
            <a:r>
              <a:rPr lang="it-IT" sz="1400" b="0" i="0" dirty="0">
                <a:solidFill>
                  <a:srgbClr val="231C21"/>
                </a:solidFill>
              </a:rPr>
              <a:t>Candidato: stato e date dell’iniziativa (P01, gravità 3)</a:t>
            </a:r>
          </a:p>
          <a:p>
            <a:pPr marL="0" indent="0" algn="l">
              <a:spcBef>
                <a:spcPts val="1400"/>
              </a:spcBef>
              <a:buNone/>
            </a:pPr>
            <a:r>
              <a:rPr lang="it-IT" sz="1200" b="1" i="0" dirty="0">
                <a:solidFill>
                  <a:srgbClr val="6B6168"/>
                </a:solidFill>
              </a:rPr>
              <a:t>Dove</a:t>
            </a:r>
          </a:p>
          <a:p>
            <a:pPr marL="0" indent="0" algn="l">
              <a:spcBef>
                <a:spcPts val="1400"/>
              </a:spcBef>
              <a:buNone/>
            </a:pPr>
            <a:r>
              <a:rPr lang="it-IT" sz="1200" b="1" i="0" dirty="0">
                <a:solidFill>
                  <a:srgbClr val="6B6168"/>
                </a:solidFill>
              </a:rPr>
              <a:t>Perché è grave</a:t>
            </a:r>
          </a:p>
          <a:p>
            <a:pPr marL="0" indent="0" algn="l">
              <a:spcBef>
                <a:spcPts val="1400"/>
              </a:spcBef>
              <a:buNone/>
            </a:pPr>
            <a:r>
              <a:rPr lang="it-IT" sz="1200" b="1" i="0" dirty="0">
                <a:solidFill>
                  <a:srgbClr val="6B6168"/>
                </a:solidFill>
              </a:rPr>
              <a:t>Suggerimento</a:t>
            </a:r>
          </a:p>
        </p:txBody>
      </p:sp>
      <p:sp>
        <p:nvSpPr>
          <p:cNvPr id="21" name="Segnaposto categoria 2"/>
          <p:cNvSpPr/>
          <p:nvPr/>
        </p:nvSpPr>
        <p:spPr>
          <a:xfrm>
            <a:off x="3429000" y="1524000"/>
            <a:ext cx="2514600" cy="4572000"/>
          </a:xfrm>
          <a:prstGeom prst="rect">
            <a:avLst/>
          </a:prstGeom>
          <a:solidFill>
            <a:srgbClr val="F7F4F6"/>
          </a:solidFill>
          <a:ln w="15875">
            <a:solidFill>
              <a:srgbClr val="B07A9F"/>
            </a:solidFill>
            <a:prstDash val="dash"/>
          </a:ln>
        </p:spPr>
        <p:txBody>
          <a:bodyPr wrap="square" lIns="177800" tIns="177800" rIns="177800" bIns="177800" anchor="t">
            <a:noAutofit/>
          </a:bodyPr>
          <a:lstStyle/>
          <a:p>
            <a:pPr marL="0" indent="0" algn="l">
              <a:spcBef>
                <a:spcPts val="0"/>
              </a:spcBef>
              <a:buNone/>
            </a:pPr>
            <a:r>
              <a:rPr lang="it-IT" sz="1400" b="1" i="0" dirty="0">
                <a:solidFill>
                  <a:srgbClr val="6C0850"/>
                </a:solidFill>
              </a:rPr>
              <a:t>[ Macro-categoria 2 ]</a:t>
            </a:r>
          </a:p>
          <a:p>
            <a:pPr marL="0" indent="0" algn="l">
              <a:spcBef>
                <a:spcPts val="600"/>
              </a:spcBef>
              <a:buNone/>
            </a:pPr>
            <a:r>
              <a:rPr lang="it-IT" sz="1400" b="0" i="0" dirty="0">
                <a:solidFill>
                  <a:srgbClr val="231C21"/>
                </a:solidFill>
              </a:rPr>
              <a:t>Candidato: guida alla candidatura per i ricercatori (P20, gravità 3)</a:t>
            </a:r>
          </a:p>
          <a:p>
            <a:pPr marL="0" indent="0" algn="l">
              <a:spcBef>
                <a:spcPts val="1400"/>
              </a:spcBef>
              <a:buNone/>
            </a:pPr>
            <a:r>
              <a:rPr lang="it-IT" sz="1200" b="1" i="0" dirty="0">
                <a:solidFill>
                  <a:srgbClr val="6B6168"/>
                </a:solidFill>
              </a:rPr>
              <a:t>Dove</a:t>
            </a:r>
          </a:p>
          <a:p>
            <a:pPr marL="0" indent="0" algn="l">
              <a:spcBef>
                <a:spcPts val="1400"/>
              </a:spcBef>
              <a:buNone/>
            </a:pPr>
            <a:r>
              <a:rPr lang="it-IT" sz="1200" b="1" i="0" dirty="0">
                <a:solidFill>
                  <a:srgbClr val="6B6168"/>
                </a:solidFill>
              </a:rPr>
              <a:t>Perché è grave</a:t>
            </a:r>
          </a:p>
          <a:p>
            <a:pPr marL="0" indent="0" algn="l">
              <a:spcBef>
                <a:spcPts val="1400"/>
              </a:spcBef>
              <a:buNone/>
            </a:pPr>
            <a:r>
              <a:rPr lang="it-IT" sz="1200" b="1" i="0" dirty="0">
                <a:solidFill>
                  <a:srgbClr val="6B6168"/>
                </a:solidFill>
              </a:rPr>
              <a:t>Suggerimento</a:t>
            </a:r>
          </a:p>
        </p:txBody>
      </p:sp>
      <p:sp>
        <p:nvSpPr>
          <p:cNvPr id="22" name="Segnaposto categoria 3"/>
          <p:cNvSpPr/>
          <p:nvPr/>
        </p:nvSpPr>
        <p:spPr>
          <a:xfrm>
            <a:off x="6248400" y="1524000"/>
            <a:ext cx="2514600" cy="4572000"/>
          </a:xfrm>
          <a:prstGeom prst="rect">
            <a:avLst/>
          </a:prstGeom>
          <a:solidFill>
            <a:srgbClr val="F7F4F6"/>
          </a:solidFill>
          <a:ln w="15875">
            <a:solidFill>
              <a:srgbClr val="B07A9F"/>
            </a:solidFill>
            <a:prstDash val="dash"/>
          </a:ln>
        </p:spPr>
        <p:txBody>
          <a:bodyPr wrap="square" lIns="177800" tIns="177800" rIns="177800" bIns="177800" anchor="t">
            <a:noAutofit/>
          </a:bodyPr>
          <a:lstStyle/>
          <a:p>
            <a:pPr marL="0" indent="0" algn="l">
              <a:spcBef>
                <a:spcPts val="0"/>
              </a:spcBef>
              <a:buNone/>
            </a:pPr>
            <a:r>
              <a:rPr lang="it-IT" sz="1400" b="1" i="0" dirty="0">
                <a:solidFill>
                  <a:srgbClr val="6C0850"/>
                </a:solidFill>
              </a:rPr>
              <a:t>[ Macro-categoria 3 ]</a:t>
            </a:r>
          </a:p>
          <a:p>
            <a:pPr marL="0" indent="0" algn="l">
              <a:spcBef>
                <a:spcPts val="600"/>
              </a:spcBef>
              <a:buNone/>
            </a:pPr>
            <a:r>
              <a:rPr lang="it-IT" sz="1400" b="0" i="0" dirty="0">
                <a:solidFill>
                  <a:srgbClr val="231C21"/>
                </a:solidFill>
              </a:rPr>
              <a:t>Da definire con i problemi di gravità 3–4 delle altre pagine</a:t>
            </a:r>
          </a:p>
          <a:p>
            <a:pPr marL="0" indent="0" algn="l">
              <a:spcBef>
                <a:spcPts val="1400"/>
              </a:spcBef>
              <a:buNone/>
            </a:pPr>
            <a:r>
              <a:rPr lang="it-IT" sz="1200" b="1" i="0" dirty="0">
                <a:solidFill>
                  <a:srgbClr val="6B6168"/>
                </a:solidFill>
              </a:rPr>
              <a:t>Dove</a:t>
            </a:r>
          </a:p>
          <a:p>
            <a:pPr marL="0" indent="0" algn="l">
              <a:spcBef>
                <a:spcPts val="1400"/>
              </a:spcBef>
              <a:buNone/>
            </a:pPr>
            <a:r>
              <a:rPr lang="it-IT" sz="1200" b="1" i="0" dirty="0">
                <a:solidFill>
                  <a:srgbClr val="6B6168"/>
                </a:solidFill>
              </a:rPr>
              <a:t>Perché è grave</a:t>
            </a:r>
          </a:p>
          <a:p>
            <a:pPr marL="0" indent="0" algn="l">
              <a:spcBef>
                <a:spcPts val="1400"/>
              </a:spcBef>
              <a:buNone/>
            </a:pPr>
            <a:r>
              <a:rPr lang="it-IT" sz="1200" b="1" i="0" dirty="0">
                <a:solidFill>
                  <a:srgbClr val="6B6168"/>
                </a:solidFill>
              </a:rPr>
              <a:t>Suggerimento</a:t>
            </a:r>
          </a:p>
        </p:txBody>
      </p:sp>
      <p:sp>
        <p:nvSpPr>
          <p:cNvPr id="23" name="Segnaposto categoria 4"/>
          <p:cNvSpPr/>
          <p:nvPr/>
        </p:nvSpPr>
        <p:spPr>
          <a:xfrm>
            <a:off x="9067800" y="1524000"/>
            <a:ext cx="2514600" cy="4572000"/>
          </a:xfrm>
          <a:prstGeom prst="rect">
            <a:avLst/>
          </a:prstGeom>
          <a:solidFill>
            <a:srgbClr val="F7F4F6"/>
          </a:solidFill>
          <a:ln w="15875">
            <a:solidFill>
              <a:srgbClr val="B07A9F"/>
            </a:solidFill>
            <a:prstDash val="dash"/>
          </a:ln>
        </p:spPr>
        <p:txBody>
          <a:bodyPr wrap="square" lIns="177800" tIns="177800" rIns="177800" bIns="177800" anchor="t">
            <a:noAutofit/>
          </a:bodyPr>
          <a:lstStyle/>
          <a:p>
            <a:pPr marL="0" indent="0" algn="l">
              <a:spcBef>
                <a:spcPts val="0"/>
              </a:spcBef>
              <a:buNone/>
            </a:pPr>
            <a:r>
              <a:rPr lang="it-IT" sz="1400" b="1" i="0" dirty="0">
                <a:solidFill>
                  <a:srgbClr val="6C0850"/>
                </a:solidFill>
              </a:rPr>
              <a:t>[ Macro-categoria 4 ]</a:t>
            </a:r>
          </a:p>
          <a:p>
            <a:pPr marL="0" indent="0" algn="l">
              <a:spcBef>
                <a:spcPts val="600"/>
              </a:spcBef>
              <a:buNone/>
            </a:pPr>
            <a:r>
              <a:rPr lang="it-IT" sz="1400" b="0" i="0" dirty="0">
                <a:solidFill>
                  <a:srgbClr val="231C21"/>
                </a:solidFill>
              </a:rPr>
              <a:t>Da definire con i problemi di gravità 3–4 delle altre pagine</a:t>
            </a:r>
          </a:p>
          <a:p>
            <a:pPr marL="0" indent="0" algn="l">
              <a:spcBef>
                <a:spcPts val="1400"/>
              </a:spcBef>
              <a:buNone/>
            </a:pPr>
            <a:r>
              <a:rPr lang="it-IT" sz="1200" b="1" i="0" dirty="0">
                <a:solidFill>
                  <a:srgbClr val="6B6168"/>
                </a:solidFill>
              </a:rPr>
              <a:t>Dove</a:t>
            </a:r>
          </a:p>
          <a:p>
            <a:pPr marL="0" indent="0" algn="l">
              <a:spcBef>
                <a:spcPts val="1400"/>
              </a:spcBef>
              <a:buNone/>
            </a:pPr>
            <a:r>
              <a:rPr lang="it-IT" sz="1200" b="1" i="0" dirty="0">
                <a:solidFill>
                  <a:srgbClr val="6B6168"/>
                </a:solidFill>
              </a:rPr>
              <a:t>Perché è grave</a:t>
            </a:r>
          </a:p>
          <a:p>
            <a:pPr marL="0" indent="0" algn="l">
              <a:spcBef>
                <a:spcPts val="1400"/>
              </a:spcBef>
              <a:buNone/>
            </a:pPr>
            <a:r>
              <a:rPr lang="it-IT" sz="1200" b="1" i="0" dirty="0">
                <a:solidFill>
                  <a:srgbClr val="6B6168"/>
                </a:solidFill>
              </a:rPr>
              <a:t>Suggerimento</a:t>
            </a:r>
          </a:p>
        </p:txBody>
      </p:sp>
    </p:spTree>
    <p:extLst>
      <p:ext uri="{BB962C8B-B14F-4D97-AF65-F5344CB8AC3E}">
        <p14:creationId xmlns:p14="http://schemas.microsoft.com/office/powerpoint/2010/main" val="356667905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4BF269A-43AC-161E-3455-857EDB377502}"/>
              </a:ext>
            </a:extLst>
          </p:cNvPr>
          <p:cNvSpPr>
            <a:spLocks noGrp="1"/>
          </p:cNvSpPr>
          <p:nvPr>
            <p:ph type="title"/>
          </p:nvPr>
        </p:nvSpPr>
        <p:spPr>
          <a:xfrm>
            <a:off x="609600" y="342900"/>
            <a:ext cx="10972800" cy="1016000"/>
          </a:xfrm>
        </p:spPr>
        <p:txBody>
          <a:bodyPr/>
          <a:lstStyle/>
          <a:p>
            <a:r>
              <a:rPr lang="it-IT" dirty="0"/>
              <a:t>Conclusioni</a:t>
            </a:r>
          </a:p>
        </p:txBody>
      </p:sp>
      <p:sp>
        <p:nvSpPr>
          <p:cNvPr id="20" name="Segnaposto giudizio"/>
          <p:cNvSpPr/>
          <p:nvPr/>
        </p:nvSpPr>
        <p:spPr>
          <a:xfrm>
            <a:off x="609600" y="1524000"/>
            <a:ext cx="5334000" cy="4572000"/>
          </a:xfrm>
          <a:prstGeom prst="rect">
            <a:avLst/>
          </a:prstGeom>
          <a:solidFill>
            <a:srgbClr val="F7F4F6"/>
          </a:solidFill>
          <a:ln w="15875">
            <a:solidFill>
              <a:srgbClr val="B07A9F"/>
            </a:solidFill>
            <a:prstDash val="dash"/>
          </a:ln>
        </p:spPr>
        <p:txBody>
          <a:bodyPr wrap="square" lIns="203200" tIns="203200" rIns="203200" bIns="203200" anchor="t">
            <a:noAutofit/>
          </a:bodyPr>
          <a:lstStyle/>
          <a:p>
            <a:pPr marL="0" indent="0" algn="l">
              <a:spcBef>
                <a:spcPts val="0"/>
              </a:spcBef>
              <a:buNone/>
            </a:pPr>
            <a:r>
              <a:rPr lang="it-IT" sz="1400" b="1" i="0" dirty="0">
                <a:solidFill>
                  <a:srgbClr val="6C0850"/>
                </a:solidFill>
              </a:rPr>
              <a:t>[ DA COMPLETARE ] Giudizio complessivo</a:t>
            </a:r>
          </a:p>
          <a:p>
            <a:pPr marL="0" indent="0" algn="l">
              <a:spcBef>
                <a:spcPts val="800"/>
              </a:spcBef>
              <a:buNone/>
            </a:pPr>
            <a:r>
              <a:rPr lang="it-IT" sz="1400" b="0" i="0" dirty="0">
                <a:solidFill>
                  <a:srgbClr val="231C21"/>
                </a:solidFill>
              </a:rPr>
              <a:t>Una o due frasi sull’usabilità del sito nel suo insieme, a partire dai risultati.</a:t>
            </a:r>
          </a:p>
        </p:txBody>
      </p:sp>
      <p:sp>
        <p:nvSpPr>
          <p:cNvPr id="21" name="Segnaposto priorità"/>
          <p:cNvSpPr/>
          <p:nvPr/>
        </p:nvSpPr>
        <p:spPr>
          <a:xfrm>
            <a:off x="6248400" y="1524000"/>
            <a:ext cx="5334000" cy="4572000"/>
          </a:xfrm>
          <a:prstGeom prst="rect">
            <a:avLst/>
          </a:prstGeom>
          <a:solidFill>
            <a:srgbClr val="F7F4F6"/>
          </a:solidFill>
          <a:ln w="15875">
            <a:solidFill>
              <a:srgbClr val="B07A9F"/>
            </a:solidFill>
            <a:prstDash val="dash"/>
          </a:ln>
        </p:spPr>
        <p:txBody>
          <a:bodyPr wrap="square" lIns="203200" tIns="203200" rIns="203200" bIns="203200" anchor="t">
            <a:noAutofit/>
          </a:bodyPr>
          <a:lstStyle/>
          <a:p>
            <a:pPr marL="0" indent="0" algn="l">
              <a:spcBef>
                <a:spcPts val="0"/>
              </a:spcBef>
              <a:buNone/>
            </a:pPr>
            <a:r>
              <a:rPr lang="it-IT" sz="1400" b="1" i="0" dirty="0">
                <a:solidFill>
                  <a:srgbClr val="6C0850"/>
                </a:solidFill>
              </a:rPr>
              <a:t>[ DA COMPLETARE ] Priorità di intervento</a:t>
            </a:r>
          </a:p>
          <a:p>
            <a:pPr marL="0" indent="0" algn="l">
              <a:spcBef>
                <a:spcPts val="800"/>
              </a:spcBef>
              <a:buNone/>
            </a:pPr>
            <a:r>
              <a:rPr lang="it-IT" sz="1400" b="0" i="0" dirty="0">
                <a:solidFill>
                  <a:srgbClr val="231C21"/>
                </a:solidFill>
              </a:rPr>
              <a:t>1. [ intervento più urgente ]</a:t>
            </a:r>
          </a:p>
          <a:p>
            <a:pPr marL="0" indent="0" algn="l">
              <a:spcBef>
                <a:spcPts val="400"/>
              </a:spcBef>
              <a:buNone/>
            </a:pPr>
            <a:r>
              <a:rPr lang="it-IT" sz="1400" b="0" i="0" dirty="0">
                <a:solidFill>
                  <a:srgbClr val="231C21"/>
                </a:solidFill>
              </a:rPr>
              <a:t>2. [ … ]</a:t>
            </a:r>
          </a:p>
          <a:p>
            <a:pPr marL="0" indent="0" algn="l">
              <a:spcBef>
                <a:spcPts val="400"/>
              </a:spcBef>
              <a:buNone/>
            </a:pPr>
            <a:r>
              <a:rPr lang="it-IT" sz="1400" b="0" i="0" dirty="0">
                <a:solidFill>
                  <a:srgbClr val="231C21"/>
                </a:solidFill>
              </a:rPr>
              <a:t>3. [ … ]</a:t>
            </a:r>
          </a:p>
          <a:p>
            <a:pPr marL="0" indent="0" algn="l">
              <a:spcBef>
                <a:spcPts val="1200"/>
              </a:spcBef>
              <a:buNone/>
            </a:pPr>
            <a:r>
              <a:rPr lang="it-IT" sz="1200" b="0" i="1" dirty="0">
                <a:solidFill>
                  <a:srgbClr val="6B6168"/>
                </a:solidFill>
              </a:rPr>
              <a:t>Ordinare per gravità e numero di task coinvolti.</a:t>
            </a:r>
          </a:p>
        </p:txBody>
      </p:sp>
    </p:spTree>
    <p:extLst>
      <p:ext uri="{BB962C8B-B14F-4D97-AF65-F5344CB8AC3E}">
        <p14:creationId xmlns:p14="http://schemas.microsoft.com/office/powerpoint/2010/main" val="255487213"/>
      </p:ext>
    </p:extLst>
  </p:cSld>
  <p:clrMapOvr>
    <a:masterClrMapping/>
  </p:clrMapOvr>
</p:sld>
</file>

<file path=ppt/theme/theme1.xml><?xml version="1.0" encoding="utf-8"?>
<a:theme xmlns:a="http://schemas.openxmlformats.org/drawingml/2006/main" name="Tema di Office [1791879955423]">
  <a:themeElements>
    <a:clrScheme name="Office">
      <a:dk1>
        <a:srgbClr val="231C21"/>
      </a:dk1>
      <a:lt1>
        <a:srgbClr val="FFFFFF"/>
      </a:lt1>
      <a:dk2>
        <a:srgbClr val="41002F"/>
      </a:dk2>
      <a:lt2>
        <a:srgbClr val="F3EEF1"/>
      </a:lt2>
      <a:accent1>
        <a:srgbClr val="6C0850"/>
      </a:accent1>
      <a:accent2>
        <a:srgbClr val="B07A9F"/>
      </a:accent2>
      <a:accent3>
        <a:srgbClr val="8A8A8A"/>
      </a:accent3>
      <a:accent4>
        <a:srgbClr val="C7B4C2"/>
      </a:accent4>
      <a:accent5>
        <a:srgbClr val="41002F"/>
      </a:accent5>
      <a:accent6>
        <a:srgbClr val="5E5E5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383383D6-D6D0-2240-923B-4538DC505DCF}">
  <we:reference id="wa200010725" version="1.0.0.1" store="it-IT" storeType="OMEX"/>
  <we:alternateReferences>
    <we:reference id="WA200010725" version="1.0.0.1" store="WA200010725" storeType="OMEX"/>
  </we:alternateReferences>
  <we:properties>
    <we:property name="claude.fileId" value="&quot;5d353c9f-2ba6-4f06-849e-e67e78f02a57&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693</TotalTime>
  <Words>6292</Words>
  <Application>Microsoft Macintosh PowerPoint</Application>
  <PresentationFormat>Widescreen</PresentationFormat>
  <Paragraphs>645</Paragraphs>
  <Slides>49</Slides>
  <Notes>0</Notes>
  <HiddenSlides>0</HiddenSlides>
  <MMClips>2</MMClips>
  <ScaleCrop>false</ScaleCrop>
  <HeadingPairs>
    <vt:vector size="6" baseType="variant">
      <vt:variant>
        <vt:lpstr>Caratteri utilizzati</vt:lpstr>
      </vt:variant>
      <vt:variant>
        <vt:i4>3</vt:i4>
      </vt:variant>
      <vt:variant>
        <vt:lpstr>Tema</vt:lpstr>
      </vt:variant>
      <vt:variant>
        <vt:i4>1</vt:i4>
      </vt:variant>
      <vt:variant>
        <vt:lpstr>Titoli diapositive</vt:lpstr>
      </vt:variant>
      <vt:variant>
        <vt:i4>49</vt:i4>
      </vt:variant>
    </vt:vector>
  </HeadingPairs>
  <TitlesOfParts>
    <vt:vector size="53" baseType="lpstr">
      <vt:lpstr>Aptos</vt:lpstr>
      <vt:lpstr>Aptos Display</vt:lpstr>
      <vt:lpstr>Arial</vt:lpstr>
      <vt:lpstr>Tema di Office [1791879955423]</vt:lpstr>
      <vt:lpstr>Funds TOgether: analisi di usabilità</vt:lpstr>
      <vt:lpstr>Il sito analizzato: Funds TOgether</vt:lpstr>
      <vt:lpstr>Metodologia</vt:lpstr>
      <vt:lpstr>Scala di gravità</vt:lpstr>
      <vt:lpstr>Utenti target e task: 8 task su due tipi di utente</vt:lpstr>
      <vt:lpstr>Fase 1 · Euristiche di Nielsen</vt:lpstr>
      <vt:lpstr>La pagina partner UniTo ha due schede: Partnership descrive l’iniziativa, Progetti elenca le campagne</vt:lpstr>
      <vt:lpstr>Struttura coerente e stato delle campagne leggibile in entrambe le schede</vt:lpstr>
      <vt:lpstr>Non si capisce lo stato dell’iniziativa</vt:lpstr>
      <vt:lpstr>I progetti in corso oltre il 100% non dicono di aver raggiunto l’obiettivo</vt:lpstr>
      <vt:lpstr>I giorni rimanenti sono scritti come numero negativo («-36 giorni»)</vt:lpstr>
      <vt:lpstr>Termini inglesi e gergo di piattaforma</vt:lpstr>
      <vt:lpstr>Dagli autori dei progetti non si capisce che sono gruppi di ricerca UniTo</vt:lpstr>
      <vt:lpstr>I pulsanti aprono nuove schede e non avvisano quando si esce dal sito</vt:lpstr>
      <vt:lpstr>Tornando da un progetto si perdono posizione e progetti caricati</vt:lpstr>
      <vt:lpstr>Le barre di avanzamento non sono chiare e l’interfaccia non è coerente</vt:lpstr>
      <vt:lpstr>Al passaggio del mouse le card non sembrano cliccabili</vt:lpstr>
      <vt:lpstr>Dalla card non si capisce di cosa si occupa il progetto</vt:lpstr>
      <vt:lpstr>Un’icona senza testo nel menu duplica il logo che porta alla home</vt:lpstr>
      <vt:lpstr>Dal fondo della pagina non c’è un modo rapido per tornare all’inizio</vt:lpstr>
      <vt:lpstr>Non si possono filtrare né ordinare i progetti UniTo</vt:lpstr>
      <vt:lpstr>«ALTRI» carica pochi progetti alla volta e non dice quanti ne restano</vt:lpstr>
      <vt:lpstr>Contrasto insufficiente</vt:lpstr>
      <vt:lpstr>A fine elenco «ALTRI» scompare senza dire che i progetti sono finiti</vt:lpstr>
      <vt:lpstr>La pagina non riporta nessun contatto UniTo</vt:lpstr>
      <vt:lpstr>Dalla scheda Progetti si apre la pagina di un progetto attivo: Mind the Climate</vt:lpstr>
      <vt:lpstr>Mind the Climate spiega bene il progetto e guida la scelta della ricompensa</vt:lpstr>
      <vt:lpstr>«Contatta il progettista» risponde con molto ritardo e sembra non aver preso il clic</vt:lpstr>
      <vt:lpstr>La versione inglese è incompleta e la scheda News porta lì senza avvisare</vt:lpstr>
      <vt:lpstr>La lista delle 10 ricompense è lunga e non si può compattare</vt:lpstr>
      <vt:lpstr>I tooltip sembrano link ma non portano da nessuna parte</vt:lpstr>
      <vt:lpstr>Le ricompense più alte non mostrano il numero di sostenitori</vt:lpstr>
      <vt:lpstr>Il nome del donatore diventa pubblico se non si spunta «anonimo»</vt:lpstr>
      <vt:lpstr>Le informazioni per decidere di donare sono lontane dal punto in cui si dona</vt:lpstr>
      <vt:lpstr>La pagina è molto lunga e non ha indice né ancore verso le sezioni</vt:lpstr>
      <vt:lpstr>Il clic sulla barra dell’obiettivo ricarica la stessa pagina</vt:lpstr>
      <vt:lpstr>Le ricompense ripetono ogni testo in italiano e in inglese</vt:lpstr>
      <vt:lpstr>Gli errori del modulo compaiono solo dopo l’invio e solo in italiano</vt:lpstr>
      <vt:lpstr>[ DA RIGUARDARE ] Dubbi aperti su Mind the Climate</vt:lpstr>
      <vt:lpstr>Fase 2 · Linee guida specifiche</vt:lpstr>
      <vt:lpstr>Nessuna indicazione operativa su come candidare un progetto</vt:lpstr>
      <vt:lpstr>Linee guida scelte e perché</vt:lpstr>
      <vt:lpstr>Fase 3 · Analisi extra</vt:lpstr>
      <vt:lpstr>Su mobile i caroselli di contatori e progetti non mostrano di poter scorrere</vt:lpstr>
      <vt:lpstr>Versione mobile e accessibilità</vt:lpstr>
      <vt:lpstr>Fase 4 · Risultati e conclusioni</vt:lpstr>
      <vt:lpstr>Risultati: [ N ] problemi, distribuzione delle gravità</vt:lpstr>
      <vt:lpstr>Problemi principali e suggerimenti</vt:lpstr>
      <vt:lpstr>Conclusioni</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Andrea Canale</dc:creator>
  <cp:lastModifiedBy>Andrea Canale</cp:lastModifiedBy>
  <cp:revision>54</cp:revision>
  <dcterms:created xsi:type="dcterms:W3CDTF">2026-10-13T08:01:12Z</dcterms:created>
  <dcterms:modified xsi:type="dcterms:W3CDTF">2026-10-13T21:46:15Z</dcterms:modified>
</cp:coreProperties>
</file>