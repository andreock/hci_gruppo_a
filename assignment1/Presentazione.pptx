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96" r:id="rId1"/>
  </p:sldMasterIdLst>
  <p:sldIdLst>
    <p:sldId id="291" r:id="rId2"/>
    <p:sldId id="286" r:id="rId3"/>
    <p:sldId id="289" r:id="rId4"/>
    <p:sldId id="290" r:id="rId5"/>
    <p:sldId id="285" r:id="rId6"/>
    <p:sldId id="400" r:id="rId7"/>
    <p:sldId id="401" r:id="rId8"/>
    <p:sldId id="398" r:id="rId9"/>
    <p:sldId id="278" r:id="rId10"/>
    <p:sldId id="337" r:id="rId11"/>
    <p:sldId id="388" r:id="rId12"/>
    <p:sldId id="390" r:id="rId13"/>
    <p:sldId id="339" r:id="rId14"/>
    <p:sldId id="340" r:id="rId15"/>
    <p:sldId id="394" r:id="rId16"/>
    <p:sldId id="341" r:id="rId17"/>
    <p:sldId id="342" r:id="rId18"/>
    <p:sldId id="343" r:id="rId19"/>
    <p:sldId id="395" r:id="rId20"/>
    <p:sldId id="355" r:id="rId21"/>
    <p:sldId id="345" r:id="rId22"/>
    <p:sldId id="346" r:id="rId23"/>
    <p:sldId id="389" r:id="rId24"/>
    <p:sldId id="347" r:id="rId25"/>
    <p:sldId id="348" r:id="rId26"/>
    <p:sldId id="396" r:id="rId27"/>
    <p:sldId id="397" r:id="rId28"/>
    <p:sldId id="282" r:id="rId29"/>
    <p:sldId id="356" r:id="rId30"/>
    <p:sldId id="399" r:id="rId31"/>
    <p:sldId id="386" r:id="rId32"/>
    <p:sldId id="385" r:id="rId33"/>
    <p:sldId id="373" r:id="rId34"/>
    <p:sldId id="374" r:id="rId35"/>
    <p:sldId id="375" r:id="rId36"/>
    <p:sldId id="376" r:id="rId37"/>
    <p:sldId id="377" r:id="rId38"/>
    <p:sldId id="378" r:id="rId39"/>
    <p:sldId id="379" r:id="rId40"/>
    <p:sldId id="380" r:id="rId41"/>
    <p:sldId id="381" r:id="rId42"/>
    <p:sldId id="382" r:id="rId43"/>
    <p:sldId id="383" r:id="rId44"/>
    <p:sldId id="402" r:id="rId45"/>
    <p:sldId id="269" r:id="rId46"/>
    <p:sldId id="293" r:id="rId47"/>
    <p:sldId id="271" r:id="rId48"/>
    <p:sldId id="294" r:id="rId49"/>
    <p:sldId id="273" r:id="rId50"/>
    <p:sldId id="403" r:id="rId51"/>
    <p:sldId id="296" r:id="rId52"/>
    <p:sldId id="297" r:id="rId53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le medio 2 - Color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613"/>
    <p:restoredTop sz="94637"/>
  </p:normalViewPr>
  <p:slideViewPr>
    <p:cSldViewPr snapToGrid="0">
      <p:cViewPr varScale="1">
        <p:scale>
          <a:sx n="110" d="100"/>
          <a:sy n="110" d="100"/>
        </p:scale>
        <p:origin x="208" y="10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tableStyles" Target="tableStyle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ADF1478-C56B-BAC0-6B71-471C8C32898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3869318D-C65E-E6F5-31C3-BA15845EF67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55D45289-193D-C115-A400-8474F8BD85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6BB764-33E8-6842-9624-09828376102D}" type="datetimeFigureOut">
              <a:rPr lang="it-IT" smtClean="0"/>
              <a:t>13/10/26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588AC2FB-CDE8-185E-DCBB-992587AA1A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1B0E09D9-41FE-B065-6044-D2AF35F09E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6077A6-0527-1D47-A9F6-4A89A549CCF2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03307929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ED84018-4030-EFD1-B83C-21AAC58271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E575308A-D461-4BB4-363B-259F0D3DA7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D077C762-A830-47E7-0AAD-4F54FF8B28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6BB764-33E8-6842-9624-09828376102D}" type="datetimeFigureOut">
              <a:rPr lang="it-IT" smtClean="0"/>
              <a:t>13/10/26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DD326F01-B82E-EF71-A165-6D80D6B538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A0ED35DD-04C2-3CD0-2FFF-F332AABC96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6077A6-0527-1D47-A9F6-4A89A549CCF2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6283687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Intestazione sezione">
    <p:bg>
      <p:bgPr>
        <a:solidFill>
          <a:srgbClr val="4100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49A198E-B449-67E7-E94D-15E3F5F5C7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4400" b="1">
                <a:solidFill>
                  <a:srgbClr val="FFFFFF"/>
                </a:solidFill>
              </a:defRPr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60C5284E-3DAD-17E8-A1FA-5471E77D6E8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rgbClr val="E9DCE5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28C9341E-CC73-45A9-C19A-1D0CCC6C11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6BB764-33E8-6842-9624-09828376102D}" type="datetimeFigureOut">
              <a:rPr lang="it-IT" smtClean="0"/>
              <a:t>13/10/26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D3879EA5-2741-0E92-CAFE-1E8B1D17BC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359FA548-2F8D-DE86-932C-8341A67069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6077A6-0527-1D47-A9F6-4A89A549CCF2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9016655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FDD694D-598C-501A-A8FC-F2625F3268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1AC3E67-2843-9C7E-D006-FC0936A38A1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3BDDB987-2370-E240-EE88-F5F307BF899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07E1CD27-10A8-DC09-C7D5-1E12A6F068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6BB764-33E8-6842-9624-09828376102D}" type="datetimeFigureOut">
              <a:rPr lang="it-IT" smtClean="0"/>
              <a:t>13/10/26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1693C8F7-86E7-A87B-AEC2-F06EEA3A27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EDF098A5-CD72-6E32-98C3-6B3BC92C4B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6077A6-0527-1D47-A9F6-4A89A549CCF2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0151550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20840DC-3E66-F242-34CF-AE344B65B2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59B4BD8A-13FF-26F8-4505-C391A38DD5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91956381-F5BF-6282-5190-3A2DB43EBBE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19418715-3EA9-14C8-45A5-050AEC95FD4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12856C5D-CB15-D114-6921-8890C6CDB73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047365D0-1F83-04DD-3897-7261719A7D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6BB764-33E8-6842-9624-09828376102D}" type="datetimeFigureOut">
              <a:rPr lang="it-IT" smtClean="0"/>
              <a:t>13/10/26</a:t>
            </a:fld>
            <a:endParaRPr lang="it-IT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81675AEE-5492-F19E-92EA-7ACD4A5722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E9391AE0-9EB8-EEAF-CED7-D65F0486D4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6077A6-0527-1D47-A9F6-4A89A549CCF2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1200156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3E17F2B-C322-EBB1-B327-AD14F09E5B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58A2210F-8722-3C7E-87A8-6CB853CF91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6BB764-33E8-6842-9624-09828376102D}" type="datetimeFigureOut">
              <a:rPr lang="it-IT" smtClean="0"/>
              <a:t>13/10/26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CB53D9D1-A55C-F912-B3D2-211ADF1AE5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22FE2E2D-52D6-FE84-9037-CB211A112F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6077A6-0527-1D47-A9F6-4A89A549CCF2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7038623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D5FD6268-4B47-F89F-DF9C-70F312E6C1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6BB764-33E8-6842-9624-09828376102D}" type="datetimeFigureOut">
              <a:rPr lang="it-IT" smtClean="0"/>
              <a:t>13/10/26</a:t>
            </a:fld>
            <a:endParaRPr lang="it-IT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CE3C6457-4336-BF3B-58A5-714093970D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F6763FAF-0F0D-69BA-FA98-86E30B6986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6077A6-0527-1D47-A9F6-4A89A549CCF2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9133516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E78A431-699C-56F7-04A9-F08AB6B211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C3066022-F22D-6484-8038-E8C3E3AEB3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C8B16488-EE7B-9C27-E2C7-17EE3946C2D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0AC11375-5138-DBE0-1381-53F00B07C5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6BB764-33E8-6842-9624-09828376102D}" type="datetimeFigureOut">
              <a:rPr lang="it-IT" smtClean="0"/>
              <a:t>13/10/26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BB4F19C6-1560-432E-D517-D1A2CB0D6F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EF9998F4-7FC9-93C6-9649-F9617525B8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6077A6-0527-1D47-A9F6-4A89A549CCF2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2353473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D870162-49F3-74BA-9001-78080F9B1C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8D87EDA2-0B43-0522-A9F8-206E5595EFE0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EC6E7686-3430-9602-9BC7-EF23FB684CB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B61DE8C4-6262-2383-C261-8EEDA1B70A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6BB764-33E8-6842-9624-09828376102D}" type="datetimeFigureOut">
              <a:rPr lang="it-IT" smtClean="0"/>
              <a:t>13/10/26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9D57EF57-939B-76AD-9A1D-CBD3E44CE0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E6426772-C929-28B4-3686-6504C1E30A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6077A6-0527-1D47-A9F6-4A89A549CCF2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4024304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8540D0F-FF62-26AA-CC64-1B45115879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21B1947A-C42E-C2D0-0C06-D9C38C48EDB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ACAF04ED-F623-AFE3-08AC-B2FEC7A1CC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6BB764-33E8-6842-9624-09828376102D}" type="datetimeFigureOut">
              <a:rPr lang="it-IT" smtClean="0"/>
              <a:t>13/10/26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D00C5B0B-BE6B-FF91-D3F5-3E3F3A237B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A194D8B5-8D24-0E4D-81EB-D4F2841829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6077A6-0527-1D47-A9F6-4A89A549CCF2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8206240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2A687831-0942-5A3E-549B-EF9DF7A5039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7237EE21-C301-F805-7138-1E9663AB1D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34679EBF-0720-722E-36AD-57D8D5D25D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6BB764-33E8-6842-9624-09828376102D}" type="datetimeFigureOut">
              <a:rPr lang="it-IT" smtClean="0"/>
              <a:t>13/10/26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22F4A238-339E-D0AB-3B08-93821E9332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16047463-557D-94B8-3292-153B8BC75E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6077A6-0527-1D47-A9F6-4A89A549CCF2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7019908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5B7C9BE8-3151-43F5-C0A7-DFC81941C2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342900"/>
            <a:ext cx="10515600" cy="1325563"/>
          </a:xfrm>
          <a:prstGeom prst="rect">
            <a:avLst/>
          </a:prstGeom>
        </p:spPr>
        <p:txBody>
          <a:bodyPr vert="horz" lIns="0" tIns="45720" rIns="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F0077207-969B-A0A2-0273-23ACA13983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1371600"/>
            <a:ext cx="10515600" cy="4351338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36673A1F-AA9A-AC9C-4590-0D32C0E62C7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66BB764-33E8-6842-9624-09828376102D}" type="datetimeFigureOut">
              <a:rPr lang="it-IT" smtClean="0"/>
              <a:t>13/10/26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5135749A-1B3C-B4C3-FBA0-54089372181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D488FC96-111C-0B24-938D-E3A73A408D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A6077A6-0527-1D47-A9F6-4A89A549CCF2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4209720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1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82FB0DF-F21B-B4B8-4961-44D0E64851C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it-IT"/>
              <a:t>Funds TOgether: analisi di usabilità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C7741B3D-B778-C5A3-54A7-FA26C1F6094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it-IT"/>
              <a:t>Gruppo A · [ componenti da inserire ]
Interazione uomo-macchina · A.A. [ da inserire ]</a:t>
            </a:r>
          </a:p>
        </p:txBody>
      </p:sp>
    </p:spTree>
    <p:extLst>
      <p:ext uri="{BB962C8B-B14F-4D97-AF65-F5344CB8AC3E}">
        <p14:creationId xmlns:p14="http://schemas.microsoft.com/office/powerpoint/2010/main" val="318327356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443CE21-E013-1912-E8AE-B0569027D5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342900"/>
            <a:ext cx="10972800" cy="1016000"/>
          </a:xfrm>
        </p:spPr>
        <p:txBody>
          <a:bodyPr/>
          <a:lstStyle/>
          <a:p>
            <a:r>
              <a:rPr lang="it-IT" dirty="0"/>
              <a:t>Il sito analizzato: Funds TOgether</a:t>
            </a:r>
          </a:p>
        </p:txBody>
      </p:sp>
      <p:sp>
        <p:nvSpPr>
          <p:cNvPr id="20" name="Descrizione sito"/>
          <p:cNvSpPr/>
          <p:nvPr/>
        </p:nvSpPr>
        <p:spPr>
          <a:xfrm>
            <a:off x="609600" y="1524000"/>
            <a:ext cx="5080000" cy="457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it-IT" sz="1800" b="0" i="0" dirty="0">
                <a:solidFill>
                  <a:srgbClr val="231C21"/>
                </a:solidFill>
              </a:rPr>
              <a:t>Funds TOgether è l’iniziativa di crowdfunding dell’</a:t>
            </a:r>
            <a:r>
              <a:rPr lang="it-IT" sz="1800" b="1" i="0" dirty="0">
                <a:solidFill>
                  <a:srgbClr val="231C21"/>
                </a:solidFill>
              </a:rPr>
              <a:t>Università di Torino</a:t>
            </a:r>
            <a:r>
              <a:rPr lang="it-IT" sz="1800" b="0" i="0" dirty="0">
                <a:solidFill>
                  <a:srgbClr val="231C21"/>
                </a:solidFill>
              </a:rPr>
              <a:t> sulla piattaforma Ginger: i ricercatori candidano progetti, i cittadini li sostengono con donazioni.</a:t>
            </a:r>
          </a:p>
          <a:p>
            <a:pPr marL="0" indent="0" algn="l">
              <a:spcBef>
                <a:spcPts val="600"/>
              </a:spcBef>
              <a:buNone/>
            </a:pPr>
            <a:r>
              <a:rPr lang="it-IT" sz="1200" b="0" i="1" dirty="0">
                <a:solidFill>
                  <a:srgbClr val="6C0850"/>
                </a:solidFill>
              </a:rPr>
              <a:t>[ DA VERIFICARE: descrizione e regola del cofinanziamento ]</a:t>
            </a:r>
          </a:p>
          <a:p>
            <a:pPr marL="0" indent="0" algn="l">
              <a:spcBef>
                <a:spcPts val="1800"/>
              </a:spcBef>
              <a:buNone/>
            </a:pPr>
            <a:r>
              <a:rPr lang="it-IT" sz="1400" b="1" i="0" dirty="0">
                <a:solidFill>
                  <a:srgbClr val="6C0850"/>
                </a:solidFill>
              </a:rPr>
              <a:t>Pagine analizzate</a:t>
            </a:r>
          </a:p>
          <a:p>
            <a:pPr>
              <a:spcBef>
                <a:spcPts val="300"/>
              </a:spcBef>
            </a:pPr>
            <a:r>
              <a:rPr lang="it-IT" sz="1400" b="0" i="0" dirty="0">
                <a:solidFill>
                  <a:srgbClr val="231C21"/>
                </a:solidFill>
              </a:rPr>
              <a:t>Partner UniTo › </a:t>
            </a:r>
            <a:r>
              <a:rPr lang="it-IT" sz="1400" dirty="0">
                <a:solidFill>
                  <a:srgbClr val="231C21"/>
                </a:solidFill>
              </a:rPr>
              <a:t>Partnership › Progetti</a:t>
            </a:r>
            <a:endParaRPr lang="it-IT" sz="1400" b="0" i="0" dirty="0">
              <a:solidFill>
                <a:srgbClr val="231C21"/>
              </a:solidFill>
            </a:endParaRPr>
          </a:p>
        </p:txBody>
      </p:sp>
      <p:sp>
        <p:nvSpPr>
          <p:cNvPr id="21" name="Segnaposto screenshot homepage"/>
          <p:cNvSpPr/>
          <p:nvPr/>
        </p:nvSpPr>
        <p:spPr>
          <a:xfrm>
            <a:off x="6045200" y="1524000"/>
            <a:ext cx="5537200" cy="4572000"/>
          </a:xfrm>
          <a:prstGeom prst="rect">
            <a:avLst/>
          </a:prstGeom>
          <a:solidFill>
            <a:srgbClr val="F7F4F6"/>
          </a:solidFill>
          <a:ln w="15875">
            <a:solidFill>
              <a:srgbClr val="B07A9F"/>
            </a:solidFill>
            <a:prstDash val="dash"/>
          </a:ln>
        </p:spPr>
        <p:txBody>
          <a:bodyPr wrap="square" lIns="152400" tIns="152400" rIns="152400" bIns="15240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it-IT" sz="1200" b="1" i="0" dirty="0">
                <a:solidFill>
                  <a:srgbClr val="6C0850"/>
                </a:solidFill>
              </a:rPr>
              <a:t>[ SCREENSHOT DA INSERIRE ]</a:t>
            </a:r>
          </a:p>
          <a:p>
            <a:pPr marL="0" indent="0" algn="ctr">
              <a:spcBef>
                <a:spcPts val="400"/>
              </a:spcBef>
              <a:buNone/>
            </a:pPr>
            <a:r>
              <a:rPr lang="it-IT" sz="1400" b="1" i="0" dirty="0">
                <a:solidFill>
                  <a:srgbClr val="231C21"/>
                </a:solidFill>
              </a:rPr>
              <a:t>Homepage Funds TOgether, prima schermata</a:t>
            </a:r>
          </a:p>
          <a:p>
            <a:pPr marL="0" indent="0" algn="ctr">
              <a:spcBef>
                <a:spcPts val="400"/>
              </a:spcBef>
              <a:buNone/>
            </a:pPr>
            <a:r>
              <a:rPr lang="it-IT" sz="1100" b="0" i="0" dirty="0">
                <a:solidFill>
                  <a:srgbClr val="6B6168"/>
                </a:solidFill>
              </a:rPr>
              <a:t>Non presente nel CSV: cercare in /Users/andreock/Desktop/hci_gruppo_a/assignment1/parti/antofallea/src/ oppure catturare la pagina /partner/universita-di-torino.html</a:t>
            </a:r>
          </a:p>
        </p:txBody>
      </p:sp>
    </p:spTree>
    <p:extLst>
      <p:ext uri="{BB962C8B-B14F-4D97-AF65-F5344CB8AC3E}">
        <p14:creationId xmlns:p14="http://schemas.microsoft.com/office/powerpoint/2010/main" val="41286854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3286D2D-A04F-C86C-27E7-B5025F6841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342900"/>
            <a:ext cx="10972800" cy="1016000"/>
          </a:xfrm>
        </p:spPr>
        <p:txBody>
          <a:bodyPr/>
          <a:lstStyle/>
          <a:p>
            <a:r>
              <a:rPr lang="it-IT" dirty="0"/>
              <a:t>Metodologia</a:t>
            </a:r>
          </a:p>
        </p:txBody>
      </p:sp>
      <p:sp>
        <p:nvSpPr>
          <p:cNvPr id="20" name="Fase 1"/>
          <p:cNvSpPr/>
          <p:nvPr/>
        </p:nvSpPr>
        <p:spPr>
          <a:xfrm>
            <a:off x="609600" y="1574800"/>
            <a:ext cx="2514600" cy="3175000"/>
          </a:xfrm>
          <a:prstGeom prst="rect">
            <a:avLst/>
          </a:prstGeom>
          <a:solidFill>
            <a:srgbClr val="F3EEF1"/>
          </a:solidFill>
          <a:ln>
            <a:noFill/>
          </a:ln>
        </p:spPr>
        <p:txBody>
          <a:bodyPr wrap="square" lIns="177800" tIns="177800" rIns="177800" bIns="17780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it-IT" sz="1200" b="1" i="0" dirty="0">
                <a:solidFill>
                  <a:srgbClr val="6C0850"/>
                </a:solidFill>
              </a:rPr>
              <a:t>FASE 1</a:t>
            </a:r>
          </a:p>
          <a:p>
            <a:pPr marL="0" indent="0" algn="l">
              <a:spcBef>
                <a:spcPts val="600"/>
              </a:spcBef>
              <a:buNone/>
            </a:pPr>
            <a:r>
              <a:rPr lang="it-IT" sz="2000" b="1" i="0" dirty="0">
                <a:solidFill>
                  <a:srgbClr val="41002F"/>
                </a:solidFill>
              </a:rPr>
              <a:t>Euristiche di Nielsen</a:t>
            </a:r>
          </a:p>
          <a:p>
            <a:pPr marL="0" indent="0" algn="l">
              <a:spcBef>
                <a:spcPts val="900"/>
              </a:spcBef>
              <a:buNone/>
            </a:pPr>
            <a:r>
              <a:rPr lang="it-IT" sz="1400" b="0" i="0" dirty="0">
                <a:solidFill>
                  <a:srgbClr val="231C21"/>
                </a:solidFill>
              </a:rPr>
              <a:t>Esplorazione del sito con i task T1–T8 e valutazione con le 10 euristiche</a:t>
            </a:r>
          </a:p>
        </p:txBody>
      </p:sp>
      <p:sp>
        <p:nvSpPr>
          <p:cNvPr id="21" name="Barra fase 1"/>
          <p:cNvSpPr/>
          <p:nvPr/>
        </p:nvSpPr>
        <p:spPr>
          <a:xfrm>
            <a:off x="609600" y="1574800"/>
            <a:ext cx="2514600" cy="63500"/>
          </a:xfrm>
          <a:prstGeom prst="rect">
            <a:avLst/>
          </a:prstGeom>
          <a:solidFill>
            <a:srgbClr val="6C0850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it-IT"/>
          </a:p>
        </p:txBody>
      </p:sp>
      <p:sp>
        <p:nvSpPr>
          <p:cNvPr id="22" name="Fase 2"/>
          <p:cNvSpPr/>
          <p:nvPr/>
        </p:nvSpPr>
        <p:spPr>
          <a:xfrm>
            <a:off x="3429000" y="1574800"/>
            <a:ext cx="2514600" cy="3175000"/>
          </a:xfrm>
          <a:prstGeom prst="rect">
            <a:avLst/>
          </a:prstGeom>
          <a:solidFill>
            <a:srgbClr val="F3EEF1"/>
          </a:solidFill>
          <a:ln>
            <a:noFill/>
          </a:ln>
        </p:spPr>
        <p:txBody>
          <a:bodyPr wrap="square" lIns="177800" tIns="177800" rIns="177800" bIns="17780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it-IT" sz="1200" b="1" i="0" dirty="0">
                <a:solidFill>
                  <a:srgbClr val="6C0850"/>
                </a:solidFill>
              </a:rPr>
              <a:t>FASE 2</a:t>
            </a:r>
          </a:p>
          <a:p>
            <a:pPr marL="0" indent="0" algn="l">
              <a:spcBef>
                <a:spcPts val="600"/>
              </a:spcBef>
              <a:buNone/>
            </a:pPr>
            <a:r>
              <a:rPr lang="it-IT" sz="2000" b="1" i="0" dirty="0">
                <a:solidFill>
                  <a:srgbClr val="41002F"/>
                </a:solidFill>
              </a:rPr>
              <a:t>Linee guida specifiche</a:t>
            </a:r>
          </a:p>
          <a:p>
            <a:pPr marL="0" indent="0" algn="l">
              <a:spcBef>
                <a:spcPts val="900"/>
              </a:spcBef>
              <a:buNone/>
            </a:pPr>
            <a:r>
              <a:rPr lang="it-IT" sz="1400" b="0" i="0" dirty="0">
                <a:solidFill>
                  <a:srgbClr val="231C21"/>
                </a:solidFill>
              </a:rPr>
              <a:t>Verifica con linee guida dedicate al tipo di sito</a:t>
            </a:r>
          </a:p>
          <a:p>
            <a:pPr marL="0" indent="0" algn="l">
              <a:spcBef>
                <a:spcPts val="900"/>
              </a:spcBef>
              <a:buNone/>
            </a:pPr>
            <a:r>
              <a:rPr lang="it-IT" sz="1200" b="0" i="1" dirty="0">
                <a:solidFill>
                  <a:srgbClr val="6C0850"/>
                </a:solidFill>
              </a:rPr>
              <a:t>[ DA SCEGLIERE: es. NN/g Top 10 Homepage, Search ](Not </a:t>
            </a:r>
            <a:r>
              <a:rPr lang="it-IT" sz="1200" b="0" i="1" dirty="0" err="1">
                <a:solidFill>
                  <a:srgbClr val="6C0850"/>
                </a:solidFill>
              </a:rPr>
              <a:t>done</a:t>
            </a:r>
            <a:r>
              <a:rPr lang="it-IT" sz="1200" b="0" i="1" dirty="0">
                <a:solidFill>
                  <a:srgbClr val="6C0850"/>
                </a:solidFill>
              </a:rPr>
              <a:t> </a:t>
            </a:r>
            <a:r>
              <a:rPr lang="it-IT" sz="1200" b="0" i="1" dirty="0" err="1">
                <a:solidFill>
                  <a:srgbClr val="6C0850"/>
                </a:solidFill>
              </a:rPr>
              <a:t>yet</a:t>
            </a:r>
            <a:r>
              <a:rPr lang="it-IT" sz="1200" b="0" i="1" dirty="0">
                <a:solidFill>
                  <a:srgbClr val="6C0850"/>
                </a:solidFill>
              </a:rPr>
              <a:t>)</a:t>
            </a:r>
          </a:p>
        </p:txBody>
      </p:sp>
      <p:sp>
        <p:nvSpPr>
          <p:cNvPr id="23" name="Barra fase 2"/>
          <p:cNvSpPr/>
          <p:nvPr/>
        </p:nvSpPr>
        <p:spPr>
          <a:xfrm>
            <a:off x="3429000" y="1574800"/>
            <a:ext cx="2514600" cy="63500"/>
          </a:xfrm>
          <a:prstGeom prst="rect">
            <a:avLst/>
          </a:prstGeom>
          <a:solidFill>
            <a:srgbClr val="C7B4C2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it-IT"/>
          </a:p>
        </p:txBody>
      </p:sp>
      <p:sp>
        <p:nvSpPr>
          <p:cNvPr id="24" name="Fase 3"/>
          <p:cNvSpPr/>
          <p:nvPr/>
        </p:nvSpPr>
        <p:spPr>
          <a:xfrm>
            <a:off x="6248400" y="1574800"/>
            <a:ext cx="2514600" cy="3175000"/>
          </a:xfrm>
          <a:prstGeom prst="rect">
            <a:avLst/>
          </a:prstGeom>
          <a:solidFill>
            <a:srgbClr val="F3EEF1"/>
          </a:solidFill>
          <a:ln>
            <a:noFill/>
          </a:ln>
        </p:spPr>
        <p:txBody>
          <a:bodyPr wrap="square" lIns="177800" tIns="177800" rIns="177800" bIns="17780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it-IT" sz="1200" b="1" i="0" dirty="0">
                <a:solidFill>
                  <a:srgbClr val="6C0850"/>
                </a:solidFill>
              </a:rPr>
              <a:t>FASE 3</a:t>
            </a:r>
          </a:p>
          <a:p>
            <a:pPr marL="0" indent="0" algn="l">
              <a:spcBef>
                <a:spcPts val="600"/>
              </a:spcBef>
              <a:buNone/>
            </a:pPr>
            <a:r>
              <a:rPr lang="it-IT" sz="2000" b="1" i="0" dirty="0">
                <a:solidFill>
                  <a:srgbClr val="41002F"/>
                </a:solidFill>
              </a:rPr>
              <a:t>Analisi extra</a:t>
            </a:r>
            <a:br>
              <a:rPr lang="it-IT" sz="2000" b="1" i="0" dirty="0">
                <a:solidFill>
                  <a:srgbClr val="41002F"/>
                </a:solidFill>
              </a:rPr>
            </a:br>
            <a:r>
              <a:rPr lang="it-IT" sz="2000" b="1" i="0" dirty="0">
                <a:solidFill>
                  <a:srgbClr val="41002F"/>
                </a:solidFill>
              </a:rPr>
              <a:t> </a:t>
            </a:r>
          </a:p>
          <a:p>
            <a:pPr marL="0" indent="0" algn="l">
              <a:spcBef>
                <a:spcPts val="900"/>
              </a:spcBef>
              <a:buNone/>
            </a:pPr>
            <a:r>
              <a:rPr lang="it-IT" sz="1400" b="0" i="0" dirty="0">
                <a:solidFill>
                  <a:srgbClr val="231C21"/>
                </a:solidFill>
              </a:rPr>
              <a:t>Versione mobile e tablet, accessibilità</a:t>
            </a:r>
          </a:p>
          <a:p>
            <a:pPr marL="0" indent="0" algn="l">
              <a:spcBef>
                <a:spcPts val="900"/>
              </a:spcBef>
              <a:buNone/>
            </a:pPr>
            <a:r>
              <a:rPr lang="it-IT" sz="1200" b="0" i="1" dirty="0">
                <a:solidFill>
                  <a:srgbClr val="6C0850"/>
                </a:solidFill>
              </a:rPr>
              <a:t>[ DA SVOLGERE ]</a:t>
            </a:r>
          </a:p>
        </p:txBody>
      </p:sp>
      <p:sp>
        <p:nvSpPr>
          <p:cNvPr id="25" name="Barra fase 3"/>
          <p:cNvSpPr/>
          <p:nvPr/>
        </p:nvSpPr>
        <p:spPr>
          <a:xfrm>
            <a:off x="6248400" y="1574800"/>
            <a:ext cx="2514600" cy="63500"/>
          </a:xfrm>
          <a:prstGeom prst="rect">
            <a:avLst/>
          </a:prstGeom>
          <a:solidFill>
            <a:srgbClr val="C7B4C2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it-IT"/>
          </a:p>
        </p:txBody>
      </p:sp>
      <p:sp>
        <p:nvSpPr>
          <p:cNvPr id="26" name="Fase 4"/>
          <p:cNvSpPr/>
          <p:nvPr/>
        </p:nvSpPr>
        <p:spPr>
          <a:xfrm>
            <a:off x="9067800" y="1574800"/>
            <a:ext cx="2514600" cy="3175000"/>
          </a:xfrm>
          <a:prstGeom prst="rect">
            <a:avLst/>
          </a:prstGeom>
          <a:solidFill>
            <a:srgbClr val="F3EEF1"/>
          </a:solidFill>
          <a:ln>
            <a:noFill/>
          </a:ln>
        </p:spPr>
        <p:txBody>
          <a:bodyPr wrap="square" lIns="177800" tIns="177800" rIns="177800" bIns="17780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it-IT" sz="1200" b="1" i="0" dirty="0">
                <a:solidFill>
                  <a:srgbClr val="6C0850"/>
                </a:solidFill>
              </a:rPr>
              <a:t>FASE 4</a:t>
            </a:r>
          </a:p>
          <a:p>
            <a:pPr marL="0" indent="0" algn="l">
              <a:spcBef>
                <a:spcPts val="600"/>
              </a:spcBef>
              <a:buNone/>
            </a:pPr>
            <a:r>
              <a:rPr lang="it-IT" sz="2000" b="1" i="0" dirty="0">
                <a:solidFill>
                  <a:srgbClr val="41002F"/>
                </a:solidFill>
              </a:rPr>
              <a:t>Risultati e conclusioni</a:t>
            </a:r>
          </a:p>
          <a:p>
            <a:pPr marL="0" indent="0" algn="l">
              <a:spcBef>
                <a:spcPts val="900"/>
              </a:spcBef>
              <a:buNone/>
            </a:pPr>
            <a:r>
              <a:rPr lang="it-IT" sz="1400" b="0" i="0" dirty="0">
                <a:solidFill>
                  <a:srgbClr val="231C21"/>
                </a:solidFill>
              </a:rPr>
              <a:t>Distribuzione delle gravità, problemi principali e priorità di intervento</a:t>
            </a:r>
          </a:p>
        </p:txBody>
      </p:sp>
      <p:sp>
        <p:nvSpPr>
          <p:cNvPr id="27" name="Barra fase 4"/>
          <p:cNvSpPr/>
          <p:nvPr/>
        </p:nvSpPr>
        <p:spPr>
          <a:xfrm>
            <a:off x="9067800" y="1574800"/>
            <a:ext cx="2514600" cy="63500"/>
          </a:xfrm>
          <a:prstGeom prst="rect">
            <a:avLst/>
          </a:prstGeom>
          <a:solidFill>
            <a:srgbClr val="C7B4C2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it-IT"/>
          </a:p>
        </p:txBody>
      </p:sp>
      <p:sp>
        <p:nvSpPr>
          <p:cNvPr id="28" name="Nota"/>
          <p:cNvSpPr/>
          <p:nvPr/>
        </p:nvSpPr>
        <p:spPr>
          <a:xfrm>
            <a:off x="609600" y="4953000"/>
            <a:ext cx="109728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it-IT" sz="1200" b="0" i="0" dirty="0">
                <a:solidFill>
                  <a:srgbClr val="6B6168"/>
                </a:solidFill>
              </a:rPr>
              <a:t>In questa versione è completata solo la Fase 1 sulla homepage e sui progetti.</a:t>
            </a:r>
          </a:p>
        </p:txBody>
      </p:sp>
    </p:spTree>
    <p:extLst>
      <p:ext uri="{BB962C8B-B14F-4D97-AF65-F5344CB8AC3E}">
        <p14:creationId xmlns:p14="http://schemas.microsoft.com/office/powerpoint/2010/main" val="24149838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441A490-60F5-533A-E9C9-59D8BF0875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342900"/>
            <a:ext cx="10972800" cy="1016000"/>
          </a:xfrm>
        </p:spPr>
        <p:txBody>
          <a:bodyPr/>
          <a:lstStyle/>
          <a:p>
            <a:r>
              <a:rPr lang="it-IT" dirty="0"/>
              <a:t>Scala di gravità</a:t>
            </a:r>
          </a:p>
        </p:txBody>
      </p:sp>
      <p:sp>
        <p:nvSpPr>
          <p:cNvPr id="20" name="Badge 0"/>
          <p:cNvSpPr/>
          <p:nvPr/>
        </p:nvSpPr>
        <p:spPr>
          <a:xfrm>
            <a:off x="609600" y="1498600"/>
            <a:ext cx="914400" cy="584200"/>
          </a:xfrm>
          <a:prstGeom prst="round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it-IT" sz="2000" b="1" i="0" dirty="0">
                <a:solidFill>
                  <a:srgbClr val="231C21"/>
                </a:solidFill>
              </a:rPr>
              <a:t>0</a:t>
            </a:r>
          </a:p>
        </p:txBody>
      </p:sp>
      <p:sp>
        <p:nvSpPr>
          <p:cNvPr id="21" name="Voce 0"/>
          <p:cNvSpPr/>
          <p:nvPr/>
        </p:nvSpPr>
        <p:spPr>
          <a:xfrm>
            <a:off x="1727200" y="1498600"/>
            <a:ext cx="5334000" cy="584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it-IT" sz="1600" b="1" i="0" dirty="0">
                <a:solidFill>
                  <a:srgbClr val="41002F"/>
                </a:solidFill>
              </a:rPr>
              <a:t>Nessun problema</a:t>
            </a:r>
          </a:p>
          <a:p>
            <a:pPr marL="0" indent="0" algn="l">
              <a:spcBef>
                <a:spcPts val="0"/>
              </a:spcBef>
              <a:buNone/>
            </a:pPr>
            <a:r>
              <a:rPr lang="it-IT" sz="1400" b="0" i="0" dirty="0">
                <a:solidFill>
                  <a:srgbClr val="4A4248"/>
                </a:solidFill>
              </a:rPr>
              <a:t>Nessuna azione richiesta; usato anche per gli aspetti positivi</a:t>
            </a:r>
          </a:p>
        </p:txBody>
      </p:sp>
      <p:sp>
        <p:nvSpPr>
          <p:cNvPr id="22" name="Badge 1"/>
          <p:cNvSpPr/>
          <p:nvPr/>
        </p:nvSpPr>
        <p:spPr>
          <a:xfrm>
            <a:off x="609600" y="2286000"/>
            <a:ext cx="914400" cy="584200"/>
          </a:xfrm>
          <a:prstGeom prst="roundRect">
            <a:avLst/>
          </a:prstGeom>
          <a:solidFill>
            <a:srgbClr val="E9DCE5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it-IT" sz="2000" b="1" i="0" dirty="0">
                <a:solidFill>
                  <a:srgbClr val="41002F"/>
                </a:solidFill>
              </a:rPr>
              <a:t>1</a:t>
            </a:r>
          </a:p>
        </p:txBody>
      </p:sp>
      <p:sp>
        <p:nvSpPr>
          <p:cNvPr id="23" name="Voce 1"/>
          <p:cNvSpPr/>
          <p:nvPr/>
        </p:nvSpPr>
        <p:spPr>
          <a:xfrm>
            <a:off x="1727200" y="2286000"/>
            <a:ext cx="5334000" cy="584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it-IT" sz="1600" b="1" i="0" dirty="0">
                <a:solidFill>
                  <a:srgbClr val="41002F"/>
                </a:solidFill>
              </a:rPr>
              <a:t>Superficiale</a:t>
            </a:r>
          </a:p>
          <a:p>
            <a:pPr marL="0" indent="0" algn="l">
              <a:spcBef>
                <a:spcPts val="0"/>
              </a:spcBef>
              <a:buNone/>
            </a:pPr>
            <a:r>
              <a:rPr lang="it-IT" sz="1400" b="0" i="0" dirty="0">
                <a:solidFill>
                  <a:srgbClr val="4A4248"/>
                </a:solidFill>
              </a:rPr>
              <a:t>Da correggere solo se resta tempo</a:t>
            </a:r>
          </a:p>
        </p:txBody>
      </p:sp>
      <p:sp>
        <p:nvSpPr>
          <p:cNvPr id="24" name="Badge 2"/>
          <p:cNvSpPr/>
          <p:nvPr/>
        </p:nvSpPr>
        <p:spPr>
          <a:xfrm>
            <a:off x="609600" y="3073400"/>
            <a:ext cx="914400" cy="584200"/>
          </a:xfrm>
          <a:prstGeom prst="roundRect">
            <a:avLst/>
          </a:prstGeom>
          <a:solidFill>
            <a:srgbClr val="C7A2BB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it-IT" sz="2000" b="1" i="0" dirty="0">
                <a:solidFill>
                  <a:srgbClr val="41002F"/>
                </a:solidFill>
              </a:rPr>
              <a:t>2</a:t>
            </a:r>
          </a:p>
        </p:txBody>
      </p:sp>
      <p:sp>
        <p:nvSpPr>
          <p:cNvPr id="25" name="Voce 2"/>
          <p:cNvSpPr/>
          <p:nvPr/>
        </p:nvSpPr>
        <p:spPr>
          <a:xfrm>
            <a:off x="1727200" y="3073400"/>
            <a:ext cx="5334000" cy="584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it-IT" sz="1600" b="1" i="0" dirty="0">
                <a:solidFill>
                  <a:srgbClr val="41002F"/>
                </a:solidFill>
              </a:rPr>
              <a:t>Minore</a:t>
            </a:r>
          </a:p>
          <a:p>
            <a:pPr marL="0" indent="0" algn="l">
              <a:spcBef>
                <a:spcPts val="0"/>
              </a:spcBef>
              <a:buNone/>
            </a:pPr>
            <a:r>
              <a:rPr lang="it-IT" sz="1400" b="0" i="0" dirty="0">
                <a:solidFill>
                  <a:srgbClr val="4A4248"/>
                </a:solidFill>
              </a:rPr>
              <a:t>Correzione a bassa priorità</a:t>
            </a:r>
          </a:p>
        </p:txBody>
      </p:sp>
      <p:sp>
        <p:nvSpPr>
          <p:cNvPr id="26" name="Badge 3"/>
          <p:cNvSpPr/>
          <p:nvPr/>
        </p:nvSpPr>
        <p:spPr>
          <a:xfrm>
            <a:off x="609600" y="3860800"/>
            <a:ext cx="914400" cy="584200"/>
          </a:xfrm>
          <a:prstGeom prst="roundRect">
            <a:avLst/>
          </a:prstGeom>
          <a:solidFill>
            <a:srgbClr val="8E2F72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it-IT" sz="2000" b="1" i="0" dirty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7" name="Voce 3"/>
          <p:cNvSpPr/>
          <p:nvPr/>
        </p:nvSpPr>
        <p:spPr>
          <a:xfrm>
            <a:off x="1727200" y="3860800"/>
            <a:ext cx="5334000" cy="584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it-IT" sz="1600" b="1" i="0" dirty="0">
                <a:solidFill>
                  <a:srgbClr val="41002F"/>
                </a:solidFill>
              </a:rPr>
              <a:t>Importante</a:t>
            </a:r>
          </a:p>
          <a:p>
            <a:pPr marL="0" indent="0" algn="l">
              <a:spcBef>
                <a:spcPts val="0"/>
              </a:spcBef>
              <a:buNone/>
            </a:pPr>
            <a:r>
              <a:rPr lang="it-IT" sz="1400" b="0" i="0" dirty="0">
                <a:solidFill>
                  <a:srgbClr val="4A4248"/>
                </a:solidFill>
              </a:rPr>
              <a:t>Correzione ad alta priorità</a:t>
            </a:r>
          </a:p>
        </p:txBody>
      </p:sp>
      <p:sp>
        <p:nvSpPr>
          <p:cNvPr id="28" name="Badge 4"/>
          <p:cNvSpPr/>
          <p:nvPr/>
        </p:nvSpPr>
        <p:spPr>
          <a:xfrm>
            <a:off x="609600" y="4648200"/>
            <a:ext cx="914400" cy="584200"/>
          </a:xfrm>
          <a:prstGeom prst="roundRect">
            <a:avLst/>
          </a:prstGeom>
          <a:solidFill>
            <a:srgbClr val="41002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it-IT" sz="2000" b="1" i="0" dirty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9" name="Voce 4"/>
          <p:cNvSpPr/>
          <p:nvPr/>
        </p:nvSpPr>
        <p:spPr>
          <a:xfrm>
            <a:off x="1727200" y="4648200"/>
            <a:ext cx="5334000" cy="584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it-IT" sz="1600" b="1" i="0" dirty="0">
                <a:solidFill>
                  <a:srgbClr val="41002F"/>
                </a:solidFill>
              </a:rPr>
              <a:t>Grave</a:t>
            </a:r>
          </a:p>
          <a:p>
            <a:pPr marL="0" indent="0" algn="l">
              <a:spcBef>
                <a:spcPts val="0"/>
              </a:spcBef>
              <a:buNone/>
            </a:pPr>
            <a:r>
              <a:rPr lang="it-IT" sz="1400" b="0" i="0" dirty="0">
                <a:solidFill>
                  <a:srgbClr val="4A4248"/>
                </a:solidFill>
              </a:rPr>
              <a:t>Da correggere prima di qualsiasi altro intervento</a:t>
            </a:r>
          </a:p>
        </p:txBody>
      </p:sp>
      <p:sp>
        <p:nvSpPr>
          <p:cNvPr id="30" name="Badge N/A"/>
          <p:cNvSpPr/>
          <p:nvPr/>
        </p:nvSpPr>
        <p:spPr>
          <a:xfrm>
            <a:off x="609600" y="5435600"/>
            <a:ext cx="914400" cy="5842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07A9F"/>
            </a:solidFill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it-IT" sz="2000" b="1" i="0" dirty="0">
                <a:solidFill>
                  <a:srgbClr val="6B6168"/>
                </a:solidFill>
              </a:rPr>
              <a:t>N/A</a:t>
            </a:r>
          </a:p>
        </p:txBody>
      </p:sp>
      <p:sp>
        <p:nvSpPr>
          <p:cNvPr id="31" name="Voce N/A"/>
          <p:cNvSpPr/>
          <p:nvPr/>
        </p:nvSpPr>
        <p:spPr>
          <a:xfrm>
            <a:off x="1727200" y="5435600"/>
            <a:ext cx="5334000" cy="584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it-IT" sz="1600" b="1" i="0" dirty="0">
                <a:solidFill>
                  <a:srgbClr val="41002F"/>
                </a:solidFill>
              </a:rPr>
              <a:t>Non applicabile</a:t>
            </a:r>
          </a:p>
          <a:p>
            <a:pPr marL="0" indent="0" algn="l">
              <a:spcBef>
                <a:spcPts val="0"/>
              </a:spcBef>
              <a:buNone/>
            </a:pPr>
            <a:r>
              <a:rPr lang="it-IT" sz="1400" b="0" i="0" dirty="0">
                <a:solidFill>
                  <a:srgbClr val="4A4248"/>
                </a:solidFill>
              </a:rPr>
              <a:t>Linea guida che non riguarda questo sito</a:t>
            </a:r>
          </a:p>
        </p:txBody>
      </p:sp>
      <p:sp>
        <p:nvSpPr>
          <p:cNvPr id="32" name="Criteri"/>
          <p:cNvSpPr/>
          <p:nvPr/>
        </p:nvSpPr>
        <p:spPr>
          <a:xfrm>
            <a:off x="7620000" y="1498600"/>
            <a:ext cx="3962400" cy="2946400"/>
          </a:xfrm>
          <a:prstGeom prst="rect">
            <a:avLst/>
          </a:prstGeom>
          <a:solidFill>
            <a:srgbClr val="F3EEF1"/>
          </a:solidFill>
          <a:ln>
            <a:noFill/>
          </a:ln>
        </p:spPr>
        <p:txBody>
          <a:bodyPr wrap="square" lIns="203200" tIns="203200" rIns="203200" bIns="20320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it-IT" sz="1600" b="1" i="0" dirty="0">
                <a:solidFill>
                  <a:srgbClr val="41002F"/>
                </a:solidFill>
              </a:rPr>
              <a:t>Come assegniamo la gravità</a:t>
            </a:r>
          </a:p>
          <a:p>
            <a:pPr marL="0" indent="0" algn="l">
              <a:spcBef>
                <a:spcPts val="800"/>
              </a:spcBef>
              <a:buNone/>
            </a:pPr>
            <a:r>
              <a:rPr lang="it-IT" sz="1400" b="0" i="0" dirty="0">
                <a:solidFill>
                  <a:srgbClr val="231C21"/>
                </a:solidFill>
              </a:rPr>
              <a:t>Ogni problema combina i tre fattori di Nielsen:</a:t>
            </a:r>
          </a:p>
          <a:p>
            <a:pPr marL="0" indent="0" algn="l">
              <a:spcBef>
                <a:spcPts val="600"/>
              </a:spcBef>
              <a:buNone/>
            </a:pPr>
            <a:r>
              <a:rPr lang="it-IT" sz="1400" b="1" i="0" dirty="0">
                <a:solidFill>
                  <a:srgbClr val="231C21"/>
                </a:solidFill>
              </a:rPr>
              <a:t>Frequenza</a:t>
            </a:r>
            <a:r>
              <a:rPr lang="it-IT" sz="1400" b="0" i="0" dirty="0">
                <a:solidFill>
                  <a:srgbClr val="231C21"/>
                </a:solidFill>
              </a:rPr>
              <a:t>: quanto spesso si presenta</a:t>
            </a:r>
          </a:p>
          <a:p>
            <a:pPr marL="0" indent="0" algn="l">
              <a:spcBef>
                <a:spcPts val="400"/>
              </a:spcBef>
              <a:buNone/>
            </a:pPr>
            <a:r>
              <a:rPr lang="it-IT" sz="1400" b="1" i="0" dirty="0">
                <a:solidFill>
                  <a:srgbClr val="231C21"/>
                </a:solidFill>
              </a:rPr>
              <a:t>Impatto</a:t>
            </a:r>
            <a:r>
              <a:rPr lang="it-IT" sz="1400" b="0" i="0" dirty="0">
                <a:solidFill>
                  <a:srgbClr val="231C21"/>
                </a:solidFill>
              </a:rPr>
              <a:t>: quanto ostacola il task</a:t>
            </a:r>
          </a:p>
          <a:p>
            <a:pPr marL="0" indent="0" algn="l">
              <a:spcBef>
                <a:spcPts val="400"/>
              </a:spcBef>
              <a:buNone/>
            </a:pPr>
            <a:r>
              <a:rPr lang="it-IT" sz="1400" b="1" i="0" dirty="0">
                <a:solidFill>
                  <a:srgbClr val="231C21"/>
                </a:solidFill>
              </a:rPr>
              <a:t>Persistenza</a:t>
            </a:r>
            <a:r>
              <a:rPr lang="it-IT" sz="1400" b="0" i="0" dirty="0">
                <a:solidFill>
                  <a:srgbClr val="231C21"/>
                </a:solidFill>
              </a:rPr>
              <a:t>: se pesa anche dopo la prima volta</a:t>
            </a:r>
          </a:p>
          <a:p>
            <a:pPr marL="0" indent="0" algn="l">
              <a:spcBef>
                <a:spcPts val="800"/>
              </a:spcBef>
              <a:buNone/>
            </a:pPr>
            <a:r>
              <a:rPr lang="it-IT" sz="1400" b="0" i="0" dirty="0">
                <a:solidFill>
                  <a:srgbClr val="231C21"/>
                </a:solidFill>
              </a:rPr>
              <a:t>Ogni slide riporta il motivo del valore scelto.</a:t>
            </a:r>
          </a:p>
        </p:txBody>
      </p:sp>
    </p:spTree>
    <p:extLst>
      <p:ext uri="{BB962C8B-B14F-4D97-AF65-F5344CB8AC3E}">
        <p14:creationId xmlns:p14="http://schemas.microsoft.com/office/powerpoint/2010/main" val="7438688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BD44B31-D55B-7689-5801-6A0842FC4C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342900"/>
            <a:ext cx="10972800" cy="1016000"/>
          </a:xfrm>
        </p:spPr>
        <p:txBody>
          <a:bodyPr/>
          <a:lstStyle/>
          <a:p>
            <a:r>
              <a:rPr lang="it-IT"/>
              <a:t>Utenti target e task: 8 task su due tipi di utente</a:t>
            </a:r>
          </a:p>
        </p:txBody>
      </p:sp>
      <p:graphicFrame>
        <p:nvGraphicFramePr>
          <p:cNvPr id="4" name="Tabella 3">
            <a:extLst>
              <a:ext uri="{FF2B5EF4-FFF2-40B4-BE49-F238E27FC236}">
                <a16:creationId xmlns:a16="http://schemas.microsoft.com/office/drawing/2014/main" id="{D326B967-1E08-864C-AC52-C27DDA462DC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0188638"/>
              </p:ext>
            </p:extLst>
          </p:nvPr>
        </p:nvGraphicFramePr>
        <p:xfrm>
          <a:off x="609600" y="1422400"/>
          <a:ext cx="10972800" cy="3972560"/>
        </p:xfrm>
        <a:graphic>
          <a:graphicData uri="http://schemas.openxmlformats.org/drawingml/2006/table">
            <a:tbl>
              <a:tblPr/>
              <a:tblGrid>
                <a:gridCol w="3683000">
                  <a:extLst>
                    <a:ext uri="{9D8B030D-6E8A-4147-A177-3AD203B41FA5}">
                      <a16:colId xmlns:a16="http://schemas.microsoft.com/office/drawing/2014/main" val="3921852078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1016781334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297299232"/>
                    </a:ext>
                  </a:extLst>
                </a:gridCol>
              </a:tblGrid>
              <a:tr h="431800">
                <a:tc>
                  <a:txBody>
                    <a:bodyPr/>
                    <a:lstStyle/>
                    <a:p>
                      <a:r>
                        <a:rPr lang="it-IT" sz="1400" b="1">
                          <a:solidFill>
                            <a:srgbClr val="6C0850"/>
                          </a:solidFill>
                        </a:rPr>
                        <a:t>Task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875">
                      <a:solidFill>
                        <a:srgbClr val="6C085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it-IT" sz="1400" b="1">
                          <a:solidFill>
                            <a:srgbClr val="6C0850"/>
                          </a:solidFill>
                        </a:rPr>
                        <a:t>Pagine analizzate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875">
                      <a:solidFill>
                        <a:srgbClr val="6C085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it-IT" sz="1400" b="1">
                          <a:solidFill>
                            <a:srgbClr val="6C0850"/>
                          </a:solidFill>
                        </a:rPr>
                        <a:t>Utente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875">
                      <a:solidFill>
                        <a:srgbClr val="6C085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5106740"/>
                  </a:ext>
                </a:extLst>
              </a:tr>
              <a:tr h="431800">
                <a:tc>
                  <a:txBody>
                    <a:bodyPr/>
                    <a:lstStyle/>
                    <a:p>
                      <a:r>
                        <a:rPr lang="it-IT" sz="1400" b="1">
                          <a:solidFill>
                            <a:srgbClr val="231C21"/>
                          </a:solidFill>
                        </a:rPr>
                        <a:t>T1 Capire Funds TOgether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15875" cap="flat" cmpd="sng" algn="ctr">
                      <a:solidFill>
                        <a:srgbClr val="6C08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0D6D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it-IT" sz="1400" b="0" dirty="0">
                          <a:solidFill>
                            <a:srgbClr val="231C21"/>
                          </a:solidFill>
                        </a:rPr>
                        <a:t>Partner </a:t>
                      </a:r>
                      <a:r>
                        <a:rPr lang="it-IT" sz="1400" b="0" dirty="0" err="1">
                          <a:solidFill>
                            <a:srgbClr val="231C21"/>
                          </a:solidFill>
                        </a:rPr>
                        <a:t>UniTo</a:t>
                      </a:r>
                      <a:r>
                        <a:rPr lang="it-IT" sz="1400" b="0" dirty="0">
                          <a:solidFill>
                            <a:srgbClr val="231C21"/>
                          </a:solidFill>
                        </a:rPr>
                        <a:t> › Partnership e Progetti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15875" cap="flat" cmpd="sng" algn="ctr">
                      <a:solidFill>
                        <a:srgbClr val="6C08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0D6D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it-IT" sz="1400" b="0">
                          <a:solidFill>
                            <a:srgbClr val="231C21"/>
                          </a:solidFill>
                        </a:rPr>
                        <a:t>Cittadino, ricercatore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15875" cap="flat" cmpd="sng" algn="ctr">
                      <a:solidFill>
                        <a:srgbClr val="6C08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0D6DC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15415833"/>
                  </a:ext>
                </a:extLst>
              </a:tr>
              <a:tr h="431800">
                <a:tc>
                  <a:txBody>
                    <a:bodyPr/>
                    <a:lstStyle/>
                    <a:p>
                      <a:r>
                        <a:rPr lang="it-IT" sz="1400" b="1">
                          <a:solidFill>
                            <a:srgbClr val="231C21"/>
                          </a:solidFill>
                        </a:rPr>
                        <a:t>T2 Trovare e scegliere un progetto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0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0D6D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it-IT" sz="1400" b="0" dirty="0">
                          <a:solidFill>
                            <a:srgbClr val="231C21"/>
                          </a:solidFill>
                        </a:rPr>
                        <a:t>Partner </a:t>
                      </a:r>
                      <a:r>
                        <a:rPr lang="it-IT" sz="1400" b="0" dirty="0" err="1">
                          <a:solidFill>
                            <a:srgbClr val="231C21"/>
                          </a:solidFill>
                        </a:rPr>
                        <a:t>UniTo</a:t>
                      </a:r>
                      <a:r>
                        <a:rPr lang="it-IT" sz="1400" b="0" dirty="0">
                          <a:solidFill>
                            <a:srgbClr val="231C21"/>
                          </a:solidFill>
                        </a:rPr>
                        <a:t> › Progetti e cerca Progetti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0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0D6D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it-IT" sz="1400" b="0">
                          <a:solidFill>
                            <a:srgbClr val="231C21"/>
                          </a:solidFill>
                        </a:rPr>
                        <a:t>Cittadino donatore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0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0D6DC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04766023"/>
                  </a:ext>
                </a:extLst>
              </a:tr>
              <a:tr h="431800">
                <a:tc>
                  <a:txBody>
                    <a:bodyPr/>
                    <a:lstStyle/>
                    <a:p>
                      <a:r>
                        <a:rPr lang="it-IT" sz="1400" b="1">
                          <a:solidFill>
                            <a:srgbClr val="231C21"/>
                          </a:solidFill>
                        </a:rPr>
                        <a:t>T3 Obiettivi, proponenti, uso dei fondi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0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0D6D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it-IT" sz="1400" b="0" dirty="0">
                          <a:solidFill>
                            <a:srgbClr val="231C21"/>
                          </a:solidFill>
                        </a:rPr>
                        <a:t>Progetti conclusi e attuali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0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0D6D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it-IT" sz="1400" b="0">
                          <a:solidFill>
                            <a:srgbClr val="231C21"/>
                          </a:solidFill>
                        </a:rPr>
                        <a:t>Cittadino donatore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0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0D6DC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4390395"/>
                  </a:ext>
                </a:extLst>
              </a:tr>
              <a:tr h="431800">
                <a:tc>
                  <a:txBody>
                    <a:bodyPr/>
                    <a:lstStyle/>
                    <a:p>
                      <a:r>
                        <a:rPr lang="it-IT" sz="1400" b="1">
                          <a:solidFill>
                            <a:srgbClr val="231C21"/>
                          </a:solidFill>
                        </a:rPr>
                        <a:t>T4 Stato della campagna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0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0D6D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it-IT" sz="1400" b="0" dirty="0">
                          <a:solidFill>
                            <a:srgbClr val="231C21"/>
                          </a:solidFill>
                        </a:rPr>
                        <a:t>Partner </a:t>
                      </a:r>
                      <a:r>
                        <a:rPr lang="it-IT" sz="1400" b="0" dirty="0" err="1">
                          <a:solidFill>
                            <a:srgbClr val="231C21"/>
                          </a:solidFill>
                        </a:rPr>
                        <a:t>UniTo</a:t>
                      </a:r>
                      <a:r>
                        <a:rPr lang="it-IT" sz="1400" b="0" dirty="0">
                          <a:solidFill>
                            <a:srgbClr val="231C21"/>
                          </a:solidFill>
                        </a:rPr>
                        <a:t> › Progetti e sezioni del progetto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0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0D6D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it-IT" sz="1400" b="0">
                          <a:solidFill>
                            <a:srgbClr val="231C21"/>
                          </a:solidFill>
                        </a:rPr>
                        <a:t>Cittadino donatore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0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0D6DC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09270644"/>
                  </a:ext>
                </a:extLst>
              </a:tr>
              <a:tr h="431800">
                <a:tc>
                  <a:txBody>
                    <a:bodyPr/>
                    <a:lstStyle/>
                    <a:p>
                      <a:r>
                        <a:rPr lang="it-IT" sz="1400" b="1">
                          <a:solidFill>
                            <a:srgbClr val="231C21"/>
                          </a:solidFill>
                        </a:rPr>
                        <a:t>T5 Sostenere un progetto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0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0D6D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it-IT" sz="1400" b="0" dirty="0">
                          <a:solidFill>
                            <a:srgbClr val="231C21"/>
                          </a:solidFill>
                        </a:rPr>
                        <a:t>Pagine progetto, Modulo di donazione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0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0D6D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it-IT" sz="1400" b="0">
                          <a:solidFill>
                            <a:srgbClr val="231C21"/>
                          </a:solidFill>
                        </a:rPr>
                        <a:t>Cittadino donatore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0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0D6DC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24882995"/>
                  </a:ext>
                </a:extLst>
              </a:tr>
              <a:tr h="431800">
                <a:tc>
                  <a:txBody>
                    <a:bodyPr/>
                    <a:lstStyle/>
                    <a:p>
                      <a:r>
                        <a:rPr lang="it-IT" sz="1400" b="1">
                          <a:solidFill>
                            <a:srgbClr val="231C21"/>
                          </a:solidFill>
                        </a:rPr>
                        <a:t>T6 Chiarimenti sul crowdfunding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0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0D6D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it-IT" sz="1400" b="0" dirty="0">
                          <a:solidFill>
                            <a:srgbClr val="231C21"/>
                          </a:solidFill>
                        </a:rPr>
                        <a:t>«Come funziona», FAQ, pagine progetto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0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0D6D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it-IT" sz="1400" b="0">
                          <a:solidFill>
                            <a:srgbClr val="231C21"/>
                          </a:solidFill>
                        </a:rPr>
                        <a:t>Cittadino donatore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0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0D6DC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32129328"/>
                  </a:ext>
                </a:extLst>
              </a:tr>
              <a:tr h="431800">
                <a:tc>
                  <a:txBody>
                    <a:bodyPr/>
                    <a:lstStyle/>
                    <a:p>
                      <a:r>
                        <a:rPr lang="it-IT" sz="1400" b="1">
                          <a:solidFill>
                            <a:srgbClr val="231C21"/>
                          </a:solidFill>
                        </a:rPr>
                        <a:t>T7 Candidare un progetto di ricerca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0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0D6D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it-IT" sz="1400" b="0" dirty="0">
                          <a:solidFill>
                            <a:srgbClr val="231C21"/>
                          </a:solidFill>
                        </a:rPr>
                        <a:t>Partner </a:t>
                      </a:r>
                      <a:r>
                        <a:rPr lang="it-IT" sz="1400" b="0" dirty="0" err="1">
                          <a:solidFill>
                            <a:srgbClr val="231C21"/>
                          </a:solidFill>
                        </a:rPr>
                        <a:t>UniTo</a:t>
                      </a:r>
                      <a:r>
                        <a:rPr lang="it-IT" sz="1400" b="0" dirty="0">
                          <a:solidFill>
                            <a:srgbClr val="231C21"/>
                          </a:solidFill>
                        </a:rPr>
                        <a:t> › Partnership, «Lancia una campagna», «Come funziona»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0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0D6D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it-IT" sz="1400" b="0">
                          <a:solidFill>
                            <a:srgbClr val="231C21"/>
                          </a:solidFill>
                        </a:rPr>
                        <a:t>Ricercatore UniTo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0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0D6DC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80711360"/>
                  </a:ext>
                </a:extLst>
              </a:tr>
              <a:tr h="431800">
                <a:tc>
                  <a:txBody>
                    <a:bodyPr/>
                    <a:lstStyle/>
                    <a:p>
                      <a:r>
                        <a:rPr lang="it-IT" sz="1400" b="1">
                          <a:solidFill>
                            <a:srgbClr val="231C21"/>
                          </a:solidFill>
                        </a:rPr>
                        <a:t>T8 Recupero da indirizzo errato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0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0D6D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it-IT" sz="1400" b="0" dirty="0">
                          <a:solidFill>
                            <a:srgbClr val="231C21"/>
                          </a:solidFill>
                        </a:rPr>
                        <a:t>Pagina 404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0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0D6D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it-IT" sz="1400" b="0" dirty="0">
                          <a:solidFill>
                            <a:srgbClr val="231C21"/>
                          </a:solidFill>
                        </a:rPr>
                        <a:t>Tutti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0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0D6DC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1293902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327398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D0C2EE6-F7DE-9225-9952-407B42DBE4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Fase 1 · Euristiche di Nielsen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2626B4CF-2A45-4090-DB2A-FA6B598903F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/>
              <a:t>Pagina partner UniTo (Partnership e Progetti) e progetto Mind the Climate
[ Da aggiungere: pagine progetto, donazione, ricerca, 404, FAQ ]</a:t>
            </a:r>
          </a:p>
        </p:txBody>
      </p:sp>
    </p:spTree>
    <p:extLst>
      <p:ext uri="{BB962C8B-B14F-4D97-AF65-F5344CB8AC3E}">
        <p14:creationId xmlns:p14="http://schemas.microsoft.com/office/powerpoint/2010/main" val="37990026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033AC09-AAE2-817A-CC3A-4CE534F9ED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342900"/>
            <a:ext cx="10972800" cy="1016000"/>
          </a:xfrm>
        </p:spPr>
        <p:txBody>
          <a:bodyPr/>
          <a:lstStyle/>
          <a:p>
            <a:r>
              <a:rPr lang="it-IT" dirty="0"/>
              <a:t>La pagina partner UniTo ha due schede: Partnership descrive l’iniziativa, Progetti elenca le campagne</a:t>
            </a:r>
          </a:p>
        </p:txBody>
      </p:sp>
      <p:sp>
        <p:nvSpPr>
          <p:cNvPr id="10" name="Scheda Partnership"/>
          <p:cNvSpPr/>
          <p:nvPr/>
        </p:nvSpPr>
        <p:spPr>
          <a:xfrm>
            <a:off x="609600" y="1727200"/>
            <a:ext cx="3048000" cy="1397000"/>
          </a:xfrm>
          <a:prstGeom prst="roundRect">
            <a:avLst/>
          </a:prstGeom>
          <a:solidFill>
            <a:srgbClr val="6C0850"/>
          </a:solidFill>
          <a:ln>
            <a:noFill/>
          </a:ln>
        </p:spPr>
        <p:txBody>
          <a:bodyPr wrap="square" lIns="177800" tIns="177800" rIns="177800" bIns="177800" anchor="ctr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it-IT" sz="1100" b="1" dirty="0">
                <a:solidFill>
                  <a:srgbClr val="E9DCE5"/>
                </a:solidFill>
              </a:rPr>
              <a:t>SCHEDA 1 · HOMEPAGE</a:t>
            </a:r>
          </a:p>
          <a:p>
            <a:pPr marL="0" indent="0" algn="l">
              <a:spcBef>
                <a:spcPts val="200"/>
              </a:spcBef>
              <a:buNone/>
            </a:pPr>
            <a:r>
              <a:rPr lang="it-IT" sz="2000" b="1" dirty="0">
                <a:solidFill>
                  <a:srgbClr val="FFFFFF"/>
                </a:solidFill>
              </a:rPr>
              <a:t>Partnership</a:t>
            </a:r>
          </a:p>
          <a:p>
            <a:pPr marL="0" indent="0" algn="l">
              <a:spcBef>
                <a:spcPts val="200"/>
              </a:spcBef>
              <a:buNone/>
            </a:pPr>
            <a:r>
              <a:rPr lang="it-IT" sz="1400" b="0" dirty="0">
                <a:solidFill>
                  <a:srgbClr val="FFFFFF"/>
                </a:solidFill>
              </a:rPr>
              <a:t>Che cos’è l’iniziativa e le 4 fasi</a:t>
            </a:r>
          </a:p>
        </p:txBody>
      </p:sp>
      <p:cxnSp>
        <p:nvCxnSpPr>
          <p:cNvPr id="11" name="Freccia"/>
          <p:cNvCxnSpPr/>
          <p:nvPr/>
        </p:nvCxnSpPr>
        <p:spPr>
          <a:xfrm>
            <a:off x="3759200" y="2425700"/>
            <a:ext cx="4673600" cy="0"/>
          </a:xfrm>
          <a:prstGeom prst="straightConnector1">
            <a:avLst/>
          </a:prstGeom>
          <a:ln w="22225">
            <a:solidFill>
              <a:srgbClr val="6C0850"/>
            </a:solidFill>
            <a:tailEnd type="triangle" w="med" len="med"/>
          </a:ln>
        </p:spPr>
      </p:cxnSp>
      <p:sp>
        <p:nvSpPr>
          <p:cNvPr id="12" name="Titolo modi"/>
          <p:cNvSpPr/>
          <p:nvPr/>
        </p:nvSpPr>
        <p:spPr>
          <a:xfrm>
            <a:off x="3860800" y="1727200"/>
            <a:ext cx="4470400" cy="635000"/>
          </a:xfrm>
          <a:prstGeom prst="rect">
            <a:avLst/>
          </a:prstGeom>
          <a:noFill/>
          <a:ln>
            <a:noFill/>
          </a:ln>
        </p:spPr>
        <p:txBody>
          <a:bodyPr wrap="square" lIns="50800" tIns="50800" rIns="50800" bIns="50800" anchor="b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it-IT" sz="1400" b="1" dirty="0">
                <a:solidFill>
                  <a:srgbClr val="6C0850"/>
                </a:solidFill>
              </a:rPr>
              <a:t>Tre modi per arrivarci</a:t>
            </a:r>
          </a:p>
        </p:txBody>
      </p:sp>
      <p:sp>
        <p:nvSpPr>
          <p:cNvPr id="13" name="Modi per passare"/>
          <p:cNvSpPr/>
          <p:nvPr/>
        </p:nvSpPr>
        <p:spPr>
          <a:xfrm>
            <a:off x="3860800" y="2514600"/>
            <a:ext cx="44704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it-IT" sz="1200" b="0" dirty="0">
                <a:solidFill>
                  <a:srgbClr val="231C21"/>
                </a:solidFill>
              </a:rPr>
              <a:t>Scheda «Progetti» nel banner · menu «Partner»</a:t>
            </a:r>
          </a:p>
          <a:p>
            <a:pPr marL="0" indent="0" algn="ctr">
              <a:spcBef>
                <a:spcPts val="200"/>
              </a:spcBef>
              <a:buNone/>
            </a:pPr>
            <a:r>
              <a:rPr lang="it-IT" sz="1200" b="0" dirty="0">
                <a:solidFill>
                  <a:srgbClr val="231C21"/>
                </a:solidFill>
              </a:rPr>
              <a:t>Pulsante «Scopri tutti i progetti!» (nuova scheda, P07)</a:t>
            </a:r>
          </a:p>
        </p:txBody>
      </p:sp>
      <p:sp>
        <p:nvSpPr>
          <p:cNvPr id="14" name="Scheda Progetti"/>
          <p:cNvSpPr/>
          <p:nvPr/>
        </p:nvSpPr>
        <p:spPr>
          <a:xfrm>
            <a:off x="8534400" y="1727200"/>
            <a:ext cx="3048000" cy="1397000"/>
          </a:xfrm>
          <a:prstGeom prst="roundRect">
            <a:avLst/>
          </a:prstGeom>
          <a:solidFill>
            <a:srgbClr val="F3EEF1"/>
          </a:solidFill>
          <a:ln w="15875">
            <a:solidFill>
              <a:srgbClr val="6C0850"/>
            </a:solidFill>
          </a:ln>
        </p:spPr>
        <p:txBody>
          <a:bodyPr wrap="square" lIns="177800" tIns="177800" rIns="177800" bIns="177800" anchor="ctr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it-IT" sz="1100" b="1" dirty="0">
                <a:solidFill>
                  <a:srgbClr val="6C0850"/>
                </a:solidFill>
              </a:rPr>
              <a:t>SCHEDA 2</a:t>
            </a:r>
          </a:p>
          <a:p>
            <a:pPr marL="0" indent="0" algn="l">
              <a:spcBef>
                <a:spcPts val="200"/>
              </a:spcBef>
              <a:buNone/>
            </a:pPr>
            <a:r>
              <a:rPr lang="it-IT" sz="2000" b="1" dirty="0">
                <a:solidFill>
                  <a:srgbClr val="41002F"/>
                </a:solidFill>
              </a:rPr>
              <a:t>Progetti</a:t>
            </a:r>
          </a:p>
          <a:p>
            <a:pPr marL="0" indent="0" algn="l">
              <a:spcBef>
                <a:spcPts val="200"/>
              </a:spcBef>
              <a:buNone/>
            </a:pPr>
            <a:r>
              <a:rPr lang="it-IT" sz="1400" b="0" dirty="0">
                <a:solidFill>
                  <a:srgbClr val="231C21"/>
                </a:solidFill>
              </a:rPr>
              <a:t>18 campagne: in corso e concluse</a:t>
            </a:r>
          </a:p>
        </p:txBody>
      </p:sp>
      <p:sp>
        <p:nvSpPr>
          <p:cNvPr id="15" name="Struttura pagina Progetti"/>
          <p:cNvSpPr/>
          <p:nvPr/>
        </p:nvSpPr>
        <p:spPr>
          <a:xfrm>
            <a:off x="609600" y="3454400"/>
            <a:ext cx="5130800" cy="269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it-IT" sz="1400" b="1" dirty="0">
                <a:solidFill>
                  <a:srgbClr val="6C0850"/>
                </a:solidFill>
              </a:rPr>
              <a:t>Cosa contiene la scheda Progetti, dall’alto</a:t>
            </a:r>
          </a:p>
          <a:p>
            <a:pPr marL="228600" indent="-228600" algn="l">
              <a:spcBef>
                <a:spcPts val="600"/>
              </a:spcBef>
              <a:buClr>
                <a:srgbClr val="6C0850"/>
              </a:buClr>
              <a:buFont typeface="+mj-lt"/>
              <a:buAutoNum type="arabicPeriod"/>
            </a:pPr>
            <a:r>
              <a:rPr lang="it-IT" sz="1400" b="0" dirty="0">
                <a:solidFill>
                  <a:srgbClr val="231C21"/>
                </a:solidFill>
              </a:rPr>
              <a:t>Banner UniTo con le schede </a:t>
            </a:r>
            <a:r>
              <a:rPr lang="it-IT" sz="1400" b="1" dirty="0">
                <a:solidFill>
                  <a:srgbClr val="231C21"/>
                </a:solidFill>
              </a:rPr>
              <a:t>Partnership</a:t>
            </a:r>
            <a:r>
              <a:rPr lang="it-IT" sz="1400" b="0" dirty="0">
                <a:solidFill>
                  <a:srgbClr val="231C21"/>
                </a:solidFill>
              </a:rPr>
              <a:t> e </a:t>
            </a:r>
            <a:r>
              <a:rPr lang="it-IT" sz="1400" b="1" dirty="0">
                <a:solidFill>
                  <a:srgbClr val="231C21"/>
                </a:solidFill>
              </a:rPr>
              <a:t>Progetti</a:t>
            </a:r>
          </a:p>
          <a:p>
            <a:pPr marL="228600" indent="-228600" algn="l">
              <a:spcBef>
                <a:spcPts val="300"/>
              </a:spcBef>
              <a:buClr>
                <a:srgbClr val="6C0850"/>
              </a:buClr>
              <a:buFont typeface="+mj-lt"/>
              <a:buAutoNum type="arabicPeriod"/>
            </a:pPr>
            <a:r>
              <a:rPr lang="it-IT" sz="1400" b="0" dirty="0">
                <a:solidFill>
                  <a:srgbClr val="231C21"/>
                </a:solidFill>
              </a:rPr>
              <a:t>Titolo «Università di Torino» e </a:t>
            </a:r>
            <a:r>
              <a:rPr lang="it-IT" sz="1400" b="1" dirty="0">
                <a:solidFill>
                  <a:srgbClr val="231C21"/>
                </a:solidFill>
              </a:rPr>
              <a:t>5 contatori</a:t>
            </a:r>
          </a:p>
          <a:p>
            <a:pPr marL="228600" indent="-228600" algn="l">
              <a:spcBef>
                <a:spcPts val="300"/>
              </a:spcBef>
              <a:buClr>
                <a:srgbClr val="6C0850"/>
              </a:buClr>
              <a:buFont typeface="+mj-lt"/>
              <a:buAutoNum type="arabicPeriod"/>
            </a:pPr>
            <a:r>
              <a:rPr lang="it-IT" sz="1400" b="0" dirty="0">
                <a:solidFill>
                  <a:srgbClr val="231C21"/>
                </a:solidFill>
              </a:rPr>
              <a:t>Progetti </a:t>
            </a:r>
            <a:r>
              <a:rPr lang="it-IT" sz="1400" b="1" dirty="0">
                <a:solidFill>
                  <a:srgbClr val="231C21"/>
                </a:solidFill>
              </a:rPr>
              <a:t>in corso</a:t>
            </a:r>
            <a:r>
              <a:rPr lang="it-IT" sz="1400" b="0" dirty="0">
                <a:solidFill>
                  <a:srgbClr val="231C21"/>
                </a:solidFill>
              </a:rPr>
              <a:t> (5 card) e </a:t>
            </a:r>
            <a:r>
              <a:rPr lang="it-IT" sz="1400" b="1" dirty="0">
                <a:solidFill>
                  <a:srgbClr val="231C21"/>
                </a:solidFill>
              </a:rPr>
              <a:t>conclusi</a:t>
            </a:r>
            <a:r>
              <a:rPr lang="it-IT" sz="1400" b="0" dirty="0">
                <a:solidFill>
                  <a:srgbClr val="231C21"/>
                </a:solidFill>
              </a:rPr>
              <a:t> (4 card + «ALTRI»)</a:t>
            </a:r>
          </a:p>
          <a:p>
            <a:pPr marL="228600" indent="-228600" algn="l">
              <a:spcBef>
                <a:spcPts val="300"/>
              </a:spcBef>
              <a:buClr>
                <a:srgbClr val="6C0850"/>
              </a:buClr>
              <a:buFont typeface="+mj-lt"/>
              <a:buAutoNum type="arabicPeriod"/>
            </a:pPr>
            <a:r>
              <a:rPr lang="it-IT" sz="1400" b="0" dirty="0">
                <a:solidFill>
                  <a:srgbClr val="231C21"/>
                </a:solidFill>
              </a:rPr>
              <a:t>Card: %, raccolto, donatori, giorni, titolo, autore</a:t>
            </a:r>
          </a:p>
          <a:p>
            <a:pPr marL="228600" indent="-228600" algn="l">
              <a:spcBef>
                <a:spcPts val="300"/>
              </a:spcBef>
              <a:buClr>
                <a:srgbClr val="6C0850"/>
              </a:buClr>
              <a:buFont typeface="+mj-lt"/>
              <a:buAutoNum type="arabicPeriod"/>
            </a:pPr>
            <a:r>
              <a:rPr lang="it-IT" sz="1400" b="0" dirty="0">
                <a:solidFill>
                  <a:srgbClr val="231C21"/>
                </a:solidFill>
              </a:rPr>
              <a:t>Colonna laterale (categorie, SDG, partner) e footer</a:t>
            </a:r>
          </a:p>
          <a:p>
            <a:pPr marL="0" indent="0" algn="l">
              <a:spcBef>
                <a:spcPts val="700"/>
              </a:spcBef>
              <a:buNone/>
            </a:pPr>
            <a:r>
              <a:rPr lang="it-IT" sz="1100" b="0" dirty="0">
                <a:solidFill>
                  <a:srgbClr val="6B6168"/>
                </a:solidFill>
              </a:rPr>
              <a:t>/partner-progetti/universita-di-torino.html · analisi del 12/10/2026</a:t>
            </a:r>
          </a:p>
        </p:txBody>
      </p:sp>
      <p:sp>
        <p:nvSpPr>
          <p:cNvPr id="16" name="Segnaposto screenshot Progetti"/>
          <p:cNvSpPr/>
          <p:nvPr/>
        </p:nvSpPr>
        <p:spPr>
          <a:xfrm>
            <a:off x="6045200" y="3454400"/>
            <a:ext cx="5537200" cy="2692400"/>
          </a:xfrm>
          <a:prstGeom prst="rect">
            <a:avLst/>
          </a:prstGeom>
          <a:solidFill>
            <a:srgbClr val="F7F4F6"/>
          </a:solidFill>
          <a:ln w="15875">
            <a:solidFill>
              <a:srgbClr val="B07A9F"/>
            </a:solidFill>
            <a:prstDash val="dash"/>
          </a:ln>
        </p:spPr>
        <p:txBody>
          <a:bodyPr wrap="square" lIns="127000" tIns="127000" rIns="127000" bIns="12700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it-IT" sz="1200" b="1" dirty="0">
                <a:solidFill>
                  <a:srgbClr val="6C0850"/>
                </a:solidFill>
              </a:rPr>
              <a:t>[ SCREENSHOT DA FARE ]</a:t>
            </a:r>
          </a:p>
          <a:p>
            <a:pPr marL="0" indent="0" algn="ctr">
              <a:spcBef>
                <a:spcPts val="400"/>
              </a:spcBef>
              <a:buNone/>
            </a:pPr>
            <a:r>
              <a:rPr lang="it-IT" sz="1400" b="1" dirty="0">
                <a:solidFill>
                  <a:srgbClr val="231C21"/>
                </a:solidFill>
              </a:rPr>
              <a:t>Scheda Progetti, prima schermata</a:t>
            </a:r>
          </a:p>
          <a:p>
            <a:pPr marL="0" indent="0" algn="ctr">
              <a:spcBef>
                <a:spcPts val="300"/>
              </a:spcBef>
              <a:buNone/>
            </a:pPr>
            <a:r>
              <a:rPr lang="it-IT" sz="900" b="0" dirty="0">
                <a:solidFill>
                  <a:srgbClr val="6B6168"/>
                </a:solidFill>
              </a:rPr>
              <a:t>Salvare in /Users/andreock/Desktop/hci_gruppo_a/assignment1/parti/antofallea/src/</a:t>
            </a:r>
          </a:p>
        </p:txBody>
      </p:sp>
    </p:spTree>
    <p:extLst>
      <p:ext uri="{BB962C8B-B14F-4D97-AF65-F5344CB8AC3E}">
        <p14:creationId xmlns:p14="http://schemas.microsoft.com/office/powerpoint/2010/main" val="498570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5DE14CC-84FE-1656-6ED0-22A12DBD97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558800"/>
            <a:ext cx="8991600" cy="889000"/>
          </a:xfrm>
        </p:spPr>
        <p:txBody>
          <a:bodyPr anchor="t"/>
          <a:lstStyle/>
          <a:p>
            <a:pPr>
              <a:lnSpc>
                <a:spcPct val="90000"/>
              </a:lnSpc>
            </a:pPr>
            <a:r>
              <a:rPr lang="it-IT" sz="2600" b="1" dirty="0"/>
              <a:t>Struttura coerente e stato delle campagne leggibile in entrambe le schede</a:t>
            </a:r>
          </a:p>
        </p:txBody>
      </p:sp>
      <p:sp>
        <p:nvSpPr>
          <p:cNvPr id="10" name="Euristica"/>
          <p:cNvSpPr/>
          <p:nvPr/>
        </p:nvSpPr>
        <p:spPr>
          <a:xfrm>
            <a:off x="609600" y="254000"/>
            <a:ext cx="88900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it-IT" sz="1200" b="1" dirty="0">
                <a:solidFill>
                  <a:srgbClr val="6C0850"/>
                </a:solidFill>
              </a:rPr>
              <a:t>ASPETTI POSITIVI · PARTNERSHIP E PROGETTI</a:t>
            </a:r>
          </a:p>
        </p:txBody>
      </p:sp>
      <p:sp>
        <p:nvSpPr>
          <p:cNvPr id="11" name="Badge gravità"/>
          <p:cNvSpPr/>
          <p:nvPr/>
        </p:nvSpPr>
        <p:spPr>
          <a:xfrm>
            <a:off x="9855200" y="381000"/>
            <a:ext cx="1727200" cy="736600"/>
          </a:xfrm>
          <a:prstGeom prst="round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it-IT" sz="1000" b="1" dirty="0">
                <a:solidFill>
                  <a:srgbClr val="231C21"/>
                </a:solidFill>
              </a:rPr>
              <a:t>GRAVITÀ</a:t>
            </a:r>
          </a:p>
          <a:p>
            <a:pPr marL="0" indent="0" algn="ctr">
              <a:spcBef>
                <a:spcPts val="0"/>
              </a:spcBef>
              <a:buNone/>
            </a:pPr>
            <a:r>
              <a:rPr lang="it-IT" sz="1400" b="1" dirty="0">
                <a:solidFill>
                  <a:srgbClr val="231C21"/>
                </a:solidFill>
              </a:rPr>
              <a:t>0 · nessun problema</a:t>
            </a:r>
          </a:p>
        </p:txBody>
      </p:sp>
      <p:sp>
        <p:nvSpPr>
          <p:cNvPr id="12" name="Tag H1 48 0"/>
          <p:cNvSpPr/>
          <p:nvPr/>
        </p:nvSpPr>
        <p:spPr>
          <a:xfrm>
            <a:off x="609600" y="1651000"/>
            <a:ext cx="508000" cy="279400"/>
          </a:xfrm>
          <a:prstGeom prst="roundRect">
            <a:avLst/>
          </a:prstGeom>
          <a:solidFill>
            <a:srgbClr val="F3EEF1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it-IT" sz="1100" b="1" dirty="0">
                <a:solidFill>
                  <a:srgbClr val="6C0850"/>
                </a:solidFill>
              </a:rPr>
              <a:t>H1</a:t>
            </a:r>
          </a:p>
        </p:txBody>
      </p:sp>
      <p:sp>
        <p:nvSpPr>
          <p:cNvPr id="13" name="Positivo 48 0"/>
          <p:cNvSpPr/>
          <p:nvPr/>
        </p:nvSpPr>
        <p:spPr>
          <a:xfrm>
            <a:off x="1270000" y="1625600"/>
            <a:ext cx="4826000" cy="609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it-IT" sz="1400" b="0" dirty="0">
                <a:solidFill>
                  <a:srgbClr val="231C21"/>
                </a:solidFill>
              </a:rPr>
              <a:t>Le sezioni «in corso» e «conclusi» comunicano subito lo stato</a:t>
            </a:r>
          </a:p>
        </p:txBody>
      </p:sp>
      <p:sp>
        <p:nvSpPr>
          <p:cNvPr id="14" name="Tag H1 48 1"/>
          <p:cNvSpPr/>
          <p:nvPr/>
        </p:nvSpPr>
        <p:spPr>
          <a:xfrm>
            <a:off x="609600" y="2387600"/>
            <a:ext cx="508000" cy="279400"/>
          </a:xfrm>
          <a:prstGeom prst="roundRect">
            <a:avLst/>
          </a:prstGeom>
          <a:solidFill>
            <a:srgbClr val="F3EEF1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it-IT" sz="1100" b="1" dirty="0">
                <a:solidFill>
                  <a:srgbClr val="6C0850"/>
                </a:solidFill>
              </a:rPr>
              <a:t>H1</a:t>
            </a:r>
          </a:p>
        </p:txBody>
      </p:sp>
      <p:sp>
        <p:nvSpPr>
          <p:cNvPr id="15" name="Positivo 48 1"/>
          <p:cNvSpPr/>
          <p:nvPr/>
        </p:nvSpPr>
        <p:spPr>
          <a:xfrm>
            <a:off x="1270000" y="2362200"/>
            <a:ext cx="4826000" cy="609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it-IT" sz="1400" b="0" dirty="0">
                <a:solidFill>
                  <a:srgbClr val="231C21"/>
                </a:solidFill>
              </a:rPr>
              <a:t>Ogni card riassume la raccolta: %, importo su obiettivo, donatori</a:t>
            </a:r>
          </a:p>
        </p:txBody>
      </p:sp>
      <p:sp>
        <p:nvSpPr>
          <p:cNvPr id="16" name="Tag H1 48 2"/>
          <p:cNvSpPr/>
          <p:nvPr/>
        </p:nvSpPr>
        <p:spPr>
          <a:xfrm>
            <a:off x="609600" y="3124200"/>
            <a:ext cx="508000" cy="279400"/>
          </a:xfrm>
          <a:prstGeom prst="roundRect">
            <a:avLst/>
          </a:prstGeom>
          <a:solidFill>
            <a:srgbClr val="F3EEF1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it-IT" sz="1100" b="1" dirty="0">
                <a:solidFill>
                  <a:srgbClr val="6C0850"/>
                </a:solidFill>
              </a:rPr>
              <a:t>H1</a:t>
            </a:r>
          </a:p>
        </p:txBody>
      </p:sp>
      <p:sp>
        <p:nvSpPr>
          <p:cNvPr id="17" name="Positivo 48 2"/>
          <p:cNvSpPr/>
          <p:nvPr/>
        </p:nvSpPr>
        <p:spPr>
          <a:xfrm>
            <a:off x="1270000" y="3098800"/>
            <a:ext cx="4826000" cy="609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it-IT" sz="1400" b="0" dirty="0">
                <a:solidFill>
                  <a:srgbClr val="231C21"/>
                </a:solidFill>
              </a:rPr>
              <a:t>La scheda attiva (Partnership o Progetti) è evidenziata</a:t>
            </a:r>
          </a:p>
        </p:txBody>
      </p:sp>
      <p:sp>
        <p:nvSpPr>
          <p:cNvPr id="18" name="Tag H2 48 3"/>
          <p:cNvSpPr/>
          <p:nvPr/>
        </p:nvSpPr>
        <p:spPr>
          <a:xfrm>
            <a:off x="609600" y="3860800"/>
            <a:ext cx="508000" cy="279400"/>
          </a:xfrm>
          <a:prstGeom prst="roundRect">
            <a:avLst/>
          </a:prstGeom>
          <a:solidFill>
            <a:srgbClr val="F3EEF1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it-IT" sz="1100" b="1" dirty="0">
                <a:solidFill>
                  <a:srgbClr val="6C0850"/>
                </a:solidFill>
              </a:rPr>
              <a:t>H2</a:t>
            </a:r>
          </a:p>
        </p:txBody>
      </p:sp>
      <p:sp>
        <p:nvSpPr>
          <p:cNvPr id="19" name="Positivo 48 3"/>
          <p:cNvSpPr/>
          <p:nvPr/>
        </p:nvSpPr>
        <p:spPr>
          <a:xfrm>
            <a:off x="1270000" y="3835400"/>
            <a:ext cx="4826000" cy="609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it-IT" sz="1400" b="0" dirty="0">
                <a:solidFill>
                  <a:srgbClr val="231C21"/>
                </a:solidFill>
              </a:rPr>
              <a:t>Linguaggio chiaro: «raccolto», «donatori», «conclusi»</a:t>
            </a:r>
          </a:p>
        </p:txBody>
      </p:sp>
      <p:sp>
        <p:nvSpPr>
          <p:cNvPr id="20" name="Tag H3 48 4"/>
          <p:cNvSpPr/>
          <p:nvPr/>
        </p:nvSpPr>
        <p:spPr>
          <a:xfrm>
            <a:off x="609600" y="4597400"/>
            <a:ext cx="508000" cy="279400"/>
          </a:xfrm>
          <a:prstGeom prst="roundRect">
            <a:avLst/>
          </a:prstGeom>
          <a:solidFill>
            <a:srgbClr val="F3EEF1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it-IT" sz="1100" b="1" dirty="0">
                <a:solidFill>
                  <a:srgbClr val="6C0850"/>
                </a:solidFill>
              </a:rPr>
              <a:t>H3</a:t>
            </a:r>
          </a:p>
        </p:txBody>
      </p:sp>
      <p:sp>
        <p:nvSpPr>
          <p:cNvPr id="21" name="Positivo 48 4"/>
          <p:cNvSpPr/>
          <p:nvPr/>
        </p:nvSpPr>
        <p:spPr>
          <a:xfrm>
            <a:off x="1270000" y="4572000"/>
            <a:ext cx="4826000" cy="609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it-IT" sz="1400" b="0" dirty="0">
                <a:solidFill>
                  <a:srgbClr val="231C21"/>
                </a:solidFill>
              </a:rPr>
              <a:t>Dopo «ALTRI» la pagina scorre da sola ai nuovi progetti</a:t>
            </a:r>
          </a:p>
        </p:txBody>
      </p:sp>
      <p:sp>
        <p:nvSpPr>
          <p:cNvPr id="22" name="Tag H4 48 5"/>
          <p:cNvSpPr/>
          <p:nvPr/>
        </p:nvSpPr>
        <p:spPr>
          <a:xfrm>
            <a:off x="609600" y="5334000"/>
            <a:ext cx="508000" cy="279400"/>
          </a:xfrm>
          <a:prstGeom prst="roundRect">
            <a:avLst/>
          </a:prstGeom>
          <a:solidFill>
            <a:srgbClr val="F3EEF1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it-IT" sz="1100" b="1" dirty="0">
                <a:solidFill>
                  <a:srgbClr val="6C0850"/>
                </a:solidFill>
              </a:rPr>
              <a:t>H4</a:t>
            </a:r>
          </a:p>
        </p:txBody>
      </p:sp>
      <p:sp>
        <p:nvSpPr>
          <p:cNvPr id="23" name="Positivo 48 5"/>
          <p:cNvSpPr/>
          <p:nvPr/>
        </p:nvSpPr>
        <p:spPr>
          <a:xfrm>
            <a:off x="1270000" y="5308600"/>
            <a:ext cx="4826000" cy="609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it-IT" sz="1400" b="0" dirty="0">
                <a:solidFill>
                  <a:srgbClr val="231C21"/>
                </a:solidFill>
              </a:rPr>
              <a:t>Pulsanti, colori e struttura uguali in tutto il sito</a:t>
            </a:r>
          </a:p>
        </p:txBody>
      </p:sp>
      <p:sp>
        <p:nvSpPr>
          <p:cNvPr id="24" name="Tag H6 480 0"/>
          <p:cNvSpPr/>
          <p:nvPr/>
        </p:nvSpPr>
        <p:spPr>
          <a:xfrm>
            <a:off x="6096000" y="1651000"/>
            <a:ext cx="508000" cy="279400"/>
          </a:xfrm>
          <a:prstGeom prst="roundRect">
            <a:avLst/>
          </a:prstGeom>
          <a:solidFill>
            <a:srgbClr val="F3EEF1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it-IT" sz="1100" b="1" dirty="0">
                <a:solidFill>
                  <a:srgbClr val="6C0850"/>
                </a:solidFill>
              </a:rPr>
              <a:t>H6</a:t>
            </a:r>
          </a:p>
        </p:txBody>
      </p:sp>
      <p:sp>
        <p:nvSpPr>
          <p:cNvPr id="25" name="Positivo 480 0"/>
          <p:cNvSpPr/>
          <p:nvPr/>
        </p:nvSpPr>
        <p:spPr>
          <a:xfrm>
            <a:off x="6756400" y="1625600"/>
            <a:ext cx="4826000" cy="609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it-IT" sz="1400" b="0" dirty="0">
                <a:solidFill>
                  <a:srgbClr val="231C21"/>
                </a:solidFill>
              </a:rPr>
              <a:t>Card nello stesso formato, che aprono pagine con lo stesso template</a:t>
            </a:r>
          </a:p>
        </p:txBody>
      </p:sp>
      <p:sp>
        <p:nvSpPr>
          <p:cNvPr id="26" name="Tag H6 480 1"/>
          <p:cNvSpPr/>
          <p:nvPr/>
        </p:nvSpPr>
        <p:spPr>
          <a:xfrm>
            <a:off x="6096000" y="2387600"/>
            <a:ext cx="508000" cy="279400"/>
          </a:xfrm>
          <a:prstGeom prst="roundRect">
            <a:avLst/>
          </a:prstGeom>
          <a:solidFill>
            <a:srgbClr val="F3EEF1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it-IT" sz="1100" b="1" dirty="0">
                <a:solidFill>
                  <a:srgbClr val="6C0850"/>
                </a:solidFill>
              </a:rPr>
              <a:t>H6</a:t>
            </a:r>
          </a:p>
        </p:txBody>
      </p:sp>
      <p:sp>
        <p:nvSpPr>
          <p:cNvPr id="27" name="Positivo 480 1"/>
          <p:cNvSpPr/>
          <p:nvPr/>
        </p:nvSpPr>
        <p:spPr>
          <a:xfrm>
            <a:off x="6756400" y="2362200"/>
            <a:ext cx="4826000" cy="609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it-IT" sz="1400" b="0" dirty="0">
                <a:solidFill>
                  <a:srgbClr val="231C21"/>
                </a:solidFill>
              </a:rPr>
              <a:t>Ogni progetto ha un’immagine che lo rende riconoscibile</a:t>
            </a:r>
          </a:p>
        </p:txBody>
      </p:sp>
      <p:sp>
        <p:nvSpPr>
          <p:cNvPr id="28" name="Tag H8 480 2"/>
          <p:cNvSpPr/>
          <p:nvPr/>
        </p:nvSpPr>
        <p:spPr>
          <a:xfrm>
            <a:off x="6096000" y="3124200"/>
            <a:ext cx="508000" cy="279400"/>
          </a:xfrm>
          <a:prstGeom prst="roundRect">
            <a:avLst/>
          </a:prstGeom>
          <a:solidFill>
            <a:srgbClr val="F3EEF1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it-IT" sz="1100" b="1" dirty="0">
                <a:solidFill>
                  <a:srgbClr val="6C0850"/>
                </a:solidFill>
              </a:rPr>
              <a:t>H8</a:t>
            </a:r>
          </a:p>
        </p:txBody>
      </p:sp>
      <p:sp>
        <p:nvSpPr>
          <p:cNvPr id="29" name="Positivo 480 2"/>
          <p:cNvSpPr/>
          <p:nvPr/>
        </p:nvSpPr>
        <p:spPr>
          <a:xfrm>
            <a:off x="6756400" y="3098800"/>
            <a:ext cx="4826000" cy="609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it-IT" sz="1400" b="0" dirty="0">
                <a:solidFill>
                  <a:srgbClr val="231C21"/>
                </a:solidFill>
              </a:rPr>
              <a:t>Card compatte; design responsivo con menu hamburger su mobile</a:t>
            </a:r>
          </a:p>
        </p:txBody>
      </p:sp>
      <p:sp>
        <p:nvSpPr>
          <p:cNvPr id="30" name="Tag H8 480 3"/>
          <p:cNvSpPr/>
          <p:nvPr/>
        </p:nvSpPr>
        <p:spPr>
          <a:xfrm>
            <a:off x="6096000" y="3860800"/>
            <a:ext cx="508000" cy="279400"/>
          </a:xfrm>
          <a:prstGeom prst="roundRect">
            <a:avLst/>
          </a:prstGeom>
          <a:solidFill>
            <a:srgbClr val="F3EEF1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it-IT" sz="1100" b="1" dirty="0">
                <a:solidFill>
                  <a:srgbClr val="6C0850"/>
                </a:solidFill>
              </a:rPr>
              <a:t>H8</a:t>
            </a:r>
          </a:p>
        </p:txBody>
      </p:sp>
      <p:sp>
        <p:nvSpPr>
          <p:cNvPr id="31" name="Positivo 480 3"/>
          <p:cNvSpPr/>
          <p:nvPr/>
        </p:nvSpPr>
        <p:spPr>
          <a:xfrm>
            <a:off x="6756400" y="3835400"/>
            <a:ext cx="4826000" cy="609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it-IT" sz="1400" b="0" dirty="0">
                <a:solidFill>
                  <a:srgbClr val="231C21"/>
                </a:solidFill>
              </a:rPr>
              <a:t>Il testo blu ha un buon contrasto (circa 6:1)</a:t>
            </a:r>
          </a:p>
        </p:txBody>
      </p:sp>
      <p:sp>
        <p:nvSpPr>
          <p:cNvPr id="32" name="Tag H10 480 4"/>
          <p:cNvSpPr/>
          <p:nvPr/>
        </p:nvSpPr>
        <p:spPr>
          <a:xfrm>
            <a:off x="6096000" y="4597400"/>
            <a:ext cx="508000" cy="279400"/>
          </a:xfrm>
          <a:prstGeom prst="roundRect">
            <a:avLst/>
          </a:prstGeom>
          <a:solidFill>
            <a:srgbClr val="F3EEF1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it-IT" sz="1100" b="1" dirty="0">
                <a:solidFill>
                  <a:srgbClr val="6C0850"/>
                </a:solidFill>
              </a:rPr>
              <a:t>H10</a:t>
            </a:r>
          </a:p>
        </p:txBody>
      </p:sp>
      <p:sp>
        <p:nvSpPr>
          <p:cNvPr id="33" name="Positivo 480 4"/>
          <p:cNvSpPr/>
          <p:nvPr/>
        </p:nvSpPr>
        <p:spPr>
          <a:xfrm>
            <a:off x="6756400" y="4572000"/>
            <a:ext cx="4826000" cy="609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it-IT" sz="1400" b="0" dirty="0">
                <a:solidFill>
                  <a:srgbClr val="231C21"/>
                </a:solidFill>
              </a:rPr>
              <a:t>FAQ, «Come funziona» e contatti sopra la navbar</a:t>
            </a:r>
          </a:p>
        </p:txBody>
      </p:sp>
      <p:sp>
        <p:nvSpPr>
          <p:cNvPr id="34" name="Tag H10 480 5"/>
          <p:cNvSpPr/>
          <p:nvPr/>
        </p:nvSpPr>
        <p:spPr>
          <a:xfrm>
            <a:off x="6096000" y="5334000"/>
            <a:ext cx="508000" cy="279400"/>
          </a:xfrm>
          <a:prstGeom prst="roundRect">
            <a:avLst/>
          </a:prstGeom>
          <a:solidFill>
            <a:srgbClr val="F3EEF1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it-IT" sz="1100" b="1" dirty="0">
                <a:solidFill>
                  <a:srgbClr val="6C0850"/>
                </a:solidFill>
              </a:rPr>
              <a:t>H10</a:t>
            </a:r>
          </a:p>
        </p:txBody>
      </p:sp>
      <p:sp>
        <p:nvSpPr>
          <p:cNvPr id="35" name="Positivo 480 5"/>
          <p:cNvSpPr/>
          <p:nvPr/>
        </p:nvSpPr>
        <p:spPr>
          <a:xfrm>
            <a:off x="6756400" y="5308600"/>
            <a:ext cx="4826000" cy="609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it-IT" sz="1400" b="0" dirty="0">
                <a:solidFill>
                  <a:srgbClr val="231C21"/>
                </a:solidFill>
              </a:rPr>
              <a:t>Rimando al sito UniTo che spiega bene l’iniziativa</a:t>
            </a:r>
          </a:p>
        </p:txBody>
      </p:sp>
      <p:sp>
        <p:nvSpPr>
          <p:cNvPr id="36" name="Pagine e task"/>
          <p:cNvSpPr/>
          <p:nvPr/>
        </p:nvSpPr>
        <p:spPr>
          <a:xfrm>
            <a:off x="609600" y="6273800"/>
            <a:ext cx="109728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it-IT" sz="1000" b="1" dirty="0">
                <a:solidFill>
                  <a:srgbClr val="6B6168"/>
                </a:solidFill>
              </a:rPr>
              <a:t>Pagine:</a:t>
            </a:r>
            <a:r>
              <a:rPr lang="it-IT" sz="1000" b="0" dirty="0">
                <a:solidFill>
                  <a:srgbClr val="6B6168"/>
                </a:solidFill>
              </a:rPr>
              <a:t> Partner UniTo › Partnership e Progetti   </a:t>
            </a:r>
            <a:r>
              <a:rPr lang="it-IT" sz="1000" b="1" dirty="0">
                <a:solidFill>
                  <a:srgbClr val="6B6168"/>
                </a:solidFill>
              </a:rPr>
              <a:t>Task:</a:t>
            </a:r>
            <a:r>
              <a:rPr lang="it-IT" sz="1000" b="0" dirty="0">
                <a:solidFill>
                  <a:srgbClr val="6B6168"/>
                </a:solidFill>
              </a:rPr>
              <a:t> T1, T2, T4   Il contrasto è da rimisurare: vedi la slide sul contrasto</a:t>
            </a:r>
          </a:p>
        </p:txBody>
      </p:sp>
    </p:spTree>
    <p:extLst>
      <p:ext uri="{BB962C8B-B14F-4D97-AF65-F5344CB8AC3E}">
        <p14:creationId xmlns:p14="http://schemas.microsoft.com/office/powerpoint/2010/main" val="345058972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FE5D6AA-9B4A-5E7F-0A77-F0DD2534D9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558800"/>
            <a:ext cx="8991600" cy="889000"/>
          </a:xfrm>
        </p:spPr>
        <p:txBody>
          <a:bodyPr lIns="0" anchor="t"/>
          <a:lstStyle/>
          <a:p>
            <a:pPr>
              <a:lnSpc>
                <a:spcPct val="90000"/>
              </a:lnSpc>
            </a:pPr>
            <a:r>
              <a:rPr lang="it-IT" sz="2600" b="1" dirty="0"/>
              <a:t>Non si capisce se la call 2026 è aperta, chiusa o in corso</a:t>
            </a:r>
          </a:p>
        </p:txBody>
      </p:sp>
      <p:sp>
        <p:nvSpPr>
          <p:cNvPr id="10" name="Euristica"/>
          <p:cNvSpPr txBox="1"/>
          <p:nvPr/>
        </p:nvSpPr>
        <p:spPr>
          <a:xfrm>
            <a:off x="609600" y="254000"/>
            <a:ext cx="81280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200" b="1" dirty="0">
                <a:solidFill>
                  <a:srgbClr val="6C0850"/>
                </a:solidFill>
              </a:rPr>
              <a:t>H1 · VISIBILITÀ DELLO STATO DEL SISTEMA</a:t>
            </a:r>
          </a:p>
        </p:txBody>
      </p:sp>
      <p:sp>
        <p:nvSpPr>
          <p:cNvPr id="11" name="Badge gravità"/>
          <p:cNvSpPr/>
          <p:nvPr/>
        </p:nvSpPr>
        <p:spPr>
          <a:xfrm>
            <a:off x="9855200" y="381000"/>
            <a:ext cx="1727200" cy="736600"/>
          </a:xfrm>
          <a:prstGeom prst="roundRect">
            <a:avLst/>
          </a:prstGeom>
          <a:solidFill>
            <a:srgbClr val="8E2F72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000" b="1" dirty="0">
                <a:solidFill>
                  <a:srgbClr val="FFFFFF"/>
                </a:solidFill>
              </a:rPr>
              <a:t>GRAVITÀ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800" b="1" dirty="0">
                <a:solidFill>
                  <a:srgbClr val="FFFFFF"/>
                </a:solidFill>
              </a:rPr>
              <a:t>3 · importante</a:t>
            </a:r>
          </a:p>
        </p:txBody>
      </p:sp>
      <p:sp>
        <p:nvSpPr>
          <p:cNvPr id="12" name="Problema"/>
          <p:cNvSpPr txBox="1"/>
          <p:nvPr/>
        </p:nvSpPr>
        <p:spPr>
          <a:xfrm>
            <a:off x="609600" y="1634309"/>
            <a:ext cx="5130800" cy="2616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400" b="1" dirty="0">
                <a:solidFill>
                  <a:srgbClr val="6C0850"/>
                </a:solidFill>
              </a:rPr>
              <a:t>Problema</a:t>
            </a:r>
          </a:p>
          <a:p>
            <a:pPr marL="228600" indent="-228600" algn="l">
              <a:lnSpc>
                <a:spcPct val="100000"/>
              </a:lnSpc>
              <a:spcBef>
                <a:spcPts val="500"/>
              </a:spcBef>
              <a:buClr>
                <a:srgbClr val="6C0850"/>
              </a:buClr>
              <a:buFont typeface="Arial"/>
              <a:buChar char="•"/>
            </a:pPr>
            <a:r>
              <a:rPr lang="it-IT" sz="1400" b="0" dirty="0">
                <a:solidFill>
                  <a:srgbClr val="231C21"/>
                </a:solidFill>
              </a:rPr>
              <a:t>La pagina usa il futuro («verranno selezionati») e </a:t>
            </a:r>
            <a:r>
              <a:rPr lang="it-IT" sz="1400" b="1" dirty="0">
                <a:solidFill>
                  <a:srgbClr val="231C21"/>
                </a:solidFill>
              </a:rPr>
              <a:t>non riporta date</a:t>
            </a:r>
            <a:r>
              <a:rPr lang="it-IT" sz="1400" b="0" dirty="0">
                <a:solidFill>
                  <a:srgbClr val="231C21"/>
                </a:solidFill>
              </a:rPr>
              <a:t> di candidatura né di campagna.</a:t>
            </a:r>
          </a:p>
          <a:p>
            <a:pPr marL="228600" indent="-228600" algn="l">
              <a:lnSpc>
                <a:spcPct val="100000"/>
              </a:lnSpc>
              <a:spcBef>
                <a:spcPts val="500"/>
              </a:spcBef>
              <a:buClr>
                <a:srgbClr val="6C0850"/>
              </a:buClr>
              <a:buFont typeface="Arial"/>
              <a:buChar char="•"/>
            </a:pPr>
            <a:r>
              <a:rPr lang="it-IT" sz="1400" b="0" dirty="0">
                <a:solidFill>
                  <a:srgbClr val="231C21"/>
                </a:solidFill>
              </a:rPr>
              <a:t>Il blocco «aggiornamenti più recenti» del blog propone articoli del </a:t>
            </a:r>
            <a:r>
              <a:rPr lang="it-IT" sz="1400" b="1" dirty="0">
                <a:solidFill>
                  <a:srgbClr val="231C21"/>
                </a:solidFill>
              </a:rPr>
              <a:t>2021 e del 2022. </a:t>
            </a:r>
            <a:r>
              <a:rPr lang="it-IT" sz="1400" dirty="0">
                <a:solidFill>
                  <a:srgbClr val="231C21"/>
                </a:solidFill>
              </a:rPr>
              <a:t>Il</a:t>
            </a:r>
            <a:r>
              <a:rPr lang="it-IT" sz="1400" b="1" dirty="0">
                <a:solidFill>
                  <a:srgbClr val="231C21"/>
                </a:solidFill>
              </a:rPr>
              <a:t> </a:t>
            </a:r>
            <a:r>
              <a:rPr lang="it-IT" sz="1400" b="0" dirty="0">
                <a:solidFill>
                  <a:srgbClr val="231C21"/>
                </a:solidFill>
              </a:rPr>
              <a:t>cittadino dubita che l’iniziativa sia ancora attiva.</a:t>
            </a:r>
          </a:p>
          <a:p>
            <a:pPr marL="0" indent="0" algn="l">
              <a:lnSpc>
                <a:spcPct val="100000"/>
              </a:lnSpc>
              <a:spcBef>
                <a:spcPts val="900"/>
              </a:spcBef>
              <a:buNone/>
            </a:pPr>
            <a:r>
              <a:rPr lang="it-IT" sz="1100" b="0" dirty="0">
                <a:solidFill>
                  <a:srgbClr val="6B6168"/>
                </a:solidFill>
              </a:rPr>
              <a:t>Gravità 3: </a:t>
            </a:r>
            <a:r>
              <a:rPr lang="it-IT" sz="1100" dirty="0">
                <a:solidFill>
                  <a:srgbClr val="6B6168"/>
                </a:solidFill>
              </a:rPr>
              <a:t>Il sito rimanda a </a:t>
            </a:r>
            <a:r>
              <a:rPr lang="it-IT" sz="1100" b="0" dirty="0" err="1">
                <a:solidFill>
                  <a:srgbClr val="6B6168"/>
                </a:solidFill>
              </a:rPr>
              <a:t>unito.it</a:t>
            </a:r>
            <a:r>
              <a:rPr lang="it-IT" sz="1100" dirty="0">
                <a:solidFill>
                  <a:srgbClr val="6B6168"/>
                </a:solidFill>
              </a:rPr>
              <a:t> per le spiegazioni di </a:t>
            </a:r>
            <a:r>
              <a:rPr lang="it-IT" sz="1100" dirty="0" err="1">
                <a:solidFill>
                  <a:srgbClr val="6B6168"/>
                </a:solidFill>
              </a:rPr>
              <a:t>FundsTo</a:t>
            </a:r>
            <a:r>
              <a:rPr lang="it-IT" sz="1100" dirty="0">
                <a:solidFill>
                  <a:srgbClr val="6B6168"/>
                </a:solidFill>
              </a:rPr>
              <a:t> quindi si riesce a capire che l’iniziativa è attiva anche se con fatica.</a:t>
            </a:r>
            <a:endParaRPr lang="it-IT" sz="1100" b="0" dirty="0">
              <a:solidFill>
                <a:srgbClr val="6B6168"/>
              </a:solidFill>
            </a:endParaRPr>
          </a:p>
        </p:txBody>
      </p:sp>
      <p:sp>
        <p:nvSpPr>
          <p:cNvPr id="13" name="Soluzione"/>
          <p:cNvSpPr/>
          <p:nvPr/>
        </p:nvSpPr>
        <p:spPr>
          <a:xfrm>
            <a:off x="609600" y="4394200"/>
            <a:ext cx="5130800" cy="1727200"/>
          </a:xfrm>
          <a:prstGeom prst="rect">
            <a:avLst/>
          </a:prstGeom>
          <a:solidFill>
            <a:srgbClr val="F3EEF1"/>
          </a:solidFill>
          <a:ln>
            <a:noFill/>
          </a:ln>
        </p:spPr>
        <p:txBody>
          <a:bodyPr wrap="square" lIns="152400" tIns="152400" rIns="152400" bIns="15240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400" b="1" dirty="0">
                <a:solidFill>
                  <a:srgbClr val="6C0850"/>
                </a:solidFill>
              </a:rPr>
              <a:t>Possibile soluzione</a:t>
            </a:r>
          </a:p>
          <a:p>
            <a:pPr marL="0" indent="0" algn="l">
              <a:lnSpc>
                <a:spcPct val="100000"/>
              </a:lnSpc>
              <a:spcBef>
                <a:spcPts val="400"/>
              </a:spcBef>
              <a:buNone/>
            </a:pPr>
            <a:r>
              <a:rPr lang="it-IT" sz="1400" b="0" dirty="0">
                <a:solidFill>
                  <a:srgbClr val="231C21"/>
                </a:solidFill>
              </a:rPr>
              <a:t>Spiegare chiaramente che per il 2026 le call sono aperte o chiuse e i progetti selezionati. Il blog andrebbe aggiornato o nascosto se non aggiornato.</a:t>
            </a:r>
          </a:p>
        </p:txBody>
      </p:sp>
      <p:sp>
        <p:nvSpPr>
          <p:cNvPr id="16" name="Pagine e task"/>
          <p:cNvSpPr txBox="1"/>
          <p:nvPr/>
        </p:nvSpPr>
        <p:spPr>
          <a:xfrm>
            <a:off x="609600" y="6273800"/>
            <a:ext cx="109728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000" b="1" dirty="0">
                <a:solidFill>
                  <a:srgbClr val="6B6168"/>
                </a:solidFill>
              </a:rPr>
              <a:t>Pagine:</a:t>
            </a:r>
            <a:r>
              <a:rPr lang="it-IT" sz="1000" b="0" dirty="0">
                <a:solidFill>
                  <a:srgbClr val="6B6168"/>
                </a:solidFill>
              </a:rPr>
              <a:t> Partner UniTo › Partnership (/partner/universita-di-torino.html) · Partner UniTo › Progetti (/partner-progetti/universita-di-torino.html)   </a:t>
            </a:r>
            <a:r>
              <a:rPr lang="it-IT" sz="1000" b="1" dirty="0">
                <a:solidFill>
                  <a:srgbClr val="6B6168"/>
                </a:solidFill>
              </a:rPr>
              <a:t>Task:</a:t>
            </a:r>
            <a:r>
              <a:rPr lang="it-IT" sz="1000" b="0" dirty="0">
                <a:solidFill>
                  <a:srgbClr val="6B6168"/>
                </a:solidFill>
              </a:rPr>
              <a:t> T7, T1   </a:t>
            </a:r>
            <a:r>
              <a:rPr lang="it-IT" sz="1000" b="1" dirty="0">
                <a:solidFill>
                  <a:srgbClr val="6B6168"/>
                </a:solidFill>
              </a:rPr>
              <a:t>ID:</a:t>
            </a:r>
            <a:r>
              <a:rPr lang="it-IT" sz="1000" b="0" dirty="0">
                <a:solidFill>
                  <a:srgbClr val="6B6168"/>
                </a:solidFill>
              </a:rPr>
              <a:t> P01</a:t>
            </a:r>
          </a:p>
        </p:txBody>
      </p:sp>
      <p:pic>
        <p:nvPicPr>
          <p:cNvPr id="6" name="Immagine 5">
            <a:extLst>
              <a:ext uri="{FF2B5EF4-FFF2-40B4-BE49-F238E27FC236}">
                <a16:creationId xmlns:a16="http://schemas.microsoft.com/office/drawing/2014/main" id="{88BAF8C1-8EFB-7E30-E35A-44CF3D558C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1" y="3683000"/>
            <a:ext cx="4702526" cy="2438400"/>
          </a:xfrm>
          <a:prstGeom prst="rect">
            <a:avLst/>
          </a:prstGeom>
        </p:spPr>
      </p:pic>
      <p:pic>
        <p:nvPicPr>
          <p:cNvPr id="19" name="Immagine 18">
            <a:extLst>
              <a:ext uri="{FF2B5EF4-FFF2-40B4-BE49-F238E27FC236}">
                <a16:creationId xmlns:a16="http://schemas.microsoft.com/office/drawing/2014/main" id="{CB16759F-1897-60BA-9744-8A0AD7CA08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4392" y="1350190"/>
            <a:ext cx="4704134" cy="22203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569033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DAF5053-2B15-DDF3-6C08-D5427CDD31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558800"/>
            <a:ext cx="8991600" cy="889000"/>
          </a:xfrm>
        </p:spPr>
        <p:txBody>
          <a:bodyPr anchor="t"/>
          <a:lstStyle/>
          <a:p>
            <a:pPr>
              <a:lnSpc>
                <a:spcPct val="90000"/>
              </a:lnSpc>
            </a:pPr>
            <a:r>
              <a:rPr lang="it-IT" sz="2600" b="1" dirty="0"/>
              <a:t>I progetti in corso oltre il 100% non dicono di aver raggiunto l’obiettivo</a:t>
            </a:r>
          </a:p>
        </p:txBody>
      </p:sp>
      <p:sp>
        <p:nvSpPr>
          <p:cNvPr id="10" name="Euristica"/>
          <p:cNvSpPr txBox="1"/>
          <p:nvPr/>
        </p:nvSpPr>
        <p:spPr>
          <a:xfrm>
            <a:off x="609600" y="254000"/>
            <a:ext cx="81280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200" b="1" dirty="0">
                <a:solidFill>
                  <a:srgbClr val="6C0850"/>
                </a:solidFill>
              </a:rPr>
              <a:t>H1 · VISIBILITÀ DELLO STATO DEL SISTEMA</a:t>
            </a:r>
          </a:p>
        </p:txBody>
      </p:sp>
      <p:sp>
        <p:nvSpPr>
          <p:cNvPr id="11" name="Badge gravità"/>
          <p:cNvSpPr/>
          <p:nvPr/>
        </p:nvSpPr>
        <p:spPr>
          <a:xfrm>
            <a:off x="9855200" y="381000"/>
            <a:ext cx="1727200" cy="736600"/>
          </a:xfrm>
          <a:prstGeom prst="roundRect">
            <a:avLst/>
          </a:prstGeom>
          <a:solidFill>
            <a:srgbClr val="41002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000" b="1" dirty="0">
                <a:solidFill>
                  <a:srgbClr val="FFFFFF"/>
                </a:solidFill>
              </a:rPr>
              <a:t>GRAVITÀ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800" b="1" dirty="0">
                <a:solidFill>
                  <a:srgbClr val="FFFFFF"/>
                </a:solidFill>
              </a:rPr>
              <a:t>4 · catastrofico</a:t>
            </a:r>
          </a:p>
        </p:txBody>
      </p:sp>
      <p:sp>
        <p:nvSpPr>
          <p:cNvPr id="12" name="Problema"/>
          <p:cNvSpPr txBox="1"/>
          <p:nvPr/>
        </p:nvSpPr>
        <p:spPr>
          <a:xfrm>
            <a:off x="609600" y="1625600"/>
            <a:ext cx="5130800" cy="2616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400" b="1" dirty="0">
                <a:solidFill>
                  <a:srgbClr val="6C0850"/>
                </a:solidFill>
              </a:rPr>
              <a:t>Problema</a:t>
            </a:r>
          </a:p>
          <a:p>
            <a:pPr marL="228600" indent="-228600" algn="l">
              <a:lnSpc>
                <a:spcPct val="100000"/>
              </a:lnSpc>
              <a:spcBef>
                <a:spcPts val="500"/>
              </a:spcBef>
              <a:buClr>
                <a:srgbClr val="6C0850"/>
              </a:buClr>
              <a:buFont typeface="Arial"/>
              <a:buChar char="•"/>
            </a:pPr>
            <a:r>
              <a:rPr lang="it-IT" sz="1400" b="0" dirty="0">
                <a:solidFill>
                  <a:srgbClr val="231C21"/>
                </a:solidFill>
              </a:rPr>
              <a:t>MILK-ACT (118%) e RePatch (109%) sono ancora «in corso» ma </a:t>
            </a:r>
            <a:r>
              <a:rPr lang="it-IT" sz="1400" b="1" dirty="0">
                <a:solidFill>
                  <a:srgbClr val="231C21"/>
                </a:solidFill>
              </a:rPr>
              <a:t>nessun badge</a:t>
            </a:r>
            <a:r>
              <a:rPr lang="it-IT" sz="1400" b="0" dirty="0">
                <a:solidFill>
                  <a:srgbClr val="231C21"/>
                </a:solidFill>
              </a:rPr>
              <a:t> dice che l’obiettivo minimo è raggiunto</a:t>
            </a:r>
          </a:p>
          <a:p>
            <a:pPr marL="228600" indent="-228600" algn="l">
              <a:lnSpc>
                <a:spcPct val="100000"/>
              </a:lnSpc>
              <a:spcBef>
                <a:spcPts val="500"/>
              </a:spcBef>
              <a:buClr>
                <a:srgbClr val="6C0850"/>
              </a:buClr>
              <a:buFont typeface="Arial"/>
              <a:buChar char="•"/>
            </a:pPr>
            <a:r>
              <a:rPr lang="it-IT" sz="1400" b="0" dirty="0">
                <a:solidFill>
                  <a:srgbClr val="231C21"/>
                </a:solidFill>
              </a:rPr>
              <a:t>I progetti conclusi invece hanno il badge «OBIETTIVO RAGGIUNTO!»</a:t>
            </a:r>
          </a:p>
          <a:p>
            <a:pPr marL="228600" indent="-228600" algn="l">
              <a:lnSpc>
                <a:spcPct val="100000"/>
              </a:lnSpc>
              <a:spcBef>
                <a:spcPts val="500"/>
              </a:spcBef>
              <a:buClr>
                <a:srgbClr val="6C0850"/>
              </a:buClr>
              <a:buFont typeface="Arial"/>
              <a:buChar char="•"/>
            </a:pPr>
            <a:r>
              <a:rPr lang="it-IT" sz="1400" b="0" dirty="0">
                <a:solidFill>
                  <a:srgbClr val="231C21"/>
                </a:solidFill>
              </a:rPr>
              <a:t>Per i progetti in corso lo stato è comunicato </a:t>
            </a:r>
            <a:r>
              <a:rPr lang="it-IT" sz="1400" b="1" dirty="0">
                <a:solidFill>
                  <a:srgbClr val="231C21"/>
                </a:solidFill>
              </a:rPr>
              <a:t>solo con il colore</a:t>
            </a:r>
          </a:p>
          <a:p>
            <a:pPr marL="228600" indent="-228600" algn="l">
              <a:lnSpc>
                <a:spcPct val="100000"/>
              </a:lnSpc>
              <a:spcBef>
                <a:spcPts val="500"/>
              </a:spcBef>
              <a:buClr>
                <a:srgbClr val="6C0850"/>
              </a:buClr>
              <a:buFont typeface="Arial"/>
              <a:buChar char="•"/>
            </a:pPr>
            <a:r>
              <a:rPr lang="it-IT" sz="1400" b="0" dirty="0">
                <a:solidFill>
                  <a:srgbClr val="231C21"/>
                </a:solidFill>
              </a:rPr>
              <a:t>Il donatore non capisce se la sua donazione serve ancora</a:t>
            </a:r>
          </a:p>
          <a:p>
            <a:pPr marL="0" indent="0" algn="l">
              <a:lnSpc>
                <a:spcPct val="100000"/>
              </a:lnSpc>
              <a:spcBef>
                <a:spcPts val="900"/>
              </a:spcBef>
              <a:buNone/>
            </a:pPr>
            <a:r>
              <a:rPr lang="it-IT" sz="1100" b="0" dirty="0">
                <a:solidFill>
                  <a:srgbClr val="6B6168"/>
                </a:solidFill>
              </a:rPr>
              <a:t>Gravità 4 dalle note. [ DA VERIFICARE ] Valutare se 4 è giustificato: la percentuale è comunque visibile.</a:t>
            </a:r>
          </a:p>
        </p:txBody>
      </p:sp>
      <p:sp>
        <p:nvSpPr>
          <p:cNvPr id="13" name="Soluzione"/>
          <p:cNvSpPr/>
          <p:nvPr/>
        </p:nvSpPr>
        <p:spPr>
          <a:xfrm>
            <a:off x="609600" y="4394200"/>
            <a:ext cx="5130800" cy="1727200"/>
          </a:xfrm>
          <a:prstGeom prst="rect">
            <a:avLst/>
          </a:prstGeom>
          <a:solidFill>
            <a:srgbClr val="F3EEF1"/>
          </a:solidFill>
          <a:ln>
            <a:noFill/>
          </a:ln>
        </p:spPr>
        <p:txBody>
          <a:bodyPr wrap="square" lIns="152400" tIns="152400" rIns="152400" bIns="15240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400" b="1" dirty="0">
                <a:solidFill>
                  <a:srgbClr val="6C0850"/>
                </a:solidFill>
              </a:rPr>
              <a:t>Possibile soluzione</a:t>
            </a:r>
          </a:p>
          <a:p>
            <a:pPr marL="0" indent="0" algn="l">
              <a:lnSpc>
                <a:spcPct val="100000"/>
              </a:lnSpc>
              <a:spcBef>
                <a:spcPts val="400"/>
              </a:spcBef>
              <a:buNone/>
            </a:pPr>
            <a:r>
              <a:rPr lang="it-IT" sz="1400" b="0" dirty="0">
                <a:solidFill>
                  <a:srgbClr val="231C21"/>
                </a:solidFill>
              </a:rPr>
              <a:t>Badge «Obiettivo raggiunto · raccolta ancora aperta» sulle card in corso oltre il 100%, con testo e icona oltre al colore. Spiegare a cosa servono i fondi extra.</a:t>
            </a:r>
          </a:p>
        </p:txBody>
      </p:sp>
      <p:sp>
        <p:nvSpPr>
          <p:cNvPr id="14" name="Segnaposto immagine 1"/>
          <p:cNvSpPr/>
          <p:nvPr/>
        </p:nvSpPr>
        <p:spPr>
          <a:xfrm>
            <a:off x="6045200" y="1625600"/>
            <a:ext cx="5537200" cy="2171700"/>
          </a:xfrm>
          <a:prstGeom prst="rect">
            <a:avLst/>
          </a:prstGeom>
          <a:solidFill>
            <a:srgbClr val="F7F4F6"/>
          </a:solidFill>
          <a:ln w="15875">
            <a:solidFill>
              <a:srgbClr val="B07A9F"/>
            </a:solidFill>
            <a:prstDash val="dash"/>
          </a:ln>
        </p:spPr>
        <p:txBody>
          <a:bodyPr wrap="square" lIns="127000" tIns="127000" rIns="127000" bIns="12700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200" b="1" dirty="0">
                <a:solidFill>
                  <a:srgbClr val="6C0850"/>
                </a:solidFill>
              </a:rPr>
              <a:t>[ SCREENSHOT DA INSERIRE ]</a:t>
            </a:r>
          </a:p>
          <a:p>
            <a:pPr marL="0" indent="0" algn="ctr">
              <a:lnSpc>
                <a:spcPct val="100000"/>
              </a:lnSpc>
              <a:spcBef>
                <a:spcPts val="400"/>
              </a:spcBef>
              <a:buNone/>
            </a:pPr>
            <a:r>
              <a:rPr lang="it-IT" sz="1400" b="1" dirty="0">
                <a:solidFill>
                  <a:srgbClr val="231C21"/>
                </a:solidFill>
              </a:rPr>
              <a:t>Screenshot 2026-10-12 alle 17.33.40.png</a:t>
            </a:r>
          </a:p>
          <a:p>
            <a:pPr marL="0" indent="0" algn="ctr">
              <a:lnSpc>
                <a:spcPct val="100000"/>
              </a:lnSpc>
              <a:spcBef>
                <a:spcPts val="300"/>
              </a:spcBef>
              <a:buNone/>
            </a:pPr>
            <a:r>
              <a:rPr lang="it-IT" sz="900" b="0" dirty="0">
                <a:solidFill>
                  <a:srgbClr val="6B6168"/>
                </a:solidFill>
              </a:rPr>
              <a:t>/Users/andreock/Desktop/hci_gruppo_a/assignment1/parti/antofallea/src/Screenshot 2026-10-12 alle 17.33.40.png  (o nella cartella delle note)</a:t>
            </a:r>
          </a:p>
          <a:p>
            <a:pPr marL="0" indent="0" algn="ctr">
              <a:lnSpc>
                <a:spcPct val="100000"/>
              </a:lnSpc>
              <a:spcBef>
                <a:spcPts val="300"/>
              </a:spcBef>
              <a:buNone/>
            </a:pPr>
            <a:r>
              <a:rPr lang="it-IT" sz="1000" b="0" dirty="0">
                <a:solidFill>
                  <a:srgbClr val="6B6168"/>
                </a:solidFill>
              </a:rPr>
              <a:t>Annotare con cerchi e frecce</a:t>
            </a:r>
          </a:p>
        </p:txBody>
      </p:sp>
      <p:sp>
        <p:nvSpPr>
          <p:cNvPr id="15" name="Segnaposto immagine 2"/>
          <p:cNvSpPr/>
          <p:nvPr/>
        </p:nvSpPr>
        <p:spPr>
          <a:xfrm>
            <a:off x="6045200" y="3949700"/>
            <a:ext cx="5537200" cy="2171700"/>
          </a:xfrm>
          <a:prstGeom prst="rect">
            <a:avLst/>
          </a:prstGeom>
          <a:solidFill>
            <a:srgbClr val="F7F4F6"/>
          </a:solidFill>
          <a:ln w="15875">
            <a:solidFill>
              <a:srgbClr val="B07A9F"/>
            </a:solidFill>
            <a:prstDash val="dash"/>
          </a:ln>
        </p:spPr>
        <p:txBody>
          <a:bodyPr wrap="square" lIns="127000" tIns="127000" rIns="127000" bIns="12700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200" b="1" dirty="0">
                <a:solidFill>
                  <a:srgbClr val="6C0850"/>
                </a:solidFill>
              </a:rPr>
              <a:t>[ SCREENSHOT DA INSERIRE ]</a:t>
            </a:r>
          </a:p>
          <a:p>
            <a:pPr marL="0" indent="0" algn="ctr">
              <a:lnSpc>
                <a:spcPct val="100000"/>
              </a:lnSpc>
              <a:spcBef>
                <a:spcPts val="400"/>
              </a:spcBef>
              <a:buNone/>
            </a:pPr>
            <a:r>
              <a:rPr lang="it-IT" sz="1400" b="1" dirty="0">
                <a:solidFill>
                  <a:srgbClr val="231C21"/>
                </a:solidFill>
              </a:rPr>
              <a:t>Screenshot 2026-10-12 alle 17.33.21.png</a:t>
            </a:r>
          </a:p>
          <a:p>
            <a:pPr marL="0" indent="0" algn="ctr">
              <a:lnSpc>
                <a:spcPct val="100000"/>
              </a:lnSpc>
              <a:spcBef>
                <a:spcPts val="300"/>
              </a:spcBef>
              <a:buNone/>
            </a:pPr>
            <a:r>
              <a:rPr lang="it-IT" sz="900" b="0" dirty="0">
                <a:solidFill>
                  <a:srgbClr val="6B6168"/>
                </a:solidFill>
              </a:rPr>
              <a:t>/Users/andreock/Desktop/hci_gruppo_a/assignment1/parti/antofallea/src/Screenshot 2026-10-12 alle 17.33.21.png  (o nella cartella delle note)</a:t>
            </a:r>
          </a:p>
          <a:p>
            <a:pPr marL="0" indent="0" algn="ctr">
              <a:lnSpc>
                <a:spcPct val="100000"/>
              </a:lnSpc>
              <a:spcBef>
                <a:spcPts val="300"/>
              </a:spcBef>
              <a:buNone/>
            </a:pPr>
            <a:r>
              <a:rPr lang="it-IT" sz="1000" b="0" dirty="0">
                <a:solidFill>
                  <a:srgbClr val="6B6168"/>
                </a:solidFill>
              </a:rPr>
              <a:t>Annotare con cerchi e frecce</a:t>
            </a:r>
          </a:p>
        </p:txBody>
      </p:sp>
      <p:sp>
        <p:nvSpPr>
          <p:cNvPr id="16" name="Pagine e task"/>
          <p:cNvSpPr txBox="1"/>
          <p:nvPr/>
        </p:nvSpPr>
        <p:spPr>
          <a:xfrm>
            <a:off x="609600" y="6273800"/>
            <a:ext cx="109728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000" b="1" dirty="0">
                <a:solidFill>
                  <a:srgbClr val="6B6168"/>
                </a:solidFill>
              </a:rPr>
              <a:t>Pagina:</a:t>
            </a:r>
            <a:r>
              <a:rPr lang="it-IT" sz="1000" b="0" dirty="0">
                <a:solidFill>
                  <a:srgbClr val="6B6168"/>
                </a:solidFill>
              </a:rPr>
              <a:t> Partner UniTo › Progetti (/partner-progetti/universita-di-torino.html)   </a:t>
            </a:r>
            <a:r>
              <a:rPr lang="it-IT" sz="1000" b="1" dirty="0">
                <a:solidFill>
                  <a:srgbClr val="6B6168"/>
                </a:solidFill>
              </a:rPr>
              <a:t>Task:</a:t>
            </a:r>
            <a:r>
              <a:rPr lang="it-IT" sz="1000" b="0" dirty="0">
                <a:solidFill>
                  <a:srgbClr val="6B6168"/>
                </a:solidFill>
              </a:rPr>
              <a:t> T4, T5   </a:t>
            </a:r>
            <a:r>
              <a:rPr lang="it-IT" sz="1000" b="1" dirty="0">
                <a:solidFill>
                  <a:srgbClr val="6B6168"/>
                </a:solidFill>
              </a:rPr>
              <a:t>ID:</a:t>
            </a:r>
            <a:r>
              <a:rPr lang="it-IT" sz="1000" b="0" dirty="0">
                <a:solidFill>
                  <a:srgbClr val="6B6168"/>
                </a:solidFill>
              </a:rPr>
              <a:t> [ da assegnare ]</a:t>
            </a:r>
          </a:p>
        </p:txBody>
      </p:sp>
    </p:spTree>
    <p:extLst>
      <p:ext uri="{BB962C8B-B14F-4D97-AF65-F5344CB8AC3E}">
        <p14:creationId xmlns:p14="http://schemas.microsoft.com/office/powerpoint/2010/main" val="285668963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69E635B-0C35-D42A-6449-A0E01A7D5E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558800"/>
            <a:ext cx="8991600" cy="889000"/>
          </a:xfrm>
        </p:spPr>
        <p:txBody>
          <a:bodyPr lIns="0" anchor="t"/>
          <a:lstStyle/>
          <a:p>
            <a:pPr>
              <a:lnSpc>
                <a:spcPct val="90000"/>
              </a:lnSpc>
            </a:pPr>
            <a:r>
              <a:rPr lang="it-IT" sz="2600" b="1" dirty="0"/>
              <a:t>Termini inglesi e gergo di piattaforma in un sito in italiano</a:t>
            </a:r>
          </a:p>
        </p:txBody>
      </p:sp>
      <p:sp>
        <p:nvSpPr>
          <p:cNvPr id="10" name="Euristica"/>
          <p:cNvSpPr txBox="1"/>
          <p:nvPr/>
        </p:nvSpPr>
        <p:spPr>
          <a:xfrm>
            <a:off x="609600" y="254000"/>
            <a:ext cx="81280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200" b="1" dirty="0">
                <a:solidFill>
                  <a:srgbClr val="6C0850"/>
                </a:solidFill>
              </a:rPr>
              <a:t>H2 · CORRISPONDENZA TRA SISTEMA E MONDO REALE</a:t>
            </a:r>
          </a:p>
        </p:txBody>
      </p:sp>
      <p:sp>
        <p:nvSpPr>
          <p:cNvPr id="11" name="Badge gravità"/>
          <p:cNvSpPr/>
          <p:nvPr/>
        </p:nvSpPr>
        <p:spPr>
          <a:xfrm>
            <a:off x="9855200" y="381000"/>
            <a:ext cx="1727200" cy="736600"/>
          </a:xfrm>
          <a:prstGeom prst="roundRect">
            <a:avLst/>
          </a:prstGeom>
          <a:solidFill>
            <a:srgbClr val="E9DCE5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000" b="1" dirty="0">
                <a:solidFill>
                  <a:srgbClr val="41002F"/>
                </a:solidFill>
              </a:rPr>
              <a:t>GRAVITÀ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800" b="1" dirty="0">
                <a:solidFill>
                  <a:srgbClr val="41002F"/>
                </a:solidFill>
              </a:rPr>
              <a:t>1 · superficiale</a:t>
            </a:r>
          </a:p>
        </p:txBody>
      </p:sp>
      <p:sp>
        <p:nvSpPr>
          <p:cNvPr id="12" name="Problema"/>
          <p:cNvSpPr txBox="1"/>
          <p:nvPr/>
        </p:nvSpPr>
        <p:spPr>
          <a:xfrm>
            <a:off x="609600" y="1625600"/>
            <a:ext cx="5130800" cy="2616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400" b="1" dirty="0">
                <a:solidFill>
                  <a:srgbClr val="6C0850"/>
                </a:solidFill>
              </a:rPr>
              <a:t>Problema</a:t>
            </a:r>
          </a:p>
          <a:p>
            <a:pPr marL="228600" indent="-228600" algn="l">
              <a:lnSpc>
                <a:spcPct val="100000"/>
              </a:lnSpc>
              <a:spcBef>
                <a:spcPts val="500"/>
              </a:spcBef>
              <a:buClr>
                <a:srgbClr val="6C0850"/>
              </a:buClr>
              <a:buFont typeface="Arial"/>
              <a:buChar char="•"/>
            </a:pPr>
            <a:r>
              <a:rPr lang="it-IT" sz="1400" b="0" dirty="0">
                <a:solidFill>
                  <a:srgbClr val="231C21"/>
                </a:solidFill>
              </a:rPr>
              <a:t>Etichette in inglese: «</a:t>
            </a:r>
            <a:r>
              <a:rPr lang="it-IT" sz="1400" b="0" dirty="0" err="1">
                <a:solidFill>
                  <a:srgbClr val="231C21"/>
                </a:solidFill>
              </a:rPr>
              <a:t>Overfunding</a:t>
            </a:r>
            <a:r>
              <a:rPr lang="it-IT" sz="1400" b="0" dirty="0">
                <a:solidFill>
                  <a:srgbClr val="231C21"/>
                </a:solidFill>
              </a:rPr>
              <a:t>», «Partnership».</a:t>
            </a:r>
          </a:p>
          <a:p>
            <a:pPr algn="l">
              <a:lnSpc>
                <a:spcPct val="100000"/>
              </a:lnSpc>
              <a:spcBef>
                <a:spcPts val="500"/>
              </a:spcBef>
              <a:buClr>
                <a:srgbClr val="6C0850"/>
              </a:buClr>
            </a:pPr>
            <a:endParaRPr lang="it-IT" sz="1400" dirty="0">
              <a:solidFill>
                <a:srgbClr val="231C21"/>
              </a:solidFill>
            </a:endParaRPr>
          </a:p>
          <a:p>
            <a:pPr algn="l">
              <a:lnSpc>
                <a:spcPct val="100000"/>
              </a:lnSpc>
              <a:spcBef>
                <a:spcPts val="500"/>
              </a:spcBef>
              <a:buClr>
                <a:srgbClr val="6C0850"/>
              </a:buClr>
            </a:pPr>
            <a:r>
              <a:rPr lang="it-IT" sz="1200" b="0" dirty="0">
                <a:solidFill>
                  <a:srgbClr val="6B6168"/>
                </a:solidFill>
              </a:rPr>
              <a:t>Gravità 1: termini isolati, quasi sempre comprensibili dal contesto, ma il pubblico include cittadini che non conoscono il crowdfunding.</a:t>
            </a:r>
          </a:p>
        </p:txBody>
      </p:sp>
      <p:sp>
        <p:nvSpPr>
          <p:cNvPr id="13" name="Soluzione"/>
          <p:cNvSpPr/>
          <p:nvPr/>
        </p:nvSpPr>
        <p:spPr>
          <a:xfrm>
            <a:off x="609600" y="4394200"/>
            <a:ext cx="5130800" cy="1727200"/>
          </a:xfrm>
          <a:prstGeom prst="rect">
            <a:avLst/>
          </a:prstGeom>
          <a:solidFill>
            <a:srgbClr val="F3EEF1"/>
          </a:solidFill>
          <a:ln>
            <a:noFill/>
          </a:ln>
        </p:spPr>
        <p:txBody>
          <a:bodyPr wrap="square" lIns="152400" tIns="152400" rIns="152400" bIns="15240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400" b="1" dirty="0">
                <a:solidFill>
                  <a:srgbClr val="6C0850"/>
                </a:solidFill>
              </a:rPr>
              <a:t>Possibile soluzione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endParaRPr lang="it-IT" sz="1400" b="1" dirty="0">
              <a:solidFill>
                <a:srgbClr val="6C0850"/>
              </a:solidFill>
            </a:endParaRPr>
          </a:p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400" dirty="0">
                <a:solidFill>
                  <a:srgbClr val="231C21"/>
                </a:solidFill>
              </a:rPr>
              <a:t>Spiegare i termini inglesi tramite </a:t>
            </a:r>
            <a:r>
              <a:rPr lang="it-IT" sz="1400" dirty="0" err="1">
                <a:solidFill>
                  <a:srgbClr val="231C21"/>
                </a:solidFill>
              </a:rPr>
              <a:t>tooltip</a:t>
            </a:r>
            <a:r>
              <a:rPr lang="it-IT" sz="1400" dirty="0">
                <a:solidFill>
                  <a:srgbClr val="231C21"/>
                </a:solidFill>
              </a:rPr>
              <a:t>.</a:t>
            </a:r>
          </a:p>
        </p:txBody>
      </p:sp>
      <p:sp>
        <p:nvSpPr>
          <p:cNvPr id="14" name="Segnaposto immagine"/>
          <p:cNvSpPr/>
          <p:nvPr/>
        </p:nvSpPr>
        <p:spPr>
          <a:xfrm>
            <a:off x="6045200" y="1625600"/>
            <a:ext cx="5537200" cy="2171700"/>
          </a:xfrm>
          <a:prstGeom prst="rect">
            <a:avLst/>
          </a:prstGeom>
          <a:solidFill>
            <a:srgbClr val="F7F4F6"/>
          </a:solidFill>
          <a:ln w="15875">
            <a:solidFill>
              <a:srgbClr val="B07A9F"/>
            </a:solidFill>
            <a:prstDash val="dash"/>
          </a:ln>
        </p:spPr>
        <p:txBody>
          <a:bodyPr wrap="square" lIns="127000" tIns="127000" rIns="127000" bIns="12700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200" b="1" dirty="0">
                <a:solidFill>
                  <a:srgbClr val="6C0850"/>
                </a:solidFill>
              </a:rPr>
              <a:t>[ SCREENSHOT DA INSERIRE ]</a:t>
            </a:r>
          </a:p>
          <a:p>
            <a:pPr marL="0" indent="0" algn="ctr">
              <a:lnSpc>
                <a:spcPct val="100000"/>
              </a:lnSpc>
              <a:spcBef>
                <a:spcPts val="400"/>
              </a:spcBef>
              <a:buNone/>
            </a:pPr>
            <a:r>
              <a:rPr lang="it-IT" sz="1400" b="1" dirty="0">
                <a:solidFill>
                  <a:srgbClr val="231C21"/>
                </a:solidFill>
              </a:rPr>
              <a:t>checkout_top.jpg</a:t>
            </a:r>
          </a:p>
          <a:p>
            <a:pPr marL="0" indent="0" algn="ctr">
              <a:lnSpc>
                <a:spcPct val="100000"/>
              </a:lnSpc>
              <a:spcBef>
                <a:spcPts val="300"/>
              </a:spcBef>
              <a:buNone/>
            </a:pPr>
            <a:r>
              <a:rPr lang="it-IT" sz="900" b="0" dirty="0">
                <a:solidFill>
                  <a:srgbClr val="6B6168"/>
                </a:solidFill>
              </a:rPr>
              <a:t>/Users/andreock/Desktop/hci_gruppo_a/assignment1/parti/antofallea/src/checkout_top.jpg</a:t>
            </a:r>
          </a:p>
          <a:p>
            <a:pPr marL="0" indent="0" algn="ctr">
              <a:lnSpc>
                <a:spcPct val="100000"/>
              </a:lnSpc>
              <a:spcBef>
                <a:spcPts val="300"/>
              </a:spcBef>
              <a:buNone/>
            </a:pPr>
            <a:r>
              <a:rPr lang="it-IT" sz="1000" b="0" dirty="0">
                <a:solidFill>
                  <a:srgbClr val="6B6168"/>
                </a:solidFill>
              </a:rPr>
              <a:t>Annotare con cerchi e frecce</a:t>
            </a:r>
          </a:p>
        </p:txBody>
      </p:sp>
      <p:sp>
        <p:nvSpPr>
          <p:cNvPr id="15" name="Segnaposto immagine"/>
          <p:cNvSpPr/>
          <p:nvPr/>
        </p:nvSpPr>
        <p:spPr>
          <a:xfrm>
            <a:off x="6045200" y="3949700"/>
            <a:ext cx="5537200" cy="2171700"/>
          </a:xfrm>
          <a:prstGeom prst="rect">
            <a:avLst/>
          </a:prstGeom>
          <a:solidFill>
            <a:srgbClr val="F7F4F6"/>
          </a:solidFill>
          <a:ln w="15875">
            <a:solidFill>
              <a:srgbClr val="B07A9F"/>
            </a:solidFill>
            <a:prstDash val="dash"/>
          </a:ln>
        </p:spPr>
        <p:txBody>
          <a:bodyPr wrap="square" lIns="127000" tIns="127000" rIns="127000" bIns="12700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200" b="1" dirty="0">
                <a:solidFill>
                  <a:srgbClr val="6C0850"/>
                </a:solidFill>
              </a:rPr>
              <a:t>[ SCREENSHOT DA FARE ]</a:t>
            </a:r>
          </a:p>
          <a:p>
            <a:pPr marL="0" indent="0" algn="ctr">
              <a:lnSpc>
                <a:spcPct val="100000"/>
              </a:lnSpc>
              <a:spcBef>
                <a:spcPts val="400"/>
              </a:spcBef>
              <a:buNone/>
            </a:pPr>
            <a:r>
              <a:rPr lang="it-IT" sz="1400" b="1" dirty="0">
                <a:solidFill>
                  <a:srgbClr val="231C21"/>
                </a:solidFill>
              </a:rPr>
              <a:t>screenshot scheda «Partnership» in homepage</a:t>
            </a:r>
          </a:p>
          <a:p>
            <a:pPr marL="0" indent="0" algn="ctr">
              <a:lnSpc>
                <a:spcPct val="100000"/>
              </a:lnSpc>
              <a:spcBef>
                <a:spcPts val="300"/>
              </a:spcBef>
              <a:buNone/>
            </a:pPr>
            <a:r>
              <a:rPr lang="it-IT" sz="900" b="0" dirty="0">
                <a:solidFill>
                  <a:srgbClr val="6B6168"/>
                </a:solidFill>
              </a:rPr>
              <a:t>Non presente nel CSV: catturare la scheda e salvarla in /Users/andreock/Desktop/hci_gruppo_a/assignment1/parti/antofallea/src/</a:t>
            </a:r>
          </a:p>
          <a:p>
            <a:pPr marL="0" indent="0" algn="ctr">
              <a:lnSpc>
                <a:spcPct val="100000"/>
              </a:lnSpc>
              <a:spcBef>
                <a:spcPts val="300"/>
              </a:spcBef>
              <a:buNone/>
            </a:pPr>
            <a:r>
              <a:rPr lang="it-IT" sz="1000" b="0" dirty="0">
                <a:solidFill>
                  <a:srgbClr val="6B6168"/>
                </a:solidFill>
              </a:rPr>
              <a:t>Annotare con cerchi e frecce</a:t>
            </a:r>
          </a:p>
        </p:txBody>
      </p:sp>
      <p:sp>
        <p:nvSpPr>
          <p:cNvPr id="16" name="Pagine e task"/>
          <p:cNvSpPr txBox="1"/>
          <p:nvPr/>
        </p:nvSpPr>
        <p:spPr>
          <a:xfrm>
            <a:off x="609600" y="6273800"/>
            <a:ext cx="109728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000" b="1" dirty="0">
                <a:solidFill>
                  <a:srgbClr val="6B6168"/>
                </a:solidFill>
              </a:rPr>
              <a:t>Pagine:</a:t>
            </a:r>
            <a:r>
              <a:rPr lang="it-IT" sz="1000" b="0" dirty="0">
                <a:solidFill>
                  <a:srgbClr val="6B6168"/>
                </a:solidFill>
              </a:rPr>
              <a:t> Partner UniTo › Progetti e Partnership · Progetto «Mind the Climate» · Modulo di donazione </a:t>
            </a:r>
            <a:r>
              <a:rPr lang="it-IT" sz="1000" dirty="0">
                <a:solidFill>
                  <a:srgbClr val="6B6168"/>
                </a:solidFill>
              </a:rPr>
              <a:t> </a:t>
            </a:r>
            <a:r>
              <a:rPr lang="it-IT" sz="1000" b="1" dirty="0">
                <a:solidFill>
                  <a:srgbClr val="6B6168"/>
                </a:solidFill>
              </a:rPr>
              <a:t>Task:</a:t>
            </a:r>
            <a:r>
              <a:rPr lang="it-IT" sz="1000" b="0" dirty="0">
                <a:solidFill>
                  <a:srgbClr val="6B6168"/>
                </a:solidFill>
              </a:rPr>
              <a:t> T2, T3, T5   </a:t>
            </a:r>
            <a:r>
              <a:rPr lang="it-IT" sz="1000" b="1" dirty="0">
                <a:solidFill>
                  <a:srgbClr val="6B6168"/>
                </a:solidFill>
              </a:rPr>
              <a:t>ID:</a:t>
            </a:r>
            <a:r>
              <a:rPr lang="it-IT" sz="1000" b="0" dirty="0">
                <a:solidFill>
                  <a:srgbClr val="6B6168"/>
                </a:solidFill>
              </a:rPr>
              <a:t> P06</a:t>
            </a:r>
          </a:p>
        </p:txBody>
      </p:sp>
    </p:spTree>
    <p:extLst>
      <p:ext uri="{BB962C8B-B14F-4D97-AF65-F5344CB8AC3E}">
        <p14:creationId xmlns:p14="http://schemas.microsoft.com/office/powerpoint/2010/main" val="421099960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E02AF6B-AA72-DBE5-2765-DCB30F6682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558800"/>
            <a:ext cx="8991600" cy="889000"/>
          </a:xfrm>
        </p:spPr>
        <p:txBody>
          <a:bodyPr anchor="t"/>
          <a:lstStyle/>
          <a:p>
            <a:pPr>
              <a:lnSpc>
                <a:spcPct val="90000"/>
              </a:lnSpc>
            </a:pPr>
            <a:r>
              <a:rPr lang="it-IT" sz="2600" b="1" dirty="0"/>
              <a:t>I giorni rimanenti sono scritti come numero negativo («-36 giorni»)</a:t>
            </a:r>
          </a:p>
        </p:txBody>
      </p:sp>
      <p:sp>
        <p:nvSpPr>
          <p:cNvPr id="10" name="Euristica"/>
          <p:cNvSpPr txBox="1"/>
          <p:nvPr/>
        </p:nvSpPr>
        <p:spPr>
          <a:xfrm>
            <a:off x="609600" y="254000"/>
            <a:ext cx="81280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200" b="1" dirty="0">
                <a:solidFill>
                  <a:srgbClr val="6C0850"/>
                </a:solidFill>
              </a:rPr>
              <a:t>H2 · CORRISPONDENZA TRA SISTEMA E MONDO REALE</a:t>
            </a:r>
          </a:p>
        </p:txBody>
      </p:sp>
      <p:sp>
        <p:nvSpPr>
          <p:cNvPr id="11" name="Badge gravità"/>
          <p:cNvSpPr/>
          <p:nvPr/>
        </p:nvSpPr>
        <p:spPr>
          <a:xfrm>
            <a:off x="9855200" y="381000"/>
            <a:ext cx="1727200" cy="736600"/>
          </a:xfrm>
          <a:prstGeom prst="roundRect">
            <a:avLst/>
          </a:prstGeom>
          <a:solidFill>
            <a:srgbClr val="C7A2BB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000" b="1" dirty="0">
                <a:solidFill>
                  <a:srgbClr val="41002F"/>
                </a:solidFill>
              </a:rPr>
              <a:t>GRAVITÀ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800" b="1" dirty="0">
                <a:solidFill>
                  <a:srgbClr val="41002F"/>
                </a:solidFill>
              </a:rPr>
              <a:t>2 · minore</a:t>
            </a:r>
          </a:p>
        </p:txBody>
      </p:sp>
      <p:sp>
        <p:nvSpPr>
          <p:cNvPr id="12" name="Problema"/>
          <p:cNvSpPr txBox="1"/>
          <p:nvPr/>
        </p:nvSpPr>
        <p:spPr>
          <a:xfrm>
            <a:off x="609600" y="1625600"/>
            <a:ext cx="5130800" cy="2616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400" b="1" dirty="0">
                <a:solidFill>
                  <a:srgbClr val="6C0850"/>
                </a:solidFill>
              </a:rPr>
              <a:t>Problema</a:t>
            </a:r>
          </a:p>
          <a:p>
            <a:pPr marL="228600" indent="-228600" algn="l">
              <a:lnSpc>
                <a:spcPct val="100000"/>
              </a:lnSpc>
              <a:spcBef>
                <a:spcPts val="500"/>
              </a:spcBef>
              <a:buClr>
                <a:srgbClr val="6C0850"/>
              </a:buClr>
              <a:buFont typeface="Arial"/>
              <a:buChar char="•"/>
            </a:pPr>
            <a:r>
              <a:rPr lang="it-IT" sz="1400" b="0" dirty="0">
                <a:solidFill>
                  <a:srgbClr val="231C21"/>
                </a:solidFill>
              </a:rPr>
              <a:t>Le card in corso e le pagine progetto (es. Mind the Climate) mostrano «-36», «-37», «-29 giorni»</a:t>
            </a:r>
          </a:p>
          <a:p>
            <a:pPr marL="228600" indent="-228600" algn="l">
              <a:lnSpc>
                <a:spcPct val="100000"/>
              </a:lnSpc>
              <a:spcBef>
                <a:spcPts val="500"/>
              </a:spcBef>
              <a:buClr>
                <a:srgbClr val="6C0850"/>
              </a:buClr>
              <a:buFont typeface="Arial"/>
              <a:buChar char="•"/>
            </a:pPr>
            <a:r>
              <a:rPr lang="it-IT" sz="1400" b="0" dirty="0">
                <a:solidFill>
                  <a:srgbClr val="231C21"/>
                </a:solidFill>
              </a:rPr>
              <a:t>Nel linguaggio comune «-36» si legge </a:t>
            </a:r>
            <a:r>
              <a:rPr lang="it-IT" sz="1400" b="1" dirty="0">
                <a:solidFill>
                  <a:srgbClr val="231C21"/>
                </a:solidFill>
              </a:rPr>
              <a:t>«scaduto da 36 giorni»</a:t>
            </a:r>
          </a:p>
          <a:p>
            <a:pPr marL="228600" indent="-228600" algn="l">
              <a:lnSpc>
                <a:spcPct val="100000"/>
              </a:lnSpc>
              <a:spcBef>
                <a:spcPts val="500"/>
              </a:spcBef>
              <a:buClr>
                <a:srgbClr val="6C0850"/>
              </a:buClr>
              <a:buFont typeface="Arial"/>
              <a:buChar char="•"/>
            </a:pPr>
            <a:r>
              <a:rPr lang="it-IT" sz="1400" b="0" dirty="0">
                <a:solidFill>
                  <a:srgbClr val="231C21"/>
                </a:solidFill>
              </a:rPr>
              <a:t>Una campagna attiva sembra chiusa, proprio accanto a quelle concluse</a:t>
            </a:r>
          </a:p>
          <a:p>
            <a:pPr marL="228600" indent="-228600" algn="l">
              <a:lnSpc>
                <a:spcPct val="100000"/>
              </a:lnSpc>
              <a:spcBef>
                <a:spcPts val="500"/>
              </a:spcBef>
              <a:buClr>
                <a:srgbClr val="6C0850"/>
              </a:buClr>
              <a:buFont typeface="Arial"/>
              <a:buChar char="•"/>
            </a:pPr>
            <a:r>
              <a:rPr lang="it-IT" sz="1400" b="0" dirty="0">
                <a:solidFill>
                  <a:srgbClr val="231C21"/>
                </a:solidFill>
              </a:rPr>
              <a:t>Con il badge mancante (slide precedente) l’utente può </a:t>
            </a:r>
            <a:r>
              <a:rPr lang="it-IT" sz="1400" b="1" dirty="0">
                <a:solidFill>
                  <a:srgbClr val="231C21"/>
                </a:solidFill>
              </a:rPr>
              <a:t>scartare progetti ancora aperti</a:t>
            </a:r>
          </a:p>
          <a:p>
            <a:pPr marL="0" indent="0" algn="l">
              <a:lnSpc>
                <a:spcPct val="100000"/>
              </a:lnSpc>
              <a:spcBef>
                <a:spcPts val="900"/>
              </a:spcBef>
              <a:buNone/>
            </a:pPr>
            <a:r>
              <a:rPr lang="it-IT" sz="1100" b="0" dirty="0">
                <a:solidFill>
                  <a:srgbClr val="6B6168"/>
                </a:solidFill>
              </a:rPr>
              <a:t>Gravità 2: compare su ogni campagna attiva; l’equivoco si scioglie con «Scade il 17/11/2026» nella pagina progetto. Nel CSV è H2 (P04), nelle note è E1: scegliere una sola euristica.</a:t>
            </a:r>
          </a:p>
        </p:txBody>
      </p:sp>
      <p:sp>
        <p:nvSpPr>
          <p:cNvPr id="13" name="Soluzione"/>
          <p:cNvSpPr/>
          <p:nvPr/>
        </p:nvSpPr>
        <p:spPr>
          <a:xfrm>
            <a:off x="609600" y="4394200"/>
            <a:ext cx="5130800" cy="1727200"/>
          </a:xfrm>
          <a:prstGeom prst="rect">
            <a:avLst/>
          </a:prstGeom>
          <a:solidFill>
            <a:srgbClr val="F3EEF1"/>
          </a:solidFill>
          <a:ln>
            <a:noFill/>
          </a:ln>
        </p:spPr>
        <p:txBody>
          <a:bodyPr wrap="square" lIns="152400" tIns="152400" rIns="152400" bIns="15240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400" b="1" dirty="0">
                <a:solidFill>
                  <a:srgbClr val="6C0850"/>
                </a:solidFill>
              </a:rPr>
              <a:t>Possibile soluzione</a:t>
            </a:r>
          </a:p>
          <a:p>
            <a:pPr marL="0" indent="0" algn="l">
              <a:lnSpc>
                <a:spcPct val="100000"/>
              </a:lnSpc>
              <a:spcBef>
                <a:spcPts val="400"/>
              </a:spcBef>
              <a:buNone/>
            </a:pPr>
            <a:r>
              <a:rPr lang="it-IT" sz="1400" b="0" dirty="0">
                <a:solidFill>
                  <a:srgbClr val="231C21"/>
                </a:solidFill>
              </a:rPr>
              <a:t>Scrivere «36 giorni rimasti» (e «ultimo giorno») e riportare la data di scadenza anche nelle card dell’elenco.</a:t>
            </a:r>
          </a:p>
        </p:txBody>
      </p:sp>
      <p:sp>
        <p:nvSpPr>
          <p:cNvPr id="14" name="Segnaposto immagine 1"/>
          <p:cNvSpPr/>
          <p:nvPr/>
        </p:nvSpPr>
        <p:spPr>
          <a:xfrm>
            <a:off x="6045200" y="1625600"/>
            <a:ext cx="5537200" cy="4495800"/>
          </a:xfrm>
          <a:prstGeom prst="rect">
            <a:avLst/>
          </a:prstGeom>
          <a:solidFill>
            <a:srgbClr val="F7F4F6"/>
          </a:solidFill>
          <a:ln w="15875">
            <a:solidFill>
              <a:srgbClr val="B07A9F"/>
            </a:solidFill>
            <a:prstDash val="dash"/>
          </a:ln>
        </p:spPr>
        <p:txBody>
          <a:bodyPr wrap="square" lIns="127000" tIns="127000" rIns="127000" bIns="12700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200" b="1" dirty="0">
                <a:solidFill>
                  <a:srgbClr val="6C0850"/>
                </a:solidFill>
              </a:rPr>
              <a:t>[ SCREENSHOT DA INSERIRE ]</a:t>
            </a:r>
          </a:p>
          <a:p>
            <a:pPr marL="0" indent="0" algn="ctr">
              <a:lnSpc>
                <a:spcPct val="100000"/>
              </a:lnSpc>
              <a:spcBef>
                <a:spcPts val="400"/>
              </a:spcBef>
              <a:buNone/>
            </a:pPr>
            <a:r>
              <a:rPr lang="it-IT" sz="1400" b="1" dirty="0">
                <a:solidFill>
                  <a:srgbClr val="231C21"/>
                </a:solidFill>
              </a:rPr>
              <a:t>lista_cards.jpg</a:t>
            </a:r>
          </a:p>
          <a:p>
            <a:pPr marL="0" indent="0" algn="ctr">
              <a:lnSpc>
                <a:spcPct val="100000"/>
              </a:lnSpc>
              <a:spcBef>
                <a:spcPts val="300"/>
              </a:spcBef>
              <a:buNone/>
            </a:pPr>
            <a:r>
              <a:rPr lang="it-IT" sz="900" b="0" dirty="0">
                <a:solidFill>
                  <a:srgbClr val="6B6168"/>
                </a:solidFill>
              </a:rPr>
              <a:t>/Users/andreock/Desktop/hci_gruppo_a/assignment1/parti/antofallea/src/lista_cards.jpg</a:t>
            </a:r>
          </a:p>
          <a:p>
            <a:pPr marL="0" indent="0" algn="ctr">
              <a:lnSpc>
                <a:spcPct val="100000"/>
              </a:lnSpc>
              <a:spcBef>
                <a:spcPts val="300"/>
              </a:spcBef>
              <a:buNone/>
            </a:pPr>
            <a:r>
              <a:rPr lang="it-IT" sz="1000" b="0" dirty="0">
                <a:solidFill>
                  <a:srgbClr val="6B6168"/>
                </a:solidFill>
              </a:rPr>
              <a:t>Annotare con cerchi e frecce</a:t>
            </a:r>
          </a:p>
        </p:txBody>
      </p:sp>
      <p:sp>
        <p:nvSpPr>
          <p:cNvPr id="15" name="Pagine e task"/>
          <p:cNvSpPr txBox="1"/>
          <p:nvPr/>
        </p:nvSpPr>
        <p:spPr>
          <a:xfrm>
            <a:off x="609600" y="6273800"/>
            <a:ext cx="109728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000" b="1" dirty="0">
                <a:solidFill>
                  <a:srgbClr val="6B6168"/>
                </a:solidFill>
              </a:rPr>
              <a:t>Pagine:</a:t>
            </a:r>
            <a:r>
              <a:rPr lang="it-IT" sz="1000" b="0" dirty="0">
                <a:solidFill>
                  <a:srgbClr val="6B6168"/>
                </a:solidFill>
              </a:rPr>
              <a:t> Partner UniTo › Progetti · Ricerca progetti · Progetti «MILK-ACT» e «Mind the Climate»   </a:t>
            </a:r>
            <a:r>
              <a:rPr lang="it-IT" sz="1000" b="1" dirty="0">
                <a:solidFill>
                  <a:srgbClr val="6B6168"/>
                </a:solidFill>
              </a:rPr>
              <a:t>Task:</a:t>
            </a:r>
            <a:r>
              <a:rPr lang="it-IT" sz="1000" b="0" dirty="0">
                <a:solidFill>
                  <a:srgbClr val="6B6168"/>
                </a:solidFill>
              </a:rPr>
              <a:t> T4, T2   </a:t>
            </a:r>
            <a:r>
              <a:rPr lang="it-IT" sz="1000" b="1" dirty="0">
                <a:solidFill>
                  <a:srgbClr val="6B6168"/>
                </a:solidFill>
              </a:rPr>
              <a:t>ID:</a:t>
            </a:r>
            <a:r>
              <a:rPr lang="it-IT" sz="1000" b="0" dirty="0">
                <a:solidFill>
                  <a:srgbClr val="6B6168"/>
                </a:solidFill>
              </a:rPr>
              <a:t> P04</a:t>
            </a:r>
          </a:p>
        </p:txBody>
      </p:sp>
    </p:spTree>
    <p:extLst>
      <p:ext uri="{BB962C8B-B14F-4D97-AF65-F5344CB8AC3E}">
        <p14:creationId xmlns:p14="http://schemas.microsoft.com/office/powerpoint/2010/main" val="224798354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E637FEA-465C-0891-15C9-21856742A7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558800"/>
            <a:ext cx="8991600" cy="889000"/>
          </a:xfrm>
        </p:spPr>
        <p:txBody>
          <a:bodyPr anchor="t"/>
          <a:lstStyle/>
          <a:p>
            <a:pPr>
              <a:lnSpc>
                <a:spcPct val="90000"/>
              </a:lnSpc>
            </a:pPr>
            <a:r>
              <a:rPr lang="it-IT" sz="2600" b="1" dirty="0"/>
              <a:t>I contatori non spiegano cosa misurano e non tornano con le card</a:t>
            </a:r>
          </a:p>
        </p:txBody>
      </p:sp>
      <p:sp>
        <p:nvSpPr>
          <p:cNvPr id="10" name="Euristica"/>
          <p:cNvSpPr txBox="1"/>
          <p:nvPr/>
        </p:nvSpPr>
        <p:spPr>
          <a:xfrm>
            <a:off x="609600" y="254000"/>
            <a:ext cx="88900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200" b="1" dirty="0">
                <a:solidFill>
                  <a:srgbClr val="6C0850"/>
                </a:solidFill>
              </a:rPr>
              <a:t>H2 · CORRISPONDENZA  ·  H4 COERENZA  ·  H8 MINIMALISMO</a:t>
            </a:r>
          </a:p>
        </p:txBody>
      </p:sp>
      <p:sp>
        <p:nvSpPr>
          <p:cNvPr id="11" name="Badge gravità"/>
          <p:cNvSpPr/>
          <p:nvPr/>
        </p:nvSpPr>
        <p:spPr>
          <a:xfrm>
            <a:off x="9855200" y="381000"/>
            <a:ext cx="1727200" cy="736600"/>
          </a:xfrm>
          <a:prstGeom prst="roundRect">
            <a:avLst/>
          </a:prstGeom>
          <a:solidFill>
            <a:srgbClr val="C7A2BB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000" b="1" dirty="0">
                <a:solidFill>
                  <a:srgbClr val="41002F"/>
                </a:solidFill>
              </a:rPr>
              <a:t>GRAVITÀ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800" b="1" dirty="0">
                <a:solidFill>
                  <a:srgbClr val="41002F"/>
                </a:solidFill>
              </a:rPr>
              <a:t>2 · minore</a:t>
            </a:r>
          </a:p>
        </p:txBody>
      </p:sp>
      <p:sp>
        <p:nvSpPr>
          <p:cNvPr id="12" name="Problema"/>
          <p:cNvSpPr txBox="1"/>
          <p:nvPr/>
        </p:nvSpPr>
        <p:spPr>
          <a:xfrm>
            <a:off x="609600" y="1625600"/>
            <a:ext cx="5130800" cy="2616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400" b="1" dirty="0">
                <a:solidFill>
                  <a:srgbClr val="6C0850"/>
                </a:solidFill>
              </a:rPr>
              <a:t>Problema</a:t>
            </a:r>
          </a:p>
          <a:p>
            <a:pPr marL="228600" indent="-228600" algn="l">
              <a:lnSpc>
                <a:spcPct val="100000"/>
              </a:lnSpc>
              <a:spcBef>
                <a:spcPts val="500"/>
              </a:spcBef>
              <a:buClr>
                <a:srgbClr val="6C0850"/>
              </a:buClr>
              <a:buFont typeface="Arial"/>
              <a:buChar char="•"/>
            </a:pPr>
            <a:r>
              <a:rPr lang="it-IT" sz="1400" b="0" dirty="0">
                <a:solidFill>
                  <a:srgbClr val="231C21"/>
                </a:solidFill>
              </a:rPr>
              <a:t>«100% SUCCESSO» e «369% OVERFUNDING» sono </a:t>
            </a:r>
            <a:r>
              <a:rPr lang="it-IT" sz="1400" b="1" dirty="0">
                <a:solidFill>
                  <a:srgbClr val="231C21"/>
                </a:solidFill>
              </a:rPr>
              <a:t>termini del crowdfunding</a:t>
            </a:r>
            <a:r>
              <a:rPr lang="it-IT" sz="1400" b="0" dirty="0">
                <a:solidFill>
                  <a:srgbClr val="231C21"/>
                </a:solidFill>
              </a:rPr>
              <a:t> senza spiegazione né contesto</a:t>
            </a:r>
          </a:p>
          <a:p>
            <a:pPr marL="228600" indent="-228600" algn="l">
              <a:lnSpc>
                <a:spcPct val="100000"/>
              </a:lnSpc>
              <a:spcBef>
                <a:spcPts val="500"/>
              </a:spcBef>
              <a:buClr>
                <a:srgbClr val="6C0850"/>
              </a:buClr>
              <a:buFont typeface="Arial"/>
              <a:buChar char="•"/>
            </a:pPr>
            <a:r>
              <a:rPr lang="it-IT" sz="1400" b="0" dirty="0">
                <a:solidFill>
                  <a:srgbClr val="231C21"/>
                </a:solidFill>
              </a:rPr>
              <a:t>La pagina dichiara </a:t>
            </a:r>
            <a:r>
              <a:rPr lang="it-IT" sz="1400" b="1" dirty="0">
                <a:solidFill>
                  <a:srgbClr val="231C21"/>
                </a:solidFill>
              </a:rPr>
              <a:t>18 progetti</a:t>
            </a:r>
            <a:r>
              <a:rPr lang="it-IT" sz="1400" b="0" dirty="0">
                <a:solidFill>
                  <a:srgbClr val="231C21"/>
                </a:solidFill>
              </a:rPr>
              <a:t>, la scheda Partnership parla di 13 nelle edizioni precedenti</a:t>
            </a:r>
          </a:p>
          <a:p>
            <a:pPr marL="228600" indent="-228600" algn="l">
              <a:lnSpc>
                <a:spcPct val="100000"/>
              </a:lnSpc>
              <a:spcBef>
                <a:spcPts val="500"/>
              </a:spcBef>
              <a:buClr>
                <a:srgbClr val="6C0850"/>
              </a:buClr>
              <a:buFont typeface="Arial"/>
              <a:buChar char="•"/>
            </a:pPr>
            <a:r>
              <a:rPr lang="it-IT" sz="1400" b="0" dirty="0">
                <a:solidFill>
                  <a:srgbClr val="231C21"/>
                </a:solidFill>
              </a:rPr>
              <a:t>Gli stessi cinque contatori sono </a:t>
            </a:r>
            <a:r>
              <a:rPr lang="it-IT" sz="1400" b="1" dirty="0">
                <a:solidFill>
                  <a:srgbClr val="231C21"/>
                </a:solidFill>
              </a:rPr>
              <a:t>ripetuti</a:t>
            </a:r>
            <a:r>
              <a:rPr lang="it-IT" sz="1400" b="0" dirty="0">
                <a:solidFill>
                  <a:srgbClr val="231C21"/>
                </a:solidFill>
              </a:rPr>
              <a:t> anche nella scheda Partnership</a:t>
            </a:r>
          </a:p>
          <a:p>
            <a:pPr marL="0" indent="0" algn="l">
              <a:lnSpc>
                <a:spcPct val="100000"/>
              </a:lnSpc>
              <a:spcBef>
                <a:spcPts val="900"/>
              </a:spcBef>
              <a:buNone/>
            </a:pPr>
            <a:r>
              <a:rPr lang="it-IT" sz="1100" b="0" dirty="0">
                <a:solidFill>
                  <a:srgbClr val="6B6168"/>
                </a:solidFill>
              </a:rPr>
              <a:t>Gravità 2 per tutti e tre i punti nelle note. Vedi anche P06 per il termine «Overfunding».</a:t>
            </a:r>
          </a:p>
        </p:txBody>
      </p:sp>
      <p:sp>
        <p:nvSpPr>
          <p:cNvPr id="13" name="Soluzione"/>
          <p:cNvSpPr/>
          <p:nvPr/>
        </p:nvSpPr>
        <p:spPr>
          <a:xfrm>
            <a:off x="609600" y="4394200"/>
            <a:ext cx="5130800" cy="1727200"/>
          </a:xfrm>
          <a:prstGeom prst="rect">
            <a:avLst/>
          </a:prstGeom>
          <a:solidFill>
            <a:srgbClr val="F3EEF1"/>
          </a:solidFill>
          <a:ln>
            <a:noFill/>
          </a:ln>
        </p:spPr>
        <p:txBody>
          <a:bodyPr wrap="square" lIns="152400" tIns="152400" rIns="152400" bIns="15240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400" b="1" dirty="0">
                <a:solidFill>
                  <a:srgbClr val="6C0850"/>
                </a:solidFill>
              </a:rPr>
              <a:t>Possibile soluzione</a:t>
            </a:r>
          </a:p>
          <a:p>
            <a:pPr marL="0" indent="0" algn="l">
              <a:lnSpc>
                <a:spcPct val="100000"/>
              </a:lnSpc>
              <a:spcBef>
                <a:spcPts val="400"/>
              </a:spcBef>
              <a:buNone/>
            </a:pPr>
            <a:r>
              <a:rPr lang="it-IT" sz="1400" b="0" dirty="0">
                <a:solidFill>
                  <a:srgbClr val="231C21"/>
                </a:solidFill>
              </a:rPr>
              <a:t>Etichette leggibili con tooltip («Raccolto in media il 369% dell’obiettivo»), dettaglio «13 progetti nelle edizioni precedenti + 5 nel 2026» e contatori in un solo punto (scheda Progetti).</a:t>
            </a:r>
          </a:p>
        </p:txBody>
      </p:sp>
      <p:sp>
        <p:nvSpPr>
          <p:cNvPr id="14" name="Segnaposto immagine 1"/>
          <p:cNvSpPr/>
          <p:nvPr/>
        </p:nvSpPr>
        <p:spPr>
          <a:xfrm>
            <a:off x="6045200" y="1625600"/>
            <a:ext cx="5537200" cy="4495800"/>
          </a:xfrm>
          <a:prstGeom prst="rect">
            <a:avLst/>
          </a:prstGeom>
          <a:solidFill>
            <a:srgbClr val="F7F4F6"/>
          </a:solidFill>
          <a:ln w="15875">
            <a:solidFill>
              <a:srgbClr val="B07A9F"/>
            </a:solidFill>
            <a:prstDash val="dash"/>
          </a:ln>
        </p:spPr>
        <p:txBody>
          <a:bodyPr wrap="square" lIns="127000" tIns="127000" rIns="127000" bIns="12700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200" b="1" dirty="0">
                <a:solidFill>
                  <a:srgbClr val="6C0850"/>
                </a:solidFill>
              </a:rPr>
              <a:t>[ SCREENSHOT DA FARE ]</a:t>
            </a:r>
          </a:p>
          <a:p>
            <a:pPr marL="0" indent="0" algn="ctr">
              <a:lnSpc>
                <a:spcPct val="100000"/>
              </a:lnSpc>
              <a:spcBef>
                <a:spcPts val="400"/>
              </a:spcBef>
              <a:buNone/>
            </a:pPr>
            <a:r>
              <a:rPr lang="it-IT" sz="1400" b="1" dirty="0">
                <a:solidFill>
                  <a:srgbClr val="231C21"/>
                </a:solidFill>
              </a:rPr>
              <a:t>Contatori della scheda Progetti</a:t>
            </a:r>
          </a:p>
          <a:p>
            <a:pPr marL="0" indent="0" algn="ctr">
              <a:lnSpc>
                <a:spcPct val="100000"/>
              </a:lnSpc>
              <a:spcBef>
                <a:spcPts val="300"/>
              </a:spcBef>
              <a:buNone/>
            </a:pPr>
            <a:r>
              <a:rPr lang="it-IT" sz="900" b="0" dirty="0">
                <a:solidFill>
                  <a:srgbClr val="6B6168"/>
                </a:solidFill>
              </a:rPr>
              <a:t>Salvare in /Users/andreock/Desktop/hci_gruppo_a/assignment1/parti/antofallea/src/</a:t>
            </a:r>
          </a:p>
          <a:p>
            <a:pPr marL="0" indent="0" algn="ctr">
              <a:lnSpc>
                <a:spcPct val="100000"/>
              </a:lnSpc>
              <a:spcBef>
                <a:spcPts val="300"/>
              </a:spcBef>
              <a:buNone/>
            </a:pPr>
            <a:r>
              <a:rPr lang="it-IT" sz="1000" b="0" dirty="0">
                <a:solidFill>
                  <a:srgbClr val="6B6168"/>
                </a:solidFill>
              </a:rPr>
              <a:t>Annotare con cerchi e frecce</a:t>
            </a:r>
          </a:p>
        </p:txBody>
      </p:sp>
      <p:sp>
        <p:nvSpPr>
          <p:cNvPr id="15" name="Pagine e task"/>
          <p:cNvSpPr txBox="1"/>
          <p:nvPr/>
        </p:nvSpPr>
        <p:spPr>
          <a:xfrm>
            <a:off x="609600" y="6273800"/>
            <a:ext cx="109728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000" b="1" dirty="0">
                <a:solidFill>
                  <a:srgbClr val="6B6168"/>
                </a:solidFill>
              </a:rPr>
              <a:t>Pagine:</a:t>
            </a:r>
            <a:r>
              <a:rPr lang="it-IT" sz="1000" b="0" dirty="0">
                <a:solidFill>
                  <a:srgbClr val="6B6168"/>
                </a:solidFill>
              </a:rPr>
              <a:t> Partner UniTo › Progetti · Partner UniTo › Partnership   </a:t>
            </a:r>
            <a:r>
              <a:rPr lang="it-IT" sz="1000" b="1" dirty="0">
                <a:solidFill>
                  <a:srgbClr val="6B6168"/>
                </a:solidFill>
              </a:rPr>
              <a:t>Task:</a:t>
            </a:r>
            <a:r>
              <a:rPr lang="it-IT" sz="1000" b="0" dirty="0">
                <a:solidFill>
                  <a:srgbClr val="6B6168"/>
                </a:solidFill>
              </a:rPr>
              <a:t> T1, T4   </a:t>
            </a:r>
            <a:r>
              <a:rPr lang="it-IT" sz="1000" b="1" dirty="0">
                <a:solidFill>
                  <a:srgbClr val="6B6168"/>
                </a:solidFill>
              </a:rPr>
              <a:t>ID:</a:t>
            </a:r>
            <a:r>
              <a:rPr lang="it-IT" sz="1000" b="0" dirty="0">
                <a:solidFill>
                  <a:srgbClr val="6B6168"/>
                </a:solidFill>
              </a:rPr>
              <a:t> [ da assegnare ]</a:t>
            </a:r>
          </a:p>
        </p:txBody>
      </p:sp>
    </p:spTree>
    <p:extLst>
      <p:ext uri="{BB962C8B-B14F-4D97-AF65-F5344CB8AC3E}">
        <p14:creationId xmlns:p14="http://schemas.microsoft.com/office/powerpoint/2010/main" val="49828957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06371BE-5DA4-B6CA-D77C-8B6E411C33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558800"/>
            <a:ext cx="8991600" cy="889000"/>
          </a:xfrm>
        </p:spPr>
        <p:txBody>
          <a:bodyPr anchor="t"/>
          <a:lstStyle/>
          <a:p>
            <a:pPr>
              <a:lnSpc>
                <a:spcPct val="90000"/>
              </a:lnSpc>
            </a:pPr>
            <a:r>
              <a:rPr lang="it-IT" sz="2600" b="1" dirty="0"/>
              <a:t>Dagli autori dei progetti non si capisce che sono gruppi di ricerca UniTo</a:t>
            </a:r>
          </a:p>
        </p:txBody>
      </p:sp>
      <p:sp>
        <p:nvSpPr>
          <p:cNvPr id="10" name="Euristica"/>
          <p:cNvSpPr txBox="1"/>
          <p:nvPr/>
        </p:nvSpPr>
        <p:spPr>
          <a:xfrm>
            <a:off x="609600" y="254000"/>
            <a:ext cx="88900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200" b="1" dirty="0">
                <a:solidFill>
                  <a:srgbClr val="6C0850"/>
                </a:solidFill>
              </a:rPr>
              <a:t>H2 · CORRISPONDENZA TRA SISTEMA E MONDO REALE</a:t>
            </a:r>
          </a:p>
        </p:txBody>
      </p:sp>
      <p:sp>
        <p:nvSpPr>
          <p:cNvPr id="11" name="Badge gravità"/>
          <p:cNvSpPr/>
          <p:nvPr/>
        </p:nvSpPr>
        <p:spPr>
          <a:xfrm>
            <a:off x="9855200" y="381000"/>
            <a:ext cx="1727200" cy="736600"/>
          </a:xfrm>
          <a:prstGeom prst="roundRect">
            <a:avLst/>
          </a:prstGeom>
          <a:solidFill>
            <a:srgbClr val="C7A2BB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000" b="1" dirty="0">
                <a:solidFill>
                  <a:srgbClr val="41002F"/>
                </a:solidFill>
              </a:rPr>
              <a:t>GRAVITÀ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800" b="1" dirty="0">
                <a:solidFill>
                  <a:srgbClr val="41002F"/>
                </a:solidFill>
              </a:rPr>
              <a:t>2 · minore</a:t>
            </a:r>
          </a:p>
        </p:txBody>
      </p:sp>
      <p:sp>
        <p:nvSpPr>
          <p:cNvPr id="12" name="Problema"/>
          <p:cNvSpPr txBox="1"/>
          <p:nvPr/>
        </p:nvSpPr>
        <p:spPr>
          <a:xfrm>
            <a:off x="609600" y="1625600"/>
            <a:ext cx="5130800" cy="2616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400" b="1" dirty="0">
                <a:solidFill>
                  <a:srgbClr val="6C0850"/>
                </a:solidFill>
              </a:rPr>
              <a:t>Problema</a:t>
            </a:r>
          </a:p>
          <a:p>
            <a:pPr marL="228600" indent="-228600" algn="l">
              <a:lnSpc>
                <a:spcPct val="100000"/>
              </a:lnSpc>
              <a:spcBef>
                <a:spcPts val="500"/>
              </a:spcBef>
              <a:buClr>
                <a:srgbClr val="6C0850"/>
              </a:buClr>
              <a:buFont typeface="Arial"/>
              <a:buChar char="•"/>
            </a:pPr>
            <a:r>
              <a:rPr lang="it-IT" sz="1400" b="0" dirty="0">
                <a:solidFill>
                  <a:srgbClr val="231C21"/>
                </a:solidFill>
              </a:rPr>
              <a:t>Le card mostrano autori eterogenei: «by VIRMOLAB - UniTo», «by Departments &amp; Dragons», «by Team GaIA»</a:t>
            </a:r>
          </a:p>
          <a:p>
            <a:pPr marL="228600" indent="-228600" algn="l">
              <a:lnSpc>
                <a:spcPct val="100000"/>
              </a:lnSpc>
              <a:spcBef>
                <a:spcPts val="500"/>
              </a:spcBef>
              <a:buClr>
                <a:srgbClr val="6C0850"/>
              </a:buClr>
              <a:buFont typeface="Arial"/>
              <a:buChar char="•"/>
            </a:pPr>
            <a:r>
              <a:rPr lang="it-IT" sz="1400" b="0" dirty="0">
                <a:solidFill>
                  <a:srgbClr val="231C21"/>
                </a:solidFill>
              </a:rPr>
              <a:t>Solo alcuni nomi richiamano l’Ateneo, soprattutto </a:t>
            </a:r>
            <a:r>
              <a:rPr lang="it-IT" sz="1400" b="1" dirty="0">
                <a:solidFill>
                  <a:srgbClr val="231C21"/>
                </a:solidFill>
              </a:rPr>
              <a:t>nei progetti conclusi</a:t>
            </a:r>
          </a:p>
          <a:p>
            <a:pPr marL="228600" indent="-228600" algn="l">
              <a:lnSpc>
                <a:spcPct val="100000"/>
              </a:lnSpc>
              <a:spcBef>
                <a:spcPts val="500"/>
              </a:spcBef>
              <a:buClr>
                <a:srgbClr val="6C0850"/>
              </a:buClr>
              <a:buFont typeface="Arial"/>
              <a:buChar char="•"/>
            </a:pPr>
            <a:r>
              <a:rPr lang="it-IT" sz="1400" b="0" dirty="0">
                <a:solidFill>
                  <a:srgbClr val="231C21"/>
                </a:solidFill>
              </a:rPr>
              <a:t>Il cittadino non ha la conferma di sostenere la </a:t>
            </a:r>
            <a:r>
              <a:rPr lang="it-IT" sz="1400" b="1" dirty="0">
                <a:solidFill>
                  <a:srgbClr val="231C21"/>
                </a:solidFill>
              </a:rPr>
              <a:t>ricerca universitaria</a:t>
            </a:r>
          </a:p>
          <a:p>
            <a:pPr marL="0" indent="0" algn="l">
              <a:lnSpc>
                <a:spcPct val="100000"/>
              </a:lnSpc>
              <a:spcBef>
                <a:spcPts val="900"/>
              </a:spcBef>
              <a:buNone/>
            </a:pPr>
            <a:r>
              <a:rPr lang="it-IT" sz="1100" b="0" dirty="0">
                <a:solidFill>
                  <a:srgbClr val="6B6168"/>
                </a:solidFill>
              </a:rPr>
              <a:t>Gravità 2 dalle note.</a:t>
            </a:r>
          </a:p>
        </p:txBody>
      </p:sp>
      <p:sp>
        <p:nvSpPr>
          <p:cNvPr id="13" name="Soluzione"/>
          <p:cNvSpPr/>
          <p:nvPr/>
        </p:nvSpPr>
        <p:spPr>
          <a:xfrm>
            <a:off x="609600" y="4394200"/>
            <a:ext cx="5130800" cy="1727200"/>
          </a:xfrm>
          <a:prstGeom prst="rect">
            <a:avLst/>
          </a:prstGeom>
          <a:solidFill>
            <a:srgbClr val="F3EEF1"/>
          </a:solidFill>
          <a:ln>
            <a:noFill/>
          </a:ln>
        </p:spPr>
        <p:txBody>
          <a:bodyPr wrap="square" lIns="152400" tIns="152400" rIns="152400" bIns="15240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400" b="1" dirty="0">
                <a:solidFill>
                  <a:srgbClr val="6C0850"/>
                </a:solidFill>
              </a:rPr>
              <a:t>Possibile soluzione</a:t>
            </a:r>
          </a:p>
          <a:p>
            <a:pPr marL="0" indent="0" algn="l">
              <a:lnSpc>
                <a:spcPct val="100000"/>
              </a:lnSpc>
              <a:spcBef>
                <a:spcPts val="400"/>
              </a:spcBef>
              <a:buNone/>
            </a:pPr>
            <a:r>
              <a:rPr lang="it-IT" sz="1400" b="0" dirty="0">
                <a:solidFill>
                  <a:srgbClr val="231C21"/>
                </a:solidFill>
              </a:rPr>
              <a:t>Sotto il nome del team, una riga fissa con dipartimento e ateneo («Dip. di Neuroscienze · Università di Torino»).</a:t>
            </a:r>
          </a:p>
        </p:txBody>
      </p:sp>
      <p:sp>
        <p:nvSpPr>
          <p:cNvPr id="14" name="Segnaposto immagine 1"/>
          <p:cNvSpPr/>
          <p:nvPr/>
        </p:nvSpPr>
        <p:spPr>
          <a:xfrm>
            <a:off x="6045200" y="1625600"/>
            <a:ext cx="5537200" cy="4495800"/>
          </a:xfrm>
          <a:prstGeom prst="rect">
            <a:avLst/>
          </a:prstGeom>
          <a:solidFill>
            <a:srgbClr val="F7F4F6"/>
          </a:solidFill>
          <a:ln w="15875">
            <a:solidFill>
              <a:srgbClr val="B07A9F"/>
            </a:solidFill>
            <a:prstDash val="dash"/>
          </a:ln>
        </p:spPr>
        <p:txBody>
          <a:bodyPr wrap="square" lIns="127000" tIns="127000" rIns="127000" bIns="12700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200" b="1" dirty="0">
                <a:solidFill>
                  <a:srgbClr val="6C0850"/>
                </a:solidFill>
              </a:rPr>
              <a:t>[ SCREENSHOT DA FARE ]</a:t>
            </a:r>
          </a:p>
          <a:p>
            <a:pPr marL="0" indent="0" algn="ctr">
              <a:lnSpc>
                <a:spcPct val="100000"/>
              </a:lnSpc>
              <a:spcBef>
                <a:spcPts val="400"/>
              </a:spcBef>
              <a:buNone/>
            </a:pPr>
            <a:r>
              <a:rPr lang="it-IT" sz="1400" b="1" dirty="0">
                <a:solidFill>
                  <a:srgbClr val="231C21"/>
                </a:solidFill>
              </a:rPr>
              <a:t>Card con autori diversi</a:t>
            </a:r>
          </a:p>
          <a:p>
            <a:pPr marL="0" indent="0" algn="ctr">
              <a:lnSpc>
                <a:spcPct val="100000"/>
              </a:lnSpc>
              <a:spcBef>
                <a:spcPts val="300"/>
              </a:spcBef>
              <a:buNone/>
            </a:pPr>
            <a:r>
              <a:rPr lang="it-IT" sz="900" b="0" dirty="0">
                <a:solidFill>
                  <a:srgbClr val="6B6168"/>
                </a:solidFill>
              </a:rPr>
              <a:t>Salvare in /Users/andreock/Desktop/hci_gruppo_a/assignment1/parti/antofallea/src/</a:t>
            </a:r>
          </a:p>
          <a:p>
            <a:pPr marL="0" indent="0" algn="ctr">
              <a:lnSpc>
                <a:spcPct val="100000"/>
              </a:lnSpc>
              <a:spcBef>
                <a:spcPts val="300"/>
              </a:spcBef>
              <a:buNone/>
            </a:pPr>
            <a:r>
              <a:rPr lang="it-IT" sz="1000" b="0" dirty="0">
                <a:solidFill>
                  <a:srgbClr val="6B6168"/>
                </a:solidFill>
              </a:rPr>
              <a:t>Annotare con cerchi e frecce</a:t>
            </a:r>
          </a:p>
        </p:txBody>
      </p:sp>
      <p:sp>
        <p:nvSpPr>
          <p:cNvPr id="15" name="Pagine e task"/>
          <p:cNvSpPr txBox="1"/>
          <p:nvPr/>
        </p:nvSpPr>
        <p:spPr>
          <a:xfrm>
            <a:off x="609600" y="6273800"/>
            <a:ext cx="109728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000" b="1" dirty="0">
                <a:solidFill>
                  <a:srgbClr val="6B6168"/>
                </a:solidFill>
              </a:rPr>
              <a:t>Pagina:</a:t>
            </a:r>
            <a:r>
              <a:rPr lang="it-IT" sz="1000" b="0" dirty="0">
                <a:solidFill>
                  <a:srgbClr val="6B6168"/>
                </a:solidFill>
              </a:rPr>
              <a:t> Partner UniTo › Progetti (/partner-progetti/universita-di-torino.html)   </a:t>
            </a:r>
            <a:r>
              <a:rPr lang="it-IT" sz="1000" b="1" dirty="0">
                <a:solidFill>
                  <a:srgbClr val="6B6168"/>
                </a:solidFill>
              </a:rPr>
              <a:t>Task:</a:t>
            </a:r>
            <a:r>
              <a:rPr lang="it-IT" sz="1000" b="0" dirty="0">
                <a:solidFill>
                  <a:srgbClr val="6B6168"/>
                </a:solidFill>
              </a:rPr>
              <a:t> T2, T3   </a:t>
            </a:r>
            <a:r>
              <a:rPr lang="it-IT" sz="1000" b="1" dirty="0">
                <a:solidFill>
                  <a:srgbClr val="6B6168"/>
                </a:solidFill>
              </a:rPr>
              <a:t>ID:</a:t>
            </a:r>
            <a:r>
              <a:rPr lang="it-IT" sz="1000" b="0" dirty="0">
                <a:solidFill>
                  <a:srgbClr val="6B6168"/>
                </a:solidFill>
              </a:rPr>
              <a:t> [ da assegnare ]</a:t>
            </a:r>
          </a:p>
        </p:txBody>
      </p:sp>
    </p:spTree>
    <p:extLst>
      <p:ext uri="{BB962C8B-B14F-4D97-AF65-F5344CB8AC3E}">
        <p14:creationId xmlns:p14="http://schemas.microsoft.com/office/powerpoint/2010/main" val="212904837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C6C7480-4E7A-7956-D2AA-6CCE0AFAC7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558800"/>
            <a:ext cx="8991600" cy="889000"/>
          </a:xfrm>
        </p:spPr>
        <p:txBody>
          <a:bodyPr lIns="0" anchor="t"/>
          <a:lstStyle/>
          <a:p>
            <a:pPr>
              <a:lnSpc>
                <a:spcPct val="90000"/>
              </a:lnSpc>
            </a:pPr>
            <a:r>
              <a:rPr lang="it-IT" sz="2600" b="1" dirty="0"/>
              <a:t>I pulsanti aprono nuove schede e non avvisano quando si esce dal sito</a:t>
            </a:r>
          </a:p>
        </p:txBody>
      </p:sp>
      <p:sp>
        <p:nvSpPr>
          <p:cNvPr id="10" name="Euristica"/>
          <p:cNvSpPr txBox="1"/>
          <p:nvPr/>
        </p:nvSpPr>
        <p:spPr>
          <a:xfrm>
            <a:off x="609600" y="254000"/>
            <a:ext cx="88900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200" b="1" dirty="0">
                <a:solidFill>
                  <a:srgbClr val="6C0850"/>
                </a:solidFill>
              </a:rPr>
              <a:t>H3 · CONTROLLO E LIBERTÀ  ·  H10 AIUTO</a:t>
            </a:r>
          </a:p>
        </p:txBody>
      </p:sp>
      <p:sp>
        <p:nvSpPr>
          <p:cNvPr id="11" name="Badge gravità"/>
          <p:cNvSpPr/>
          <p:nvPr/>
        </p:nvSpPr>
        <p:spPr>
          <a:xfrm>
            <a:off x="9855200" y="381000"/>
            <a:ext cx="1727200" cy="736600"/>
          </a:xfrm>
          <a:prstGeom prst="roundRect">
            <a:avLst/>
          </a:prstGeom>
          <a:solidFill>
            <a:srgbClr val="C7A2BB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000" b="1" dirty="0">
                <a:solidFill>
                  <a:srgbClr val="41002F"/>
                </a:solidFill>
              </a:rPr>
              <a:t>GRAVITÀ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800" b="1" dirty="0">
                <a:solidFill>
                  <a:srgbClr val="41002F"/>
                </a:solidFill>
              </a:rPr>
              <a:t>2 · minore</a:t>
            </a:r>
          </a:p>
        </p:txBody>
      </p:sp>
      <p:sp>
        <p:nvSpPr>
          <p:cNvPr id="12" name="Problema"/>
          <p:cNvSpPr txBox="1"/>
          <p:nvPr/>
        </p:nvSpPr>
        <p:spPr>
          <a:xfrm>
            <a:off x="609600" y="1625600"/>
            <a:ext cx="5130800" cy="2616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400" b="1" dirty="0">
                <a:solidFill>
                  <a:srgbClr val="6C0850"/>
                </a:solidFill>
              </a:rPr>
              <a:t>Problema</a:t>
            </a:r>
          </a:p>
          <a:p>
            <a:pPr marL="228600" indent="-228600" algn="l">
              <a:lnSpc>
                <a:spcPct val="100000"/>
              </a:lnSpc>
              <a:spcBef>
                <a:spcPts val="500"/>
              </a:spcBef>
              <a:buClr>
                <a:srgbClr val="6C0850"/>
              </a:buClr>
              <a:buFont typeface="Arial"/>
              <a:buChar char="•"/>
            </a:pPr>
            <a:r>
              <a:rPr lang="it-IT" sz="1400" b="0" dirty="0">
                <a:solidFill>
                  <a:srgbClr val="231C21"/>
                </a:solidFill>
              </a:rPr>
              <a:t>«Scopri tutti i progetti!» porta alla scheda Progetti dello stesso sito ma in una </a:t>
            </a:r>
            <a:r>
              <a:rPr lang="it-IT" sz="1400" b="1" dirty="0">
                <a:solidFill>
                  <a:srgbClr val="231C21"/>
                </a:solidFill>
              </a:rPr>
              <a:t>nuova scheda del browser</a:t>
            </a:r>
            <a:r>
              <a:rPr lang="it-IT" sz="1400" b="0" dirty="0">
                <a:solidFill>
                  <a:srgbClr val="231C21"/>
                </a:solidFill>
              </a:rPr>
              <a:t>: «Indietro» non riporta alla descrizione</a:t>
            </a:r>
          </a:p>
          <a:p>
            <a:pPr marL="228600" indent="-228600" algn="l">
              <a:lnSpc>
                <a:spcPct val="100000"/>
              </a:lnSpc>
              <a:spcBef>
                <a:spcPts val="500"/>
              </a:spcBef>
              <a:buClr>
                <a:srgbClr val="6C0850"/>
              </a:buClr>
              <a:buFont typeface="Arial"/>
              <a:buChar char="•"/>
            </a:pPr>
            <a:r>
              <a:rPr lang="it-IT" sz="1400" b="0" dirty="0">
                <a:solidFill>
                  <a:srgbClr val="231C21"/>
                </a:solidFill>
              </a:rPr>
              <a:t>La voce «Progetti» della barra, con la stessa destinazione, apre invece nella scheda corrente</a:t>
            </a:r>
          </a:p>
          <a:p>
            <a:pPr marL="228600" indent="-228600" algn="l">
              <a:lnSpc>
                <a:spcPct val="100000"/>
              </a:lnSpc>
              <a:spcBef>
                <a:spcPts val="500"/>
              </a:spcBef>
              <a:buClr>
                <a:srgbClr val="6C0850"/>
              </a:buClr>
              <a:buFont typeface="Arial"/>
              <a:buChar char="•"/>
            </a:pPr>
            <a:r>
              <a:rPr lang="it-IT" sz="1400" b="0" dirty="0">
                <a:solidFill>
                  <a:srgbClr val="231C21"/>
                </a:solidFill>
              </a:rPr>
              <a:t>«Scopri la guida dell’iniziativa» apre </a:t>
            </a:r>
            <a:r>
              <a:rPr lang="it-IT" sz="1400" b="1" dirty="0">
                <a:solidFill>
                  <a:srgbClr val="231C21"/>
                </a:solidFill>
              </a:rPr>
              <a:t>unito.it</a:t>
            </a:r>
            <a:r>
              <a:rPr lang="it-IT" sz="1400" b="0" dirty="0">
                <a:solidFill>
                  <a:srgbClr val="231C21"/>
                </a:solidFill>
              </a:rPr>
              <a:t> senza icona di link esterno: l’utente non sa di aver cambiato sito</a:t>
            </a:r>
          </a:p>
          <a:p>
            <a:pPr marL="0" indent="0" algn="l">
              <a:lnSpc>
                <a:spcPct val="100000"/>
              </a:lnSpc>
              <a:spcBef>
                <a:spcPts val="900"/>
              </a:spcBef>
              <a:buNone/>
            </a:pPr>
            <a:r>
              <a:rPr lang="it-IT" sz="1100" b="0" dirty="0">
                <a:solidFill>
                  <a:srgbClr val="6B6168"/>
                </a:solidFill>
              </a:rPr>
              <a:t>Gravità 2: è il pulsante principale del percorso T1→T2; il disorientamento è breve ma più marcato su mobile.</a:t>
            </a:r>
          </a:p>
        </p:txBody>
      </p:sp>
      <p:sp>
        <p:nvSpPr>
          <p:cNvPr id="13" name="Soluzione"/>
          <p:cNvSpPr/>
          <p:nvPr/>
        </p:nvSpPr>
        <p:spPr>
          <a:xfrm>
            <a:off x="609600" y="4394200"/>
            <a:ext cx="5130800" cy="1727200"/>
          </a:xfrm>
          <a:prstGeom prst="rect">
            <a:avLst/>
          </a:prstGeom>
          <a:solidFill>
            <a:srgbClr val="F3EEF1"/>
          </a:solidFill>
          <a:ln>
            <a:noFill/>
          </a:ln>
        </p:spPr>
        <p:txBody>
          <a:bodyPr wrap="square" lIns="152400" tIns="152400" rIns="152400" bIns="15240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400" b="1" dirty="0">
                <a:solidFill>
                  <a:srgbClr val="6C0850"/>
                </a:solidFill>
              </a:rPr>
              <a:t>Possibile soluzione</a:t>
            </a:r>
          </a:p>
          <a:p>
            <a:pPr marL="0" indent="0" algn="l">
              <a:lnSpc>
                <a:spcPct val="100000"/>
              </a:lnSpc>
              <a:spcBef>
                <a:spcPts val="400"/>
              </a:spcBef>
              <a:buNone/>
            </a:pPr>
            <a:r>
              <a:rPr lang="it-IT" sz="1400" b="0" dirty="0">
                <a:solidFill>
                  <a:srgbClr val="231C21"/>
                </a:solidFill>
              </a:rPr>
              <a:t>Link interni nella stessa scheda; per quelli esterni icona di link esterno e nome del sito di destinazione («su unito.it»).</a:t>
            </a:r>
          </a:p>
        </p:txBody>
      </p:sp>
      <p:sp>
        <p:nvSpPr>
          <p:cNvPr id="14" name="Segnaposto immagine 1"/>
          <p:cNvSpPr/>
          <p:nvPr/>
        </p:nvSpPr>
        <p:spPr>
          <a:xfrm>
            <a:off x="6045200" y="1625600"/>
            <a:ext cx="5537200" cy="4495800"/>
          </a:xfrm>
          <a:prstGeom prst="rect">
            <a:avLst/>
          </a:prstGeom>
          <a:solidFill>
            <a:srgbClr val="F7F4F6"/>
          </a:solidFill>
          <a:ln w="15875">
            <a:solidFill>
              <a:srgbClr val="B07A9F"/>
            </a:solidFill>
            <a:prstDash val="dash"/>
          </a:ln>
        </p:spPr>
        <p:txBody>
          <a:bodyPr wrap="square" lIns="127000" tIns="127000" rIns="127000" bIns="12700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200" b="1" dirty="0">
                <a:solidFill>
                  <a:srgbClr val="6C0850"/>
                </a:solidFill>
              </a:rPr>
              <a:t>[ SCREENSHOT DA INSERIRE ]</a:t>
            </a:r>
          </a:p>
          <a:p>
            <a:pPr marL="0" indent="0" algn="ctr">
              <a:lnSpc>
                <a:spcPct val="100000"/>
              </a:lnSpc>
              <a:spcBef>
                <a:spcPts val="400"/>
              </a:spcBef>
              <a:buNone/>
            </a:pPr>
            <a:r>
              <a:rPr lang="it-IT" sz="1400" b="1" dirty="0">
                <a:solidFill>
                  <a:srgbClr val="231C21"/>
                </a:solidFill>
              </a:rPr>
              <a:t>partner_cta.jpg</a:t>
            </a:r>
          </a:p>
          <a:p>
            <a:pPr marL="0" indent="0" algn="ctr">
              <a:lnSpc>
                <a:spcPct val="100000"/>
              </a:lnSpc>
              <a:spcBef>
                <a:spcPts val="300"/>
              </a:spcBef>
              <a:buNone/>
            </a:pPr>
            <a:r>
              <a:rPr lang="it-IT" sz="900" b="0" dirty="0">
                <a:solidFill>
                  <a:srgbClr val="6B6168"/>
                </a:solidFill>
              </a:rPr>
              <a:t>/Users/andreock/Desktop/hci_gruppo_a/assignment1/parti/antofallea/src/partner_cta.jpg</a:t>
            </a:r>
          </a:p>
          <a:p>
            <a:pPr marL="0" indent="0" algn="ctr">
              <a:lnSpc>
                <a:spcPct val="100000"/>
              </a:lnSpc>
              <a:spcBef>
                <a:spcPts val="300"/>
              </a:spcBef>
              <a:buNone/>
            </a:pPr>
            <a:r>
              <a:rPr lang="it-IT" sz="1000" b="0" dirty="0">
                <a:solidFill>
                  <a:srgbClr val="6B6168"/>
                </a:solidFill>
              </a:rPr>
              <a:t>Annotare con cerchi e frecce</a:t>
            </a:r>
          </a:p>
        </p:txBody>
      </p:sp>
      <p:sp>
        <p:nvSpPr>
          <p:cNvPr id="15" name="Pagine e task"/>
          <p:cNvSpPr txBox="1"/>
          <p:nvPr/>
        </p:nvSpPr>
        <p:spPr>
          <a:xfrm>
            <a:off x="609600" y="6273800"/>
            <a:ext cx="109728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000" b="1" dirty="0">
                <a:solidFill>
                  <a:srgbClr val="6B6168"/>
                </a:solidFill>
              </a:rPr>
              <a:t>Pagina:</a:t>
            </a:r>
            <a:r>
              <a:rPr lang="it-IT" sz="1000" b="0" dirty="0">
                <a:solidFill>
                  <a:srgbClr val="6B6168"/>
                </a:solidFill>
              </a:rPr>
              <a:t> Partner UniTo › Partnership (/partner/universita-di-torino.html)   </a:t>
            </a:r>
            <a:r>
              <a:rPr lang="it-IT" sz="1000" b="1" dirty="0">
                <a:solidFill>
                  <a:srgbClr val="6B6168"/>
                </a:solidFill>
              </a:rPr>
              <a:t>Task:</a:t>
            </a:r>
            <a:r>
              <a:rPr lang="it-IT" sz="1000" b="0" dirty="0">
                <a:solidFill>
                  <a:srgbClr val="6B6168"/>
                </a:solidFill>
              </a:rPr>
              <a:t> T2, T7   </a:t>
            </a:r>
            <a:r>
              <a:rPr lang="it-IT" sz="1000" b="1" dirty="0">
                <a:solidFill>
                  <a:srgbClr val="6B6168"/>
                </a:solidFill>
              </a:rPr>
              <a:t>ID:</a:t>
            </a:r>
            <a:r>
              <a:rPr lang="it-IT" sz="1000" b="0" dirty="0">
                <a:solidFill>
                  <a:srgbClr val="6B6168"/>
                </a:solidFill>
              </a:rPr>
              <a:t> P07</a:t>
            </a:r>
          </a:p>
        </p:txBody>
      </p:sp>
    </p:spTree>
    <p:extLst>
      <p:ext uri="{BB962C8B-B14F-4D97-AF65-F5344CB8AC3E}">
        <p14:creationId xmlns:p14="http://schemas.microsoft.com/office/powerpoint/2010/main" val="262476816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320445C-48D1-1896-D750-223B3D136A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558800"/>
            <a:ext cx="8991600" cy="889000"/>
          </a:xfrm>
        </p:spPr>
        <p:txBody>
          <a:bodyPr anchor="t"/>
          <a:lstStyle/>
          <a:p>
            <a:pPr>
              <a:lnSpc>
                <a:spcPct val="90000"/>
              </a:lnSpc>
            </a:pPr>
            <a:r>
              <a:rPr lang="it-IT" sz="2600" b="1" dirty="0"/>
              <a:t>Tornando da un progetto si perdono posizione e progetti caricati</a:t>
            </a:r>
          </a:p>
        </p:txBody>
      </p:sp>
      <p:sp>
        <p:nvSpPr>
          <p:cNvPr id="10" name="Euristica"/>
          <p:cNvSpPr txBox="1"/>
          <p:nvPr/>
        </p:nvSpPr>
        <p:spPr>
          <a:xfrm>
            <a:off x="609600" y="254000"/>
            <a:ext cx="88900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200" b="1" dirty="0">
                <a:solidFill>
                  <a:srgbClr val="6C0850"/>
                </a:solidFill>
              </a:rPr>
              <a:t>H3 · CONTROLLO E LIBERTÀ DELL’UTENTE</a:t>
            </a:r>
          </a:p>
        </p:txBody>
      </p:sp>
      <p:sp>
        <p:nvSpPr>
          <p:cNvPr id="11" name="Badge gravità"/>
          <p:cNvSpPr/>
          <p:nvPr/>
        </p:nvSpPr>
        <p:spPr>
          <a:xfrm>
            <a:off x="9855200" y="381000"/>
            <a:ext cx="1727200" cy="736600"/>
          </a:xfrm>
          <a:prstGeom prst="roundRect">
            <a:avLst/>
          </a:prstGeom>
          <a:solidFill>
            <a:srgbClr val="41002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000" b="1" dirty="0">
                <a:solidFill>
                  <a:srgbClr val="FFFFFF"/>
                </a:solidFill>
              </a:rPr>
              <a:t>GRAVITÀ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800" b="1" dirty="0">
                <a:solidFill>
                  <a:srgbClr val="FFFFFF"/>
                </a:solidFill>
              </a:rPr>
              <a:t>4 · catastrofico</a:t>
            </a:r>
          </a:p>
        </p:txBody>
      </p:sp>
      <p:sp>
        <p:nvSpPr>
          <p:cNvPr id="12" name="Problema"/>
          <p:cNvSpPr txBox="1"/>
          <p:nvPr/>
        </p:nvSpPr>
        <p:spPr>
          <a:xfrm>
            <a:off x="609600" y="1625600"/>
            <a:ext cx="5130800" cy="2616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400" b="1" dirty="0">
                <a:solidFill>
                  <a:srgbClr val="6C0850"/>
                </a:solidFill>
              </a:rPr>
              <a:t>Problema</a:t>
            </a:r>
          </a:p>
          <a:p>
            <a:pPr marL="228600" indent="-228600" algn="l">
              <a:lnSpc>
                <a:spcPct val="100000"/>
              </a:lnSpc>
              <a:spcBef>
                <a:spcPts val="500"/>
              </a:spcBef>
              <a:buClr>
                <a:srgbClr val="6C0850"/>
              </a:buClr>
              <a:buFont typeface="Arial"/>
              <a:buChar char="•"/>
            </a:pPr>
            <a:r>
              <a:rPr lang="it-IT" sz="1400" b="0" dirty="0">
                <a:solidFill>
                  <a:srgbClr val="231C21"/>
                </a:solidFill>
              </a:rPr>
              <a:t>Dopo aver aperto un progetto e premuto Indietro, la pagina </a:t>
            </a:r>
            <a:r>
              <a:rPr lang="it-IT" sz="1400" b="1" dirty="0">
                <a:solidFill>
                  <a:srgbClr val="231C21"/>
                </a:solidFill>
              </a:rPr>
              <a:t>riparte dall’inizio</a:t>
            </a:r>
          </a:p>
          <a:p>
            <a:pPr marL="228600" indent="-228600" algn="l">
              <a:lnSpc>
                <a:spcPct val="100000"/>
              </a:lnSpc>
              <a:spcBef>
                <a:spcPts val="500"/>
              </a:spcBef>
              <a:buClr>
                <a:srgbClr val="6C0850"/>
              </a:buClr>
              <a:buFont typeface="Arial"/>
              <a:buChar char="•"/>
            </a:pPr>
            <a:r>
              <a:rPr lang="it-IT" sz="1400" b="0" dirty="0">
                <a:solidFill>
                  <a:srgbClr val="231C21"/>
                </a:solidFill>
              </a:rPr>
              <a:t>I progetti conclusi caricati con «ALTRI» </a:t>
            </a:r>
            <a:r>
              <a:rPr lang="it-IT" sz="1400" b="1" dirty="0">
                <a:solidFill>
                  <a:srgbClr val="231C21"/>
                </a:solidFill>
              </a:rPr>
              <a:t>spariscono</a:t>
            </a:r>
            <a:r>
              <a:rPr lang="it-IT" sz="1400" b="0" dirty="0">
                <a:solidFill>
                  <a:srgbClr val="231C21"/>
                </a:solidFill>
              </a:rPr>
              <a:t> e vanno ricaricati</a:t>
            </a:r>
          </a:p>
          <a:p>
            <a:pPr marL="228600" indent="-228600" algn="l">
              <a:lnSpc>
                <a:spcPct val="100000"/>
              </a:lnSpc>
              <a:spcBef>
                <a:spcPts val="500"/>
              </a:spcBef>
              <a:buClr>
                <a:srgbClr val="6C0850"/>
              </a:buClr>
              <a:buFont typeface="Arial"/>
              <a:buChar char="•"/>
            </a:pPr>
            <a:r>
              <a:rPr lang="it-IT" sz="1400" b="0" dirty="0">
                <a:solidFill>
                  <a:srgbClr val="231C21"/>
                </a:solidFill>
              </a:rPr>
              <a:t>Confrontare più progetti diventa un ciclo di scroll e clic ripetuti</a:t>
            </a:r>
          </a:p>
          <a:p>
            <a:pPr marL="0" indent="0" algn="l">
              <a:lnSpc>
                <a:spcPct val="100000"/>
              </a:lnSpc>
              <a:spcBef>
                <a:spcPts val="900"/>
              </a:spcBef>
              <a:buNone/>
            </a:pPr>
            <a:r>
              <a:rPr lang="it-IT" sz="1100" b="0" dirty="0">
                <a:solidFill>
                  <a:srgbClr val="6B6168"/>
                </a:solidFill>
              </a:rPr>
              <a:t>Gravità 4 dalle note. [ DA VERIFICARE ] su più browser: il comportamento può dipendere dalla cache.</a:t>
            </a:r>
          </a:p>
        </p:txBody>
      </p:sp>
      <p:sp>
        <p:nvSpPr>
          <p:cNvPr id="13" name="Soluzione"/>
          <p:cNvSpPr/>
          <p:nvPr/>
        </p:nvSpPr>
        <p:spPr>
          <a:xfrm>
            <a:off x="609600" y="4394200"/>
            <a:ext cx="5130800" cy="1727200"/>
          </a:xfrm>
          <a:prstGeom prst="rect">
            <a:avLst/>
          </a:prstGeom>
          <a:solidFill>
            <a:srgbClr val="F3EEF1"/>
          </a:solidFill>
          <a:ln>
            <a:noFill/>
          </a:ln>
        </p:spPr>
        <p:txBody>
          <a:bodyPr wrap="square" lIns="152400" tIns="152400" rIns="152400" bIns="15240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400" b="1" dirty="0">
                <a:solidFill>
                  <a:srgbClr val="6C0850"/>
                </a:solidFill>
              </a:rPr>
              <a:t>Possibile soluzione</a:t>
            </a:r>
          </a:p>
          <a:p>
            <a:pPr marL="0" indent="0" algn="l">
              <a:lnSpc>
                <a:spcPct val="100000"/>
              </a:lnSpc>
              <a:spcBef>
                <a:spcPts val="400"/>
              </a:spcBef>
              <a:buNone/>
            </a:pPr>
            <a:r>
              <a:rPr lang="it-IT" sz="1400" b="0" dirty="0">
                <a:solidFill>
                  <a:srgbClr val="231C21"/>
                </a:solidFill>
              </a:rPr>
              <a:t>Conservare scroll e progetti caricati al ritorno (stato nell’URL, es. ?mostra=13), oppure mostrare subito tutti i progetti.</a:t>
            </a:r>
          </a:p>
        </p:txBody>
      </p:sp>
      <p:sp>
        <p:nvSpPr>
          <p:cNvPr id="14" name="Segnaposto immagine 1"/>
          <p:cNvSpPr/>
          <p:nvPr/>
        </p:nvSpPr>
        <p:spPr>
          <a:xfrm>
            <a:off x="6045200" y="1625600"/>
            <a:ext cx="5537200" cy="4495800"/>
          </a:xfrm>
          <a:prstGeom prst="rect">
            <a:avLst/>
          </a:prstGeom>
          <a:solidFill>
            <a:srgbClr val="F7F4F6"/>
          </a:solidFill>
          <a:ln w="15875">
            <a:solidFill>
              <a:srgbClr val="B07A9F"/>
            </a:solidFill>
            <a:prstDash val="dash"/>
          </a:ln>
        </p:spPr>
        <p:txBody>
          <a:bodyPr wrap="square" lIns="127000" tIns="127000" rIns="127000" bIns="12700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200" b="1" dirty="0">
                <a:solidFill>
                  <a:srgbClr val="6C0850"/>
                </a:solidFill>
              </a:rPr>
              <a:t>[ SCREENSHOT DA FARE ]</a:t>
            </a:r>
          </a:p>
          <a:p>
            <a:pPr marL="0" indent="0" algn="ctr">
              <a:lnSpc>
                <a:spcPct val="100000"/>
              </a:lnSpc>
              <a:spcBef>
                <a:spcPts val="400"/>
              </a:spcBef>
              <a:buNone/>
            </a:pPr>
            <a:r>
              <a:rPr lang="it-IT" sz="1400" b="1" dirty="0">
                <a:solidFill>
                  <a:srgbClr val="231C21"/>
                </a:solidFill>
              </a:rPr>
              <a:t>Pagina dopo il ritorno da un progetto</a:t>
            </a:r>
          </a:p>
          <a:p>
            <a:pPr marL="0" indent="0" algn="ctr">
              <a:lnSpc>
                <a:spcPct val="100000"/>
              </a:lnSpc>
              <a:spcBef>
                <a:spcPts val="300"/>
              </a:spcBef>
              <a:buNone/>
            </a:pPr>
            <a:r>
              <a:rPr lang="it-IT" sz="900" b="0" dirty="0">
                <a:solidFill>
                  <a:srgbClr val="6B6168"/>
                </a:solidFill>
              </a:rPr>
              <a:t>Salvare in /Users/andreock/Desktop/hci_gruppo_a/assignment1/parti/antofallea/src/</a:t>
            </a:r>
          </a:p>
          <a:p>
            <a:pPr marL="0" indent="0" algn="ctr">
              <a:lnSpc>
                <a:spcPct val="100000"/>
              </a:lnSpc>
              <a:spcBef>
                <a:spcPts val="300"/>
              </a:spcBef>
              <a:buNone/>
            </a:pPr>
            <a:r>
              <a:rPr lang="it-IT" sz="1000" b="0" dirty="0">
                <a:solidFill>
                  <a:srgbClr val="6B6168"/>
                </a:solidFill>
              </a:rPr>
              <a:t>Annotare con cerchi e frecce</a:t>
            </a:r>
          </a:p>
        </p:txBody>
      </p:sp>
      <p:sp>
        <p:nvSpPr>
          <p:cNvPr id="15" name="Pagine e task"/>
          <p:cNvSpPr txBox="1"/>
          <p:nvPr/>
        </p:nvSpPr>
        <p:spPr>
          <a:xfrm>
            <a:off x="609600" y="6273800"/>
            <a:ext cx="109728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000" b="1" dirty="0">
                <a:solidFill>
                  <a:srgbClr val="6B6168"/>
                </a:solidFill>
              </a:rPr>
              <a:t>Pagina:</a:t>
            </a:r>
            <a:r>
              <a:rPr lang="it-IT" sz="1000" b="0" dirty="0">
                <a:solidFill>
                  <a:srgbClr val="6B6168"/>
                </a:solidFill>
              </a:rPr>
              <a:t> Partner UniTo › Progetti (/partner-progetti/universita-di-torino.html)   </a:t>
            </a:r>
            <a:r>
              <a:rPr lang="it-IT" sz="1000" b="1" dirty="0">
                <a:solidFill>
                  <a:srgbClr val="6B6168"/>
                </a:solidFill>
              </a:rPr>
              <a:t>Task:</a:t>
            </a:r>
            <a:r>
              <a:rPr lang="it-IT" sz="1000" b="0" dirty="0">
                <a:solidFill>
                  <a:srgbClr val="6B6168"/>
                </a:solidFill>
              </a:rPr>
              <a:t> T2   </a:t>
            </a:r>
            <a:r>
              <a:rPr lang="it-IT" sz="1000" b="1" dirty="0">
                <a:solidFill>
                  <a:srgbClr val="6B6168"/>
                </a:solidFill>
              </a:rPr>
              <a:t>ID:</a:t>
            </a:r>
            <a:r>
              <a:rPr lang="it-IT" sz="1000" b="0" dirty="0">
                <a:solidFill>
                  <a:srgbClr val="6B6168"/>
                </a:solidFill>
              </a:rPr>
              <a:t> [ da assegnare ]</a:t>
            </a:r>
          </a:p>
        </p:txBody>
      </p:sp>
    </p:spTree>
    <p:extLst>
      <p:ext uri="{BB962C8B-B14F-4D97-AF65-F5344CB8AC3E}">
        <p14:creationId xmlns:p14="http://schemas.microsoft.com/office/powerpoint/2010/main" val="110784715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485AAB1-94FE-A2EB-6025-614B7ABE7E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558800"/>
            <a:ext cx="8991600" cy="889000"/>
          </a:xfrm>
        </p:spPr>
        <p:txBody>
          <a:bodyPr anchor="t"/>
          <a:lstStyle/>
          <a:p>
            <a:pPr>
              <a:lnSpc>
                <a:spcPct val="90000"/>
              </a:lnSpc>
            </a:pPr>
            <a:r>
              <a:rPr lang="it-IT" sz="2600" b="1" dirty="0"/>
              <a:t>Le barre di avanzamento usano blu e rosso invece dei colori attesi</a:t>
            </a:r>
          </a:p>
        </p:txBody>
      </p:sp>
      <p:sp>
        <p:nvSpPr>
          <p:cNvPr id="10" name="Euristica"/>
          <p:cNvSpPr txBox="1"/>
          <p:nvPr/>
        </p:nvSpPr>
        <p:spPr>
          <a:xfrm>
            <a:off x="609600" y="254000"/>
            <a:ext cx="88900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200" b="1" dirty="0">
                <a:solidFill>
                  <a:srgbClr val="6C0850"/>
                </a:solidFill>
              </a:rPr>
              <a:t>H4 · COERENZA E STANDARD</a:t>
            </a:r>
          </a:p>
        </p:txBody>
      </p:sp>
      <p:sp>
        <p:nvSpPr>
          <p:cNvPr id="11" name="Badge gravità"/>
          <p:cNvSpPr/>
          <p:nvPr/>
        </p:nvSpPr>
        <p:spPr>
          <a:xfrm>
            <a:off x="9855200" y="381000"/>
            <a:ext cx="1727200" cy="736600"/>
          </a:xfrm>
          <a:prstGeom prst="roundRect">
            <a:avLst/>
          </a:prstGeom>
          <a:solidFill>
            <a:srgbClr val="8E2F72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000" b="1" dirty="0">
                <a:solidFill>
                  <a:srgbClr val="FFFFFF"/>
                </a:solidFill>
              </a:rPr>
              <a:t>GRAVITÀ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800" b="1" dirty="0">
                <a:solidFill>
                  <a:srgbClr val="FFFFFF"/>
                </a:solidFill>
              </a:rPr>
              <a:t>3 · importante</a:t>
            </a:r>
          </a:p>
        </p:txBody>
      </p:sp>
      <p:sp>
        <p:nvSpPr>
          <p:cNvPr id="12" name="Problema"/>
          <p:cNvSpPr txBox="1"/>
          <p:nvPr/>
        </p:nvSpPr>
        <p:spPr>
          <a:xfrm>
            <a:off x="609600" y="1625600"/>
            <a:ext cx="5130800" cy="2616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400" b="1" dirty="0">
                <a:solidFill>
                  <a:srgbClr val="6C0850"/>
                </a:solidFill>
              </a:rPr>
              <a:t>Problema</a:t>
            </a:r>
          </a:p>
          <a:p>
            <a:pPr marL="228600" indent="-228600" algn="l">
              <a:lnSpc>
                <a:spcPct val="100000"/>
              </a:lnSpc>
              <a:spcBef>
                <a:spcPts val="500"/>
              </a:spcBef>
              <a:buClr>
                <a:srgbClr val="6C0850"/>
              </a:buClr>
              <a:buFont typeface="Arial"/>
              <a:buChar char="•"/>
            </a:pPr>
            <a:r>
              <a:rPr lang="it-IT" sz="1400" b="0" dirty="0">
                <a:solidFill>
                  <a:srgbClr val="231C21"/>
                </a:solidFill>
              </a:rPr>
              <a:t>Le barre sono </a:t>
            </a:r>
            <a:r>
              <a:rPr lang="it-IT" sz="1400" b="1" dirty="0">
                <a:solidFill>
                  <a:srgbClr val="231C21"/>
                </a:solidFill>
              </a:rPr>
              <a:t>blu e rosse</a:t>
            </a:r>
            <a:r>
              <a:rPr lang="it-IT" sz="1400" b="0" dirty="0">
                <a:solidFill>
                  <a:srgbClr val="231C21"/>
                </a:solidFill>
              </a:rPr>
              <a:t>: il rosso di solito indica errore o «manca», non la parte raccolta</a:t>
            </a:r>
          </a:p>
          <a:p>
            <a:pPr marL="228600" indent="-228600" algn="l">
              <a:lnSpc>
                <a:spcPct val="100000"/>
              </a:lnSpc>
              <a:spcBef>
                <a:spcPts val="500"/>
              </a:spcBef>
              <a:buClr>
                <a:srgbClr val="6C0850"/>
              </a:buClr>
              <a:buFont typeface="Arial"/>
              <a:buChar char="•"/>
            </a:pPr>
            <a:r>
              <a:rPr lang="it-IT" sz="1400" b="0" dirty="0">
                <a:solidFill>
                  <a:srgbClr val="231C21"/>
                </a:solidFill>
              </a:rPr>
              <a:t>La scelta non è chiara al primo impatto</a:t>
            </a:r>
          </a:p>
          <a:p>
            <a:pPr marL="228600" indent="-228600" algn="l">
              <a:lnSpc>
                <a:spcPct val="100000"/>
              </a:lnSpc>
              <a:spcBef>
                <a:spcPts val="500"/>
              </a:spcBef>
              <a:buClr>
                <a:srgbClr val="6C0850"/>
              </a:buClr>
              <a:buFont typeface="Arial"/>
              <a:buChar char="•"/>
            </a:pPr>
            <a:r>
              <a:rPr lang="it-IT" sz="1400" b="0" dirty="0">
                <a:solidFill>
                  <a:srgbClr val="231C21"/>
                </a:solidFill>
              </a:rPr>
              <a:t>Senza un chip testuale l’informazione è affidata </a:t>
            </a:r>
            <a:r>
              <a:rPr lang="it-IT" sz="1400" b="1" dirty="0">
                <a:solidFill>
                  <a:srgbClr val="231C21"/>
                </a:solidFill>
              </a:rPr>
              <a:t>solo al colore</a:t>
            </a:r>
            <a:r>
              <a:rPr lang="it-IT" sz="1400" b="0" dirty="0">
                <a:solidFill>
                  <a:srgbClr val="231C21"/>
                </a:solidFill>
              </a:rPr>
              <a:t> (vedi slide sui progetti oltre il 100%)</a:t>
            </a:r>
          </a:p>
          <a:p>
            <a:pPr marL="0" indent="0" algn="l">
              <a:lnSpc>
                <a:spcPct val="100000"/>
              </a:lnSpc>
              <a:spcBef>
                <a:spcPts val="900"/>
              </a:spcBef>
              <a:buNone/>
            </a:pPr>
            <a:r>
              <a:rPr lang="it-IT" sz="1100" b="0" dirty="0">
                <a:solidFill>
                  <a:srgbClr val="6B6168"/>
                </a:solidFill>
              </a:rPr>
              <a:t>Gravità 3 dalle note. [ DA VERIFICARE ] quale colore corrisponde a raccolto e quale a mancante.</a:t>
            </a:r>
          </a:p>
        </p:txBody>
      </p:sp>
      <p:sp>
        <p:nvSpPr>
          <p:cNvPr id="13" name="Soluzione"/>
          <p:cNvSpPr/>
          <p:nvPr/>
        </p:nvSpPr>
        <p:spPr>
          <a:xfrm>
            <a:off x="609600" y="4394200"/>
            <a:ext cx="5130800" cy="1727200"/>
          </a:xfrm>
          <a:prstGeom prst="rect">
            <a:avLst/>
          </a:prstGeom>
          <a:solidFill>
            <a:srgbClr val="F3EEF1"/>
          </a:solidFill>
          <a:ln>
            <a:noFill/>
          </a:ln>
        </p:spPr>
        <p:txBody>
          <a:bodyPr wrap="square" lIns="152400" tIns="152400" rIns="152400" bIns="15240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400" b="1" dirty="0">
                <a:solidFill>
                  <a:srgbClr val="6C0850"/>
                </a:solidFill>
              </a:rPr>
              <a:t>Possibile soluzione</a:t>
            </a:r>
          </a:p>
          <a:p>
            <a:pPr marL="0" indent="0" algn="l">
              <a:lnSpc>
                <a:spcPct val="100000"/>
              </a:lnSpc>
              <a:spcBef>
                <a:spcPts val="400"/>
              </a:spcBef>
              <a:buNone/>
            </a:pPr>
            <a:r>
              <a:rPr lang="it-IT" sz="1400" b="0" dirty="0">
                <a:solidFill>
                  <a:srgbClr val="231C21"/>
                </a:solidFill>
              </a:rPr>
              <a:t>Un solo colore pieno per il raccolto su sfondo neutro (o verde per «raggiunto»), più un chip testuale «Obiettivo raggiunto» per chi non distingue i colori.</a:t>
            </a:r>
          </a:p>
        </p:txBody>
      </p:sp>
      <p:sp>
        <p:nvSpPr>
          <p:cNvPr id="14" name="Segnaposto immagine 1"/>
          <p:cNvSpPr/>
          <p:nvPr/>
        </p:nvSpPr>
        <p:spPr>
          <a:xfrm>
            <a:off x="6045200" y="1625600"/>
            <a:ext cx="5537200" cy="4495800"/>
          </a:xfrm>
          <a:prstGeom prst="rect">
            <a:avLst/>
          </a:prstGeom>
          <a:solidFill>
            <a:srgbClr val="F7F4F6"/>
          </a:solidFill>
          <a:ln w="15875">
            <a:solidFill>
              <a:srgbClr val="B07A9F"/>
            </a:solidFill>
            <a:prstDash val="dash"/>
          </a:ln>
        </p:spPr>
        <p:txBody>
          <a:bodyPr wrap="square" lIns="127000" tIns="127000" rIns="127000" bIns="12700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200" b="1" dirty="0">
                <a:solidFill>
                  <a:srgbClr val="6C0850"/>
                </a:solidFill>
              </a:rPr>
              <a:t>[ SCREENSHOT DA INSERIRE ]</a:t>
            </a:r>
          </a:p>
          <a:p>
            <a:pPr marL="0" indent="0" algn="ctr">
              <a:lnSpc>
                <a:spcPct val="100000"/>
              </a:lnSpc>
              <a:spcBef>
                <a:spcPts val="400"/>
              </a:spcBef>
              <a:buNone/>
            </a:pPr>
            <a:r>
              <a:rPr lang="it-IT" sz="1400" b="1" dirty="0">
                <a:solidFill>
                  <a:srgbClr val="231C21"/>
                </a:solidFill>
              </a:rPr>
              <a:t>Screenshot 2026-10-12 alle 18.29.33.png</a:t>
            </a:r>
          </a:p>
          <a:p>
            <a:pPr marL="0" indent="0" algn="ctr">
              <a:lnSpc>
                <a:spcPct val="100000"/>
              </a:lnSpc>
              <a:spcBef>
                <a:spcPts val="300"/>
              </a:spcBef>
              <a:buNone/>
            </a:pPr>
            <a:r>
              <a:rPr lang="it-IT" sz="900" b="0" dirty="0">
                <a:solidFill>
                  <a:srgbClr val="6B6168"/>
                </a:solidFill>
              </a:rPr>
              <a:t>/Users/andreock/Desktop/hci_gruppo_a/assignment1/parti/antofallea/src/Screenshot 2026-10-12 alle 18.29.33.png</a:t>
            </a:r>
          </a:p>
          <a:p>
            <a:pPr marL="0" indent="0" algn="ctr">
              <a:lnSpc>
                <a:spcPct val="100000"/>
              </a:lnSpc>
              <a:spcBef>
                <a:spcPts val="300"/>
              </a:spcBef>
              <a:buNone/>
            </a:pPr>
            <a:r>
              <a:rPr lang="it-IT" sz="1000" b="0" dirty="0">
                <a:solidFill>
                  <a:srgbClr val="6B6168"/>
                </a:solidFill>
              </a:rPr>
              <a:t>Annotare con cerchi e frecce</a:t>
            </a:r>
          </a:p>
        </p:txBody>
      </p:sp>
      <p:sp>
        <p:nvSpPr>
          <p:cNvPr id="15" name="Pagine e task"/>
          <p:cNvSpPr txBox="1"/>
          <p:nvPr/>
        </p:nvSpPr>
        <p:spPr>
          <a:xfrm>
            <a:off x="609600" y="6273800"/>
            <a:ext cx="109728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000" b="1" dirty="0">
                <a:solidFill>
                  <a:srgbClr val="6B6168"/>
                </a:solidFill>
              </a:rPr>
              <a:t>Pagina:</a:t>
            </a:r>
            <a:r>
              <a:rPr lang="it-IT" sz="1000" b="0" dirty="0">
                <a:solidFill>
                  <a:srgbClr val="6B6168"/>
                </a:solidFill>
              </a:rPr>
              <a:t> Partner UniTo › Progetti (/partner-progetti/universita-di-torino.html)   </a:t>
            </a:r>
            <a:r>
              <a:rPr lang="it-IT" sz="1000" b="1" dirty="0">
                <a:solidFill>
                  <a:srgbClr val="6B6168"/>
                </a:solidFill>
              </a:rPr>
              <a:t>Task:</a:t>
            </a:r>
            <a:r>
              <a:rPr lang="it-IT" sz="1000" b="0" dirty="0">
                <a:solidFill>
                  <a:srgbClr val="6B6168"/>
                </a:solidFill>
              </a:rPr>
              <a:t> T4   </a:t>
            </a:r>
            <a:r>
              <a:rPr lang="it-IT" sz="1000" b="1" dirty="0">
                <a:solidFill>
                  <a:srgbClr val="6B6168"/>
                </a:solidFill>
              </a:rPr>
              <a:t>ID:</a:t>
            </a:r>
            <a:r>
              <a:rPr lang="it-IT" sz="1000" b="0" dirty="0">
                <a:solidFill>
                  <a:srgbClr val="6B6168"/>
                </a:solidFill>
              </a:rPr>
              <a:t> [ da assegnare ]</a:t>
            </a:r>
          </a:p>
        </p:txBody>
      </p:sp>
    </p:spTree>
    <p:extLst>
      <p:ext uri="{BB962C8B-B14F-4D97-AF65-F5344CB8AC3E}">
        <p14:creationId xmlns:p14="http://schemas.microsoft.com/office/powerpoint/2010/main" val="404326330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6C41BD6-82D1-739B-B5C9-C71DE6159C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558800"/>
            <a:ext cx="8991600" cy="889000"/>
          </a:xfrm>
        </p:spPr>
        <p:txBody>
          <a:bodyPr anchor="t"/>
          <a:lstStyle/>
          <a:p>
            <a:pPr>
              <a:lnSpc>
                <a:spcPct val="90000"/>
              </a:lnSpc>
            </a:pPr>
            <a:r>
              <a:rPr lang="it-IT" sz="2600" b="1" dirty="0"/>
              <a:t>Al passaggio del mouse le card non sembrano cliccabili</a:t>
            </a:r>
          </a:p>
        </p:txBody>
      </p:sp>
      <p:sp>
        <p:nvSpPr>
          <p:cNvPr id="10" name="Euristica"/>
          <p:cNvSpPr txBox="1"/>
          <p:nvPr/>
        </p:nvSpPr>
        <p:spPr>
          <a:xfrm>
            <a:off x="609600" y="254000"/>
            <a:ext cx="88900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200" b="1" dirty="0">
                <a:solidFill>
                  <a:srgbClr val="6C0850"/>
                </a:solidFill>
              </a:rPr>
              <a:t>H4 · COERENZA E STANDARD</a:t>
            </a:r>
          </a:p>
        </p:txBody>
      </p:sp>
      <p:sp>
        <p:nvSpPr>
          <p:cNvPr id="11" name="Badge gravità"/>
          <p:cNvSpPr/>
          <p:nvPr/>
        </p:nvSpPr>
        <p:spPr>
          <a:xfrm>
            <a:off x="9855200" y="381000"/>
            <a:ext cx="1727200" cy="736600"/>
          </a:xfrm>
          <a:prstGeom prst="roundRect">
            <a:avLst/>
          </a:prstGeom>
          <a:solidFill>
            <a:srgbClr val="8E2F72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000" b="1" dirty="0">
                <a:solidFill>
                  <a:srgbClr val="FFFFFF"/>
                </a:solidFill>
              </a:rPr>
              <a:t>GRAVITÀ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800" b="1" dirty="0">
                <a:solidFill>
                  <a:srgbClr val="FFFFFF"/>
                </a:solidFill>
              </a:rPr>
              <a:t>3 · importante</a:t>
            </a:r>
          </a:p>
        </p:txBody>
      </p:sp>
      <p:sp>
        <p:nvSpPr>
          <p:cNvPr id="12" name="Problema"/>
          <p:cNvSpPr txBox="1"/>
          <p:nvPr/>
        </p:nvSpPr>
        <p:spPr>
          <a:xfrm>
            <a:off x="609600" y="1625600"/>
            <a:ext cx="5130800" cy="2616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400" b="1" dirty="0">
                <a:solidFill>
                  <a:srgbClr val="6C0850"/>
                </a:solidFill>
              </a:rPr>
              <a:t>Problema</a:t>
            </a:r>
          </a:p>
          <a:p>
            <a:pPr marL="228600" indent="-228600" algn="l">
              <a:lnSpc>
                <a:spcPct val="100000"/>
              </a:lnSpc>
              <a:spcBef>
                <a:spcPts val="500"/>
              </a:spcBef>
              <a:buClr>
                <a:srgbClr val="6C0850"/>
              </a:buClr>
              <a:buFont typeface="Arial"/>
              <a:buChar char="•"/>
            </a:pPr>
            <a:r>
              <a:rPr lang="it-IT" sz="1400" b="0" dirty="0">
                <a:solidFill>
                  <a:srgbClr val="231C21"/>
                </a:solidFill>
              </a:rPr>
              <a:t>Passando sopra una card </a:t>
            </a:r>
            <a:r>
              <a:rPr lang="it-IT" sz="1400" b="1" dirty="0">
                <a:solidFill>
                  <a:srgbClr val="231C21"/>
                </a:solidFill>
              </a:rPr>
              <a:t>non cambia nulla</a:t>
            </a:r>
            <a:r>
              <a:rPr lang="it-IT" sz="1400" b="0" dirty="0">
                <a:solidFill>
                  <a:srgbClr val="231C21"/>
                </a:solidFill>
              </a:rPr>
              <a:t> di evidente</a:t>
            </a:r>
          </a:p>
          <a:p>
            <a:pPr marL="228600" indent="-228600" algn="l">
              <a:lnSpc>
                <a:spcPct val="100000"/>
              </a:lnSpc>
              <a:spcBef>
                <a:spcPts val="500"/>
              </a:spcBef>
              <a:buClr>
                <a:srgbClr val="6C0850"/>
              </a:buClr>
              <a:buFont typeface="Arial"/>
              <a:buChar char="•"/>
            </a:pPr>
            <a:r>
              <a:rPr lang="it-IT" sz="1400" b="0" dirty="0">
                <a:solidFill>
                  <a:srgbClr val="231C21"/>
                </a:solidFill>
              </a:rPr>
              <a:t>L’utente non capisce subito che la card intera porta alla pagina del progetto</a:t>
            </a:r>
          </a:p>
          <a:p>
            <a:pPr marL="228600" indent="-228600" algn="l">
              <a:lnSpc>
                <a:spcPct val="100000"/>
              </a:lnSpc>
              <a:spcBef>
                <a:spcPts val="500"/>
              </a:spcBef>
              <a:buClr>
                <a:srgbClr val="6C0850"/>
              </a:buClr>
              <a:buFont typeface="Arial"/>
              <a:buChar char="•"/>
            </a:pPr>
            <a:r>
              <a:rPr lang="it-IT" sz="1400" b="0" dirty="0">
                <a:solidFill>
                  <a:srgbClr val="231C21"/>
                </a:solidFill>
              </a:rPr>
              <a:t>Chi non prova a cliccare non arriva ai dettagli (T3)</a:t>
            </a:r>
          </a:p>
          <a:p>
            <a:pPr marL="0" indent="0" algn="l">
              <a:lnSpc>
                <a:spcPct val="100000"/>
              </a:lnSpc>
              <a:spcBef>
                <a:spcPts val="900"/>
              </a:spcBef>
              <a:buNone/>
            </a:pPr>
            <a:r>
              <a:rPr lang="it-IT" sz="1100" b="0" dirty="0">
                <a:solidFill>
                  <a:srgbClr val="6B6168"/>
                </a:solidFill>
              </a:rPr>
              <a:t>Gravità 3 dalle note.</a:t>
            </a:r>
          </a:p>
        </p:txBody>
      </p:sp>
      <p:sp>
        <p:nvSpPr>
          <p:cNvPr id="13" name="Soluzione"/>
          <p:cNvSpPr/>
          <p:nvPr/>
        </p:nvSpPr>
        <p:spPr>
          <a:xfrm>
            <a:off x="609600" y="4394200"/>
            <a:ext cx="5130800" cy="1727200"/>
          </a:xfrm>
          <a:prstGeom prst="rect">
            <a:avLst/>
          </a:prstGeom>
          <a:solidFill>
            <a:srgbClr val="F3EEF1"/>
          </a:solidFill>
          <a:ln>
            <a:noFill/>
          </a:ln>
        </p:spPr>
        <p:txBody>
          <a:bodyPr wrap="square" lIns="152400" tIns="152400" rIns="152400" bIns="15240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400" b="1" dirty="0">
                <a:solidFill>
                  <a:srgbClr val="6C0850"/>
                </a:solidFill>
              </a:rPr>
              <a:t>Possibile soluzione</a:t>
            </a:r>
          </a:p>
          <a:p>
            <a:pPr marL="0" indent="0" algn="l">
              <a:lnSpc>
                <a:spcPct val="100000"/>
              </a:lnSpc>
              <a:spcBef>
                <a:spcPts val="400"/>
              </a:spcBef>
              <a:buNone/>
            </a:pPr>
            <a:r>
              <a:rPr lang="it-IT" sz="1400" b="0" dirty="0">
                <a:solidFill>
                  <a:srgbClr val="231C21"/>
                </a:solidFill>
              </a:rPr>
              <a:t>Effetto hover sulla card intera: leggera elevazione con ombra, bordo o cursore a mano, più un link testuale «Scopri il progetto».</a:t>
            </a:r>
          </a:p>
        </p:txBody>
      </p:sp>
      <p:sp>
        <p:nvSpPr>
          <p:cNvPr id="14" name="Segnaposto immagine 1"/>
          <p:cNvSpPr/>
          <p:nvPr/>
        </p:nvSpPr>
        <p:spPr>
          <a:xfrm>
            <a:off x="6045200" y="1625600"/>
            <a:ext cx="5537200" cy="4495800"/>
          </a:xfrm>
          <a:prstGeom prst="rect">
            <a:avLst/>
          </a:prstGeom>
          <a:solidFill>
            <a:srgbClr val="F7F4F6"/>
          </a:solidFill>
          <a:ln w="15875">
            <a:solidFill>
              <a:srgbClr val="B07A9F"/>
            </a:solidFill>
            <a:prstDash val="dash"/>
          </a:ln>
        </p:spPr>
        <p:txBody>
          <a:bodyPr wrap="square" lIns="127000" tIns="127000" rIns="127000" bIns="12700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200" b="1" dirty="0">
                <a:solidFill>
                  <a:srgbClr val="6C0850"/>
                </a:solidFill>
              </a:rPr>
              <a:t>[ SCREENSHOT DA FARE ]</a:t>
            </a:r>
          </a:p>
          <a:p>
            <a:pPr marL="0" indent="0" algn="ctr">
              <a:lnSpc>
                <a:spcPct val="100000"/>
              </a:lnSpc>
              <a:spcBef>
                <a:spcPts val="400"/>
              </a:spcBef>
              <a:buNone/>
            </a:pPr>
            <a:r>
              <a:rPr lang="it-IT" sz="1400" b="1" dirty="0">
                <a:solidFill>
                  <a:srgbClr val="231C21"/>
                </a:solidFill>
              </a:rPr>
              <a:t>Card in stato hover</a:t>
            </a:r>
          </a:p>
          <a:p>
            <a:pPr marL="0" indent="0" algn="ctr">
              <a:lnSpc>
                <a:spcPct val="100000"/>
              </a:lnSpc>
              <a:spcBef>
                <a:spcPts val="300"/>
              </a:spcBef>
              <a:buNone/>
            </a:pPr>
            <a:r>
              <a:rPr lang="it-IT" sz="900" b="0" dirty="0">
                <a:solidFill>
                  <a:srgbClr val="6B6168"/>
                </a:solidFill>
              </a:rPr>
              <a:t>Salvare in /Users/andreock/Desktop/hci_gruppo_a/assignment1/parti/antofallea/src/</a:t>
            </a:r>
          </a:p>
          <a:p>
            <a:pPr marL="0" indent="0" algn="ctr">
              <a:lnSpc>
                <a:spcPct val="100000"/>
              </a:lnSpc>
              <a:spcBef>
                <a:spcPts val="300"/>
              </a:spcBef>
              <a:buNone/>
            </a:pPr>
            <a:r>
              <a:rPr lang="it-IT" sz="1000" b="0" dirty="0">
                <a:solidFill>
                  <a:srgbClr val="6B6168"/>
                </a:solidFill>
              </a:rPr>
              <a:t>Annotare con cerchi e frecce</a:t>
            </a:r>
          </a:p>
        </p:txBody>
      </p:sp>
      <p:sp>
        <p:nvSpPr>
          <p:cNvPr id="15" name="Pagine e task"/>
          <p:cNvSpPr txBox="1"/>
          <p:nvPr/>
        </p:nvSpPr>
        <p:spPr>
          <a:xfrm>
            <a:off x="609600" y="6273800"/>
            <a:ext cx="109728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000" b="1" dirty="0">
                <a:solidFill>
                  <a:srgbClr val="6B6168"/>
                </a:solidFill>
              </a:rPr>
              <a:t>Pagina:</a:t>
            </a:r>
            <a:r>
              <a:rPr lang="it-IT" sz="1000" b="0" dirty="0">
                <a:solidFill>
                  <a:srgbClr val="6B6168"/>
                </a:solidFill>
              </a:rPr>
              <a:t> Partner UniTo › Progetti (/partner-progetti/universita-di-torino.html)   </a:t>
            </a:r>
            <a:r>
              <a:rPr lang="it-IT" sz="1000" b="1" dirty="0">
                <a:solidFill>
                  <a:srgbClr val="6B6168"/>
                </a:solidFill>
              </a:rPr>
              <a:t>Task:</a:t>
            </a:r>
            <a:r>
              <a:rPr lang="it-IT" sz="1000" b="0" dirty="0">
                <a:solidFill>
                  <a:srgbClr val="6B6168"/>
                </a:solidFill>
              </a:rPr>
              <a:t> T2, T3   </a:t>
            </a:r>
            <a:r>
              <a:rPr lang="it-IT" sz="1000" b="1" dirty="0">
                <a:solidFill>
                  <a:srgbClr val="6B6168"/>
                </a:solidFill>
              </a:rPr>
              <a:t>ID:</a:t>
            </a:r>
            <a:r>
              <a:rPr lang="it-IT" sz="1000" b="0" dirty="0">
                <a:solidFill>
                  <a:srgbClr val="6B6168"/>
                </a:solidFill>
              </a:rPr>
              <a:t> [ da assegnare ]</a:t>
            </a:r>
          </a:p>
        </p:txBody>
      </p:sp>
    </p:spTree>
    <p:extLst>
      <p:ext uri="{BB962C8B-B14F-4D97-AF65-F5344CB8AC3E}">
        <p14:creationId xmlns:p14="http://schemas.microsoft.com/office/powerpoint/2010/main" val="292393978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3728F9B-5641-5A6E-5EFC-758BD44A20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558800"/>
            <a:ext cx="8991600" cy="889000"/>
          </a:xfrm>
        </p:spPr>
        <p:txBody>
          <a:bodyPr anchor="t"/>
          <a:lstStyle/>
          <a:p>
            <a:pPr>
              <a:lnSpc>
                <a:spcPct val="90000"/>
              </a:lnSpc>
            </a:pPr>
            <a:r>
              <a:rPr lang="it-IT" sz="2600" b="1" dirty="0"/>
              <a:t>Su mobile i caroselli di contatori e progetti non mostrano di poter scorrere</a:t>
            </a:r>
          </a:p>
        </p:txBody>
      </p:sp>
      <p:sp>
        <p:nvSpPr>
          <p:cNvPr id="10" name="Euristica"/>
          <p:cNvSpPr txBox="1"/>
          <p:nvPr/>
        </p:nvSpPr>
        <p:spPr>
          <a:xfrm>
            <a:off x="609600" y="254000"/>
            <a:ext cx="88900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200" b="1" dirty="0">
                <a:solidFill>
                  <a:srgbClr val="6C0850"/>
                </a:solidFill>
              </a:rPr>
              <a:t>H4 · COERENZA E STANDARD</a:t>
            </a:r>
          </a:p>
        </p:txBody>
      </p:sp>
      <p:sp>
        <p:nvSpPr>
          <p:cNvPr id="11" name="Badge gravità"/>
          <p:cNvSpPr/>
          <p:nvPr/>
        </p:nvSpPr>
        <p:spPr>
          <a:xfrm>
            <a:off x="9855200" y="381000"/>
            <a:ext cx="1727200" cy="7366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07A9F"/>
            </a:solidFill>
            <a:prstDash val="dash"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000" b="1" dirty="0">
                <a:solidFill>
                  <a:srgbClr val="6C0850"/>
                </a:solidFill>
              </a:rPr>
              <a:t>GRAVITÀ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600" b="1" dirty="0">
                <a:solidFill>
                  <a:srgbClr val="6C0850"/>
                </a:solidFill>
              </a:rPr>
              <a:t>? · da decidere</a:t>
            </a:r>
          </a:p>
        </p:txBody>
      </p:sp>
      <p:sp>
        <p:nvSpPr>
          <p:cNvPr id="12" name="Problema"/>
          <p:cNvSpPr txBox="1"/>
          <p:nvPr/>
        </p:nvSpPr>
        <p:spPr>
          <a:xfrm>
            <a:off x="609600" y="1625600"/>
            <a:ext cx="5130800" cy="2616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400" b="1" dirty="0">
                <a:solidFill>
                  <a:srgbClr val="6C0850"/>
                </a:solidFill>
              </a:rPr>
              <a:t>Problema</a:t>
            </a:r>
          </a:p>
          <a:p>
            <a:pPr marL="228600" indent="-228600" algn="l">
              <a:lnSpc>
                <a:spcPct val="100000"/>
              </a:lnSpc>
              <a:spcBef>
                <a:spcPts val="500"/>
              </a:spcBef>
              <a:buClr>
                <a:srgbClr val="6C0850"/>
              </a:buClr>
              <a:buFont typeface="Arial"/>
              <a:buChar char="•"/>
            </a:pPr>
            <a:r>
              <a:rPr lang="it-IT" sz="1400" b="0" dirty="0">
                <a:solidFill>
                  <a:srgbClr val="231C21"/>
                </a:solidFill>
              </a:rPr>
              <a:t>Contatori (Partnership e Progetti) e progetti in corso e conclusi sono in caroselli </a:t>
            </a:r>
            <a:r>
              <a:rPr lang="it-IT" sz="1400" b="1" dirty="0">
                <a:solidFill>
                  <a:srgbClr val="231C21"/>
                </a:solidFill>
              </a:rPr>
              <a:t>senza frecce né indicatore</a:t>
            </a:r>
            <a:r>
              <a:rPr lang="it-IT" sz="1400" b="0" dirty="0">
                <a:solidFill>
                  <a:srgbClr val="231C21"/>
                </a:solidFill>
              </a:rPr>
              <a:t> di posizione</a:t>
            </a:r>
          </a:p>
          <a:p>
            <a:pPr marL="228600" indent="-228600" algn="l">
              <a:lnSpc>
                <a:spcPct val="100000"/>
              </a:lnSpc>
              <a:spcBef>
                <a:spcPts val="500"/>
              </a:spcBef>
              <a:buClr>
                <a:srgbClr val="6C0850"/>
              </a:buClr>
              <a:buFont typeface="Arial"/>
              <a:buChar char="•"/>
            </a:pPr>
            <a:r>
              <a:rPr lang="it-IT" sz="1400" b="0" dirty="0">
                <a:solidFill>
                  <a:srgbClr val="231C21"/>
                </a:solidFill>
              </a:rPr>
              <a:t>Vedendo un solo contatore o due progetti, l’utente può pensare che </a:t>
            </a:r>
            <a:r>
              <a:rPr lang="it-IT" sz="1400" b="1" dirty="0">
                <a:solidFill>
                  <a:srgbClr val="231C21"/>
                </a:solidFill>
              </a:rPr>
              <a:t>non ce ne siano altri</a:t>
            </a:r>
          </a:p>
          <a:p>
            <a:pPr marL="228600" indent="-228600" algn="l">
              <a:lnSpc>
                <a:spcPct val="100000"/>
              </a:lnSpc>
              <a:spcBef>
                <a:spcPts val="500"/>
              </a:spcBef>
              <a:buClr>
                <a:srgbClr val="6C0850"/>
              </a:buClr>
              <a:buFont typeface="Arial"/>
              <a:buChar char="•"/>
            </a:pPr>
            <a:r>
              <a:rPr lang="it-IT" sz="1400" b="0" dirty="0">
                <a:solidFill>
                  <a:srgbClr val="231C21"/>
                </a:solidFill>
              </a:rPr>
              <a:t>«ALTRI» aggiunge </a:t>
            </a:r>
            <a:r>
              <a:rPr lang="it-IT" sz="1400" b="1" dirty="0">
                <a:solidFill>
                  <a:srgbClr val="231C21"/>
                </a:solidFill>
              </a:rPr>
              <a:t>nuovi caroselli</a:t>
            </a:r>
            <a:r>
              <a:rPr lang="it-IT" sz="1400" b="0" dirty="0">
                <a:solidFill>
                  <a:srgbClr val="231C21"/>
                </a:solidFill>
              </a:rPr>
              <a:t> invece di allungare quello esistente</a:t>
            </a:r>
          </a:p>
          <a:p>
            <a:pPr marL="0" indent="0" algn="l">
              <a:lnSpc>
                <a:spcPct val="100000"/>
              </a:lnSpc>
              <a:spcBef>
                <a:spcPts val="900"/>
              </a:spcBef>
              <a:buNone/>
            </a:pPr>
            <a:r>
              <a:rPr lang="it-IT" sz="1100" b="0" dirty="0">
                <a:solidFill>
                  <a:srgbClr val="6B6168"/>
                </a:solidFill>
              </a:rPr>
              <a:t>Note Partnership: gravità 3. Note Progetti: 5 (fuori scala 0–4) per i caroselli, 2 per «ALTRI». Decidere.</a:t>
            </a:r>
          </a:p>
        </p:txBody>
      </p:sp>
      <p:sp>
        <p:nvSpPr>
          <p:cNvPr id="13" name="Soluzione"/>
          <p:cNvSpPr/>
          <p:nvPr/>
        </p:nvSpPr>
        <p:spPr>
          <a:xfrm>
            <a:off x="609600" y="4394200"/>
            <a:ext cx="5130800" cy="1727200"/>
          </a:xfrm>
          <a:prstGeom prst="rect">
            <a:avLst/>
          </a:prstGeom>
          <a:solidFill>
            <a:srgbClr val="F3EEF1"/>
          </a:solidFill>
          <a:ln>
            <a:noFill/>
          </a:ln>
        </p:spPr>
        <p:txBody>
          <a:bodyPr wrap="square" lIns="152400" tIns="152400" rIns="152400" bIns="15240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400" b="1" dirty="0">
                <a:solidFill>
                  <a:srgbClr val="6C0850"/>
                </a:solidFill>
              </a:rPr>
              <a:t>Possibile soluzione</a:t>
            </a:r>
          </a:p>
          <a:p>
            <a:pPr marL="0" indent="0" algn="l">
              <a:lnSpc>
                <a:spcPct val="100000"/>
              </a:lnSpc>
              <a:spcBef>
                <a:spcPts val="400"/>
              </a:spcBef>
              <a:buNone/>
            </a:pPr>
            <a:r>
              <a:rPr lang="it-IT" sz="1400" b="0" dirty="0">
                <a:solidFill>
                  <a:srgbClr val="231C21"/>
                </a:solidFill>
              </a:rPr>
              <a:t>Pallini di posizione e frecce, ultima card tagliata a metà come invito a scorrere; contatori impilati in verticale; un solo carosello per i conclusi.</a:t>
            </a:r>
          </a:p>
        </p:txBody>
      </p:sp>
      <p:sp>
        <p:nvSpPr>
          <p:cNvPr id="14" name="Segnaposto immagine 1"/>
          <p:cNvSpPr/>
          <p:nvPr/>
        </p:nvSpPr>
        <p:spPr>
          <a:xfrm>
            <a:off x="6045200" y="1625600"/>
            <a:ext cx="5537200" cy="4495800"/>
          </a:xfrm>
          <a:prstGeom prst="rect">
            <a:avLst/>
          </a:prstGeom>
          <a:solidFill>
            <a:srgbClr val="F7F4F6"/>
          </a:solidFill>
          <a:ln w="15875">
            <a:solidFill>
              <a:srgbClr val="B07A9F"/>
            </a:solidFill>
            <a:prstDash val="dash"/>
          </a:ln>
        </p:spPr>
        <p:txBody>
          <a:bodyPr wrap="square" lIns="127000" tIns="127000" rIns="127000" bIns="12700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200" b="1" dirty="0">
                <a:solidFill>
                  <a:srgbClr val="6C0850"/>
                </a:solidFill>
              </a:rPr>
              <a:t>[ SCREENSHOT DA INSERIRE ]</a:t>
            </a:r>
          </a:p>
          <a:p>
            <a:pPr marL="0" indent="0" algn="ctr">
              <a:lnSpc>
                <a:spcPct val="100000"/>
              </a:lnSpc>
              <a:spcBef>
                <a:spcPts val="400"/>
              </a:spcBef>
              <a:buNone/>
            </a:pPr>
            <a:r>
              <a:rPr lang="it-IT" sz="1400" b="1" dirty="0">
                <a:solidFill>
                  <a:srgbClr val="231C21"/>
                </a:solidFill>
              </a:rPr>
              <a:t>Screenshot 2026-10-12 alle 18.50.39.png</a:t>
            </a:r>
          </a:p>
          <a:p>
            <a:pPr marL="0" indent="0" algn="ctr">
              <a:lnSpc>
                <a:spcPct val="100000"/>
              </a:lnSpc>
              <a:spcBef>
                <a:spcPts val="300"/>
              </a:spcBef>
              <a:buNone/>
            </a:pPr>
            <a:r>
              <a:rPr lang="it-IT" sz="900" b="0" dirty="0">
                <a:solidFill>
                  <a:srgbClr val="6B6168"/>
                </a:solidFill>
              </a:rPr>
              <a:t>/Users/andreock/Desktop/hci_gruppo_a/assignment1/parti/antofallea/src/Screenshot 2026-10-12 alle 18.50.39.png</a:t>
            </a:r>
          </a:p>
          <a:p>
            <a:pPr marL="0" indent="0" algn="ctr">
              <a:lnSpc>
                <a:spcPct val="100000"/>
              </a:lnSpc>
              <a:spcBef>
                <a:spcPts val="300"/>
              </a:spcBef>
              <a:buNone/>
            </a:pPr>
            <a:r>
              <a:rPr lang="it-IT" sz="1000" b="0" dirty="0">
                <a:solidFill>
                  <a:srgbClr val="6B6168"/>
                </a:solidFill>
              </a:rPr>
              <a:t>Annotare con cerchi e frecce</a:t>
            </a:r>
          </a:p>
        </p:txBody>
      </p:sp>
      <p:sp>
        <p:nvSpPr>
          <p:cNvPr id="15" name="Pagine e task"/>
          <p:cNvSpPr txBox="1"/>
          <p:nvPr/>
        </p:nvSpPr>
        <p:spPr>
          <a:xfrm>
            <a:off x="609600" y="6273800"/>
            <a:ext cx="109728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000" b="1" dirty="0">
                <a:solidFill>
                  <a:srgbClr val="6B6168"/>
                </a:solidFill>
              </a:rPr>
              <a:t>Pagine:</a:t>
            </a:r>
            <a:r>
              <a:rPr lang="it-IT" sz="1000" b="0" dirty="0">
                <a:solidFill>
                  <a:srgbClr val="6B6168"/>
                </a:solidFill>
              </a:rPr>
              <a:t> Partner UniTo › Partnership e Progetti, versione mobile   </a:t>
            </a:r>
            <a:r>
              <a:rPr lang="it-IT" sz="1000" b="1" dirty="0">
                <a:solidFill>
                  <a:srgbClr val="6B6168"/>
                </a:solidFill>
              </a:rPr>
              <a:t>Task:</a:t>
            </a:r>
            <a:r>
              <a:rPr lang="it-IT" sz="1000" b="0" dirty="0">
                <a:solidFill>
                  <a:srgbClr val="6B6168"/>
                </a:solidFill>
              </a:rPr>
              <a:t> T1, T2   </a:t>
            </a:r>
            <a:r>
              <a:rPr lang="it-IT" sz="1000" b="1" dirty="0">
                <a:solidFill>
                  <a:srgbClr val="6B6168"/>
                </a:solidFill>
              </a:rPr>
              <a:t>ID:</a:t>
            </a:r>
            <a:r>
              <a:rPr lang="it-IT" sz="1000" b="0" dirty="0">
                <a:solidFill>
                  <a:srgbClr val="6B6168"/>
                </a:solidFill>
              </a:rPr>
              <a:t> [ da assegnare ]</a:t>
            </a:r>
          </a:p>
        </p:txBody>
      </p:sp>
    </p:spTree>
    <p:extLst>
      <p:ext uri="{BB962C8B-B14F-4D97-AF65-F5344CB8AC3E}">
        <p14:creationId xmlns:p14="http://schemas.microsoft.com/office/powerpoint/2010/main" val="92796235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2876C40-128D-10D4-2F9D-277B28CAF7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558800"/>
            <a:ext cx="8991600" cy="889000"/>
          </a:xfrm>
        </p:spPr>
        <p:txBody>
          <a:bodyPr anchor="t"/>
          <a:lstStyle/>
          <a:p>
            <a:pPr>
              <a:lnSpc>
                <a:spcPct val="90000"/>
              </a:lnSpc>
            </a:pPr>
            <a:r>
              <a:rPr lang="it-IT" sz="2600" b="1" dirty="0"/>
              <a:t>La pagina non mostra in modo chiaro che i progetti sono dell’Università di Torino</a:t>
            </a:r>
          </a:p>
        </p:txBody>
      </p:sp>
      <p:sp>
        <p:nvSpPr>
          <p:cNvPr id="10" name="Euristica"/>
          <p:cNvSpPr/>
          <p:nvPr/>
        </p:nvSpPr>
        <p:spPr>
          <a:xfrm>
            <a:off x="609600" y="254000"/>
            <a:ext cx="88900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200" b="1" i="0" dirty="0">
                <a:solidFill>
                  <a:srgbClr val="6C0850"/>
                </a:solidFill>
              </a:rPr>
              <a:t>H6 · RICONOSCIMENTO ANZICHÉ RICORDO</a:t>
            </a:r>
          </a:p>
        </p:txBody>
      </p:sp>
      <p:sp>
        <p:nvSpPr>
          <p:cNvPr id="11" name="Badge gravità"/>
          <p:cNvSpPr/>
          <p:nvPr/>
        </p:nvSpPr>
        <p:spPr>
          <a:xfrm>
            <a:off x="9855200" y="381000"/>
            <a:ext cx="1727200" cy="736600"/>
          </a:xfrm>
          <a:prstGeom prst="roundRect">
            <a:avLst/>
          </a:prstGeom>
          <a:solidFill>
            <a:srgbClr val="C7A2BB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000" b="1" i="0" dirty="0">
                <a:solidFill>
                  <a:srgbClr val="41002F"/>
                </a:solidFill>
              </a:rPr>
              <a:t>GRAVITÀ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800" b="1" i="0" dirty="0">
                <a:solidFill>
                  <a:srgbClr val="41002F"/>
                </a:solidFill>
              </a:rPr>
              <a:t>2 · minore</a:t>
            </a:r>
          </a:p>
        </p:txBody>
      </p:sp>
      <p:sp>
        <p:nvSpPr>
          <p:cNvPr id="12" name="Problema"/>
          <p:cNvSpPr/>
          <p:nvPr/>
        </p:nvSpPr>
        <p:spPr>
          <a:xfrm>
            <a:off x="609600" y="1625600"/>
            <a:ext cx="5130800" cy="2616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400" b="1" i="0" dirty="0">
                <a:solidFill>
                  <a:srgbClr val="6C0850"/>
                </a:solidFill>
              </a:rPr>
              <a:t>Problema</a:t>
            </a:r>
          </a:p>
          <a:p>
            <a:pPr marL="228600" indent="-228600" algn="l">
              <a:lnSpc>
                <a:spcPct val="100000"/>
              </a:lnSpc>
              <a:spcBef>
                <a:spcPts val="500"/>
              </a:spcBef>
              <a:buClr>
                <a:srgbClr val="6C0850"/>
              </a:buClr>
              <a:buFont typeface="Arial"/>
              <a:buChar char="•"/>
            </a:pPr>
            <a:r>
              <a:rPr lang="it-IT" sz="1400" b="0" i="0" dirty="0">
                <a:solidFill>
                  <a:srgbClr val="231C21"/>
                </a:solidFill>
              </a:rPr>
              <a:t>Mancano immagini chiare del </a:t>
            </a:r>
            <a:r>
              <a:rPr lang="it-IT" sz="1400" b="1" i="0" dirty="0">
                <a:solidFill>
                  <a:srgbClr val="231C21"/>
                </a:solidFill>
              </a:rPr>
              <a:t>logo UniTo</a:t>
            </a:r>
          </a:p>
          <a:p>
            <a:pPr marL="228600" indent="-228600" algn="l">
              <a:lnSpc>
                <a:spcPct val="100000"/>
              </a:lnSpc>
              <a:spcBef>
                <a:spcPts val="500"/>
              </a:spcBef>
              <a:buClr>
                <a:srgbClr val="6C0850"/>
              </a:buClr>
              <a:buFont typeface="Arial"/>
              <a:buChar char="•"/>
            </a:pPr>
            <a:r>
              <a:rPr lang="it-IT" sz="1400" b="0" i="0" dirty="0">
                <a:solidFill>
                  <a:srgbClr val="231C21"/>
                </a:solidFill>
              </a:rPr>
              <a:t>Il legame con l’Università va </a:t>
            </a:r>
            <a:r>
              <a:rPr lang="it-IT" sz="1400" b="1" i="0" dirty="0">
                <a:solidFill>
                  <a:srgbClr val="231C21"/>
                </a:solidFill>
              </a:rPr>
              <a:t>ricordato</a:t>
            </a:r>
            <a:r>
              <a:rPr lang="it-IT" sz="1400" b="0" i="0" dirty="0">
                <a:solidFill>
                  <a:srgbClr val="231C21"/>
                </a:solidFill>
              </a:rPr>
              <a:t> invece che riconosciuto</a:t>
            </a:r>
          </a:p>
          <a:p>
            <a:pPr marL="228600" indent="-228600" algn="l">
              <a:lnSpc>
                <a:spcPct val="100000"/>
              </a:lnSpc>
              <a:spcBef>
                <a:spcPts val="500"/>
              </a:spcBef>
              <a:buClr>
                <a:srgbClr val="6C0850"/>
              </a:buClr>
              <a:buFont typeface="Arial"/>
              <a:buChar char="•"/>
            </a:pPr>
            <a:r>
              <a:rPr lang="it-IT" sz="1400" b="0" i="0" dirty="0">
                <a:solidFill>
                  <a:srgbClr val="231C21"/>
                </a:solidFill>
              </a:rPr>
              <a:t>Nella scheda Progetti c’è solo l’</a:t>
            </a:r>
            <a:r>
              <a:rPr lang="it-IT" sz="1400" b="1" i="0" dirty="0">
                <a:solidFill>
                  <a:srgbClr val="231C21"/>
                </a:solidFill>
              </a:rPr>
              <a:t>immagine iniziale</a:t>
            </a:r>
            <a:r>
              <a:rPr lang="it-IT" sz="1400" b="0" i="0" dirty="0">
                <a:solidFill>
                  <a:srgbClr val="231C21"/>
                </a:solidFill>
              </a:rPr>
              <a:t>, confusa al primo impatto</a:t>
            </a:r>
          </a:p>
          <a:p>
            <a:pPr marL="0" indent="0" algn="l">
              <a:lnSpc>
                <a:spcPct val="100000"/>
              </a:lnSpc>
              <a:spcBef>
                <a:spcPts val="900"/>
              </a:spcBef>
              <a:buNone/>
            </a:pPr>
            <a:r>
              <a:rPr lang="it-IT" sz="1100" b="0" i="0" dirty="0">
                <a:solidFill>
                  <a:srgbClr val="6B6168"/>
                </a:solidFill>
              </a:rPr>
              <a:t>Gravità 2 dalle note della scheda Progetti; la scheda Partnership non l’aveva indicata.</a:t>
            </a:r>
          </a:p>
        </p:txBody>
      </p:sp>
      <p:sp>
        <p:nvSpPr>
          <p:cNvPr id="13" name="Possibile soluzione"/>
          <p:cNvSpPr/>
          <p:nvPr/>
        </p:nvSpPr>
        <p:spPr>
          <a:xfrm>
            <a:off x="609600" y="4394200"/>
            <a:ext cx="5130800" cy="1727200"/>
          </a:xfrm>
          <a:prstGeom prst="rect">
            <a:avLst/>
          </a:prstGeom>
          <a:solidFill>
            <a:srgbClr val="F3EEF1"/>
          </a:solidFill>
          <a:ln>
            <a:noFill/>
          </a:ln>
        </p:spPr>
        <p:txBody>
          <a:bodyPr wrap="square" lIns="152400" tIns="152400" rIns="152400" bIns="15240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400" b="1" i="0" dirty="0">
                <a:solidFill>
                  <a:srgbClr val="6C0850"/>
                </a:solidFill>
              </a:rPr>
              <a:t>Possibile soluzione</a:t>
            </a:r>
          </a:p>
          <a:p>
            <a:pPr marL="0" indent="0" algn="l">
              <a:lnSpc>
                <a:spcPct val="100000"/>
              </a:lnSpc>
              <a:spcBef>
                <a:spcPts val="400"/>
              </a:spcBef>
              <a:buNone/>
            </a:pPr>
            <a:r>
              <a:rPr lang="it-IT" sz="1400" b="0" i="0" dirty="0">
                <a:solidFill>
                  <a:srgbClr val="231C21"/>
                </a:solidFill>
              </a:rPr>
              <a:t>Logo UniTo ben visibile nell’intestazione della pagina ed etichetta «Progetto UniTo» sulle card.</a:t>
            </a:r>
          </a:p>
        </p:txBody>
      </p:sp>
      <p:sp>
        <p:nvSpPr>
          <p:cNvPr id="14" name="Segnaposto immagine"/>
          <p:cNvSpPr/>
          <p:nvPr/>
        </p:nvSpPr>
        <p:spPr>
          <a:xfrm>
            <a:off x="6045200" y="1625600"/>
            <a:ext cx="5537200" cy="4495800"/>
          </a:xfrm>
          <a:prstGeom prst="rect">
            <a:avLst/>
          </a:prstGeom>
          <a:solidFill>
            <a:srgbClr val="F7F4F6"/>
          </a:solidFill>
          <a:ln w="15875">
            <a:solidFill>
              <a:srgbClr val="B07A9F"/>
            </a:solidFill>
            <a:prstDash val="dash"/>
          </a:ln>
        </p:spPr>
        <p:txBody>
          <a:bodyPr wrap="square" lIns="127000" tIns="127000" rIns="127000" bIns="12700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200" b="1" i="0" dirty="0">
                <a:solidFill>
                  <a:srgbClr val="6C0850"/>
                </a:solidFill>
              </a:rPr>
              <a:t>[ SCREENSHOT DA INSERIRE ]</a:t>
            </a:r>
          </a:p>
          <a:p>
            <a:pPr marL="0" indent="0" algn="ctr">
              <a:lnSpc>
                <a:spcPct val="100000"/>
              </a:lnSpc>
              <a:spcBef>
                <a:spcPts val="400"/>
              </a:spcBef>
              <a:buNone/>
            </a:pPr>
            <a:r>
              <a:rPr lang="it-IT" sz="1400" b="1" i="0" dirty="0">
                <a:solidFill>
                  <a:srgbClr val="231C21"/>
                </a:solidFill>
              </a:rPr>
              <a:t>Screenshot 2026-10-12 alle 18.28.46.png</a:t>
            </a:r>
          </a:p>
          <a:p>
            <a:pPr marL="0" indent="0" algn="ctr">
              <a:lnSpc>
                <a:spcPct val="100000"/>
              </a:lnSpc>
              <a:spcBef>
                <a:spcPts val="300"/>
              </a:spcBef>
              <a:buNone/>
            </a:pPr>
            <a:r>
              <a:rPr lang="it-IT" sz="900" b="0" i="0" dirty="0">
                <a:solidFill>
                  <a:srgbClr val="6B6168"/>
                </a:solidFill>
              </a:rPr>
              <a:t>Immagine iniziale della scheda Progetti · /Users/andreock/Desktop/hci_gruppo_a/assignment1/parti/antofallea/src/</a:t>
            </a:r>
          </a:p>
          <a:p>
            <a:pPr marL="0" indent="0" algn="ctr">
              <a:lnSpc>
                <a:spcPct val="100000"/>
              </a:lnSpc>
              <a:spcBef>
                <a:spcPts val="300"/>
              </a:spcBef>
              <a:buNone/>
            </a:pPr>
            <a:r>
              <a:rPr lang="it-IT" sz="1000" b="0" i="0" dirty="0">
                <a:solidFill>
                  <a:srgbClr val="6B6168"/>
                </a:solidFill>
              </a:rPr>
              <a:t>Annotare con cerchi e frecce</a:t>
            </a:r>
          </a:p>
        </p:txBody>
      </p:sp>
      <p:sp>
        <p:nvSpPr>
          <p:cNvPr id="15" name="Pagine e task"/>
          <p:cNvSpPr/>
          <p:nvPr/>
        </p:nvSpPr>
        <p:spPr>
          <a:xfrm>
            <a:off x="609600" y="6273800"/>
            <a:ext cx="109728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000" b="1" i="0" dirty="0">
                <a:solidFill>
                  <a:srgbClr val="6B6168"/>
                </a:solidFill>
              </a:rPr>
              <a:t>Pagine:</a:t>
            </a:r>
            <a:r>
              <a:rPr lang="it-IT" sz="1000" b="0" i="0" dirty="0">
                <a:solidFill>
                  <a:srgbClr val="6B6168"/>
                </a:solidFill>
              </a:rPr>
              <a:t> Partner UniTo › Partnership · Partner UniTo › Progetti   </a:t>
            </a:r>
            <a:r>
              <a:rPr lang="it-IT" sz="1000" b="1" i="0" dirty="0">
                <a:solidFill>
                  <a:srgbClr val="6B6168"/>
                </a:solidFill>
              </a:rPr>
              <a:t>Task:</a:t>
            </a:r>
            <a:r>
              <a:rPr lang="it-IT" sz="1000" b="0" i="0" dirty="0">
                <a:solidFill>
                  <a:srgbClr val="6B6168"/>
                </a:solidFill>
              </a:rPr>
              <a:t> T1   </a:t>
            </a:r>
            <a:r>
              <a:rPr lang="it-IT" sz="1000" b="1" i="0" dirty="0">
                <a:solidFill>
                  <a:srgbClr val="6B6168"/>
                </a:solidFill>
              </a:rPr>
              <a:t>ID:</a:t>
            </a:r>
            <a:r>
              <a:rPr lang="it-IT" sz="1000" b="0" i="0" dirty="0">
                <a:solidFill>
                  <a:srgbClr val="6B6168"/>
                </a:solidFill>
              </a:rPr>
              <a:t> [ da assegnare ]</a:t>
            </a:r>
          </a:p>
        </p:txBody>
      </p:sp>
    </p:spTree>
    <p:extLst>
      <p:ext uri="{BB962C8B-B14F-4D97-AF65-F5344CB8AC3E}">
        <p14:creationId xmlns:p14="http://schemas.microsoft.com/office/powerpoint/2010/main" val="344428885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04AB486-3C81-29D5-2AFA-55A1E121B8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558800"/>
            <a:ext cx="8991600" cy="889000"/>
          </a:xfrm>
        </p:spPr>
        <p:txBody>
          <a:bodyPr anchor="t"/>
          <a:lstStyle/>
          <a:p>
            <a:pPr>
              <a:lnSpc>
                <a:spcPct val="90000"/>
              </a:lnSpc>
            </a:pPr>
            <a:r>
              <a:rPr lang="it-IT" sz="2600" b="1" dirty="0"/>
              <a:t>Dalla card non si capisce di cosa si occupa il progetto</a:t>
            </a:r>
          </a:p>
        </p:txBody>
      </p:sp>
      <p:sp>
        <p:nvSpPr>
          <p:cNvPr id="10" name="Euristica"/>
          <p:cNvSpPr txBox="1"/>
          <p:nvPr/>
        </p:nvSpPr>
        <p:spPr>
          <a:xfrm>
            <a:off x="609600" y="254000"/>
            <a:ext cx="88900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200" b="1" dirty="0">
                <a:solidFill>
                  <a:srgbClr val="6C0850"/>
                </a:solidFill>
              </a:rPr>
              <a:t>H6 · RICONOSCIMENTO ANZICHÉ RICORDO</a:t>
            </a:r>
          </a:p>
        </p:txBody>
      </p:sp>
      <p:sp>
        <p:nvSpPr>
          <p:cNvPr id="11" name="Badge gravità"/>
          <p:cNvSpPr/>
          <p:nvPr/>
        </p:nvSpPr>
        <p:spPr>
          <a:xfrm>
            <a:off x="9855200" y="381000"/>
            <a:ext cx="1727200" cy="736600"/>
          </a:xfrm>
          <a:prstGeom prst="roundRect">
            <a:avLst/>
          </a:prstGeom>
          <a:solidFill>
            <a:srgbClr val="8E2F72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000" b="1" dirty="0">
                <a:solidFill>
                  <a:srgbClr val="FFFFFF"/>
                </a:solidFill>
              </a:rPr>
              <a:t>GRAVITÀ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800" b="1" dirty="0">
                <a:solidFill>
                  <a:srgbClr val="FFFFFF"/>
                </a:solidFill>
              </a:rPr>
              <a:t>3 · importante</a:t>
            </a:r>
          </a:p>
        </p:txBody>
      </p:sp>
      <p:sp>
        <p:nvSpPr>
          <p:cNvPr id="12" name="Problema"/>
          <p:cNvSpPr txBox="1"/>
          <p:nvPr/>
        </p:nvSpPr>
        <p:spPr>
          <a:xfrm>
            <a:off x="609600" y="1625600"/>
            <a:ext cx="5130800" cy="2616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400" b="1" dirty="0">
                <a:solidFill>
                  <a:srgbClr val="6C0850"/>
                </a:solidFill>
              </a:rPr>
              <a:t>Problema</a:t>
            </a:r>
          </a:p>
          <a:p>
            <a:pPr marL="228600" indent="-228600" algn="l">
              <a:lnSpc>
                <a:spcPct val="100000"/>
              </a:lnSpc>
              <a:spcBef>
                <a:spcPts val="500"/>
              </a:spcBef>
              <a:buClr>
                <a:srgbClr val="6C0850"/>
              </a:buClr>
              <a:buFont typeface="Arial"/>
              <a:buChar char="•"/>
            </a:pPr>
            <a:r>
              <a:rPr lang="it-IT" sz="1400" b="0" dirty="0">
                <a:solidFill>
                  <a:srgbClr val="231C21"/>
                </a:solidFill>
              </a:rPr>
              <a:t>La card </a:t>
            </a:r>
            <a:r>
              <a:rPr lang="it-IT" sz="1400" b="1" dirty="0">
                <a:solidFill>
                  <a:srgbClr val="231C21"/>
                </a:solidFill>
              </a:rPr>
              <a:t>non indica il tema</a:t>
            </a:r>
            <a:r>
              <a:rPr lang="it-IT" sz="1400" b="0" dirty="0">
                <a:solidFill>
                  <a:srgbClr val="231C21"/>
                </a:solidFill>
              </a:rPr>
              <a:t>: né categoria né una breve descrizione</a:t>
            </a:r>
          </a:p>
          <a:p>
            <a:pPr marL="228600" indent="-228600" algn="l">
              <a:lnSpc>
                <a:spcPct val="100000"/>
              </a:lnSpc>
              <a:spcBef>
                <a:spcPts val="500"/>
              </a:spcBef>
              <a:buClr>
                <a:srgbClr val="6C0850"/>
              </a:buClr>
              <a:buFont typeface="Arial"/>
              <a:buChar char="•"/>
            </a:pPr>
            <a:r>
              <a:rPr lang="it-IT" sz="1400" b="0" dirty="0">
                <a:solidFill>
                  <a:srgbClr val="231C21"/>
                </a:solidFill>
              </a:rPr>
              <a:t>I titoli sono </a:t>
            </a:r>
            <a:r>
              <a:rPr lang="it-IT" sz="1400" b="1" dirty="0">
                <a:solidFill>
                  <a:srgbClr val="231C21"/>
                </a:solidFill>
              </a:rPr>
              <a:t>troncati con «…»</a:t>
            </a:r>
            <a:r>
              <a:rPr lang="it-IT" sz="1400" b="0" dirty="0">
                <a:solidFill>
                  <a:srgbClr val="231C21"/>
                </a:solidFill>
              </a:rPr>
              <a:t> proprio dove dicono l’ambito («MILK-ACT: Proteggere i più piccoli dai …»)</a:t>
            </a:r>
          </a:p>
          <a:p>
            <a:pPr marL="228600" indent="-228600" algn="l">
              <a:lnSpc>
                <a:spcPct val="100000"/>
              </a:lnSpc>
              <a:spcBef>
                <a:spcPts val="500"/>
              </a:spcBef>
              <a:buClr>
                <a:srgbClr val="6C0850"/>
              </a:buClr>
              <a:buFont typeface="Arial"/>
              <a:buChar char="•"/>
            </a:pPr>
            <a:r>
              <a:rPr lang="it-IT" sz="1400" b="0" dirty="0">
                <a:solidFill>
                  <a:srgbClr val="231C21"/>
                </a:solidFill>
              </a:rPr>
              <a:t>Per scegliere bisogna </a:t>
            </a:r>
            <a:r>
              <a:rPr lang="it-IT" sz="1400" b="1" dirty="0">
                <a:solidFill>
                  <a:srgbClr val="231C21"/>
                </a:solidFill>
              </a:rPr>
              <a:t>aprire ogni progetto</a:t>
            </a:r>
            <a:r>
              <a:rPr lang="it-IT" sz="1400" b="0" dirty="0">
                <a:solidFill>
                  <a:srgbClr val="231C21"/>
                </a:solidFill>
              </a:rPr>
              <a:t> o ricordarne il contenuto</a:t>
            </a:r>
          </a:p>
          <a:p>
            <a:pPr marL="0" indent="0" algn="l">
              <a:lnSpc>
                <a:spcPct val="100000"/>
              </a:lnSpc>
              <a:spcBef>
                <a:spcPts val="900"/>
              </a:spcBef>
              <a:buNone/>
            </a:pPr>
            <a:r>
              <a:rPr lang="it-IT" sz="1100" b="0" dirty="0">
                <a:solidFill>
                  <a:srgbClr val="6B6168"/>
                </a:solidFill>
              </a:rPr>
              <a:t>Nelle note gravità 3 (tema), nel CSV gravità 1 per i titoli troncati (P13): uniti in un solo problema.</a:t>
            </a:r>
          </a:p>
        </p:txBody>
      </p:sp>
      <p:sp>
        <p:nvSpPr>
          <p:cNvPr id="13" name="Soluzione"/>
          <p:cNvSpPr/>
          <p:nvPr/>
        </p:nvSpPr>
        <p:spPr>
          <a:xfrm>
            <a:off x="609600" y="4394200"/>
            <a:ext cx="5130800" cy="1727200"/>
          </a:xfrm>
          <a:prstGeom prst="rect">
            <a:avLst/>
          </a:prstGeom>
          <a:solidFill>
            <a:srgbClr val="F3EEF1"/>
          </a:solidFill>
          <a:ln>
            <a:noFill/>
          </a:ln>
        </p:spPr>
        <p:txBody>
          <a:bodyPr wrap="square" lIns="152400" tIns="152400" rIns="152400" bIns="15240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400" b="1" dirty="0">
                <a:solidFill>
                  <a:srgbClr val="6C0850"/>
                </a:solidFill>
              </a:rPr>
              <a:t>Possibile soluzione</a:t>
            </a:r>
          </a:p>
          <a:p>
            <a:pPr marL="0" indent="0" algn="l">
              <a:lnSpc>
                <a:spcPct val="100000"/>
              </a:lnSpc>
              <a:spcBef>
                <a:spcPts val="400"/>
              </a:spcBef>
              <a:buNone/>
            </a:pPr>
            <a:r>
              <a:rPr lang="it-IT" sz="1400" b="0" dirty="0">
                <a:solidFill>
                  <a:srgbClr val="231C21"/>
                </a:solidFill>
              </a:rPr>
              <a:t>Titolo su tre righe o sottotitolo con l’ambito, più un’etichetta di categoria (es. «Salute», «Ambiente») su ogni card.</a:t>
            </a:r>
          </a:p>
        </p:txBody>
      </p:sp>
      <p:sp>
        <p:nvSpPr>
          <p:cNvPr id="14" name="Segnaposto immagine 1"/>
          <p:cNvSpPr/>
          <p:nvPr/>
        </p:nvSpPr>
        <p:spPr>
          <a:xfrm>
            <a:off x="6045200" y="1625600"/>
            <a:ext cx="5537200" cy="4495800"/>
          </a:xfrm>
          <a:prstGeom prst="rect">
            <a:avLst/>
          </a:prstGeom>
          <a:solidFill>
            <a:srgbClr val="F7F4F6"/>
          </a:solidFill>
          <a:ln w="15875">
            <a:solidFill>
              <a:srgbClr val="B07A9F"/>
            </a:solidFill>
            <a:prstDash val="dash"/>
          </a:ln>
        </p:spPr>
        <p:txBody>
          <a:bodyPr wrap="square" lIns="127000" tIns="127000" rIns="127000" bIns="12700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200" b="1" dirty="0">
                <a:solidFill>
                  <a:srgbClr val="6C0850"/>
                </a:solidFill>
              </a:rPr>
              <a:t>[ SCREENSHOT DA INSERIRE ]</a:t>
            </a:r>
          </a:p>
          <a:p>
            <a:pPr marL="0" indent="0" algn="ctr">
              <a:lnSpc>
                <a:spcPct val="100000"/>
              </a:lnSpc>
              <a:spcBef>
                <a:spcPts val="400"/>
              </a:spcBef>
              <a:buNone/>
            </a:pPr>
            <a:r>
              <a:rPr lang="it-IT" sz="1400" b="1" dirty="0">
                <a:solidFill>
                  <a:srgbClr val="231C21"/>
                </a:solidFill>
              </a:rPr>
              <a:t>lista_titoli.jpg</a:t>
            </a:r>
          </a:p>
          <a:p>
            <a:pPr marL="0" indent="0" algn="ctr">
              <a:lnSpc>
                <a:spcPct val="100000"/>
              </a:lnSpc>
              <a:spcBef>
                <a:spcPts val="300"/>
              </a:spcBef>
              <a:buNone/>
            </a:pPr>
            <a:r>
              <a:rPr lang="it-IT" sz="900" b="0" dirty="0">
                <a:solidFill>
                  <a:srgbClr val="6B6168"/>
                </a:solidFill>
              </a:rPr>
              <a:t>/Users/andreock/Desktop/hci_gruppo_a/assignment1/parti/antofallea/src/lista_titoli.jpg</a:t>
            </a:r>
          </a:p>
          <a:p>
            <a:pPr marL="0" indent="0" algn="ctr">
              <a:lnSpc>
                <a:spcPct val="100000"/>
              </a:lnSpc>
              <a:spcBef>
                <a:spcPts val="300"/>
              </a:spcBef>
              <a:buNone/>
            </a:pPr>
            <a:r>
              <a:rPr lang="it-IT" sz="1000" b="0" dirty="0">
                <a:solidFill>
                  <a:srgbClr val="6B6168"/>
                </a:solidFill>
              </a:rPr>
              <a:t>Annotare con cerchi e frecce</a:t>
            </a:r>
          </a:p>
        </p:txBody>
      </p:sp>
      <p:sp>
        <p:nvSpPr>
          <p:cNvPr id="15" name="Pagine e task"/>
          <p:cNvSpPr txBox="1"/>
          <p:nvPr/>
        </p:nvSpPr>
        <p:spPr>
          <a:xfrm>
            <a:off x="609600" y="6273800"/>
            <a:ext cx="109728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000" b="1" dirty="0">
                <a:solidFill>
                  <a:srgbClr val="6B6168"/>
                </a:solidFill>
              </a:rPr>
              <a:t>Pagine:</a:t>
            </a:r>
            <a:r>
              <a:rPr lang="it-IT" sz="1000" b="0" dirty="0">
                <a:solidFill>
                  <a:srgbClr val="6B6168"/>
                </a:solidFill>
              </a:rPr>
              <a:t> Partner UniTo › Progetti · Ricerca progetti   </a:t>
            </a:r>
            <a:r>
              <a:rPr lang="it-IT" sz="1000" b="1" dirty="0">
                <a:solidFill>
                  <a:srgbClr val="6B6168"/>
                </a:solidFill>
              </a:rPr>
              <a:t>Task:</a:t>
            </a:r>
            <a:r>
              <a:rPr lang="it-IT" sz="1000" b="0" dirty="0">
                <a:solidFill>
                  <a:srgbClr val="6B6168"/>
                </a:solidFill>
              </a:rPr>
              <a:t> T2   </a:t>
            </a:r>
            <a:r>
              <a:rPr lang="it-IT" sz="1000" b="1" dirty="0">
                <a:solidFill>
                  <a:srgbClr val="6B6168"/>
                </a:solidFill>
              </a:rPr>
              <a:t>ID:</a:t>
            </a:r>
            <a:r>
              <a:rPr lang="it-IT" sz="1000" b="0" dirty="0">
                <a:solidFill>
                  <a:srgbClr val="6B6168"/>
                </a:solidFill>
              </a:rPr>
              <a:t> P13 + [ da assegnare ]</a:t>
            </a:r>
          </a:p>
        </p:txBody>
      </p:sp>
    </p:spTree>
    <p:extLst>
      <p:ext uri="{BB962C8B-B14F-4D97-AF65-F5344CB8AC3E}">
        <p14:creationId xmlns:p14="http://schemas.microsoft.com/office/powerpoint/2010/main" val="69795624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8986CCA-37EB-69B4-5912-69305FF07B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558800"/>
            <a:ext cx="8991600" cy="889000"/>
          </a:xfrm>
        </p:spPr>
        <p:txBody>
          <a:bodyPr anchor="t"/>
          <a:lstStyle/>
          <a:p>
            <a:pPr>
              <a:lnSpc>
                <a:spcPct val="90000"/>
              </a:lnSpc>
            </a:pPr>
            <a:r>
              <a:rPr lang="it-IT" sz="2600" b="1" dirty="0"/>
              <a:t>Un’icona senza testo nel menu duplica il logo che porta alla home</a:t>
            </a:r>
          </a:p>
        </p:txBody>
      </p:sp>
      <p:sp>
        <p:nvSpPr>
          <p:cNvPr id="10" name="Euristica"/>
          <p:cNvSpPr txBox="1"/>
          <p:nvPr/>
        </p:nvSpPr>
        <p:spPr>
          <a:xfrm>
            <a:off x="609600" y="254000"/>
            <a:ext cx="88900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200" b="1" dirty="0">
                <a:solidFill>
                  <a:srgbClr val="6C0850"/>
                </a:solidFill>
              </a:rPr>
              <a:t>H6 · RICONOSCIMENTO ANZICHÉ RICORDO</a:t>
            </a:r>
          </a:p>
        </p:txBody>
      </p:sp>
      <p:sp>
        <p:nvSpPr>
          <p:cNvPr id="11" name="Badge gravità"/>
          <p:cNvSpPr/>
          <p:nvPr/>
        </p:nvSpPr>
        <p:spPr>
          <a:xfrm>
            <a:off x="9855200" y="381000"/>
            <a:ext cx="1727200" cy="736600"/>
          </a:xfrm>
          <a:prstGeom prst="roundRect">
            <a:avLst/>
          </a:prstGeom>
          <a:solidFill>
            <a:srgbClr val="C7A2BB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000" b="1" dirty="0">
                <a:solidFill>
                  <a:srgbClr val="41002F"/>
                </a:solidFill>
              </a:rPr>
              <a:t>GRAVITÀ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800" b="1" dirty="0">
                <a:solidFill>
                  <a:srgbClr val="41002F"/>
                </a:solidFill>
              </a:rPr>
              <a:t>2 · minore</a:t>
            </a:r>
          </a:p>
        </p:txBody>
      </p:sp>
      <p:sp>
        <p:nvSpPr>
          <p:cNvPr id="12" name="Problema"/>
          <p:cNvSpPr txBox="1"/>
          <p:nvPr/>
        </p:nvSpPr>
        <p:spPr>
          <a:xfrm>
            <a:off x="609600" y="1625600"/>
            <a:ext cx="5130800" cy="2616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400" b="1" dirty="0">
                <a:solidFill>
                  <a:srgbClr val="6C0850"/>
                </a:solidFill>
              </a:rPr>
              <a:t>Problema</a:t>
            </a:r>
          </a:p>
          <a:p>
            <a:pPr marL="228600" indent="-228600" algn="l">
              <a:lnSpc>
                <a:spcPct val="100000"/>
              </a:lnSpc>
              <a:spcBef>
                <a:spcPts val="500"/>
              </a:spcBef>
              <a:buClr>
                <a:srgbClr val="6C0850"/>
              </a:buClr>
              <a:buFont typeface="Arial"/>
              <a:buChar char="•"/>
            </a:pPr>
            <a:r>
              <a:rPr lang="it-IT" sz="1400" b="0" dirty="0">
                <a:solidFill>
                  <a:srgbClr val="231C21"/>
                </a:solidFill>
              </a:rPr>
              <a:t>Prima del logo c’è una </a:t>
            </a:r>
            <a:r>
              <a:rPr lang="it-IT" sz="1400" b="1" dirty="0">
                <a:solidFill>
                  <a:srgbClr val="231C21"/>
                </a:solidFill>
              </a:rPr>
              <a:t>piccola icona senza etichetta</a:t>
            </a:r>
          </a:p>
          <a:p>
            <a:pPr marL="228600" indent="-228600" algn="l">
              <a:lnSpc>
                <a:spcPct val="100000"/>
              </a:lnSpc>
              <a:spcBef>
                <a:spcPts val="500"/>
              </a:spcBef>
              <a:buClr>
                <a:srgbClr val="6C0850"/>
              </a:buClr>
              <a:buFont typeface="Arial"/>
              <a:buChar char="•"/>
            </a:pPr>
            <a:r>
              <a:rPr lang="it-IT" sz="1400" b="0" dirty="0">
                <a:solidFill>
                  <a:srgbClr val="231C21"/>
                </a:solidFill>
              </a:rPr>
              <a:t>Non si capisce dove porti: rimanda alla home, </a:t>
            </a:r>
            <a:r>
              <a:rPr lang="it-IT" sz="1400" b="1" dirty="0">
                <a:solidFill>
                  <a:srgbClr val="231C21"/>
                </a:solidFill>
              </a:rPr>
              <a:t>come il logo</a:t>
            </a:r>
            <a:r>
              <a:rPr lang="it-IT" sz="1400" b="0" dirty="0">
                <a:solidFill>
                  <a:srgbClr val="231C21"/>
                </a:solidFill>
              </a:rPr>
              <a:t> accanto</a:t>
            </a:r>
          </a:p>
          <a:p>
            <a:pPr marL="228600" indent="-228600" algn="l">
              <a:lnSpc>
                <a:spcPct val="100000"/>
              </a:lnSpc>
              <a:spcBef>
                <a:spcPts val="500"/>
              </a:spcBef>
              <a:buClr>
                <a:srgbClr val="6C0850"/>
              </a:buClr>
              <a:buFont typeface="Arial"/>
              <a:buChar char="•"/>
            </a:pPr>
            <a:r>
              <a:rPr lang="it-IT" sz="1400" b="0" dirty="0">
                <a:solidFill>
                  <a:srgbClr val="231C21"/>
                </a:solidFill>
              </a:rPr>
              <a:t>Due comandi per la stessa azione, uno dei due poco leggibile</a:t>
            </a:r>
          </a:p>
          <a:p>
            <a:pPr marL="0" indent="0" algn="l">
              <a:lnSpc>
                <a:spcPct val="100000"/>
              </a:lnSpc>
              <a:spcBef>
                <a:spcPts val="900"/>
              </a:spcBef>
              <a:buNone/>
            </a:pPr>
            <a:r>
              <a:rPr lang="it-IT" sz="1100" b="0" dirty="0">
                <a:solidFill>
                  <a:srgbClr val="6B6168"/>
                </a:solidFill>
              </a:rPr>
              <a:t>Gravità 2 dalle note. [ DA VERIFICARE ] se l’icona ha un testo alternativo per gli screen reader.</a:t>
            </a:r>
          </a:p>
        </p:txBody>
      </p:sp>
      <p:sp>
        <p:nvSpPr>
          <p:cNvPr id="13" name="Soluzione"/>
          <p:cNvSpPr/>
          <p:nvPr/>
        </p:nvSpPr>
        <p:spPr>
          <a:xfrm>
            <a:off x="609600" y="4394200"/>
            <a:ext cx="5130800" cy="1727200"/>
          </a:xfrm>
          <a:prstGeom prst="rect">
            <a:avLst/>
          </a:prstGeom>
          <a:solidFill>
            <a:srgbClr val="F3EEF1"/>
          </a:solidFill>
          <a:ln>
            <a:noFill/>
          </a:ln>
        </p:spPr>
        <p:txBody>
          <a:bodyPr wrap="square" lIns="152400" tIns="152400" rIns="152400" bIns="15240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400" b="1" dirty="0">
                <a:solidFill>
                  <a:srgbClr val="6C0850"/>
                </a:solidFill>
              </a:rPr>
              <a:t>Possibile soluzione</a:t>
            </a:r>
          </a:p>
          <a:p>
            <a:pPr marL="0" indent="0" algn="l">
              <a:lnSpc>
                <a:spcPct val="100000"/>
              </a:lnSpc>
              <a:spcBef>
                <a:spcPts val="400"/>
              </a:spcBef>
              <a:buNone/>
            </a:pPr>
            <a:r>
              <a:rPr lang="it-IT" sz="1400" b="0" dirty="0">
                <a:solidFill>
                  <a:srgbClr val="231C21"/>
                </a:solidFill>
              </a:rPr>
              <a:t>Rimuovere l’icona e lasciare il logo come link alla home, oppure aggiungere l’etichetta «Home».</a:t>
            </a:r>
          </a:p>
        </p:txBody>
      </p:sp>
      <p:sp>
        <p:nvSpPr>
          <p:cNvPr id="14" name="Segnaposto immagine 1"/>
          <p:cNvSpPr/>
          <p:nvPr/>
        </p:nvSpPr>
        <p:spPr>
          <a:xfrm>
            <a:off x="6045200" y="1625600"/>
            <a:ext cx="5537200" cy="4495800"/>
          </a:xfrm>
          <a:prstGeom prst="rect">
            <a:avLst/>
          </a:prstGeom>
          <a:solidFill>
            <a:srgbClr val="F7F4F6"/>
          </a:solidFill>
          <a:ln w="15875">
            <a:solidFill>
              <a:srgbClr val="B07A9F"/>
            </a:solidFill>
            <a:prstDash val="dash"/>
          </a:ln>
        </p:spPr>
        <p:txBody>
          <a:bodyPr wrap="square" lIns="127000" tIns="127000" rIns="127000" bIns="12700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200" b="1" dirty="0">
                <a:solidFill>
                  <a:srgbClr val="6C0850"/>
                </a:solidFill>
              </a:rPr>
              <a:t>[ SCREENSHOT DA FARE ]</a:t>
            </a:r>
          </a:p>
          <a:p>
            <a:pPr marL="0" indent="0" algn="ctr">
              <a:lnSpc>
                <a:spcPct val="100000"/>
              </a:lnSpc>
              <a:spcBef>
                <a:spcPts val="400"/>
              </a:spcBef>
              <a:buNone/>
            </a:pPr>
            <a:r>
              <a:rPr lang="it-IT" sz="1400" b="1" dirty="0">
                <a:solidFill>
                  <a:srgbClr val="231C21"/>
                </a:solidFill>
              </a:rPr>
              <a:t>Menu principale con icona e logo</a:t>
            </a:r>
          </a:p>
          <a:p>
            <a:pPr marL="0" indent="0" algn="ctr">
              <a:lnSpc>
                <a:spcPct val="100000"/>
              </a:lnSpc>
              <a:spcBef>
                <a:spcPts val="300"/>
              </a:spcBef>
              <a:buNone/>
            </a:pPr>
            <a:r>
              <a:rPr lang="it-IT" sz="900" b="0" dirty="0">
                <a:solidFill>
                  <a:srgbClr val="6B6168"/>
                </a:solidFill>
              </a:rPr>
              <a:t>Salvare in /Users/andreock/Desktop/hci_gruppo_a/assignment1/parti/antofallea/src/</a:t>
            </a:r>
          </a:p>
          <a:p>
            <a:pPr marL="0" indent="0" algn="ctr">
              <a:lnSpc>
                <a:spcPct val="100000"/>
              </a:lnSpc>
              <a:spcBef>
                <a:spcPts val="300"/>
              </a:spcBef>
              <a:buNone/>
            </a:pPr>
            <a:r>
              <a:rPr lang="it-IT" sz="1000" b="0" dirty="0">
                <a:solidFill>
                  <a:srgbClr val="6B6168"/>
                </a:solidFill>
              </a:rPr>
              <a:t>Annotare con cerchi e frecce</a:t>
            </a:r>
          </a:p>
        </p:txBody>
      </p:sp>
      <p:sp>
        <p:nvSpPr>
          <p:cNvPr id="15" name="Pagine e task"/>
          <p:cNvSpPr txBox="1"/>
          <p:nvPr/>
        </p:nvSpPr>
        <p:spPr>
          <a:xfrm>
            <a:off x="609600" y="6273800"/>
            <a:ext cx="109728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000" b="1" dirty="0">
                <a:solidFill>
                  <a:srgbClr val="6B6168"/>
                </a:solidFill>
              </a:rPr>
              <a:t>Pagina:</a:t>
            </a:r>
            <a:r>
              <a:rPr lang="it-IT" sz="1000" b="0" dirty="0">
                <a:solidFill>
                  <a:srgbClr val="6B6168"/>
                </a:solidFill>
              </a:rPr>
              <a:t> menu principale (tutte le pagine)   </a:t>
            </a:r>
            <a:r>
              <a:rPr lang="it-IT" sz="1000" b="1" dirty="0">
                <a:solidFill>
                  <a:srgbClr val="6B6168"/>
                </a:solidFill>
              </a:rPr>
              <a:t>Task:</a:t>
            </a:r>
            <a:r>
              <a:rPr lang="it-IT" sz="1000" b="0" dirty="0">
                <a:solidFill>
                  <a:srgbClr val="6B6168"/>
                </a:solidFill>
              </a:rPr>
              <a:t> T1   </a:t>
            </a:r>
            <a:r>
              <a:rPr lang="it-IT" sz="1000" b="1" dirty="0">
                <a:solidFill>
                  <a:srgbClr val="6B6168"/>
                </a:solidFill>
              </a:rPr>
              <a:t>ID:</a:t>
            </a:r>
            <a:r>
              <a:rPr lang="it-IT" sz="1000" b="0" dirty="0">
                <a:solidFill>
                  <a:srgbClr val="6B6168"/>
                </a:solidFill>
              </a:rPr>
              <a:t> [ da assegnare ]</a:t>
            </a:r>
          </a:p>
        </p:txBody>
      </p:sp>
    </p:spTree>
    <p:extLst>
      <p:ext uri="{BB962C8B-B14F-4D97-AF65-F5344CB8AC3E}">
        <p14:creationId xmlns:p14="http://schemas.microsoft.com/office/powerpoint/2010/main" val="54705797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74B210B-B520-D0A9-BBE2-8ED2174646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558800"/>
            <a:ext cx="8991600" cy="889000"/>
          </a:xfrm>
        </p:spPr>
        <p:txBody>
          <a:bodyPr anchor="t"/>
          <a:lstStyle/>
          <a:p>
            <a:pPr>
              <a:lnSpc>
                <a:spcPct val="90000"/>
              </a:lnSpc>
            </a:pPr>
            <a:r>
              <a:rPr lang="it-IT" sz="2600" b="1" dirty="0"/>
              <a:t>Dal fondo della pagina non c’è un modo rapido per tornare all’inizio</a:t>
            </a:r>
          </a:p>
        </p:txBody>
      </p:sp>
      <p:sp>
        <p:nvSpPr>
          <p:cNvPr id="10" name="Euristica"/>
          <p:cNvSpPr/>
          <p:nvPr/>
        </p:nvSpPr>
        <p:spPr>
          <a:xfrm>
            <a:off x="609600" y="254000"/>
            <a:ext cx="88900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200" b="1" i="0" dirty="0">
                <a:solidFill>
                  <a:srgbClr val="6C0850"/>
                </a:solidFill>
              </a:rPr>
              <a:t>H7 · FLESSIBILITÀ ED EFFICIENZA D’USO</a:t>
            </a:r>
          </a:p>
        </p:txBody>
      </p:sp>
      <p:sp>
        <p:nvSpPr>
          <p:cNvPr id="11" name="Badge gravità"/>
          <p:cNvSpPr/>
          <p:nvPr/>
        </p:nvSpPr>
        <p:spPr>
          <a:xfrm>
            <a:off x="9855200" y="381000"/>
            <a:ext cx="1727200" cy="736600"/>
          </a:xfrm>
          <a:prstGeom prst="roundRect">
            <a:avLst/>
          </a:prstGeom>
          <a:solidFill>
            <a:srgbClr val="8E2F72"/>
          </a:solidFill>
          <a:ln w="15875"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it-IT" sz="1000" b="1" dirty="0">
                <a:solidFill>
                  <a:srgbClr val="FFFFFF"/>
                </a:solidFill>
              </a:rPr>
              <a:t>GRAVITÀ</a:t>
            </a:r>
          </a:p>
          <a:p>
            <a:pPr marL="0" indent="0" algn="ctr">
              <a:buNone/>
            </a:pPr>
            <a:r>
              <a:rPr lang="it-IT" sz="1800" b="1" dirty="0">
                <a:solidFill>
                  <a:srgbClr val="FFFFFF"/>
                </a:solidFill>
              </a:rPr>
              <a:t>3 · importante</a:t>
            </a:r>
          </a:p>
        </p:txBody>
      </p:sp>
      <p:sp>
        <p:nvSpPr>
          <p:cNvPr id="12" name="Problema"/>
          <p:cNvSpPr/>
          <p:nvPr/>
        </p:nvSpPr>
        <p:spPr>
          <a:xfrm>
            <a:off x="609600" y="1625600"/>
            <a:ext cx="5130800" cy="2616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400" b="1" i="0" dirty="0">
                <a:solidFill>
                  <a:srgbClr val="6C0850"/>
                </a:solidFill>
              </a:rPr>
              <a:t>Problema</a:t>
            </a:r>
          </a:p>
          <a:p>
            <a:pPr marL="228600" indent="-228600" algn="l">
              <a:lnSpc>
                <a:spcPct val="100000"/>
              </a:lnSpc>
              <a:spcBef>
                <a:spcPts val="500"/>
              </a:spcBef>
              <a:buClr>
                <a:srgbClr val="6C0850"/>
              </a:buClr>
              <a:buFont typeface="Arial"/>
              <a:buChar char="•"/>
            </a:pPr>
            <a:r>
              <a:rPr lang="it-IT" sz="1400" b="0" i="0" dirty="0">
                <a:solidFill>
                  <a:srgbClr val="231C21"/>
                </a:solidFill>
              </a:rPr>
              <a:t>Manca un pulsante </a:t>
            </a:r>
            <a:r>
              <a:rPr lang="it-IT" sz="1400" b="1" i="0" dirty="0">
                <a:solidFill>
                  <a:srgbClr val="231C21"/>
                </a:solidFill>
              </a:rPr>
              <a:t>«Torna su»</a:t>
            </a:r>
          </a:p>
          <a:p>
            <a:pPr marL="228600" indent="-228600" algn="l">
              <a:lnSpc>
                <a:spcPct val="100000"/>
              </a:lnSpc>
              <a:spcBef>
                <a:spcPts val="500"/>
              </a:spcBef>
              <a:buClr>
                <a:srgbClr val="6C0850"/>
              </a:buClr>
              <a:buFont typeface="Arial"/>
              <a:buChar char="•"/>
            </a:pPr>
            <a:r>
              <a:rPr lang="it-IT" sz="1400" b="0" i="0" dirty="0">
                <a:solidFill>
                  <a:srgbClr val="231C21"/>
                </a:solidFill>
              </a:rPr>
              <a:t>Dal footer si torna in cima solo </a:t>
            </a:r>
            <a:r>
              <a:rPr lang="it-IT" sz="1400" b="1" i="0" dirty="0">
                <a:solidFill>
                  <a:srgbClr val="231C21"/>
                </a:solidFill>
              </a:rPr>
              <a:t>scorrendo tutta la pagina</a:t>
            </a:r>
          </a:p>
          <a:p>
            <a:pPr marL="228600" indent="-228600" algn="l">
              <a:lnSpc>
                <a:spcPct val="100000"/>
              </a:lnSpc>
              <a:spcBef>
                <a:spcPts val="500"/>
              </a:spcBef>
              <a:buClr>
                <a:srgbClr val="6C0850"/>
              </a:buClr>
              <a:buFont typeface="Arial"/>
              <a:buChar char="•"/>
            </a:pPr>
            <a:r>
              <a:rPr lang="it-IT" sz="1400" b="0" dirty="0">
                <a:solidFill>
                  <a:srgbClr val="231C21"/>
                </a:solidFill>
              </a:rPr>
              <a:t>Lo stesso vale per la pagina di </a:t>
            </a:r>
            <a:r>
              <a:rPr lang="it-IT" sz="1400" b="1" dirty="0">
                <a:solidFill>
                  <a:srgbClr val="231C21"/>
                </a:solidFill>
              </a:rPr>
              <a:t>Mind the Climate</a:t>
            </a:r>
            <a:r>
              <a:rPr lang="it-IT" sz="1400" b="0" dirty="0">
                <a:solidFill>
                  <a:srgbClr val="231C21"/>
                </a:solidFill>
              </a:rPr>
              <a:t>, ancora più lunga</a:t>
            </a:r>
          </a:p>
          <a:p>
            <a:pPr marL="0" indent="0" algn="l">
              <a:spcBef>
                <a:spcPts val="900"/>
              </a:spcBef>
              <a:buNone/>
            </a:pPr>
            <a:r>
              <a:rPr lang="it-IT" sz="1100" b="0" dirty="0">
                <a:solidFill>
                  <a:srgbClr val="6B6168"/>
                </a:solidFill>
              </a:rPr>
              <a:t>Gravità 3 dalle note di Mind the Climate; la scheda Partnership non ne indicava una.</a:t>
            </a:r>
          </a:p>
        </p:txBody>
      </p:sp>
      <p:sp>
        <p:nvSpPr>
          <p:cNvPr id="13" name="Possibile soluzione"/>
          <p:cNvSpPr/>
          <p:nvPr/>
        </p:nvSpPr>
        <p:spPr>
          <a:xfrm>
            <a:off x="609600" y="4394200"/>
            <a:ext cx="5130800" cy="1727200"/>
          </a:xfrm>
          <a:prstGeom prst="rect">
            <a:avLst/>
          </a:prstGeom>
          <a:solidFill>
            <a:srgbClr val="F3EEF1"/>
          </a:solidFill>
          <a:ln>
            <a:noFill/>
          </a:ln>
        </p:spPr>
        <p:txBody>
          <a:bodyPr wrap="square" lIns="152400" tIns="152400" rIns="152400" bIns="15240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400" b="1" i="0" dirty="0">
                <a:solidFill>
                  <a:srgbClr val="6C0850"/>
                </a:solidFill>
              </a:rPr>
              <a:t>Possibile soluzione</a:t>
            </a:r>
          </a:p>
          <a:p>
            <a:pPr marL="0" indent="0" algn="l">
              <a:lnSpc>
                <a:spcPct val="100000"/>
              </a:lnSpc>
              <a:spcBef>
                <a:spcPts val="400"/>
              </a:spcBef>
              <a:buNone/>
            </a:pPr>
            <a:r>
              <a:rPr lang="it-IT" sz="1400" b="0" i="0" dirty="0">
                <a:solidFill>
                  <a:srgbClr val="231C21"/>
                </a:solidFill>
              </a:rPr>
              <a:t>Pulsante fisso «Torna su», con icona ed etichetta, che compare dopo il primo scroll.</a:t>
            </a:r>
          </a:p>
        </p:txBody>
      </p:sp>
      <p:sp>
        <p:nvSpPr>
          <p:cNvPr id="14" name="Segnaposto immagine"/>
          <p:cNvSpPr/>
          <p:nvPr/>
        </p:nvSpPr>
        <p:spPr>
          <a:xfrm>
            <a:off x="6045200" y="1625600"/>
            <a:ext cx="5537200" cy="4495800"/>
          </a:xfrm>
          <a:prstGeom prst="rect">
            <a:avLst/>
          </a:prstGeom>
          <a:solidFill>
            <a:srgbClr val="F7F4F6"/>
          </a:solidFill>
          <a:ln w="15875">
            <a:solidFill>
              <a:srgbClr val="B07A9F"/>
            </a:solidFill>
            <a:prstDash val="dash"/>
          </a:ln>
        </p:spPr>
        <p:txBody>
          <a:bodyPr wrap="square" lIns="127000" tIns="127000" rIns="127000" bIns="12700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200" b="1" i="0" dirty="0">
                <a:solidFill>
                  <a:srgbClr val="6C0850"/>
                </a:solidFill>
              </a:rPr>
              <a:t>[ SCREENSHOT DA INSERIRE ]</a:t>
            </a:r>
          </a:p>
          <a:p>
            <a:pPr marL="0" indent="0" algn="ctr">
              <a:lnSpc>
                <a:spcPct val="100000"/>
              </a:lnSpc>
              <a:spcBef>
                <a:spcPts val="400"/>
              </a:spcBef>
              <a:buNone/>
            </a:pPr>
            <a:r>
              <a:rPr lang="it-IT" sz="1400" b="1" i="0" dirty="0">
                <a:solidFill>
                  <a:srgbClr val="231C21"/>
                </a:solidFill>
              </a:rPr>
              <a:t>Fondo della pagina senza «Torna su»</a:t>
            </a:r>
          </a:p>
          <a:p>
            <a:pPr marL="0" indent="0" algn="ctr">
              <a:lnSpc>
                <a:spcPct val="100000"/>
              </a:lnSpc>
              <a:spcBef>
                <a:spcPts val="300"/>
              </a:spcBef>
              <a:buNone/>
            </a:pPr>
            <a:r>
              <a:rPr lang="it-IT" sz="900" b="0" i="0" dirty="0">
                <a:solidFill>
                  <a:srgbClr val="6B6168"/>
                </a:solidFill>
              </a:rPr>
              <a:t>Nome file da indicare · cartella /Users/andreock/Desktop/hci_gruppo_a/assignment1/parti/antofallea/src/</a:t>
            </a:r>
          </a:p>
          <a:p>
            <a:pPr marL="0" indent="0" algn="ctr">
              <a:lnSpc>
                <a:spcPct val="100000"/>
              </a:lnSpc>
              <a:spcBef>
                <a:spcPts val="300"/>
              </a:spcBef>
              <a:buNone/>
            </a:pPr>
            <a:r>
              <a:rPr lang="it-IT" sz="1000" b="0" i="0" dirty="0">
                <a:solidFill>
                  <a:srgbClr val="6B6168"/>
                </a:solidFill>
              </a:rPr>
              <a:t>Annotare con cerchi e frecce</a:t>
            </a:r>
          </a:p>
        </p:txBody>
      </p:sp>
      <p:sp>
        <p:nvSpPr>
          <p:cNvPr id="15" name="Pagine e task"/>
          <p:cNvSpPr/>
          <p:nvPr/>
        </p:nvSpPr>
        <p:spPr>
          <a:xfrm>
            <a:off x="609600" y="6273800"/>
            <a:ext cx="109728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000" b="1" i="0" dirty="0">
                <a:solidFill>
                  <a:srgbClr val="6B6168"/>
                </a:solidFill>
              </a:rPr>
              <a:t>Pagina:</a:t>
            </a:r>
            <a:r>
              <a:rPr lang="it-IT" sz="1000" b="0" i="0" dirty="0">
                <a:solidFill>
                  <a:srgbClr val="6B6168"/>
                </a:solidFill>
              </a:rPr>
              <a:t> Partner UniTo › Partnership · Progetto «Mind the Climate»   </a:t>
            </a:r>
            <a:r>
              <a:rPr lang="it-IT" sz="1000" b="1" i="0" dirty="0">
                <a:solidFill>
                  <a:srgbClr val="6B6168"/>
                </a:solidFill>
              </a:rPr>
              <a:t>Task:</a:t>
            </a:r>
            <a:r>
              <a:rPr lang="it-IT" sz="1000" b="0" i="0" dirty="0">
                <a:solidFill>
                  <a:srgbClr val="6B6168"/>
                </a:solidFill>
              </a:rPr>
              <a:t> T1, T3   </a:t>
            </a:r>
            <a:r>
              <a:rPr lang="it-IT" sz="1000" b="1" i="0" dirty="0">
                <a:solidFill>
                  <a:srgbClr val="6B6168"/>
                </a:solidFill>
              </a:rPr>
              <a:t>ID:</a:t>
            </a:r>
            <a:r>
              <a:rPr lang="it-IT" sz="1000" b="0" i="0" dirty="0">
                <a:solidFill>
                  <a:srgbClr val="6B6168"/>
                </a:solidFill>
              </a:rPr>
              <a:t> [ da assegnare ]</a:t>
            </a:r>
          </a:p>
        </p:txBody>
      </p:sp>
    </p:spTree>
    <p:extLst>
      <p:ext uri="{BB962C8B-B14F-4D97-AF65-F5344CB8AC3E}">
        <p14:creationId xmlns:p14="http://schemas.microsoft.com/office/powerpoint/2010/main" val="218439205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2904144-0F34-40DB-B183-4B11B92C6E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558800"/>
            <a:ext cx="8991600" cy="889000"/>
          </a:xfrm>
        </p:spPr>
        <p:txBody>
          <a:bodyPr anchor="t"/>
          <a:lstStyle/>
          <a:p>
            <a:pPr>
              <a:lnSpc>
                <a:spcPct val="90000"/>
              </a:lnSpc>
            </a:pPr>
            <a:r>
              <a:rPr lang="it-IT" sz="2600" b="1" dirty="0"/>
              <a:t>Non si possono filtrare né ordinare i progetti UniTo</a:t>
            </a:r>
          </a:p>
        </p:txBody>
      </p:sp>
      <p:sp>
        <p:nvSpPr>
          <p:cNvPr id="10" name="Euristica"/>
          <p:cNvSpPr txBox="1"/>
          <p:nvPr/>
        </p:nvSpPr>
        <p:spPr>
          <a:xfrm>
            <a:off x="609600" y="254000"/>
            <a:ext cx="88900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200" b="1" dirty="0">
                <a:solidFill>
                  <a:srgbClr val="6C0850"/>
                </a:solidFill>
              </a:rPr>
              <a:t>H7 · FLESSIBILITÀ ED EFFICIENZA D’USO</a:t>
            </a:r>
          </a:p>
        </p:txBody>
      </p:sp>
      <p:sp>
        <p:nvSpPr>
          <p:cNvPr id="11" name="Badge gravità"/>
          <p:cNvSpPr/>
          <p:nvPr/>
        </p:nvSpPr>
        <p:spPr>
          <a:xfrm>
            <a:off x="9855200" y="381000"/>
            <a:ext cx="1727200" cy="7366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07A9F"/>
            </a:solidFill>
            <a:prstDash val="dash"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000" b="1" dirty="0">
                <a:solidFill>
                  <a:srgbClr val="6C0850"/>
                </a:solidFill>
              </a:rPr>
              <a:t>GRAVITÀ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600" b="1" dirty="0">
                <a:solidFill>
                  <a:srgbClr val="6C0850"/>
                </a:solidFill>
              </a:rPr>
              <a:t>? · da decidere</a:t>
            </a:r>
          </a:p>
        </p:txBody>
      </p:sp>
      <p:sp>
        <p:nvSpPr>
          <p:cNvPr id="12" name="Problema"/>
          <p:cNvSpPr txBox="1"/>
          <p:nvPr/>
        </p:nvSpPr>
        <p:spPr>
          <a:xfrm>
            <a:off x="609600" y="1625600"/>
            <a:ext cx="5130800" cy="2616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400" b="1" dirty="0">
                <a:solidFill>
                  <a:srgbClr val="6C0850"/>
                </a:solidFill>
              </a:rPr>
              <a:t>Problema</a:t>
            </a:r>
          </a:p>
          <a:p>
            <a:pPr marL="228600" indent="-228600" algn="l">
              <a:lnSpc>
                <a:spcPct val="100000"/>
              </a:lnSpc>
              <a:spcBef>
                <a:spcPts val="500"/>
              </a:spcBef>
              <a:buClr>
                <a:srgbClr val="6C0850"/>
              </a:buClr>
              <a:buFont typeface="Arial"/>
              <a:buChar char="•"/>
            </a:pPr>
            <a:r>
              <a:rPr lang="it-IT" sz="1400" b="0" dirty="0">
                <a:solidFill>
                  <a:srgbClr val="231C21"/>
                </a:solidFill>
              </a:rPr>
              <a:t>I 18 progetti sono divisi solo in </a:t>
            </a:r>
            <a:r>
              <a:rPr lang="it-IT" sz="1400" b="1" dirty="0">
                <a:solidFill>
                  <a:srgbClr val="231C21"/>
                </a:solidFill>
              </a:rPr>
              <a:t>«in corso» e «conclusi»</a:t>
            </a:r>
          </a:p>
          <a:p>
            <a:pPr marL="228600" indent="-228600" algn="l">
              <a:lnSpc>
                <a:spcPct val="100000"/>
              </a:lnSpc>
              <a:spcBef>
                <a:spcPts val="500"/>
              </a:spcBef>
              <a:buClr>
                <a:srgbClr val="6C0850"/>
              </a:buClr>
              <a:buFont typeface="Arial"/>
              <a:buChar char="•"/>
            </a:pPr>
            <a:r>
              <a:rPr lang="it-IT" sz="1400" b="0" dirty="0">
                <a:solidFill>
                  <a:srgbClr val="231C21"/>
                </a:solidFill>
              </a:rPr>
              <a:t>Nessun filtro per categoria, obiettivo ONU o edizione, né </a:t>
            </a:r>
            <a:r>
              <a:rPr lang="it-IT" sz="1400" b="1" dirty="0">
                <a:solidFill>
                  <a:srgbClr val="231C21"/>
                </a:solidFill>
              </a:rPr>
              <a:t>ordinamento per scadenza</a:t>
            </a:r>
          </a:p>
          <a:p>
            <a:pPr marL="228600" indent="-228600" algn="l">
              <a:lnSpc>
                <a:spcPct val="100000"/>
              </a:lnSpc>
              <a:spcBef>
                <a:spcPts val="500"/>
              </a:spcBef>
              <a:buClr>
                <a:srgbClr val="6C0850"/>
              </a:buClr>
              <a:buFont typeface="Arial"/>
              <a:buChar char="•"/>
            </a:pPr>
            <a:r>
              <a:rPr lang="it-IT" sz="1400" b="0" dirty="0">
                <a:solidFill>
                  <a:srgbClr val="231C21"/>
                </a:solidFill>
              </a:rPr>
              <a:t>I menu «Cerca progetti» e «Partner» esistono solo a livello globale: non c’è una vista di </a:t>
            </a:r>
            <a:r>
              <a:rPr lang="it-IT" sz="1400" b="1" dirty="0">
                <a:solidFill>
                  <a:srgbClr val="231C21"/>
                </a:solidFill>
              </a:rPr>
              <a:t>tutti i progetti UniTo per sottocategoria</a:t>
            </a:r>
          </a:p>
          <a:p>
            <a:pPr marL="0" indent="0" algn="l">
              <a:lnSpc>
                <a:spcPct val="100000"/>
              </a:lnSpc>
              <a:spcBef>
                <a:spcPts val="900"/>
              </a:spcBef>
              <a:buNone/>
            </a:pPr>
            <a:r>
              <a:rPr lang="it-IT" sz="1100" b="0" dirty="0">
                <a:solidFill>
                  <a:srgbClr val="6B6168"/>
                </a:solidFill>
              </a:rPr>
              <a:t>Gravità 2 nel CSV (P14), 3 nelle note: decidere. Il costo cresce a ogni nuova edizione.</a:t>
            </a:r>
          </a:p>
        </p:txBody>
      </p:sp>
      <p:sp>
        <p:nvSpPr>
          <p:cNvPr id="13" name="Soluzione"/>
          <p:cNvSpPr/>
          <p:nvPr/>
        </p:nvSpPr>
        <p:spPr>
          <a:xfrm>
            <a:off x="609600" y="4394200"/>
            <a:ext cx="5130800" cy="1727200"/>
          </a:xfrm>
          <a:prstGeom prst="rect">
            <a:avLst/>
          </a:prstGeom>
          <a:solidFill>
            <a:srgbClr val="F3EEF1"/>
          </a:solidFill>
          <a:ln>
            <a:noFill/>
          </a:ln>
        </p:spPr>
        <p:txBody>
          <a:bodyPr wrap="square" lIns="152400" tIns="152400" rIns="152400" bIns="15240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400" b="1" dirty="0">
                <a:solidFill>
                  <a:srgbClr val="6C0850"/>
                </a:solidFill>
              </a:rPr>
              <a:t>Possibile soluzione</a:t>
            </a:r>
          </a:p>
          <a:p>
            <a:pPr marL="0" indent="0" algn="l">
              <a:lnSpc>
                <a:spcPct val="100000"/>
              </a:lnSpc>
              <a:spcBef>
                <a:spcPts val="400"/>
              </a:spcBef>
              <a:buNone/>
            </a:pPr>
            <a:r>
              <a:rPr lang="it-IT" sz="1400" b="0" dirty="0">
                <a:solidFill>
                  <a:srgbClr val="231C21"/>
                </a:solidFill>
              </a:rPr>
              <a:t>Filtri per edizione, categoria e obiettivo ONU e ordinamento «In scadenza» direttamente nella scheda Progetti.</a:t>
            </a:r>
          </a:p>
        </p:txBody>
      </p:sp>
      <p:sp>
        <p:nvSpPr>
          <p:cNvPr id="14" name="Segnaposto immagine 1"/>
          <p:cNvSpPr/>
          <p:nvPr/>
        </p:nvSpPr>
        <p:spPr>
          <a:xfrm>
            <a:off x="6045200" y="1625600"/>
            <a:ext cx="5537200" cy="4495800"/>
          </a:xfrm>
          <a:prstGeom prst="rect">
            <a:avLst/>
          </a:prstGeom>
          <a:solidFill>
            <a:srgbClr val="F7F4F6"/>
          </a:solidFill>
          <a:ln w="15875">
            <a:solidFill>
              <a:srgbClr val="B07A9F"/>
            </a:solidFill>
            <a:prstDash val="dash"/>
          </a:ln>
        </p:spPr>
        <p:txBody>
          <a:bodyPr wrap="square" lIns="127000" tIns="127000" rIns="127000" bIns="12700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200" b="1" dirty="0">
                <a:solidFill>
                  <a:srgbClr val="6C0850"/>
                </a:solidFill>
              </a:rPr>
              <a:t>[ SCREENSHOT DA FARE ]</a:t>
            </a:r>
          </a:p>
          <a:p>
            <a:pPr marL="0" indent="0" algn="ctr">
              <a:lnSpc>
                <a:spcPct val="100000"/>
              </a:lnSpc>
              <a:spcBef>
                <a:spcPts val="400"/>
              </a:spcBef>
              <a:buNone/>
            </a:pPr>
            <a:r>
              <a:rPr lang="it-IT" sz="1400" b="1" dirty="0">
                <a:solidFill>
                  <a:srgbClr val="231C21"/>
                </a:solidFill>
              </a:rPr>
              <a:t>Intestazione delle sezioni senza filtri</a:t>
            </a:r>
          </a:p>
          <a:p>
            <a:pPr marL="0" indent="0" algn="ctr">
              <a:lnSpc>
                <a:spcPct val="100000"/>
              </a:lnSpc>
              <a:spcBef>
                <a:spcPts val="300"/>
              </a:spcBef>
              <a:buNone/>
            </a:pPr>
            <a:r>
              <a:rPr lang="it-IT" sz="900" b="0" dirty="0">
                <a:solidFill>
                  <a:srgbClr val="6B6168"/>
                </a:solidFill>
              </a:rPr>
              <a:t>Salvare in /Users/andreock/Desktop/hci_gruppo_a/assignment1/parti/antofallea/src/</a:t>
            </a:r>
          </a:p>
          <a:p>
            <a:pPr marL="0" indent="0" algn="ctr">
              <a:lnSpc>
                <a:spcPct val="100000"/>
              </a:lnSpc>
              <a:spcBef>
                <a:spcPts val="300"/>
              </a:spcBef>
              <a:buNone/>
            </a:pPr>
            <a:r>
              <a:rPr lang="it-IT" sz="1000" b="0" dirty="0">
                <a:solidFill>
                  <a:srgbClr val="6B6168"/>
                </a:solidFill>
              </a:rPr>
              <a:t>Annotare con cerchi e frecce</a:t>
            </a:r>
          </a:p>
        </p:txBody>
      </p:sp>
      <p:sp>
        <p:nvSpPr>
          <p:cNvPr id="15" name="Pagine e task"/>
          <p:cNvSpPr txBox="1"/>
          <p:nvPr/>
        </p:nvSpPr>
        <p:spPr>
          <a:xfrm>
            <a:off x="609600" y="6273800"/>
            <a:ext cx="109728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000" b="1" dirty="0">
                <a:solidFill>
                  <a:srgbClr val="6B6168"/>
                </a:solidFill>
              </a:rPr>
              <a:t>Pagina:</a:t>
            </a:r>
            <a:r>
              <a:rPr lang="it-IT" sz="1000" b="0" dirty="0">
                <a:solidFill>
                  <a:srgbClr val="6B6168"/>
                </a:solidFill>
              </a:rPr>
              <a:t> Partner UniTo › Progetti (/partner-progetti/universita-di-torino.html)   </a:t>
            </a:r>
            <a:r>
              <a:rPr lang="it-IT" sz="1000" b="1" dirty="0">
                <a:solidFill>
                  <a:srgbClr val="6B6168"/>
                </a:solidFill>
              </a:rPr>
              <a:t>Task:</a:t>
            </a:r>
            <a:r>
              <a:rPr lang="it-IT" sz="1000" b="0" dirty="0">
                <a:solidFill>
                  <a:srgbClr val="6B6168"/>
                </a:solidFill>
              </a:rPr>
              <a:t> T2   </a:t>
            </a:r>
            <a:r>
              <a:rPr lang="it-IT" sz="1000" b="1" dirty="0">
                <a:solidFill>
                  <a:srgbClr val="6B6168"/>
                </a:solidFill>
              </a:rPr>
              <a:t>ID:</a:t>
            </a:r>
            <a:r>
              <a:rPr lang="it-IT" sz="1000" b="0" dirty="0">
                <a:solidFill>
                  <a:srgbClr val="6B6168"/>
                </a:solidFill>
              </a:rPr>
              <a:t> P14 (in parte)</a:t>
            </a:r>
          </a:p>
        </p:txBody>
      </p:sp>
    </p:spTree>
    <p:extLst>
      <p:ext uri="{BB962C8B-B14F-4D97-AF65-F5344CB8AC3E}">
        <p14:creationId xmlns:p14="http://schemas.microsoft.com/office/powerpoint/2010/main" val="7580121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AD7DA22-05A3-B58F-EB9F-03F453D5F7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558800"/>
            <a:ext cx="8991600" cy="889000"/>
          </a:xfrm>
        </p:spPr>
        <p:txBody>
          <a:bodyPr anchor="t"/>
          <a:lstStyle/>
          <a:p>
            <a:pPr>
              <a:lnSpc>
                <a:spcPct val="90000"/>
              </a:lnSpc>
            </a:pPr>
            <a:r>
              <a:rPr lang="it-IT" sz="2600" b="1" dirty="0"/>
              <a:t>«ALTRI» carica pochi progetti alla volta e non dice quanti ne restano</a:t>
            </a:r>
          </a:p>
        </p:txBody>
      </p:sp>
      <p:sp>
        <p:nvSpPr>
          <p:cNvPr id="10" name="Euristica"/>
          <p:cNvSpPr txBox="1"/>
          <p:nvPr/>
        </p:nvSpPr>
        <p:spPr>
          <a:xfrm>
            <a:off x="609600" y="254000"/>
            <a:ext cx="88900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200" b="1" dirty="0">
                <a:solidFill>
                  <a:srgbClr val="6C0850"/>
                </a:solidFill>
              </a:rPr>
              <a:t>H7 · FLESSIBILITÀ ED EFFICIENZA  ·  H9 ERRORI</a:t>
            </a:r>
          </a:p>
        </p:txBody>
      </p:sp>
      <p:sp>
        <p:nvSpPr>
          <p:cNvPr id="11" name="Badge gravità"/>
          <p:cNvSpPr/>
          <p:nvPr/>
        </p:nvSpPr>
        <p:spPr>
          <a:xfrm>
            <a:off x="9855200" y="381000"/>
            <a:ext cx="1727200" cy="7366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07A9F"/>
            </a:solidFill>
            <a:prstDash val="dash"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000" b="1" dirty="0">
                <a:solidFill>
                  <a:srgbClr val="6C0850"/>
                </a:solidFill>
              </a:rPr>
              <a:t>GRAVITÀ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600" b="1" dirty="0">
                <a:solidFill>
                  <a:srgbClr val="6C0850"/>
                </a:solidFill>
              </a:rPr>
              <a:t>? · da decidere</a:t>
            </a:r>
          </a:p>
        </p:txBody>
      </p:sp>
      <p:sp>
        <p:nvSpPr>
          <p:cNvPr id="12" name="Problema"/>
          <p:cNvSpPr txBox="1"/>
          <p:nvPr/>
        </p:nvSpPr>
        <p:spPr>
          <a:xfrm>
            <a:off x="609600" y="1625600"/>
            <a:ext cx="5130800" cy="2616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400" b="1" dirty="0">
                <a:solidFill>
                  <a:srgbClr val="6C0850"/>
                </a:solidFill>
              </a:rPr>
              <a:t>Problema</a:t>
            </a:r>
          </a:p>
          <a:p>
            <a:pPr marL="228600" indent="-228600" algn="l">
              <a:lnSpc>
                <a:spcPct val="100000"/>
              </a:lnSpc>
              <a:spcBef>
                <a:spcPts val="500"/>
              </a:spcBef>
              <a:buClr>
                <a:srgbClr val="6C0850"/>
              </a:buClr>
              <a:buFont typeface="Arial"/>
              <a:buChar char="•"/>
            </a:pPr>
            <a:r>
              <a:rPr lang="it-IT" sz="1400" b="0" dirty="0">
                <a:solidFill>
                  <a:srgbClr val="231C21"/>
                </a:solidFill>
              </a:rPr>
              <a:t>Dei 13 conclusi se ne vedono 4: «ALTRI» ne aggiunge </a:t>
            </a:r>
            <a:r>
              <a:rPr lang="it-IT" sz="1400" b="1" dirty="0">
                <a:solidFill>
                  <a:srgbClr val="231C21"/>
                </a:solidFill>
              </a:rPr>
              <a:t>fino a quattro per volta</a:t>
            </a:r>
          </a:p>
          <a:p>
            <a:pPr marL="228600" indent="-228600" algn="l">
              <a:lnSpc>
                <a:spcPct val="100000"/>
              </a:lnSpc>
              <a:spcBef>
                <a:spcPts val="500"/>
              </a:spcBef>
              <a:buClr>
                <a:srgbClr val="6C0850"/>
              </a:buClr>
              <a:buFont typeface="Arial"/>
              <a:buChar char="•"/>
            </a:pPr>
            <a:r>
              <a:rPr lang="it-IT" sz="1400" b="0" dirty="0">
                <a:solidFill>
                  <a:srgbClr val="231C21"/>
                </a:solidFill>
              </a:rPr>
              <a:t>Servono </a:t>
            </a:r>
            <a:r>
              <a:rPr lang="it-IT" sz="1400" b="1" dirty="0">
                <a:solidFill>
                  <a:srgbClr val="231C21"/>
                </a:solidFill>
              </a:rPr>
              <a:t>tre clic</a:t>
            </a:r>
            <a:r>
              <a:rPr lang="it-IT" sz="1400" b="0" dirty="0">
                <a:solidFill>
                  <a:srgbClr val="231C21"/>
                </a:solidFill>
              </a:rPr>
              <a:t> per vederli tutti e nessuna indicazione di quanti ne mancano</a:t>
            </a:r>
          </a:p>
          <a:p>
            <a:pPr marL="228600" indent="-228600" algn="l">
              <a:lnSpc>
                <a:spcPct val="100000"/>
              </a:lnSpc>
              <a:spcBef>
                <a:spcPts val="500"/>
              </a:spcBef>
              <a:buClr>
                <a:srgbClr val="6C0850"/>
              </a:buClr>
              <a:buFont typeface="Arial"/>
              <a:buChar char="•"/>
            </a:pPr>
            <a:r>
              <a:rPr lang="it-IT" sz="1400" b="0" dirty="0">
                <a:solidFill>
                  <a:srgbClr val="231C21"/>
                </a:solidFill>
              </a:rPr>
              <a:t>A fine elenco il pulsante </a:t>
            </a:r>
            <a:r>
              <a:rPr lang="it-IT" sz="1400" b="1" dirty="0">
                <a:solidFill>
                  <a:srgbClr val="231C21"/>
                </a:solidFill>
              </a:rPr>
              <a:t>scompare senza messaggio</a:t>
            </a:r>
            <a:r>
              <a:rPr lang="it-IT" sz="1400" b="0" dirty="0">
                <a:solidFill>
                  <a:srgbClr val="231C21"/>
                </a:solidFill>
              </a:rPr>
              <a:t>: l’utente deve intuire che è finito</a:t>
            </a:r>
          </a:p>
          <a:p>
            <a:pPr marL="0" indent="0" algn="l">
              <a:lnSpc>
                <a:spcPct val="100000"/>
              </a:lnSpc>
              <a:spcBef>
                <a:spcPts val="900"/>
              </a:spcBef>
              <a:buNone/>
            </a:pPr>
            <a:r>
              <a:rPr lang="it-IT" sz="1100" b="0" dirty="0">
                <a:solidFill>
                  <a:srgbClr val="6B6168"/>
                </a:solidFill>
              </a:rPr>
              <a:t>Nelle note gravità 5 (fuori scala 0–4) per il caricamento e 2 per la fine dell’elenco; nel CSV P14 vale 2. Decidere.</a:t>
            </a:r>
          </a:p>
        </p:txBody>
      </p:sp>
      <p:sp>
        <p:nvSpPr>
          <p:cNvPr id="13" name="Soluzione"/>
          <p:cNvSpPr/>
          <p:nvPr/>
        </p:nvSpPr>
        <p:spPr>
          <a:xfrm>
            <a:off x="609600" y="4394200"/>
            <a:ext cx="5130800" cy="1727200"/>
          </a:xfrm>
          <a:prstGeom prst="rect">
            <a:avLst/>
          </a:prstGeom>
          <a:solidFill>
            <a:srgbClr val="F3EEF1"/>
          </a:solidFill>
          <a:ln>
            <a:noFill/>
          </a:ln>
        </p:spPr>
        <p:txBody>
          <a:bodyPr wrap="square" lIns="152400" tIns="152400" rIns="152400" bIns="15240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400" b="1" dirty="0">
                <a:solidFill>
                  <a:srgbClr val="6C0850"/>
                </a:solidFill>
              </a:rPr>
              <a:t>Possibile soluzione</a:t>
            </a:r>
          </a:p>
          <a:p>
            <a:pPr marL="0" indent="0" algn="l">
              <a:lnSpc>
                <a:spcPct val="100000"/>
              </a:lnSpc>
              <a:spcBef>
                <a:spcPts val="400"/>
              </a:spcBef>
              <a:buNone/>
            </a:pPr>
            <a:r>
              <a:rPr lang="it-IT" sz="1400" b="0" dirty="0">
                <a:solidFill>
                  <a:srgbClr val="231C21"/>
                </a:solidFill>
              </a:rPr>
              <a:t>Mostrare subito tutti i conclusi o un pulsante «Mostra altri 9 progetti conclusi»; a fine elenco «Hai visto tutti i 13 progetti conclusi».</a:t>
            </a:r>
          </a:p>
        </p:txBody>
      </p:sp>
      <p:sp>
        <p:nvSpPr>
          <p:cNvPr id="14" name="Segnaposto immagine 1"/>
          <p:cNvSpPr/>
          <p:nvPr/>
        </p:nvSpPr>
        <p:spPr>
          <a:xfrm>
            <a:off x="6045200" y="1625600"/>
            <a:ext cx="5537200" cy="4495800"/>
          </a:xfrm>
          <a:prstGeom prst="rect">
            <a:avLst/>
          </a:prstGeom>
          <a:solidFill>
            <a:srgbClr val="F7F4F6"/>
          </a:solidFill>
          <a:ln w="15875">
            <a:solidFill>
              <a:srgbClr val="B07A9F"/>
            </a:solidFill>
            <a:prstDash val="dash"/>
          </a:ln>
        </p:spPr>
        <p:txBody>
          <a:bodyPr wrap="square" lIns="127000" tIns="127000" rIns="127000" bIns="12700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200" b="1" dirty="0">
                <a:solidFill>
                  <a:srgbClr val="6C0850"/>
                </a:solidFill>
              </a:rPr>
              <a:t>[ SCREENSHOT DA INSERIRE ]</a:t>
            </a:r>
          </a:p>
          <a:p>
            <a:pPr marL="0" indent="0" algn="ctr">
              <a:lnSpc>
                <a:spcPct val="100000"/>
              </a:lnSpc>
              <a:spcBef>
                <a:spcPts val="400"/>
              </a:spcBef>
              <a:buNone/>
            </a:pPr>
            <a:r>
              <a:rPr lang="it-IT" sz="1400" b="1" dirty="0">
                <a:solidFill>
                  <a:srgbClr val="231C21"/>
                </a:solidFill>
              </a:rPr>
              <a:t>lista_altri.jpg</a:t>
            </a:r>
          </a:p>
          <a:p>
            <a:pPr marL="0" indent="0" algn="ctr">
              <a:lnSpc>
                <a:spcPct val="100000"/>
              </a:lnSpc>
              <a:spcBef>
                <a:spcPts val="300"/>
              </a:spcBef>
              <a:buNone/>
            </a:pPr>
            <a:r>
              <a:rPr lang="it-IT" sz="900" b="0" dirty="0">
                <a:solidFill>
                  <a:srgbClr val="6B6168"/>
                </a:solidFill>
              </a:rPr>
              <a:t>/Users/andreock/Desktop/hci_gruppo_a/assignment1/parti/antofallea/src/lista_altri.jpg</a:t>
            </a:r>
          </a:p>
          <a:p>
            <a:pPr marL="0" indent="0" algn="ctr">
              <a:lnSpc>
                <a:spcPct val="100000"/>
              </a:lnSpc>
              <a:spcBef>
                <a:spcPts val="300"/>
              </a:spcBef>
              <a:buNone/>
            </a:pPr>
            <a:r>
              <a:rPr lang="it-IT" sz="1000" b="0" dirty="0">
                <a:solidFill>
                  <a:srgbClr val="6B6168"/>
                </a:solidFill>
              </a:rPr>
              <a:t>Annotare con cerchi e frecce</a:t>
            </a:r>
          </a:p>
        </p:txBody>
      </p:sp>
      <p:sp>
        <p:nvSpPr>
          <p:cNvPr id="15" name="Pagine e task"/>
          <p:cNvSpPr txBox="1"/>
          <p:nvPr/>
        </p:nvSpPr>
        <p:spPr>
          <a:xfrm>
            <a:off x="609600" y="6273800"/>
            <a:ext cx="109728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000" b="1" dirty="0">
                <a:solidFill>
                  <a:srgbClr val="6B6168"/>
                </a:solidFill>
              </a:rPr>
              <a:t>Pagina:</a:t>
            </a:r>
            <a:r>
              <a:rPr lang="it-IT" sz="1000" b="0" dirty="0">
                <a:solidFill>
                  <a:srgbClr val="6B6168"/>
                </a:solidFill>
              </a:rPr>
              <a:t> Partner UniTo › Progetti (/partner-progetti/universita-di-torino.html)   </a:t>
            </a:r>
            <a:r>
              <a:rPr lang="it-IT" sz="1000" b="1" dirty="0">
                <a:solidFill>
                  <a:srgbClr val="6B6168"/>
                </a:solidFill>
              </a:rPr>
              <a:t>Task:</a:t>
            </a:r>
            <a:r>
              <a:rPr lang="it-IT" sz="1000" b="0" dirty="0">
                <a:solidFill>
                  <a:srgbClr val="6B6168"/>
                </a:solidFill>
              </a:rPr>
              <a:t> T2   </a:t>
            </a:r>
            <a:r>
              <a:rPr lang="it-IT" sz="1000" b="1" dirty="0">
                <a:solidFill>
                  <a:srgbClr val="6B6168"/>
                </a:solidFill>
              </a:rPr>
              <a:t>ID:</a:t>
            </a:r>
            <a:r>
              <a:rPr lang="it-IT" sz="1000" b="0" dirty="0">
                <a:solidFill>
                  <a:srgbClr val="6B6168"/>
                </a:solidFill>
              </a:rPr>
              <a:t> P14 (in parte) + [ da assegnare ]</a:t>
            </a:r>
          </a:p>
        </p:txBody>
      </p:sp>
    </p:spTree>
    <p:extLst>
      <p:ext uri="{BB962C8B-B14F-4D97-AF65-F5344CB8AC3E}">
        <p14:creationId xmlns:p14="http://schemas.microsoft.com/office/powerpoint/2010/main" val="216378538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6A93F86-F75B-034A-59C4-7A62026ABA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558800"/>
            <a:ext cx="8991600" cy="889000"/>
          </a:xfrm>
        </p:spPr>
        <p:txBody>
          <a:bodyPr lIns="0" anchor="t"/>
          <a:lstStyle/>
          <a:p>
            <a:pPr>
              <a:lnSpc>
                <a:spcPct val="90000"/>
              </a:lnSpc>
            </a:pPr>
            <a:r>
              <a:rPr lang="it-IT" sz="2600" b="1" dirty="0"/>
              <a:t>Nessuna delle due schede spiega subito che cos’è Funds TOgether</a:t>
            </a:r>
          </a:p>
        </p:txBody>
      </p:sp>
      <p:sp>
        <p:nvSpPr>
          <p:cNvPr id="10" name="Euristica"/>
          <p:cNvSpPr txBox="1"/>
          <p:nvPr/>
        </p:nvSpPr>
        <p:spPr>
          <a:xfrm>
            <a:off x="609600" y="254000"/>
            <a:ext cx="88900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200" b="1" dirty="0">
                <a:solidFill>
                  <a:srgbClr val="6C0850"/>
                </a:solidFill>
              </a:rPr>
              <a:t>H8 · DESIGN MINIMALISTA  ·  H10 AIUTO E DOCUMENTAZIONE</a:t>
            </a:r>
          </a:p>
        </p:txBody>
      </p:sp>
      <p:sp>
        <p:nvSpPr>
          <p:cNvPr id="11" name="Badge gravità"/>
          <p:cNvSpPr/>
          <p:nvPr/>
        </p:nvSpPr>
        <p:spPr>
          <a:xfrm>
            <a:off x="9855200" y="381000"/>
            <a:ext cx="1727200" cy="736600"/>
          </a:xfrm>
          <a:prstGeom prst="roundRect">
            <a:avLst/>
          </a:prstGeom>
          <a:solidFill>
            <a:srgbClr val="C7A2BB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000" b="1" dirty="0">
                <a:solidFill>
                  <a:srgbClr val="41002F"/>
                </a:solidFill>
              </a:rPr>
              <a:t>GRAVITÀ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800" b="1" dirty="0">
                <a:solidFill>
                  <a:srgbClr val="41002F"/>
                </a:solidFill>
              </a:rPr>
              <a:t>2 · minore</a:t>
            </a:r>
          </a:p>
        </p:txBody>
      </p:sp>
      <p:sp>
        <p:nvSpPr>
          <p:cNvPr id="12" name="Problema"/>
          <p:cNvSpPr txBox="1"/>
          <p:nvPr/>
        </p:nvSpPr>
        <p:spPr>
          <a:xfrm>
            <a:off x="609600" y="1625600"/>
            <a:ext cx="5130800" cy="2616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400" b="1" dirty="0">
                <a:solidFill>
                  <a:srgbClr val="6C0850"/>
                </a:solidFill>
              </a:rPr>
              <a:t>Problema</a:t>
            </a:r>
          </a:p>
          <a:p>
            <a:pPr marL="228600" indent="-228600" algn="l">
              <a:lnSpc>
                <a:spcPct val="100000"/>
              </a:lnSpc>
              <a:spcBef>
                <a:spcPts val="500"/>
              </a:spcBef>
              <a:buClr>
                <a:srgbClr val="6C0850"/>
              </a:buClr>
              <a:buFont typeface="Arial"/>
              <a:buChar char="•"/>
            </a:pPr>
            <a:r>
              <a:rPr lang="it-IT" sz="1400" b="1" dirty="0">
                <a:solidFill>
                  <a:srgbClr val="231C21"/>
                </a:solidFill>
              </a:rPr>
              <a:t>Partnership:</a:t>
            </a:r>
            <a:r>
              <a:rPr lang="it-IT" sz="1400" b="0" dirty="0">
                <a:solidFill>
                  <a:srgbClr val="231C21"/>
                </a:solidFill>
              </a:rPr>
              <a:t> la prima schermata mostra solo banner, schede e titolo; la sintesi in 4 fasi inizia a circa 1.460 px, dopo sei paragrafi</a:t>
            </a:r>
          </a:p>
          <a:p>
            <a:pPr marL="228600" indent="-228600" algn="l">
              <a:lnSpc>
                <a:spcPct val="100000"/>
              </a:lnSpc>
              <a:spcBef>
                <a:spcPts val="500"/>
              </a:spcBef>
              <a:buClr>
                <a:srgbClr val="6C0850"/>
              </a:buClr>
              <a:buFont typeface="Arial"/>
              <a:buChar char="•"/>
            </a:pPr>
            <a:r>
              <a:rPr lang="it-IT" sz="1400" b="1" dirty="0">
                <a:solidFill>
                  <a:srgbClr val="231C21"/>
                </a:solidFill>
              </a:rPr>
              <a:t>Progetti:</a:t>
            </a:r>
            <a:r>
              <a:rPr lang="it-IT" sz="1400" b="0" dirty="0">
                <a:solidFill>
                  <a:srgbClr val="231C21"/>
                </a:solidFill>
              </a:rPr>
              <a:t> il nome «Funds TOgether» non compare e nessun testo spiega il </a:t>
            </a:r>
            <a:r>
              <a:rPr lang="it-IT" sz="1400" b="1" dirty="0">
                <a:solidFill>
                  <a:srgbClr val="231C21"/>
                </a:solidFill>
              </a:rPr>
              <a:t>raddoppio UniTo</a:t>
            </a:r>
            <a:r>
              <a:rPr lang="it-IT" sz="1400" b="0" dirty="0">
                <a:solidFill>
                  <a:srgbClr val="231C21"/>
                </a:solidFill>
              </a:rPr>
              <a:t> né il modello «tutto o niente»</a:t>
            </a:r>
          </a:p>
          <a:p>
            <a:pPr marL="228600" indent="-228600" algn="l">
              <a:lnSpc>
                <a:spcPct val="100000"/>
              </a:lnSpc>
              <a:spcBef>
                <a:spcPts val="500"/>
              </a:spcBef>
              <a:buClr>
                <a:srgbClr val="6C0850"/>
              </a:buClr>
              <a:buFont typeface="Arial"/>
              <a:buChar char="•"/>
            </a:pPr>
            <a:r>
              <a:rPr lang="it-IT" sz="1400" b="0" dirty="0">
                <a:solidFill>
                  <a:srgbClr val="231C21"/>
                </a:solidFill>
              </a:rPr>
              <a:t>La regola del raddoppio è ripetuta due volte in Partnership, assente in Progetti</a:t>
            </a:r>
          </a:p>
          <a:p>
            <a:pPr marL="0" indent="0" algn="l">
              <a:lnSpc>
                <a:spcPct val="100000"/>
              </a:lnSpc>
              <a:spcBef>
                <a:spcPts val="900"/>
              </a:spcBef>
              <a:buNone/>
            </a:pPr>
            <a:r>
              <a:rPr lang="it-IT" sz="1100" b="0" dirty="0">
                <a:solidFill>
                  <a:srgbClr val="6B6168"/>
                </a:solidFill>
              </a:rPr>
              <a:t>Partnership: gravità 1 (P16). Progetti: 2 (H10) e 1 (H2) dalle note. Tenuta la più alta.</a:t>
            </a:r>
          </a:p>
        </p:txBody>
      </p:sp>
      <p:sp>
        <p:nvSpPr>
          <p:cNvPr id="13" name="Soluzione"/>
          <p:cNvSpPr/>
          <p:nvPr/>
        </p:nvSpPr>
        <p:spPr>
          <a:xfrm>
            <a:off x="609600" y="4394200"/>
            <a:ext cx="5130800" cy="1727200"/>
          </a:xfrm>
          <a:prstGeom prst="rect">
            <a:avLst/>
          </a:prstGeom>
          <a:solidFill>
            <a:srgbClr val="F3EEF1"/>
          </a:solidFill>
          <a:ln>
            <a:noFill/>
          </a:ln>
        </p:spPr>
        <p:txBody>
          <a:bodyPr wrap="square" lIns="152400" tIns="152400" rIns="152400" bIns="15240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400" b="1" dirty="0">
                <a:solidFill>
                  <a:srgbClr val="6C0850"/>
                </a:solidFill>
              </a:rPr>
              <a:t>Possibile soluzione</a:t>
            </a:r>
          </a:p>
          <a:p>
            <a:pPr marL="0" indent="0" algn="l">
              <a:lnSpc>
                <a:spcPct val="100000"/>
              </a:lnSpc>
              <a:spcBef>
                <a:spcPts val="400"/>
              </a:spcBef>
              <a:buNone/>
            </a:pPr>
            <a:r>
              <a:rPr lang="it-IT" sz="1400" b="0" dirty="0">
                <a:solidFill>
                  <a:srgbClr val="231C21"/>
                </a:solidFill>
              </a:rPr>
              <a:t>In entrambe le schede una fascia d’apertura: nome dell’iniziativa, una frase («UniTo raddoppia fino a 10.000 € i progetti che raggiungono l’obiettivo») e link «Come funziona»; le 4 fasi subito sotto in Partnership.</a:t>
            </a:r>
          </a:p>
        </p:txBody>
      </p:sp>
      <p:sp>
        <p:nvSpPr>
          <p:cNvPr id="14" name="Segnaposto immagine 1"/>
          <p:cNvSpPr/>
          <p:nvPr/>
        </p:nvSpPr>
        <p:spPr>
          <a:xfrm>
            <a:off x="6045200" y="1625600"/>
            <a:ext cx="5537200" cy="4495800"/>
          </a:xfrm>
          <a:prstGeom prst="rect">
            <a:avLst/>
          </a:prstGeom>
          <a:solidFill>
            <a:srgbClr val="F7F4F6"/>
          </a:solidFill>
          <a:ln w="15875">
            <a:solidFill>
              <a:srgbClr val="B07A9F"/>
            </a:solidFill>
            <a:prstDash val="dash"/>
          </a:ln>
        </p:spPr>
        <p:txBody>
          <a:bodyPr wrap="square" lIns="127000" tIns="127000" rIns="127000" bIns="12700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200" b="1" dirty="0">
                <a:solidFill>
                  <a:srgbClr val="6C0850"/>
                </a:solidFill>
              </a:rPr>
              <a:t>[ SCREENSHOT DA INSERIRE ]</a:t>
            </a:r>
          </a:p>
          <a:p>
            <a:pPr marL="0" indent="0" algn="ctr">
              <a:lnSpc>
                <a:spcPct val="100000"/>
              </a:lnSpc>
              <a:spcBef>
                <a:spcPts val="400"/>
              </a:spcBef>
              <a:buNone/>
            </a:pPr>
            <a:r>
              <a:rPr lang="it-IT" sz="1400" b="1" dirty="0">
                <a:solidFill>
                  <a:srgbClr val="231C21"/>
                </a:solidFill>
              </a:rPr>
              <a:t>partner_first.jpg</a:t>
            </a:r>
          </a:p>
          <a:p>
            <a:pPr marL="0" indent="0" algn="ctr">
              <a:lnSpc>
                <a:spcPct val="100000"/>
              </a:lnSpc>
              <a:spcBef>
                <a:spcPts val="300"/>
              </a:spcBef>
              <a:buNone/>
            </a:pPr>
            <a:r>
              <a:rPr lang="it-IT" sz="900" b="0" dirty="0">
                <a:solidFill>
                  <a:srgbClr val="6B6168"/>
                </a:solidFill>
              </a:rPr>
              <a:t>/Users/andreock/Desktop/hci_gruppo_a/assignment1/parti/antofallea/src/partner_first.jpg</a:t>
            </a:r>
          </a:p>
          <a:p>
            <a:pPr marL="0" indent="0" algn="ctr">
              <a:lnSpc>
                <a:spcPct val="100000"/>
              </a:lnSpc>
              <a:spcBef>
                <a:spcPts val="300"/>
              </a:spcBef>
              <a:buNone/>
            </a:pPr>
            <a:r>
              <a:rPr lang="it-IT" sz="1000" b="0" dirty="0">
                <a:solidFill>
                  <a:srgbClr val="6B6168"/>
                </a:solidFill>
              </a:rPr>
              <a:t>Annotare con cerchi e frecce</a:t>
            </a:r>
          </a:p>
        </p:txBody>
      </p:sp>
      <p:sp>
        <p:nvSpPr>
          <p:cNvPr id="15" name="Pagine e task"/>
          <p:cNvSpPr txBox="1"/>
          <p:nvPr/>
        </p:nvSpPr>
        <p:spPr>
          <a:xfrm>
            <a:off x="609600" y="6273800"/>
            <a:ext cx="109728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000" b="1" dirty="0">
                <a:solidFill>
                  <a:srgbClr val="6B6168"/>
                </a:solidFill>
              </a:rPr>
              <a:t>Pagine:</a:t>
            </a:r>
            <a:r>
              <a:rPr lang="it-IT" sz="1000" b="0" dirty="0">
                <a:solidFill>
                  <a:srgbClr val="6B6168"/>
                </a:solidFill>
              </a:rPr>
              <a:t> Partner UniTo › Partnership e Progetti   </a:t>
            </a:r>
            <a:r>
              <a:rPr lang="it-IT" sz="1000" b="1" dirty="0">
                <a:solidFill>
                  <a:srgbClr val="6B6168"/>
                </a:solidFill>
              </a:rPr>
              <a:t>Task:</a:t>
            </a:r>
            <a:r>
              <a:rPr lang="it-IT" sz="1000" b="0" dirty="0">
                <a:solidFill>
                  <a:srgbClr val="6B6168"/>
                </a:solidFill>
              </a:rPr>
              <a:t> T1, T5   </a:t>
            </a:r>
            <a:r>
              <a:rPr lang="it-IT" sz="1000" b="1" dirty="0">
                <a:solidFill>
                  <a:srgbClr val="6B6168"/>
                </a:solidFill>
              </a:rPr>
              <a:t>ID:</a:t>
            </a:r>
            <a:r>
              <a:rPr lang="it-IT" sz="1000" b="0" dirty="0">
                <a:solidFill>
                  <a:srgbClr val="6B6168"/>
                </a:solidFill>
              </a:rPr>
              <a:t> P16 + [ da assegnare ]</a:t>
            </a:r>
          </a:p>
        </p:txBody>
      </p:sp>
    </p:spTree>
    <p:extLst>
      <p:ext uri="{BB962C8B-B14F-4D97-AF65-F5344CB8AC3E}">
        <p14:creationId xmlns:p14="http://schemas.microsoft.com/office/powerpoint/2010/main" val="235996897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5DD7BBF-E7A4-DB18-AA80-AE848F9C3C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558800"/>
            <a:ext cx="8991600" cy="889000"/>
          </a:xfrm>
        </p:spPr>
        <p:txBody>
          <a:bodyPr anchor="t"/>
          <a:lstStyle/>
          <a:p>
            <a:pPr>
              <a:lnSpc>
                <a:spcPct val="90000"/>
              </a:lnSpc>
            </a:pPr>
            <a:r>
              <a:rPr lang="it-IT" sz="2600" b="1" dirty="0"/>
              <a:t>Titoli arancioni, «ALTRI» e footer hanno un contrasto troppo basso</a:t>
            </a:r>
          </a:p>
        </p:txBody>
      </p:sp>
      <p:sp>
        <p:nvSpPr>
          <p:cNvPr id="10" name="Euristica"/>
          <p:cNvSpPr txBox="1"/>
          <p:nvPr/>
        </p:nvSpPr>
        <p:spPr>
          <a:xfrm>
            <a:off x="609600" y="254000"/>
            <a:ext cx="88900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200" b="1" dirty="0">
                <a:solidFill>
                  <a:srgbClr val="6C0850"/>
                </a:solidFill>
              </a:rPr>
              <a:t>H8 · DESIGN ESTETICO E MINIMALISTA</a:t>
            </a:r>
          </a:p>
        </p:txBody>
      </p:sp>
      <p:sp>
        <p:nvSpPr>
          <p:cNvPr id="11" name="Badge gravità"/>
          <p:cNvSpPr/>
          <p:nvPr/>
        </p:nvSpPr>
        <p:spPr>
          <a:xfrm>
            <a:off x="9855200" y="381000"/>
            <a:ext cx="1727200" cy="736600"/>
          </a:xfrm>
          <a:prstGeom prst="roundRect">
            <a:avLst/>
          </a:prstGeom>
          <a:solidFill>
            <a:srgbClr val="41002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000" b="1" dirty="0">
                <a:solidFill>
                  <a:srgbClr val="FFFFFF"/>
                </a:solidFill>
              </a:rPr>
              <a:t>GRAVITÀ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800" b="1" dirty="0">
                <a:solidFill>
                  <a:srgbClr val="FFFFFF"/>
                </a:solidFill>
              </a:rPr>
              <a:t>4 · catastrofico</a:t>
            </a:r>
          </a:p>
        </p:txBody>
      </p:sp>
      <p:sp>
        <p:nvSpPr>
          <p:cNvPr id="12" name="Problema"/>
          <p:cNvSpPr txBox="1"/>
          <p:nvPr/>
        </p:nvSpPr>
        <p:spPr>
          <a:xfrm>
            <a:off x="609600" y="1625600"/>
            <a:ext cx="5130800" cy="2616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400" b="1" dirty="0">
                <a:solidFill>
                  <a:srgbClr val="6C0850"/>
                </a:solidFill>
              </a:rPr>
              <a:t>Problema</a:t>
            </a:r>
          </a:p>
          <a:p>
            <a:pPr marL="228600" indent="-228600" algn="l">
              <a:lnSpc>
                <a:spcPct val="100000"/>
              </a:lnSpc>
              <a:spcBef>
                <a:spcPts val="500"/>
              </a:spcBef>
              <a:buClr>
                <a:srgbClr val="6C0850"/>
              </a:buClr>
              <a:buFont typeface="Arial"/>
              <a:buChar char="•"/>
            </a:pPr>
            <a:r>
              <a:rPr lang="it-IT" sz="1400" b="0" dirty="0">
                <a:solidFill>
                  <a:srgbClr val="231C21"/>
                </a:solidFill>
              </a:rPr>
              <a:t>Il blu ha un buon contrasto (circa 6:1), ma i </a:t>
            </a:r>
            <a:r>
              <a:rPr lang="it-IT" sz="1400" b="1" dirty="0">
                <a:solidFill>
                  <a:srgbClr val="231C21"/>
                </a:solidFill>
              </a:rPr>
              <a:t>titoli arancioni</a:t>
            </a:r>
            <a:r>
              <a:rPr lang="it-IT" sz="1400" b="0" dirty="0">
                <a:solidFill>
                  <a:srgbClr val="231C21"/>
                </a:solidFill>
              </a:rPr>
              <a:t> arrivano a circa 2,5:1, anche su Mind the Climate</a:t>
            </a:r>
          </a:p>
          <a:p>
            <a:pPr marL="228600" indent="-228600" algn="l">
              <a:lnSpc>
                <a:spcPct val="100000"/>
              </a:lnSpc>
              <a:spcBef>
                <a:spcPts val="500"/>
              </a:spcBef>
              <a:buClr>
                <a:srgbClr val="6C0850"/>
              </a:buClr>
              <a:buFont typeface="Arial"/>
              <a:buChar char="•"/>
            </a:pPr>
            <a:r>
              <a:rPr lang="it-IT" sz="1400" b="0" dirty="0">
                <a:solidFill>
                  <a:srgbClr val="231C21"/>
                </a:solidFill>
              </a:rPr>
              <a:t>Pulsante «ALTRI» </a:t>
            </a:r>
            <a:r>
              <a:rPr lang="it-IT" sz="1400" b="1" dirty="0">
                <a:solidFill>
                  <a:srgbClr val="231C21"/>
                </a:solidFill>
              </a:rPr>
              <a:t>2,09:1</a:t>
            </a:r>
            <a:r>
              <a:rPr lang="it-IT" sz="1400" b="0" dirty="0">
                <a:solidFill>
                  <a:srgbClr val="231C21"/>
                </a:solidFill>
              </a:rPr>
              <a:t>, chip «Obiettivo raggiunto» 3,55:1, testo bianco sui pulsanti verdi</a:t>
            </a:r>
          </a:p>
          <a:p>
            <a:pPr marL="228600" indent="-228600" algn="l">
              <a:lnSpc>
                <a:spcPct val="100000"/>
              </a:lnSpc>
              <a:spcBef>
                <a:spcPts val="500"/>
              </a:spcBef>
              <a:buClr>
                <a:srgbClr val="6C0850"/>
              </a:buClr>
              <a:buFont typeface="Arial"/>
              <a:buChar char="•"/>
            </a:pPr>
            <a:r>
              <a:rPr lang="it-IT" sz="1400" b="0" dirty="0">
                <a:solidFill>
                  <a:srgbClr val="231C21"/>
                </a:solidFill>
              </a:rPr>
              <a:t>Footer circa </a:t>
            </a:r>
            <a:r>
              <a:rPr lang="it-IT" sz="1400" b="1" dirty="0">
                <a:solidFill>
                  <a:srgbClr val="231C21"/>
                </a:solidFill>
              </a:rPr>
              <a:t>2:1</a:t>
            </a:r>
            <a:r>
              <a:rPr lang="it-IT" sz="1400" b="0" dirty="0">
                <a:solidFill>
                  <a:srgbClr val="231C21"/>
                </a:solidFill>
              </a:rPr>
              <a:t>, titoli di sezione molto piccoli: risulta </a:t>
            </a:r>
            <a:r>
              <a:rPr lang="it-IT" sz="1400" b="1" dirty="0">
                <a:solidFill>
                  <a:srgbClr val="231C21"/>
                </a:solidFill>
              </a:rPr>
              <a:t>poco chiaro</a:t>
            </a:r>
            <a:r>
              <a:rPr lang="it-IT" sz="1400" b="0" dirty="0">
                <a:solidFill>
                  <a:srgbClr val="231C21"/>
                </a:solidFill>
              </a:rPr>
              <a:t> già in Partnership</a:t>
            </a:r>
          </a:p>
          <a:p>
            <a:pPr marL="0" indent="0" algn="l">
              <a:lnSpc>
                <a:spcPct val="100000"/>
              </a:lnSpc>
              <a:spcBef>
                <a:spcPts val="900"/>
              </a:spcBef>
              <a:buNone/>
            </a:pPr>
            <a:r>
              <a:rPr lang="it-IT" sz="1100" b="0" dirty="0">
                <a:solidFill>
                  <a:srgbClr val="6B6168"/>
                </a:solidFill>
              </a:rPr>
              <a:t>Gravità 4 dalle note Progetti. [ DA VERIFICARE ] le note Partnership indicano contrasto 5:1; soglia WCAG AA 4,5:1 (3:1 per testo grande).</a:t>
            </a:r>
          </a:p>
        </p:txBody>
      </p:sp>
      <p:sp>
        <p:nvSpPr>
          <p:cNvPr id="13" name="Soluzione"/>
          <p:cNvSpPr/>
          <p:nvPr/>
        </p:nvSpPr>
        <p:spPr>
          <a:xfrm>
            <a:off x="609600" y="4394200"/>
            <a:ext cx="5130800" cy="1727200"/>
          </a:xfrm>
          <a:prstGeom prst="rect">
            <a:avLst/>
          </a:prstGeom>
          <a:solidFill>
            <a:srgbClr val="F3EEF1"/>
          </a:solidFill>
          <a:ln>
            <a:noFill/>
          </a:ln>
        </p:spPr>
        <p:txBody>
          <a:bodyPr wrap="square" lIns="152400" tIns="152400" rIns="152400" bIns="15240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400" b="1" dirty="0">
                <a:solidFill>
                  <a:srgbClr val="6C0850"/>
                </a:solidFill>
              </a:rPr>
              <a:t>Possibile soluzione</a:t>
            </a:r>
          </a:p>
          <a:p>
            <a:pPr marL="0" indent="0" algn="l">
              <a:lnSpc>
                <a:spcPct val="100000"/>
              </a:lnSpc>
              <a:spcBef>
                <a:spcPts val="400"/>
              </a:spcBef>
              <a:buNone/>
            </a:pPr>
            <a:r>
              <a:rPr lang="it-IT" sz="1400" b="0" dirty="0">
                <a:solidFill>
                  <a:srgbClr val="231C21"/>
                </a:solidFill>
              </a:rPr>
              <a:t>Scurire arancione e pulsante fino ad almeno 4,5:1, testo scuro sui chip, footer con testo più scuro, titoli più grandi e voci raggruppate.</a:t>
            </a:r>
          </a:p>
        </p:txBody>
      </p:sp>
      <p:sp>
        <p:nvSpPr>
          <p:cNvPr id="14" name="Segnaposto immagine 1"/>
          <p:cNvSpPr/>
          <p:nvPr/>
        </p:nvSpPr>
        <p:spPr>
          <a:xfrm>
            <a:off x="6045200" y="1625600"/>
            <a:ext cx="5537200" cy="4495800"/>
          </a:xfrm>
          <a:prstGeom prst="rect">
            <a:avLst/>
          </a:prstGeom>
          <a:solidFill>
            <a:srgbClr val="F7F4F6"/>
          </a:solidFill>
          <a:ln w="15875">
            <a:solidFill>
              <a:srgbClr val="B07A9F"/>
            </a:solidFill>
            <a:prstDash val="dash"/>
          </a:ln>
        </p:spPr>
        <p:txBody>
          <a:bodyPr wrap="square" lIns="127000" tIns="127000" rIns="127000" bIns="12700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200" b="1" dirty="0">
                <a:solidFill>
                  <a:srgbClr val="6C0850"/>
                </a:solidFill>
              </a:rPr>
              <a:t>[ SCREENSHOT DA FARE ]</a:t>
            </a:r>
          </a:p>
          <a:p>
            <a:pPr marL="0" indent="0" algn="ctr">
              <a:lnSpc>
                <a:spcPct val="100000"/>
              </a:lnSpc>
              <a:spcBef>
                <a:spcPts val="400"/>
              </a:spcBef>
              <a:buNone/>
            </a:pPr>
            <a:r>
              <a:rPr lang="it-IT" sz="1400" b="1" dirty="0">
                <a:solidFill>
                  <a:srgbClr val="231C21"/>
                </a:solidFill>
              </a:rPr>
              <a:t>Card con titolo arancione, «ALTRI» e footer</a:t>
            </a:r>
          </a:p>
          <a:p>
            <a:pPr marL="0" indent="0" algn="ctr">
              <a:lnSpc>
                <a:spcPct val="100000"/>
              </a:lnSpc>
              <a:spcBef>
                <a:spcPts val="300"/>
              </a:spcBef>
              <a:buNone/>
            </a:pPr>
            <a:r>
              <a:rPr lang="it-IT" sz="900" b="0" dirty="0">
                <a:solidFill>
                  <a:srgbClr val="6B6168"/>
                </a:solidFill>
              </a:rPr>
              <a:t>Salvare in /Users/andreock/Desktop/hci_gruppo_a/assignment1/parti/antofallea/src/</a:t>
            </a:r>
          </a:p>
          <a:p>
            <a:pPr marL="0" indent="0" algn="ctr">
              <a:lnSpc>
                <a:spcPct val="100000"/>
              </a:lnSpc>
              <a:spcBef>
                <a:spcPts val="300"/>
              </a:spcBef>
              <a:buNone/>
            </a:pPr>
            <a:r>
              <a:rPr lang="it-IT" sz="1000" b="0" dirty="0">
                <a:solidFill>
                  <a:srgbClr val="6B6168"/>
                </a:solidFill>
              </a:rPr>
              <a:t>Annotare con cerchi e frecce</a:t>
            </a:r>
          </a:p>
        </p:txBody>
      </p:sp>
      <p:sp>
        <p:nvSpPr>
          <p:cNvPr id="15" name="Pagine e task"/>
          <p:cNvSpPr txBox="1"/>
          <p:nvPr/>
        </p:nvSpPr>
        <p:spPr>
          <a:xfrm>
            <a:off x="609600" y="6273800"/>
            <a:ext cx="109728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000" b="1" dirty="0">
                <a:solidFill>
                  <a:srgbClr val="6B6168"/>
                </a:solidFill>
              </a:rPr>
              <a:t>Pagine:</a:t>
            </a:r>
            <a:r>
              <a:rPr lang="it-IT" sz="1000" b="0" dirty="0">
                <a:solidFill>
                  <a:srgbClr val="6B6168"/>
                </a:solidFill>
              </a:rPr>
              <a:t> Partner UniTo › Partnership e Progetti · Progetto «Mind the Climate»   </a:t>
            </a:r>
            <a:r>
              <a:rPr lang="it-IT" sz="1000" b="1" dirty="0">
                <a:solidFill>
                  <a:srgbClr val="6B6168"/>
                </a:solidFill>
              </a:rPr>
              <a:t>Task:</a:t>
            </a:r>
            <a:r>
              <a:rPr lang="it-IT" sz="1000" b="0" dirty="0">
                <a:solidFill>
                  <a:srgbClr val="6B6168"/>
                </a:solidFill>
              </a:rPr>
              <a:t> T2   </a:t>
            </a:r>
            <a:r>
              <a:rPr lang="it-IT" sz="1000" b="1" dirty="0">
                <a:solidFill>
                  <a:srgbClr val="6B6168"/>
                </a:solidFill>
              </a:rPr>
              <a:t>ID:</a:t>
            </a:r>
            <a:r>
              <a:rPr lang="it-IT" sz="1000" b="0" dirty="0">
                <a:solidFill>
                  <a:srgbClr val="6B6168"/>
                </a:solidFill>
              </a:rPr>
              <a:t> [ da assegnare ]</a:t>
            </a:r>
          </a:p>
        </p:txBody>
      </p:sp>
    </p:spTree>
    <p:extLst>
      <p:ext uri="{BB962C8B-B14F-4D97-AF65-F5344CB8AC3E}">
        <p14:creationId xmlns:p14="http://schemas.microsoft.com/office/powerpoint/2010/main" val="118762767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7A7DDF7-8302-C0B1-5D1D-9B970CEA28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558800"/>
            <a:ext cx="8991600" cy="889000"/>
          </a:xfrm>
        </p:spPr>
        <p:txBody>
          <a:bodyPr lIns="0" anchor="t"/>
          <a:lstStyle/>
          <a:p>
            <a:pPr>
              <a:lnSpc>
                <a:spcPct val="90000"/>
              </a:lnSpc>
            </a:pPr>
            <a:r>
              <a:rPr lang="it-IT" sz="2600" b="1" dirty="0"/>
              <a:t>Nessuna indicazione operativa su come candidare un progetto</a:t>
            </a:r>
          </a:p>
        </p:txBody>
      </p:sp>
      <p:sp>
        <p:nvSpPr>
          <p:cNvPr id="10" name="Euristica"/>
          <p:cNvSpPr txBox="1"/>
          <p:nvPr/>
        </p:nvSpPr>
        <p:spPr>
          <a:xfrm>
            <a:off x="609600" y="254000"/>
            <a:ext cx="81280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200" b="1" dirty="0">
                <a:solidFill>
                  <a:srgbClr val="6C0850"/>
                </a:solidFill>
              </a:rPr>
              <a:t>H10 · AIUTO E DOCUMENTAZIONE</a:t>
            </a:r>
          </a:p>
        </p:txBody>
      </p:sp>
      <p:sp>
        <p:nvSpPr>
          <p:cNvPr id="11" name="Badge gravità"/>
          <p:cNvSpPr/>
          <p:nvPr/>
        </p:nvSpPr>
        <p:spPr>
          <a:xfrm>
            <a:off x="9855200" y="381000"/>
            <a:ext cx="1727200" cy="736600"/>
          </a:xfrm>
          <a:prstGeom prst="roundRect">
            <a:avLst/>
          </a:prstGeom>
          <a:solidFill>
            <a:srgbClr val="8E2F72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000" b="1" dirty="0">
                <a:solidFill>
                  <a:srgbClr val="FFFFFF"/>
                </a:solidFill>
              </a:rPr>
              <a:t>GRAVITÀ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800" b="1" dirty="0">
                <a:solidFill>
                  <a:srgbClr val="FFFFFF"/>
                </a:solidFill>
              </a:rPr>
              <a:t>3 · importante</a:t>
            </a:r>
          </a:p>
        </p:txBody>
      </p:sp>
      <p:sp>
        <p:nvSpPr>
          <p:cNvPr id="12" name="Problema"/>
          <p:cNvSpPr txBox="1"/>
          <p:nvPr/>
        </p:nvSpPr>
        <p:spPr>
          <a:xfrm>
            <a:off x="609600" y="1625600"/>
            <a:ext cx="5130800" cy="2616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400" b="1" dirty="0">
                <a:solidFill>
                  <a:srgbClr val="6C0850"/>
                </a:solidFill>
              </a:rPr>
              <a:t>Problema</a:t>
            </a:r>
          </a:p>
          <a:p>
            <a:pPr marL="228600" indent="-228600" algn="l">
              <a:lnSpc>
                <a:spcPct val="100000"/>
              </a:lnSpc>
              <a:spcBef>
                <a:spcPts val="500"/>
              </a:spcBef>
              <a:buClr>
                <a:srgbClr val="6C0850"/>
              </a:buClr>
              <a:buFont typeface="Arial"/>
              <a:buChar char="•"/>
            </a:pPr>
            <a:r>
              <a:rPr lang="it-IT" sz="1400" b="0" dirty="0">
                <a:solidFill>
                  <a:srgbClr val="231C21"/>
                </a:solidFill>
              </a:rPr>
              <a:t>La pagina spiega le fasi ma non dice </a:t>
            </a:r>
            <a:r>
              <a:rPr lang="it-IT" sz="1400" b="1" dirty="0">
                <a:solidFill>
                  <a:srgbClr val="231C21"/>
                </a:solidFill>
              </a:rPr>
              <a:t>chi può candidarsi, entro quando, con quale modulo</a:t>
            </a:r>
            <a:r>
              <a:rPr lang="it-IT" sz="1400" b="0" dirty="0">
                <a:solidFill>
                  <a:srgbClr val="231C21"/>
                </a:solidFill>
              </a:rPr>
              <a:t> né chi contattare</a:t>
            </a:r>
          </a:p>
          <a:p>
            <a:pPr marL="228600" indent="-228600" algn="l">
              <a:lnSpc>
                <a:spcPct val="100000"/>
              </a:lnSpc>
              <a:spcBef>
                <a:spcPts val="500"/>
              </a:spcBef>
              <a:buClr>
                <a:srgbClr val="6C0850"/>
              </a:buClr>
              <a:buFont typeface="Arial"/>
              <a:buChar char="•"/>
            </a:pPr>
            <a:r>
              <a:rPr lang="it-IT" sz="1400" b="0" dirty="0">
                <a:solidFill>
                  <a:srgbClr val="231C21"/>
                </a:solidFill>
              </a:rPr>
              <a:t>L’unico rimando, «Scopri la guida dell’iniziativa», porta fuori, su unito.it</a:t>
            </a:r>
          </a:p>
          <a:p>
            <a:pPr marL="228600" indent="-228600" algn="l">
              <a:lnSpc>
                <a:spcPct val="100000"/>
              </a:lnSpc>
              <a:spcBef>
                <a:spcPts val="500"/>
              </a:spcBef>
              <a:buClr>
                <a:srgbClr val="6C0850"/>
              </a:buClr>
              <a:buFont typeface="Arial"/>
              <a:buChar char="•"/>
            </a:pPr>
            <a:r>
              <a:rPr lang="it-IT" sz="1400" b="0" dirty="0">
                <a:solidFill>
                  <a:srgbClr val="231C21"/>
                </a:solidFill>
              </a:rPr>
              <a:t>«Lancia una campagna» apre una registrazione generica; «Come funziona» indica </a:t>
            </a:r>
            <a:r>
              <a:rPr lang="it-IT" sz="1400" b="1" dirty="0">
                <a:solidFill>
                  <a:srgbClr val="231C21"/>
                </a:solidFill>
              </a:rPr>
              <a:t>350 € + IVA</a:t>
            </a:r>
            <a:r>
              <a:rPr lang="it-IT" sz="1400" b="0" dirty="0">
                <a:solidFill>
                  <a:srgbClr val="231C21"/>
                </a:solidFill>
              </a:rPr>
              <a:t> senza dire se valgono per i progetti cofinanziati</a:t>
            </a:r>
          </a:p>
          <a:p>
            <a:pPr marL="0" indent="0" algn="l">
              <a:lnSpc>
                <a:spcPct val="100000"/>
              </a:lnSpc>
              <a:spcBef>
                <a:spcPts val="900"/>
              </a:spcBef>
              <a:buNone/>
            </a:pPr>
            <a:r>
              <a:rPr lang="it-IT" sz="1200" b="0" dirty="0">
                <a:solidFill>
                  <a:srgbClr val="6B6168"/>
                </a:solidFill>
              </a:rPr>
              <a:t>Gravità 3: T7 non si completa restando sul sito; riguarda solo i ricercatori, ma per loro è l’intero task.</a:t>
            </a:r>
          </a:p>
        </p:txBody>
      </p:sp>
      <p:sp>
        <p:nvSpPr>
          <p:cNvPr id="13" name="Soluzione"/>
          <p:cNvSpPr/>
          <p:nvPr/>
        </p:nvSpPr>
        <p:spPr>
          <a:xfrm>
            <a:off x="609600" y="4394200"/>
            <a:ext cx="5130800" cy="1727200"/>
          </a:xfrm>
          <a:prstGeom prst="rect">
            <a:avLst/>
          </a:prstGeom>
          <a:solidFill>
            <a:srgbClr val="F3EEF1"/>
          </a:solidFill>
          <a:ln>
            <a:noFill/>
          </a:ln>
        </p:spPr>
        <p:txBody>
          <a:bodyPr wrap="square" lIns="152400" tIns="152400" rIns="152400" bIns="15240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400" b="1" dirty="0">
                <a:solidFill>
                  <a:srgbClr val="6C0850"/>
                </a:solidFill>
              </a:rPr>
              <a:t>Possibile soluzione</a:t>
            </a:r>
          </a:p>
          <a:p>
            <a:pPr marL="0" indent="0" algn="l">
              <a:lnSpc>
                <a:spcPct val="100000"/>
              </a:lnSpc>
              <a:spcBef>
                <a:spcPts val="400"/>
              </a:spcBef>
              <a:buNone/>
            </a:pPr>
            <a:r>
              <a:rPr lang="it-IT" sz="1400" b="0" dirty="0">
                <a:solidFill>
                  <a:srgbClr val="231C21"/>
                </a:solidFill>
              </a:rPr>
              <a:t>Riquadro «Sei un ricercatore UniTo?» con requisiti, scadenza, contatto dell’ufficio e pulsante «Vai al bando su unito.it»; nota esplicita su costi e registrazione.</a:t>
            </a:r>
          </a:p>
        </p:txBody>
      </p:sp>
      <p:sp>
        <p:nvSpPr>
          <p:cNvPr id="14" name="Segnaposto immagine"/>
          <p:cNvSpPr/>
          <p:nvPr/>
        </p:nvSpPr>
        <p:spPr>
          <a:xfrm>
            <a:off x="6045200" y="1625600"/>
            <a:ext cx="5537200" cy="2171700"/>
          </a:xfrm>
          <a:prstGeom prst="rect">
            <a:avLst/>
          </a:prstGeom>
          <a:solidFill>
            <a:srgbClr val="F7F4F6"/>
          </a:solidFill>
          <a:ln w="15875">
            <a:solidFill>
              <a:srgbClr val="B07A9F"/>
            </a:solidFill>
            <a:prstDash val="dash"/>
          </a:ln>
        </p:spPr>
        <p:txBody>
          <a:bodyPr wrap="square" lIns="127000" tIns="127000" rIns="127000" bIns="12700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200" b="1" dirty="0">
                <a:solidFill>
                  <a:srgbClr val="6C0850"/>
                </a:solidFill>
              </a:rPr>
              <a:t>[ SCREENSHOT DA INSERIRE ]</a:t>
            </a:r>
          </a:p>
          <a:p>
            <a:pPr marL="0" indent="0" algn="ctr">
              <a:lnSpc>
                <a:spcPct val="100000"/>
              </a:lnSpc>
              <a:spcBef>
                <a:spcPts val="400"/>
              </a:spcBef>
              <a:buNone/>
            </a:pPr>
            <a:r>
              <a:rPr lang="it-IT" sz="1400" b="1" dirty="0">
                <a:solidFill>
                  <a:srgbClr val="231C21"/>
                </a:solidFill>
              </a:rPr>
              <a:t>signup.jpg</a:t>
            </a:r>
          </a:p>
          <a:p>
            <a:pPr marL="0" indent="0" algn="ctr">
              <a:lnSpc>
                <a:spcPct val="100000"/>
              </a:lnSpc>
              <a:spcBef>
                <a:spcPts val="300"/>
              </a:spcBef>
              <a:buNone/>
            </a:pPr>
            <a:r>
              <a:rPr lang="it-IT" sz="900" b="0" dirty="0">
                <a:solidFill>
                  <a:srgbClr val="6B6168"/>
                </a:solidFill>
              </a:rPr>
              <a:t>/Users/andreock/Desktop/hci_gruppo_a/assignment1/parti/antofallea/src/signup.jpg</a:t>
            </a:r>
          </a:p>
          <a:p>
            <a:pPr marL="0" indent="0" algn="ctr">
              <a:lnSpc>
                <a:spcPct val="100000"/>
              </a:lnSpc>
              <a:spcBef>
                <a:spcPts val="300"/>
              </a:spcBef>
              <a:buNone/>
            </a:pPr>
            <a:r>
              <a:rPr lang="it-IT" sz="1000" b="0" dirty="0">
                <a:solidFill>
                  <a:srgbClr val="6B6168"/>
                </a:solidFill>
              </a:rPr>
              <a:t>Annotare con cerchi e frecce</a:t>
            </a:r>
          </a:p>
        </p:txBody>
      </p:sp>
      <p:sp>
        <p:nvSpPr>
          <p:cNvPr id="15" name="Segnaposto immagine"/>
          <p:cNvSpPr/>
          <p:nvPr/>
        </p:nvSpPr>
        <p:spPr>
          <a:xfrm>
            <a:off x="6045200" y="3949700"/>
            <a:ext cx="5537200" cy="2171700"/>
          </a:xfrm>
          <a:prstGeom prst="rect">
            <a:avLst/>
          </a:prstGeom>
          <a:solidFill>
            <a:srgbClr val="F7F4F6"/>
          </a:solidFill>
          <a:ln w="15875">
            <a:solidFill>
              <a:srgbClr val="B07A9F"/>
            </a:solidFill>
            <a:prstDash val="dash"/>
          </a:ln>
        </p:spPr>
        <p:txBody>
          <a:bodyPr wrap="square" lIns="127000" tIns="127000" rIns="127000" bIns="12700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200" b="1" dirty="0">
                <a:solidFill>
                  <a:srgbClr val="6C0850"/>
                </a:solidFill>
              </a:rPr>
              <a:t>[ SCREENSHOT DA INSERIRE ]</a:t>
            </a:r>
          </a:p>
          <a:p>
            <a:pPr marL="0" indent="0" algn="ctr">
              <a:lnSpc>
                <a:spcPct val="100000"/>
              </a:lnSpc>
              <a:spcBef>
                <a:spcPts val="400"/>
              </a:spcBef>
              <a:buNone/>
            </a:pPr>
            <a:r>
              <a:rPr lang="it-IT" sz="1400" b="1" dirty="0">
                <a:solidFill>
                  <a:srgbClr val="231C21"/>
                </a:solidFill>
              </a:rPr>
              <a:t>come_fee.jpg</a:t>
            </a:r>
          </a:p>
          <a:p>
            <a:pPr marL="0" indent="0" algn="ctr">
              <a:lnSpc>
                <a:spcPct val="100000"/>
              </a:lnSpc>
              <a:spcBef>
                <a:spcPts val="300"/>
              </a:spcBef>
              <a:buNone/>
            </a:pPr>
            <a:r>
              <a:rPr lang="it-IT" sz="900" b="0" dirty="0">
                <a:solidFill>
                  <a:srgbClr val="6B6168"/>
                </a:solidFill>
              </a:rPr>
              <a:t>/Users/andreock/Desktop/hci_gruppo_a/assignment1/parti/antofallea/src/come_fee.jpg</a:t>
            </a:r>
          </a:p>
          <a:p>
            <a:pPr marL="0" indent="0" algn="ctr">
              <a:lnSpc>
                <a:spcPct val="100000"/>
              </a:lnSpc>
              <a:spcBef>
                <a:spcPts val="300"/>
              </a:spcBef>
              <a:buNone/>
            </a:pPr>
            <a:r>
              <a:rPr lang="it-IT" sz="1000" b="0" dirty="0">
                <a:solidFill>
                  <a:srgbClr val="6B6168"/>
                </a:solidFill>
              </a:rPr>
              <a:t>Annotare con cerchi e frecce</a:t>
            </a:r>
          </a:p>
        </p:txBody>
      </p:sp>
      <p:sp>
        <p:nvSpPr>
          <p:cNvPr id="16" name="Pagine e task"/>
          <p:cNvSpPr txBox="1"/>
          <p:nvPr/>
        </p:nvSpPr>
        <p:spPr>
          <a:xfrm>
            <a:off x="609600" y="6273800"/>
            <a:ext cx="109728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000" b="1" dirty="0">
                <a:solidFill>
                  <a:srgbClr val="6B6168"/>
                </a:solidFill>
              </a:rPr>
              <a:t>Pagine:</a:t>
            </a:r>
            <a:r>
              <a:rPr lang="it-IT" sz="1000" b="0" dirty="0">
                <a:solidFill>
                  <a:srgbClr val="6B6168"/>
                </a:solidFill>
              </a:rPr>
              <a:t> Partner UniTo › Partnership · «Lancia una campagna» (/areaprogettisti/signup.html) · «Come funziona» e FAQ   </a:t>
            </a:r>
            <a:r>
              <a:rPr lang="it-IT" sz="1000" b="1" dirty="0">
                <a:solidFill>
                  <a:srgbClr val="6B6168"/>
                </a:solidFill>
              </a:rPr>
              <a:t>Task:</a:t>
            </a:r>
            <a:r>
              <a:rPr lang="it-IT" sz="1000" b="0" dirty="0">
                <a:solidFill>
                  <a:srgbClr val="6B6168"/>
                </a:solidFill>
              </a:rPr>
              <a:t> T7   </a:t>
            </a:r>
            <a:r>
              <a:rPr lang="it-IT" sz="1000" b="1" dirty="0">
                <a:solidFill>
                  <a:srgbClr val="6B6168"/>
                </a:solidFill>
              </a:rPr>
              <a:t>ID:</a:t>
            </a:r>
            <a:r>
              <a:rPr lang="it-IT" sz="1000" b="0" dirty="0">
                <a:solidFill>
                  <a:srgbClr val="6B6168"/>
                </a:solidFill>
              </a:rPr>
              <a:t> P20</a:t>
            </a:r>
          </a:p>
        </p:txBody>
      </p:sp>
    </p:spTree>
    <p:extLst>
      <p:ext uri="{BB962C8B-B14F-4D97-AF65-F5344CB8AC3E}">
        <p14:creationId xmlns:p14="http://schemas.microsoft.com/office/powerpoint/2010/main" val="329482382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BAF1E28-0067-105E-E5F8-A13E96141B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558800"/>
            <a:ext cx="8991600" cy="889000"/>
          </a:xfrm>
        </p:spPr>
        <p:txBody>
          <a:bodyPr anchor="t"/>
          <a:lstStyle/>
          <a:p>
            <a:pPr>
              <a:lnSpc>
                <a:spcPct val="90000"/>
              </a:lnSpc>
            </a:pPr>
            <a:r>
              <a:rPr lang="it-IT" sz="2600" b="1" dirty="0"/>
              <a:t>La pagina non riporta nessun contatto UniTo</a:t>
            </a:r>
          </a:p>
        </p:txBody>
      </p:sp>
      <p:sp>
        <p:nvSpPr>
          <p:cNvPr id="10" name="Euristica"/>
          <p:cNvSpPr/>
          <p:nvPr/>
        </p:nvSpPr>
        <p:spPr>
          <a:xfrm>
            <a:off x="609600" y="254000"/>
            <a:ext cx="88900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200" b="1" i="0" dirty="0">
                <a:solidFill>
                  <a:srgbClr val="6C0850"/>
                </a:solidFill>
              </a:rPr>
              <a:t>H10 · AIUTO E DOCUMENTAZIONE</a:t>
            </a:r>
          </a:p>
        </p:txBody>
      </p:sp>
      <p:sp>
        <p:nvSpPr>
          <p:cNvPr id="11" name="Badge gravità"/>
          <p:cNvSpPr/>
          <p:nvPr/>
        </p:nvSpPr>
        <p:spPr>
          <a:xfrm>
            <a:off x="9855200" y="381000"/>
            <a:ext cx="1727200" cy="736600"/>
          </a:xfrm>
          <a:prstGeom prst="roundRect">
            <a:avLst/>
          </a:prstGeom>
          <a:solidFill>
            <a:srgbClr val="C7A2BB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000" b="1" i="0" dirty="0">
                <a:solidFill>
                  <a:srgbClr val="41002F"/>
                </a:solidFill>
              </a:rPr>
              <a:t>GRAVITÀ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800" b="1" i="0" dirty="0">
                <a:solidFill>
                  <a:srgbClr val="41002F"/>
                </a:solidFill>
              </a:rPr>
              <a:t>2 · minore</a:t>
            </a:r>
          </a:p>
        </p:txBody>
      </p:sp>
      <p:sp>
        <p:nvSpPr>
          <p:cNvPr id="12" name="Problema"/>
          <p:cNvSpPr/>
          <p:nvPr/>
        </p:nvSpPr>
        <p:spPr>
          <a:xfrm>
            <a:off x="609600" y="1625600"/>
            <a:ext cx="5130800" cy="2616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400" b="1" i="0" dirty="0">
                <a:solidFill>
                  <a:srgbClr val="6C0850"/>
                </a:solidFill>
              </a:rPr>
              <a:t>Problema</a:t>
            </a:r>
          </a:p>
          <a:p>
            <a:pPr marL="228600" indent="-228600" algn="l">
              <a:lnSpc>
                <a:spcPct val="100000"/>
              </a:lnSpc>
              <a:spcBef>
                <a:spcPts val="500"/>
              </a:spcBef>
              <a:buClr>
                <a:srgbClr val="6C0850"/>
              </a:buClr>
              <a:buFont typeface="Arial"/>
              <a:buChar char="•"/>
            </a:pPr>
            <a:r>
              <a:rPr lang="it-IT" sz="1400" b="0" i="0" dirty="0">
                <a:solidFill>
                  <a:srgbClr val="231C21"/>
                </a:solidFill>
              </a:rPr>
              <a:t>Nella pagina </a:t>
            </a:r>
            <a:r>
              <a:rPr lang="it-IT" sz="1400" b="1" i="0" dirty="0">
                <a:solidFill>
                  <a:srgbClr val="231C21"/>
                </a:solidFill>
              </a:rPr>
              <a:t>non c’è un contatto UniTo</a:t>
            </a:r>
            <a:r>
              <a:rPr lang="it-IT" sz="1400" b="0" i="0" dirty="0">
                <a:solidFill>
                  <a:srgbClr val="231C21"/>
                </a:solidFill>
              </a:rPr>
              <a:t> di riferimento per l’iniziativa</a:t>
            </a:r>
          </a:p>
          <a:p>
            <a:pPr marL="228600" indent="-228600" algn="l">
              <a:lnSpc>
                <a:spcPct val="100000"/>
              </a:lnSpc>
              <a:spcBef>
                <a:spcPts val="500"/>
              </a:spcBef>
              <a:buClr>
                <a:srgbClr val="6C0850"/>
              </a:buClr>
              <a:buFont typeface="Arial"/>
              <a:buChar char="•"/>
            </a:pPr>
            <a:r>
              <a:rPr lang="it-IT" sz="1400" b="0" i="0" dirty="0">
                <a:solidFill>
                  <a:srgbClr val="231C21"/>
                </a:solidFill>
              </a:rPr>
              <a:t>Chi ha dubbi deve cercarlo altrove</a:t>
            </a:r>
          </a:p>
          <a:p>
            <a:pPr marL="0" indent="0" algn="l">
              <a:lnSpc>
                <a:spcPct val="100000"/>
              </a:lnSpc>
              <a:spcBef>
                <a:spcPts val="900"/>
              </a:spcBef>
              <a:buNone/>
            </a:pPr>
            <a:r>
              <a:rPr lang="it-IT" sz="1100" b="0" i="1" dirty="0">
                <a:solidFill>
                  <a:srgbClr val="6C0850"/>
                </a:solidFill>
              </a:rPr>
              <a:t>[ Giustificazione della gravità da aggiungere ]  Vedi anche P20.</a:t>
            </a:r>
          </a:p>
        </p:txBody>
      </p:sp>
      <p:sp>
        <p:nvSpPr>
          <p:cNvPr id="13" name="Possibile soluzione"/>
          <p:cNvSpPr/>
          <p:nvPr/>
        </p:nvSpPr>
        <p:spPr>
          <a:xfrm>
            <a:off x="609600" y="4394200"/>
            <a:ext cx="5130800" cy="1727200"/>
          </a:xfrm>
          <a:prstGeom prst="rect">
            <a:avLst/>
          </a:prstGeom>
          <a:solidFill>
            <a:srgbClr val="F3EEF1"/>
          </a:solidFill>
          <a:ln>
            <a:noFill/>
          </a:ln>
        </p:spPr>
        <p:txBody>
          <a:bodyPr wrap="square" lIns="152400" tIns="152400" rIns="152400" bIns="15240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400" b="1" i="0" dirty="0">
                <a:solidFill>
                  <a:srgbClr val="6C0850"/>
                </a:solidFill>
              </a:rPr>
              <a:t>Possibile soluzione</a:t>
            </a:r>
          </a:p>
          <a:p>
            <a:pPr marL="0" indent="0" algn="l">
              <a:lnSpc>
                <a:spcPct val="100000"/>
              </a:lnSpc>
              <a:spcBef>
                <a:spcPts val="400"/>
              </a:spcBef>
              <a:buNone/>
            </a:pPr>
            <a:r>
              <a:rPr lang="it-IT" sz="1400" b="0" i="0" dirty="0">
                <a:solidFill>
                  <a:srgbClr val="231C21"/>
                </a:solidFill>
              </a:rPr>
              <a:t>Riquadro con l’ufficio UniTo di riferimento e il suo indirizzo email.</a:t>
            </a:r>
          </a:p>
        </p:txBody>
      </p:sp>
      <p:sp>
        <p:nvSpPr>
          <p:cNvPr id="14" name="Segnaposto immagine"/>
          <p:cNvSpPr/>
          <p:nvPr/>
        </p:nvSpPr>
        <p:spPr>
          <a:xfrm>
            <a:off x="6045200" y="1625600"/>
            <a:ext cx="5537200" cy="4495800"/>
          </a:xfrm>
          <a:prstGeom prst="rect">
            <a:avLst/>
          </a:prstGeom>
          <a:solidFill>
            <a:srgbClr val="F7F4F6"/>
          </a:solidFill>
          <a:ln w="15875">
            <a:solidFill>
              <a:srgbClr val="B07A9F"/>
            </a:solidFill>
            <a:prstDash val="dash"/>
          </a:ln>
        </p:spPr>
        <p:txBody>
          <a:bodyPr wrap="square" lIns="127000" tIns="127000" rIns="127000" bIns="12700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200" b="1" i="0" dirty="0">
                <a:solidFill>
                  <a:srgbClr val="6C0850"/>
                </a:solidFill>
              </a:rPr>
              <a:t>[ SCREENSHOT DA INSERIRE ]</a:t>
            </a:r>
          </a:p>
          <a:p>
            <a:pPr marL="0" indent="0" algn="ctr">
              <a:lnSpc>
                <a:spcPct val="100000"/>
              </a:lnSpc>
              <a:spcBef>
                <a:spcPts val="400"/>
              </a:spcBef>
              <a:buNone/>
            </a:pPr>
            <a:r>
              <a:rPr lang="it-IT" sz="1400" b="1" i="0" dirty="0">
                <a:solidFill>
                  <a:srgbClr val="231C21"/>
                </a:solidFill>
              </a:rPr>
              <a:t>Pagina partner senza contatti UniTo</a:t>
            </a:r>
          </a:p>
          <a:p>
            <a:pPr marL="0" indent="0" algn="ctr">
              <a:lnSpc>
                <a:spcPct val="100000"/>
              </a:lnSpc>
              <a:spcBef>
                <a:spcPts val="300"/>
              </a:spcBef>
              <a:buNone/>
            </a:pPr>
            <a:r>
              <a:rPr lang="it-IT" sz="900" b="0" i="0" dirty="0">
                <a:solidFill>
                  <a:srgbClr val="6B6168"/>
                </a:solidFill>
              </a:rPr>
              <a:t>Nome file da indicare · cartella /Users/andreock/Desktop/hci_gruppo_a/assignment1/parti/antofallea/src/</a:t>
            </a:r>
          </a:p>
          <a:p>
            <a:pPr marL="0" indent="0" algn="ctr">
              <a:lnSpc>
                <a:spcPct val="100000"/>
              </a:lnSpc>
              <a:spcBef>
                <a:spcPts val="300"/>
              </a:spcBef>
              <a:buNone/>
            </a:pPr>
            <a:r>
              <a:rPr lang="it-IT" sz="1000" b="0" i="0" dirty="0">
                <a:solidFill>
                  <a:srgbClr val="6B6168"/>
                </a:solidFill>
              </a:rPr>
              <a:t>Annotare con cerchi e frecce</a:t>
            </a:r>
          </a:p>
        </p:txBody>
      </p:sp>
      <p:sp>
        <p:nvSpPr>
          <p:cNvPr id="15" name="Pagine e task"/>
          <p:cNvSpPr/>
          <p:nvPr/>
        </p:nvSpPr>
        <p:spPr>
          <a:xfrm>
            <a:off x="609600" y="6273800"/>
            <a:ext cx="109728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000" b="1" i="0" dirty="0">
                <a:solidFill>
                  <a:srgbClr val="6B6168"/>
                </a:solidFill>
              </a:rPr>
              <a:t>Pagine:</a:t>
            </a:r>
            <a:r>
              <a:rPr lang="it-IT" sz="1000" b="0" i="0" dirty="0">
                <a:solidFill>
                  <a:srgbClr val="6B6168"/>
                </a:solidFill>
              </a:rPr>
              <a:t> Partner UniTo › Partnership · Partner UniTo › Progetti (stesso problema, gravità 2 in entrambe)   </a:t>
            </a:r>
            <a:r>
              <a:rPr lang="it-IT" sz="1000" b="1" i="0" dirty="0">
                <a:solidFill>
                  <a:srgbClr val="6B6168"/>
                </a:solidFill>
              </a:rPr>
              <a:t>Task:</a:t>
            </a:r>
            <a:r>
              <a:rPr lang="it-IT" sz="1000" b="0" i="0" dirty="0">
                <a:solidFill>
                  <a:srgbClr val="6B6168"/>
                </a:solidFill>
              </a:rPr>
              <a:t> [ da indicare ]   </a:t>
            </a:r>
            <a:r>
              <a:rPr lang="it-IT" sz="1000" b="1" i="0" dirty="0">
                <a:solidFill>
                  <a:srgbClr val="6B6168"/>
                </a:solidFill>
              </a:rPr>
              <a:t>ID:</a:t>
            </a:r>
            <a:r>
              <a:rPr lang="it-IT" sz="1000" b="0" i="0" dirty="0">
                <a:solidFill>
                  <a:srgbClr val="6B6168"/>
                </a:solidFill>
              </a:rPr>
              <a:t> [ da assegnare ]</a:t>
            </a:r>
          </a:p>
        </p:txBody>
      </p:sp>
    </p:spTree>
    <p:extLst>
      <p:ext uri="{BB962C8B-B14F-4D97-AF65-F5344CB8AC3E}">
        <p14:creationId xmlns:p14="http://schemas.microsoft.com/office/powerpoint/2010/main" val="285895639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14A62BE-8B7D-FF9E-0732-E268F9A8BD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342900"/>
            <a:ext cx="10972800" cy="1016000"/>
          </a:xfrm>
        </p:spPr>
        <p:txBody>
          <a:bodyPr/>
          <a:lstStyle/>
          <a:p>
            <a:r>
              <a:rPr lang="it-IT" dirty="0"/>
              <a:t>[ DA RIGUARDARE ] Dubbi aperti sulla pagina partner UniTo</a:t>
            </a:r>
          </a:p>
        </p:txBody>
      </p:sp>
      <p:sp>
        <p:nvSpPr>
          <p:cNvPr id="10" name="Dubbi gravità"/>
          <p:cNvSpPr/>
          <p:nvPr/>
        </p:nvSpPr>
        <p:spPr>
          <a:xfrm>
            <a:off x="609600" y="1524000"/>
            <a:ext cx="5334000" cy="4622800"/>
          </a:xfrm>
          <a:prstGeom prst="rect">
            <a:avLst/>
          </a:prstGeom>
          <a:solidFill>
            <a:srgbClr val="F7F4F6"/>
          </a:solidFill>
          <a:ln w="15875">
            <a:solidFill>
              <a:srgbClr val="B07A9F"/>
            </a:solidFill>
            <a:prstDash val="dash"/>
          </a:ln>
        </p:spPr>
        <p:txBody>
          <a:bodyPr wrap="square" lIns="177800" tIns="177800" rIns="177800" bIns="17780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it-IT" sz="1400" b="1" dirty="0">
                <a:solidFill>
                  <a:srgbClr val="6C0850"/>
                </a:solidFill>
              </a:rPr>
              <a:t>Gravità da decidere</a:t>
            </a:r>
          </a:p>
          <a:p>
            <a:pPr marL="228600" indent="-228600" algn="l">
              <a:spcBef>
                <a:spcPts val="600"/>
              </a:spcBef>
              <a:buClr>
                <a:srgbClr val="6C0850"/>
              </a:buClr>
              <a:buFont typeface="Arial"/>
              <a:buChar char="•"/>
            </a:pPr>
            <a:r>
              <a:rPr lang="it-IT" sz="1300" b="0" dirty="0">
                <a:solidFill>
                  <a:srgbClr val="231C21"/>
                </a:solidFill>
              </a:rPr>
              <a:t>Note con </a:t>
            </a:r>
            <a:r>
              <a:rPr lang="it-IT" sz="1300" b="1" dirty="0">
                <a:solidFill>
                  <a:srgbClr val="231C21"/>
                </a:solidFill>
              </a:rPr>
              <a:t>gravità 5</a:t>
            </a:r>
            <a:r>
              <a:rPr lang="it-IT" sz="1300" b="0" dirty="0">
                <a:solidFill>
                  <a:srgbClr val="231C21"/>
                </a:solidFill>
              </a:rPr>
              <a:t>, fuori scala 0–4: caroselli mobile (Partnership: 3), caricamento «ALTRI»</a:t>
            </a:r>
          </a:p>
          <a:p>
            <a:pPr marL="228600" indent="-228600" algn="l">
              <a:spcBef>
                <a:spcPts val="400"/>
              </a:spcBef>
              <a:buClr>
                <a:srgbClr val="6C0850"/>
              </a:buClr>
              <a:buFont typeface="Arial"/>
              <a:buChar char="•"/>
            </a:pPr>
            <a:r>
              <a:rPr lang="it-IT" sz="1300" b="0" dirty="0">
                <a:solidFill>
                  <a:srgbClr val="231C21"/>
                </a:solidFill>
              </a:rPr>
              <a:t>CSV e note diversi: filtri (P14: 2 / note: 3), titoli troncati (P13: 1 / note: 3)</a:t>
            </a:r>
          </a:p>
          <a:p>
            <a:pPr marL="228600" indent="-228600" algn="l">
              <a:spcBef>
                <a:spcPts val="400"/>
              </a:spcBef>
              <a:buClr>
                <a:srgbClr val="6C0850"/>
              </a:buClr>
              <a:buFont typeface="Arial"/>
              <a:buChar char="•"/>
            </a:pPr>
            <a:r>
              <a:rPr lang="it-IT" sz="1300" b="0" dirty="0">
                <a:solidFill>
                  <a:srgbClr val="231C21"/>
                </a:solidFill>
              </a:rPr>
              <a:t>Giorni negativi: </a:t>
            </a:r>
            <a:r>
              <a:rPr lang="it-IT" sz="1300" b="1" dirty="0">
                <a:solidFill>
                  <a:srgbClr val="231C21"/>
                </a:solidFill>
              </a:rPr>
              <a:t>H2</a:t>
            </a:r>
            <a:r>
              <a:rPr lang="it-IT" sz="1300" b="0" dirty="0">
                <a:solidFill>
                  <a:srgbClr val="231C21"/>
                </a:solidFill>
              </a:rPr>
              <a:t> nel CSV (P04), H1 nelle note</a:t>
            </a:r>
          </a:p>
          <a:p>
            <a:pPr marL="228600" indent="-228600" algn="l">
              <a:spcBef>
                <a:spcPts val="400"/>
              </a:spcBef>
              <a:buClr>
                <a:srgbClr val="6C0850"/>
              </a:buClr>
              <a:buFont typeface="Arial"/>
              <a:buChar char="•"/>
            </a:pPr>
            <a:r>
              <a:rPr lang="it-IT" sz="1300" b="0" dirty="0">
                <a:solidFill>
                  <a:srgbClr val="231C21"/>
                </a:solidFill>
              </a:rPr>
              <a:t>Contrasto: Partnership </a:t>
            </a:r>
            <a:r>
              <a:rPr lang="it-IT" sz="1300" b="1" dirty="0">
                <a:solidFill>
                  <a:srgbClr val="231C21"/>
                </a:solidFill>
              </a:rPr>
              <a:t>5:1</a:t>
            </a:r>
            <a:r>
              <a:rPr lang="it-IT" sz="1300" b="0" dirty="0">
                <a:solidFill>
                  <a:srgbClr val="231C21"/>
                </a:solidFill>
              </a:rPr>
              <a:t>, Progetti </a:t>
            </a:r>
            <a:r>
              <a:rPr lang="it-IT" sz="1300" b="1" dirty="0">
                <a:solidFill>
                  <a:srgbClr val="231C21"/>
                </a:solidFill>
              </a:rPr>
              <a:t>2–3,5:1</a:t>
            </a:r>
            <a:r>
              <a:rPr lang="it-IT" sz="1300" b="0" dirty="0">
                <a:solidFill>
                  <a:srgbClr val="231C21"/>
                </a:solidFill>
              </a:rPr>
              <a:t>. Rimisurare (soglia WCAG AA 4,5:1)</a:t>
            </a:r>
          </a:p>
          <a:p>
            <a:pPr marL="228600" indent="-228600" algn="l">
              <a:spcBef>
                <a:spcPts val="400"/>
              </a:spcBef>
              <a:buClr>
                <a:srgbClr val="6C0850"/>
              </a:buClr>
              <a:buFont typeface="Arial"/>
              <a:buChar char="•"/>
            </a:pPr>
            <a:r>
              <a:rPr lang="it-IT" sz="1300" b="0" dirty="0">
                <a:solidFill>
                  <a:srgbClr val="231C21"/>
                </a:solidFill>
              </a:rPr>
              <a:t>Gravità 4 su «oltre il 100%» e «posizione persa»: confermare</a:t>
            </a:r>
          </a:p>
        </p:txBody>
      </p:sp>
      <p:sp>
        <p:nvSpPr>
          <p:cNvPr id="11" name="Verifiche e scelte"/>
          <p:cNvSpPr/>
          <p:nvPr/>
        </p:nvSpPr>
        <p:spPr>
          <a:xfrm>
            <a:off x="6248400" y="1524000"/>
            <a:ext cx="5334000" cy="4622800"/>
          </a:xfrm>
          <a:prstGeom prst="rect">
            <a:avLst/>
          </a:prstGeom>
          <a:solidFill>
            <a:srgbClr val="F7F4F6"/>
          </a:solidFill>
          <a:ln w="15875">
            <a:solidFill>
              <a:srgbClr val="B07A9F"/>
            </a:solidFill>
            <a:prstDash val="dash"/>
          </a:ln>
        </p:spPr>
        <p:txBody>
          <a:bodyPr wrap="square" lIns="177800" tIns="177800" rIns="177800" bIns="17780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it-IT" sz="1400" b="1" dirty="0">
                <a:solidFill>
                  <a:srgbClr val="6C0850"/>
                </a:solidFill>
              </a:rPr>
              <a:t>Verifiche da fare a mano</a:t>
            </a:r>
          </a:p>
          <a:p>
            <a:pPr marL="228600" indent="-228600" algn="l">
              <a:spcBef>
                <a:spcPts val="600"/>
              </a:spcBef>
              <a:buClr>
                <a:srgbClr val="6C0850"/>
              </a:buClr>
              <a:buFont typeface="Arial"/>
              <a:buChar char="•"/>
            </a:pPr>
            <a:r>
              <a:rPr lang="it-IT" sz="1300" b="0" dirty="0">
                <a:solidFill>
                  <a:srgbClr val="231C21"/>
                </a:solidFill>
              </a:rPr>
              <a:t>Mobile: card, hamburger, target touch ≥ 24×24 px, colonna laterale</a:t>
            </a:r>
          </a:p>
          <a:p>
            <a:pPr marL="228600" indent="-228600" algn="l">
              <a:spcBef>
                <a:spcPts val="400"/>
              </a:spcBef>
              <a:buClr>
                <a:srgbClr val="6C0850"/>
              </a:buClr>
              <a:buFont typeface="Arial"/>
              <a:buChar char="•"/>
            </a:pPr>
            <a:r>
              <a:rPr lang="it-IT" sz="1300" b="0" dirty="0">
                <a:solidFill>
                  <a:srgbClr val="231C21"/>
                </a:solidFill>
              </a:rPr>
              <a:t>Colori delle barre: quale indica il raccolto</a:t>
            </a:r>
          </a:p>
          <a:p>
            <a:pPr marL="228600" indent="-228600" algn="l">
              <a:spcBef>
                <a:spcPts val="400"/>
              </a:spcBef>
              <a:buClr>
                <a:srgbClr val="6C0850"/>
              </a:buClr>
              <a:buFont typeface="Arial"/>
              <a:buChar char="•"/>
            </a:pPr>
            <a:r>
              <a:rPr lang="it-IT" sz="1300" b="0" dirty="0">
                <a:solidFill>
                  <a:srgbClr val="231C21"/>
                </a:solidFill>
              </a:rPr>
              <a:t>Posizione persa al ritorno: provare su più browser</a:t>
            </a:r>
          </a:p>
          <a:p>
            <a:pPr marL="228600" indent="-228600" algn="l">
              <a:spcBef>
                <a:spcPts val="400"/>
              </a:spcBef>
              <a:buClr>
                <a:srgbClr val="6C0850"/>
              </a:buClr>
              <a:buFont typeface="Arial"/>
              <a:buChar char="•"/>
            </a:pPr>
            <a:r>
              <a:rPr lang="it-IT" sz="1300" b="0" dirty="0">
                <a:solidFill>
                  <a:srgbClr val="231C21"/>
                </a:solidFill>
              </a:rPr>
              <a:t>Footer: le note Partnership dicono solo «poco chiaro»; unito alla slide sul contrasto</a:t>
            </a:r>
          </a:p>
          <a:p>
            <a:pPr marL="0" indent="0" algn="l">
              <a:spcBef>
                <a:spcPts val="1000"/>
              </a:spcBef>
              <a:buNone/>
            </a:pPr>
            <a:r>
              <a:rPr lang="it-IT" sz="1400" b="1" dirty="0">
                <a:solidFill>
                  <a:srgbClr val="6C0850"/>
                </a:solidFill>
              </a:rPr>
              <a:t>Fuori da questa sezione</a:t>
            </a:r>
          </a:p>
          <a:p>
            <a:pPr marL="228600" indent="-228600" algn="l">
              <a:spcBef>
                <a:spcPts val="400"/>
              </a:spcBef>
              <a:buClr>
                <a:srgbClr val="6C0850"/>
              </a:buClr>
              <a:buFont typeface="Arial"/>
              <a:buChar char="•"/>
            </a:pPr>
            <a:r>
              <a:rPr lang="it-IT" sz="1300" b="0" dirty="0">
                <a:solidFill>
                  <a:srgbClr val="231C21"/>
                </a:solidFill>
              </a:rPr>
              <a:t>«Lancia una campagna» → P20; pagina 404 e ricerca vuota → sezioni 404 e Ricerca (P10, P19, P18)</a:t>
            </a:r>
          </a:p>
        </p:txBody>
      </p:sp>
    </p:spTree>
    <p:extLst>
      <p:ext uri="{BB962C8B-B14F-4D97-AF65-F5344CB8AC3E}">
        <p14:creationId xmlns:p14="http://schemas.microsoft.com/office/powerpoint/2010/main" val="234747093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4DA8CEB-DE7D-ADD3-24E4-0C971F0CED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342900"/>
            <a:ext cx="10972800" cy="1016000"/>
          </a:xfrm>
        </p:spPr>
        <p:txBody>
          <a:bodyPr/>
          <a:lstStyle/>
          <a:p>
            <a:r>
              <a:rPr lang="it-IT" dirty="0"/>
              <a:t>Dalla scheda Progetti si apre la pagina di un progetto attivo: Mind the Climate</a:t>
            </a:r>
          </a:p>
        </p:txBody>
      </p:sp>
      <p:sp>
        <p:nvSpPr>
          <p:cNvPr id="10" name="Scheda Progetti"/>
          <p:cNvSpPr/>
          <p:nvPr/>
        </p:nvSpPr>
        <p:spPr>
          <a:xfrm>
            <a:off x="609600" y="1727200"/>
            <a:ext cx="3175000" cy="1397000"/>
          </a:xfrm>
          <a:prstGeom prst="roundRect">
            <a:avLst/>
          </a:prstGeom>
          <a:solidFill>
            <a:srgbClr val="F3EEF1"/>
          </a:solidFill>
          <a:ln w="15875">
            <a:solidFill>
              <a:srgbClr val="6C0850"/>
            </a:solidFill>
          </a:ln>
        </p:spPr>
        <p:txBody>
          <a:bodyPr wrap="square" lIns="177800" tIns="177800" rIns="177800" bIns="177800" anchor="ctr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it-IT" sz="1100" b="1" dirty="0">
                <a:solidFill>
                  <a:srgbClr val="6C0850"/>
                </a:solidFill>
              </a:rPr>
              <a:t>SCHEDA 2</a:t>
            </a:r>
          </a:p>
          <a:p>
            <a:pPr marL="0" indent="0" algn="l">
              <a:spcBef>
                <a:spcPts val="200"/>
              </a:spcBef>
              <a:buNone/>
            </a:pPr>
            <a:r>
              <a:rPr lang="it-IT" sz="2000" b="1" dirty="0">
                <a:solidFill>
                  <a:srgbClr val="41002F"/>
                </a:solidFill>
              </a:rPr>
              <a:t>Progetti</a:t>
            </a:r>
          </a:p>
          <a:p>
            <a:pPr marL="0" indent="0" algn="l">
              <a:spcBef>
                <a:spcPts val="200"/>
              </a:spcBef>
              <a:buNone/>
            </a:pPr>
            <a:r>
              <a:rPr lang="it-IT" sz="1400" b="0" dirty="0">
                <a:solidFill>
                  <a:srgbClr val="231C21"/>
                </a:solidFill>
              </a:rPr>
              <a:t>Elenco delle 18 campagne UniTo</a:t>
            </a:r>
          </a:p>
        </p:txBody>
      </p:sp>
      <p:cxnSp>
        <p:nvCxnSpPr>
          <p:cNvPr id="11" name="Freccia"/>
          <p:cNvCxnSpPr/>
          <p:nvPr/>
        </p:nvCxnSpPr>
        <p:spPr>
          <a:xfrm>
            <a:off x="3886200" y="2425700"/>
            <a:ext cx="4419600" cy="0"/>
          </a:xfrm>
          <a:prstGeom prst="straightConnector1">
            <a:avLst/>
          </a:prstGeom>
          <a:ln w="22225">
            <a:solidFill>
              <a:srgbClr val="6C0850"/>
            </a:solidFill>
            <a:tailEnd type="triangle" w="med" len="med"/>
          </a:ln>
        </p:spPr>
      </p:cxnSp>
      <p:sp>
        <p:nvSpPr>
          <p:cNvPr id="12" name="Azione"/>
          <p:cNvSpPr/>
          <p:nvPr/>
        </p:nvSpPr>
        <p:spPr>
          <a:xfrm>
            <a:off x="3987800" y="1574800"/>
            <a:ext cx="42164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it-IT" sz="1400" b="1" dirty="0">
                <a:solidFill>
                  <a:srgbClr val="6C0850"/>
                </a:solidFill>
              </a:rPr>
              <a:t>Clic su una card «in corso»</a:t>
            </a:r>
          </a:p>
        </p:txBody>
      </p:sp>
      <p:sp>
        <p:nvSpPr>
          <p:cNvPr id="13" name="Ritorno"/>
          <p:cNvSpPr/>
          <p:nvPr/>
        </p:nvSpPr>
        <p:spPr>
          <a:xfrm>
            <a:off x="3987800" y="2540000"/>
            <a:ext cx="4216400" cy="584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it-IT" sz="1400" b="0" dirty="0">
                <a:solidFill>
                  <a:srgbClr val="231C21"/>
                </a:solidFill>
              </a:rPr>
              <a:t>Si torna indietro con il breadcrumb</a:t>
            </a:r>
          </a:p>
        </p:txBody>
      </p:sp>
      <p:sp>
        <p:nvSpPr>
          <p:cNvPr id="14" name="Pagina MTC"/>
          <p:cNvSpPr/>
          <p:nvPr/>
        </p:nvSpPr>
        <p:spPr>
          <a:xfrm>
            <a:off x="8407400" y="1727200"/>
            <a:ext cx="3175000" cy="1397000"/>
          </a:xfrm>
          <a:prstGeom prst="roundRect">
            <a:avLst/>
          </a:prstGeom>
          <a:solidFill>
            <a:srgbClr val="6C0850"/>
          </a:solidFill>
          <a:ln>
            <a:noFill/>
          </a:ln>
        </p:spPr>
        <p:txBody>
          <a:bodyPr wrap="square" lIns="177800" tIns="177800" rIns="177800" bIns="177800" anchor="ctr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it-IT" sz="1100" b="1" dirty="0">
                <a:solidFill>
                  <a:srgbClr val="E9DCE5"/>
                </a:solidFill>
              </a:rPr>
              <a:t>PAGINA PROGETTO</a:t>
            </a:r>
          </a:p>
          <a:p>
            <a:pPr marL="0" indent="0" algn="l">
              <a:spcBef>
                <a:spcPts val="200"/>
              </a:spcBef>
              <a:buNone/>
            </a:pPr>
            <a:r>
              <a:rPr lang="it-IT" sz="2000" b="1" dirty="0">
                <a:solidFill>
                  <a:srgbClr val="FFFFFF"/>
                </a:solidFill>
              </a:rPr>
              <a:t>Mind the Climate</a:t>
            </a:r>
          </a:p>
          <a:p>
            <a:pPr marL="0" indent="0" algn="l">
              <a:spcBef>
                <a:spcPts val="200"/>
              </a:spcBef>
              <a:buNone/>
            </a:pPr>
            <a:r>
              <a:rPr lang="it-IT" sz="1400" b="0" dirty="0">
                <a:solidFill>
                  <a:srgbClr val="FFFFFF"/>
                </a:solidFill>
              </a:rPr>
              <a:t>App su clima e salute mentale</a:t>
            </a:r>
          </a:p>
        </p:txBody>
      </p:sp>
      <p:sp>
        <p:nvSpPr>
          <p:cNvPr id="15" name="Struttura pagina"/>
          <p:cNvSpPr/>
          <p:nvPr/>
        </p:nvSpPr>
        <p:spPr>
          <a:xfrm>
            <a:off x="609600" y="3454400"/>
            <a:ext cx="5130800" cy="269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it-IT" sz="1400" b="1" dirty="0">
                <a:solidFill>
                  <a:srgbClr val="6C0850"/>
                </a:solidFill>
              </a:rPr>
              <a:t>Cosa contiene la pagina, dall’alto</a:t>
            </a:r>
          </a:p>
          <a:p>
            <a:pPr marL="228600" indent="-228600" algn="l">
              <a:spcBef>
                <a:spcPts val="500"/>
              </a:spcBef>
              <a:buClr>
                <a:srgbClr val="6C0850"/>
              </a:buClr>
              <a:buFont typeface="+mj-lt"/>
              <a:buAutoNum type="arabicPeriod"/>
            </a:pPr>
            <a:r>
              <a:rPr lang="it-IT" sz="1400" b="0" dirty="0">
                <a:solidFill>
                  <a:srgbClr val="231C21"/>
                </a:solidFill>
              </a:rPr>
              <a:t>Breadcrumb, titolo, proponente, </a:t>
            </a:r>
            <a:r>
              <a:rPr lang="it-IT" sz="1400" b="1" dirty="0">
                <a:solidFill>
                  <a:srgbClr val="231C21"/>
                </a:solidFill>
              </a:rPr>
              <a:t>scadenza 18/11/2026</a:t>
            </a:r>
            <a:r>
              <a:rPr lang="it-IT" sz="1400" b="0" dirty="0">
                <a:solidFill>
                  <a:srgbClr val="231C21"/>
                </a:solidFill>
              </a:rPr>
              <a:t>, video</a:t>
            </a:r>
          </a:p>
          <a:p>
            <a:pPr marL="228600" indent="-228600" algn="l">
              <a:spcBef>
                <a:spcPts val="300"/>
              </a:spcBef>
              <a:buClr>
                <a:srgbClr val="6C0850"/>
              </a:buClr>
              <a:buFont typeface="+mj-lt"/>
              <a:buAutoNum type="arabicPeriod"/>
            </a:pPr>
            <a:r>
              <a:rPr lang="it-IT" sz="1400" b="0" dirty="0">
                <a:solidFill>
                  <a:srgbClr val="231C21"/>
                </a:solidFill>
              </a:rPr>
              <a:t>Box di stato: </a:t>
            </a:r>
            <a:r>
              <a:rPr lang="it-IT" sz="1400" b="1" dirty="0">
                <a:solidFill>
                  <a:srgbClr val="231C21"/>
                </a:solidFill>
              </a:rPr>
              <a:t>38% · € 2.690 su € 7.000 · 97 sostenitori</a:t>
            </a:r>
          </a:p>
          <a:p>
            <a:pPr marL="228600" indent="-228600" algn="l">
              <a:spcBef>
                <a:spcPts val="300"/>
              </a:spcBef>
              <a:buClr>
                <a:srgbClr val="6C0850"/>
              </a:buClr>
              <a:buFont typeface="+mj-lt"/>
              <a:buAutoNum type="arabicPeriod"/>
            </a:pPr>
            <a:r>
              <a:rPr lang="it-IT" sz="1400" b="0" dirty="0">
                <a:solidFill>
                  <a:srgbClr val="231C21"/>
                </a:solidFill>
              </a:rPr>
              <a:t>Schede Progetto · News · Commenti · Sostenitori · Condividi</a:t>
            </a:r>
          </a:p>
          <a:p>
            <a:pPr marL="228600" indent="-228600" algn="l">
              <a:spcBef>
                <a:spcPts val="300"/>
              </a:spcBef>
              <a:buClr>
                <a:srgbClr val="6C0850"/>
              </a:buClr>
              <a:buFont typeface="+mj-lt"/>
              <a:buAutoNum type="arabicPeriod"/>
            </a:pPr>
            <a:r>
              <a:rPr lang="it-IT" sz="1400" b="0" dirty="0">
                <a:solidFill>
                  <a:srgbClr val="231C21"/>
                </a:solidFill>
              </a:rPr>
              <a:t>Descrizione a domande e risposte, infografiche, budget</a:t>
            </a:r>
          </a:p>
          <a:p>
            <a:pPr marL="228600" indent="-228600" algn="l">
              <a:spcBef>
                <a:spcPts val="300"/>
              </a:spcBef>
              <a:buClr>
                <a:srgbClr val="6C0850"/>
              </a:buClr>
              <a:buFont typeface="+mj-lt"/>
              <a:buAutoNum type="arabicPeriod"/>
            </a:pPr>
            <a:r>
              <a:rPr lang="it-IT" sz="1400" b="1" dirty="0">
                <a:solidFill>
                  <a:srgbClr val="231C21"/>
                </a:solidFill>
              </a:rPr>
              <a:t>10 ricompense</a:t>
            </a:r>
            <a:r>
              <a:rPr lang="it-IT" sz="1400" b="0" dirty="0">
                <a:solidFill>
                  <a:srgbClr val="231C21"/>
                </a:solidFill>
              </a:rPr>
              <a:t>, team e «Contatta il progettista»</a:t>
            </a:r>
          </a:p>
        </p:txBody>
      </p:sp>
      <p:sp>
        <p:nvSpPr>
          <p:cNvPr id="16" name="Segnaposto screenshot MTC"/>
          <p:cNvSpPr/>
          <p:nvPr/>
        </p:nvSpPr>
        <p:spPr>
          <a:xfrm>
            <a:off x="6045200" y="3454400"/>
            <a:ext cx="5537200" cy="2692400"/>
          </a:xfrm>
          <a:prstGeom prst="rect">
            <a:avLst/>
          </a:prstGeom>
          <a:solidFill>
            <a:srgbClr val="F7F4F6"/>
          </a:solidFill>
          <a:ln w="15875">
            <a:solidFill>
              <a:srgbClr val="B07A9F"/>
            </a:solidFill>
            <a:prstDash val="dash"/>
          </a:ln>
        </p:spPr>
        <p:txBody>
          <a:bodyPr wrap="square" lIns="127000" tIns="127000" rIns="127000" bIns="12700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it-IT" sz="1200" b="1" dirty="0">
                <a:solidFill>
                  <a:srgbClr val="6C0850"/>
                </a:solidFill>
              </a:rPr>
              <a:t>[ SCREENSHOT DA FARE ]</a:t>
            </a:r>
          </a:p>
          <a:p>
            <a:pPr marL="0" indent="0" algn="ctr">
              <a:spcBef>
                <a:spcPts val="400"/>
              </a:spcBef>
              <a:buNone/>
            </a:pPr>
            <a:r>
              <a:rPr lang="it-IT" sz="1400" b="1" dirty="0">
                <a:solidFill>
                  <a:srgbClr val="231C21"/>
                </a:solidFill>
              </a:rPr>
              <a:t>Mind the Climate, prima schermata con il box di stato</a:t>
            </a:r>
          </a:p>
          <a:p>
            <a:pPr marL="0" indent="0" algn="ctr">
              <a:spcBef>
                <a:spcPts val="300"/>
              </a:spcBef>
              <a:buNone/>
            </a:pPr>
            <a:r>
              <a:rPr lang="it-IT" sz="900" b="0" dirty="0">
                <a:solidFill>
                  <a:srgbClr val="6B6168"/>
                </a:solidFill>
              </a:rPr>
              <a:t>Salvare in /Users/andreock/Desktop/hci_gruppo_a/assignment1/parti/antofallea/src/</a:t>
            </a:r>
          </a:p>
          <a:p>
            <a:pPr marL="0" indent="0" algn="ctr">
              <a:spcBef>
                <a:spcPts val="300"/>
              </a:spcBef>
              <a:buNone/>
            </a:pPr>
            <a:r>
              <a:rPr lang="it-IT" sz="1000" b="0" dirty="0">
                <a:solidFill>
                  <a:srgbClr val="6B6168"/>
                </a:solidFill>
              </a:rPr>
              <a:t>/progetti/mind-the-climate.html · analisi del 12/10/2026</a:t>
            </a:r>
          </a:p>
        </p:txBody>
      </p:sp>
    </p:spTree>
    <p:extLst>
      <p:ext uri="{BB962C8B-B14F-4D97-AF65-F5344CB8AC3E}">
        <p14:creationId xmlns:p14="http://schemas.microsoft.com/office/powerpoint/2010/main" val="61651367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3BC906D-F1F5-42C4-7288-C1FAD208E7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558800"/>
            <a:ext cx="8991600" cy="889000"/>
          </a:xfrm>
        </p:spPr>
        <p:txBody>
          <a:bodyPr anchor="t"/>
          <a:lstStyle/>
          <a:p>
            <a:pPr>
              <a:lnSpc>
                <a:spcPct val="90000"/>
              </a:lnSpc>
            </a:pPr>
            <a:r>
              <a:rPr lang="it-IT" sz="2600" b="1" dirty="0"/>
              <a:t>Mind the Climate spiega bene il progetto e guida la scelta della ricompensa</a:t>
            </a:r>
          </a:p>
        </p:txBody>
      </p:sp>
      <p:sp>
        <p:nvSpPr>
          <p:cNvPr id="10" name="Euristica"/>
          <p:cNvSpPr/>
          <p:nvPr/>
        </p:nvSpPr>
        <p:spPr>
          <a:xfrm>
            <a:off x="609600" y="254000"/>
            <a:ext cx="88900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it-IT" sz="1200" b="1" dirty="0">
                <a:solidFill>
                  <a:srgbClr val="6C0850"/>
                </a:solidFill>
              </a:rPr>
              <a:t>ASPETTI POSITIVI · H1, H2, H3, H4, H5, H7, H8, H9, H10</a:t>
            </a:r>
          </a:p>
        </p:txBody>
      </p:sp>
      <p:sp>
        <p:nvSpPr>
          <p:cNvPr id="11" name="Badge gravità"/>
          <p:cNvSpPr/>
          <p:nvPr/>
        </p:nvSpPr>
        <p:spPr>
          <a:xfrm>
            <a:off x="9855200" y="381000"/>
            <a:ext cx="1727200" cy="736600"/>
          </a:xfrm>
          <a:prstGeom prst="round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it-IT" sz="1000" b="1" dirty="0">
                <a:solidFill>
                  <a:srgbClr val="231C21"/>
                </a:solidFill>
              </a:rPr>
              <a:t>GRAVITÀ</a:t>
            </a:r>
          </a:p>
          <a:p>
            <a:pPr marL="0" indent="0" algn="ctr">
              <a:spcBef>
                <a:spcPts val="0"/>
              </a:spcBef>
              <a:buNone/>
            </a:pPr>
            <a:r>
              <a:rPr lang="it-IT" sz="1400" b="1" dirty="0">
                <a:solidFill>
                  <a:srgbClr val="231C21"/>
                </a:solidFill>
              </a:rPr>
              <a:t>0 · nessun problema</a:t>
            </a:r>
          </a:p>
        </p:txBody>
      </p:sp>
      <p:sp>
        <p:nvSpPr>
          <p:cNvPr id="12" name="Tag H1"/>
          <p:cNvSpPr/>
          <p:nvPr/>
        </p:nvSpPr>
        <p:spPr>
          <a:xfrm>
            <a:off x="609600" y="1676400"/>
            <a:ext cx="660400" cy="330200"/>
          </a:xfrm>
          <a:prstGeom prst="roundRect">
            <a:avLst/>
          </a:prstGeom>
          <a:solidFill>
            <a:srgbClr val="E9DCE5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it-IT" sz="1200" b="1" dirty="0">
                <a:solidFill>
                  <a:srgbClr val="41002F"/>
                </a:solidFill>
              </a:rPr>
              <a:t>H1</a:t>
            </a:r>
          </a:p>
        </p:txBody>
      </p:sp>
      <p:sp>
        <p:nvSpPr>
          <p:cNvPr id="13" name="Positivo H1"/>
          <p:cNvSpPr/>
          <p:nvPr/>
        </p:nvSpPr>
        <p:spPr>
          <a:xfrm>
            <a:off x="1473200" y="1625600"/>
            <a:ext cx="101092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it-IT" sz="1400" b="0" dirty="0">
                <a:solidFill>
                  <a:srgbClr val="231C21"/>
                </a:solidFill>
              </a:rPr>
              <a:t>Box di stato completo e </a:t>
            </a:r>
            <a:r>
              <a:rPr lang="it-IT" sz="1400" b="1" dirty="0">
                <a:solidFill>
                  <a:srgbClr val="231C21"/>
                </a:solidFill>
              </a:rPr>
              <a:t>scadenza esplicita</a:t>
            </a:r>
            <a:r>
              <a:rPr lang="it-IT" sz="1400" b="0" dirty="0">
                <a:solidFill>
                  <a:srgbClr val="231C21"/>
                </a:solidFill>
              </a:rPr>
              <a:t>; ogni scheda mostra quanti elementi contiene e quella attiva è evidenziata</a:t>
            </a:r>
          </a:p>
        </p:txBody>
      </p:sp>
      <p:sp>
        <p:nvSpPr>
          <p:cNvPr id="14" name="Tag H2"/>
          <p:cNvSpPr/>
          <p:nvPr/>
        </p:nvSpPr>
        <p:spPr>
          <a:xfrm>
            <a:off x="609600" y="2184400"/>
            <a:ext cx="660400" cy="330200"/>
          </a:xfrm>
          <a:prstGeom prst="roundRect">
            <a:avLst/>
          </a:prstGeom>
          <a:solidFill>
            <a:srgbClr val="E9DCE5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it-IT" sz="1200" b="1" dirty="0">
                <a:solidFill>
                  <a:srgbClr val="41002F"/>
                </a:solidFill>
              </a:rPr>
              <a:t>H2</a:t>
            </a:r>
          </a:p>
        </p:txBody>
      </p:sp>
      <p:sp>
        <p:nvSpPr>
          <p:cNvPr id="15" name="Positivo H2"/>
          <p:cNvSpPr/>
          <p:nvPr/>
        </p:nvSpPr>
        <p:spPr>
          <a:xfrm>
            <a:off x="1473200" y="2133600"/>
            <a:ext cx="101092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it-IT" sz="1400" b="0" dirty="0">
                <a:solidFill>
                  <a:srgbClr val="231C21"/>
                </a:solidFill>
              </a:rPr>
              <a:t>Testo a </a:t>
            </a:r>
            <a:r>
              <a:rPr lang="it-IT" sz="1400" b="1" dirty="0">
                <a:solidFill>
                  <a:srgbClr val="231C21"/>
                </a:solidFill>
              </a:rPr>
              <a:t>domande e risposte</a:t>
            </a:r>
            <a:r>
              <a:rPr lang="it-IT" sz="1400" b="0" dirty="0">
                <a:solidFill>
                  <a:srgbClr val="231C21"/>
                </a:solidFill>
              </a:rPr>
              <a:t> dal punto di vista di chi valuta se donare; ogni livello di sostegno è spiegato</a:t>
            </a:r>
          </a:p>
        </p:txBody>
      </p:sp>
      <p:sp>
        <p:nvSpPr>
          <p:cNvPr id="16" name="Tag H3"/>
          <p:cNvSpPr/>
          <p:nvPr/>
        </p:nvSpPr>
        <p:spPr>
          <a:xfrm>
            <a:off x="609600" y="2692400"/>
            <a:ext cx="660400" cy="330200"/>
          </a:xfrm>
          <a:prstGeom prst="roundRect">
            <a:avLst/>
          </a:prstGeom>
          <a:solidFill>
            <a:srgbClr val="E9DCE5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it-IT" sz="1200" b="1" dirty="0">
                <a:solidFill>
                  <a:srgbClr val="41002F"/>
                </a:solidFill>
              </a:rPr>
              <a:t>H3</a:t>
            </a:r>
          </a:p>
        </p:txBody>
      </p:sp>
      <p:sp>
        <p:nvSpPr>
          <p:cNvPr id="17" name="Positivo H3"/>
          <p:cNvSpPr/>
          <p:nvPr/>
        </p:nvSpPr>
        <p:spPr>
          <a:xfrm>
            <a:off x="1473200" y="2641600"/>
            <a:ext cx="101092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it-IT" sz="1400" b="1" dirty="0">
                <a:solidFill>
                  <a:srgbClr val="231C21"/>
                </a:solidFill>
              </a:rPr>
              <a:t>Breadcrumb</a:t>
            </a:r>
            <a:r>
              <a:rPr lang="it-IT" sz="1400" b="0" dirty="0">
                <a:solidFill>
                  <a:srgbClr val="231C21"/>
                </a:solidFill>
              </a:rPr>
              <a:t> cliccabile, schede di sezione </a:t>
            </a:r>
            <a:r>
              <a:rPr lang="it-IT" sz="1400" b="1" dirty="0">
                <a:solidFill>
                  <a:srgbClr val="231C21"/>
                </a:solidFill>
              </a:rPr>
              <a:t>sticky</a:t>
            </a:r>
            <a:r>
              <a:rPr lang="it-IT" sz="1400" b="0" dirty="0">
                <a:solidFill>
                  <a:srgbClr val="231C21"/>
                </a:solidFill>
              </a:rPr>
              <a:t>, video controllabile dall’utente</a:t>
            </a:r>
          </a:p>
        </p:txBody>
      </p:sp>
      <p:sp>
        <p:nvSpPr>
          <p:cNvPr id="18" name="Tag H4"/>
          <p:cNvSpPr/>
          <p:nvPr/>
        </p:nvSpPr>
        <p:spPr>
          <a:xfrm>
            <a:off x="609600" y="3200400"/>
            <a:ext cx="660400" cy="330200"/>
          </a:xfrm>
          <a:prstGeom prst="roundRect">
            <a:avLst/>
          </a:prstGeom>
          <a:solidFill>
            <a:srgbClr val="E9DCE5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it-IT" sz="1200" b="1" dirty="0">
                <a:solidFill>
                  <a:srgbClr val="41002F"/>
                </a:solidFill>
              </a:rPr>
              <a:t>H4</a:t>
            </a:r>
          </a:p>
        </p:txBody>
      </p:sp>
      <p:sp>
        <p:nvSpPr>
          <p:cNvPr id="19" name="Positivo H4"/>
          <p:cNvSpPr/>
          <p:nvPr/>
        </p:nvSpPr>
        <p:spPr>
          <a:xfrm>
            <a:off x="1473200" y="3149600"/>
            <a:ext cx="101092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it-IT" sz="1400" b="0" dirty="0">
                <a:solidFill>
                  <a:srgbClr val="231C21"/>
                </a:solidFill>
              </a:rPr>
              <a:t>Ricompense con </a:t>
            </a:r>
            <a:r>
              <a:rPr lang="it-IT" sz="1400" b="1" dirty="0">
                <a:solidFill>
                  <a:srgbClr val="231C21"/>
                </a:solidFill>
              </a:rPr>
              <a:t>struttura uniforme</a:t>
            </a:r>
            <a:r>
              <a:rPr lang="it-IT" sz="1400" b="0" dirty="0">
                <a:solidFill>
                  <a:srgbClr val="231C21"/>
                </a:solidFill>
              </a:rPr>
              <a:t>, pagina coerente con gli altri progetti</a:t>
            </a:r>
          </a:p>
        </p:txBody>
      </p:sp>
      <p:sp>
        <p:nvSpPr>
          <p:cNvPr id="20" name="Tag H5"/>
          <p:cNvSpPr/>
          <p:nvPr/>
        </p:nvSpPr>
        <p:spPr>
          <a:xfrm>
            <a:off x="609600" y="3708400"/>
            <a:ext cx="660400" cy="330200"/>
          </a:xfrm>
          <a:prstGeom prst="roundRect">
            <a:avLst/>
          </a:prstGeom>
          <a:solidFill>
            <a:srgbClr val="E9DCE5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it-IT" sz="1200" b="1" dirty="0">
                <a:solidFill>
                  <a:srgbClr val="41002F"/>
                </a:solidFill>
              </a:rPr>
              <a:t>H5</a:t>
            </a:r>
          </a:p>
        </p:txBody>
      </p:sp>
      <p:sp>
        <p:nvSpPr>
          <p:cNvPr id="21" name="Positivo H5"/>
          <p:cNvSpPr/>
          <p:nvPr/>
        </p:nvSpPr>
        <p:spPr>
          <a:xfrm>
            <a:off x="1473200" y="3657600"/>
            <a:ext cx="101092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it-IT" sz="1400" b="0" dirty="0">
                <a:solidFill>
                  <a:srgbClr val="231C21"/>
                </a:solidFill>
              </a:rPr>
              <a:t>Ogni livello impone il proprio </a:t>
            </a:r>
            <a:r>
              <a:rPr lang="it-IT" sz="1400" b="1" dirty="0">
                <a:solidFill>
                  <a:srgbClr val="231C21"/>
                </a:solidFill>
              </a:rPr>
              <a:t>importo minimo</a:t>
            </a:r>
            <a:r>
              <a:rPr lang="it-IT" sz="1400" b="0" dirty="0">
                <a:solidFill>
                  <a:srgbClr val="231C21"/>
                </a:solidFill>
              </a:rPr>
              <a:t>; le ricompense dicono quante ne restano</a:t>
            </a:r>
          </a:p>
        </p:txBody>
      </p:sp>
      <p:sp>
        <p:nvSpPr>
          <p:cNvPr id="22" name="Tag H7"/>
          <p:cNvSpPr/>
          <p:nvPr/>
        </p:nvSpPr>
        <p:spPr>
          <a:xfrm>
            <a:off x="609600" y="4216400"/>
            <a:ext cx="660400" cy="330200"/>
          </a:xfrm>
          <a:prstGeom prst="roundRect">
            <a:avLst/>
          </a:prstGeom>
          <a:solidFill>
            <a:srgbClr val="E9DCE5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it-IT" sz="1200" b="1" dirty="0">
                <a:solidFill>
                  <a:srgbClr val="41002F"/>
                </a:solidFill>
              </a:rPr>
              <a:t>H7</a:t>
            </a:r>
          </a:p>
        </p:txBody>
      </p:sp>
      <p:sp>
        <p:nvSpPr>
          <p:cNvPr id="23" name="Positivo H7"/>
          <p:cNvSpPr/>
          <p:nvPr/>
        </p:nvSpPr>
        <p:spPr>
          <a:xfrm>
            <a:off x="1473200" y="4165600"/>
            <a:ext cx="101092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it-IT" sz="1400" b="1" dirty="0">
                <a:solidFill>
                  <a:srgbClr val="231C21"/>
                </a:solidFill>
              </a:rPr>
              <a:t>«Copia link»</a:t>
            </a:r>
            <a:r>
              <a:rPr lang="it-IT" sz="1400" b="0" dirty="0">
                <a:solidFill>
                  <a:srgbClr val="231C21"/>
                </a:solidFill>
              </a:rPr>
              <a:t> e condivisione su 9 canali</a:t>
            </a:r>
          </a:p>
        </p:txBody>
      </p:sp>
      <p:sp>
        <p:nvSpPr>
          <p:cNvPr id="24" name="Tag H8"/>
          <p:cNvSpPr/>
          <p:nvPr/>
        </p:nvSpPr>
        <p:spPr>
          <a:xfrm>
            <a:off x="609600" y="4724400"/>
            <a:ext cx="660400" cy="330200"/>
          </a:xfrm>
          <a:prstGeom prst="roundRect">
            <a:avLst/>
          </a:prstGeom>
          <a:solidFill>
            <a:srgbClr val="E9DCE5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it-IT" sz="1200" b="1" dirty="0">
                <a:solidFill>
                  <a:srgbClr val="41002F"/>
                </a:solidFill>
              </a:rPr>
              <a:t>H8</a:t>
            </a:r>
          </a:p>
        </p:txBody>
      </p:sp>
      <p:sp>
        <p:nvSpPr>
          <p:cNvPr id="25" name="Positivo H8"/>
          <p:cNvSpPr/>
          <p:nvPr/>
        </p:nvSpPr>
        <p:spPr>
          <a:xfrm>
            <a:off x="1473200" y="4673600"/>
            <a:ext cx="101092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it-IT" sz="1400" b="0" dirty="0">
                <a:solidFill>
                  <a:srgbClr val="231C21"/>
                </a:solidFill>
              </a:rPr>
              <a:t>Gerarchia dei titoli chiara, parole chiave in grassetto, </a:t>
            </a:r>
            <a:r>
              <a:rPr lang="it-IT" sz="1400" b="1" dirty="0">
                <a:solidFill>
                  <a:srgbClr val="231C21"/>
                </a:solidFill>
              </a:rPr>
              <a:t>infografiche</a:t>
            </a:r>
            <a:r>
              <a:rPr lang="it-IT" sz="1400" b="0" dirty="0">
                <a:solidFill>
                  <a:srgbClr val="231C21"/>
                </a:solidFill>
              </a:rPr>
              <a:t> che spiegano il testo</a:t>
            </a:r>
          </a:p>
        </p:txBody>
      </p:sp>
      <p:sp>
        <p:nvSpPr>
          <p:cNvPr id="26" name="Tag H9"/>
          <p:cNvSpPr/>
          <p:nvPr/>
        </p:nvSpPr>
        <p:spPr>
          <a:xfrm>
            <a:off x="609600" y="5232400"/>
            <a:ext cx="660400" cy="330200"/>
          </a:xfrm>
          <a:prstGeom prst="roundRect">
            <a:avLst/>
          </a:prstGeom>
          <a:solidFill>
            <a:srgbClr val="E9DCE5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it-IT" sz="1200" b="1" dirty="0">
                <a:solidFill>
                  <a:srgbClr val="41002F"/>
                </a:solidFill>
              </a:rPr>
              <a:t>H9</a:t>
            </a:r>
          </a:p>
        </p:txBody>
      </p:sp>
      <p:sp>
        <p:nvSpPr>
          <p:cNvPr id="27" name="Positivo H9"/>
          <p:cNvSpPr/>
          <p:nvPr/>
        </p:nvSpPr>
        <p:spPr>
          <a:xfrm>
            <a:off x="1473200" y="5181600"/>
            <a:ext cx="101092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it-IT" sz="1400" b="0" dirty="0">
                <a:solidFill>
                  <a:srgbClr val="231C21"/>
                </a:solidFill>
              </a:rPr>
              <a:t>Nella donazione libera un </a:t>
            </a:r>
            <a:r>
              <a:rPr lang="it-IT" sz="1400" b="1" dirty="0">
                <a:solidFill>
                  <a:srgbClr val="231C21"/>
                </a:solidFill>
              </a:rPr>
              <a:t>errore chiaro</a:t>
            </a:r>
            <a:r>
              <a:rPr lang="it-IT" sz="1400" b="0" dirty="0">
                <a:solidFill>
                  <a:srgbClr val="231C21"/>
                </a:solidFill>
              </a:rPr>
              <a:t> segnala l’importo sotto il minimo</a:t>
            </a:r>
          </a:p>
        </p:txBody>
      </p:sp>
      <p:sp>
        <p:nvSpPr>
          <p:cNvPr id="28" name="Tag H10"/>
          <p:cNvSpPr/>
          <p:nvPr/>
        </p:nvSpPr>
        <p:spPr>
          <a:xfrm>
            <a:off x="609600" y="5740400"/>
            <a:ext cx="660400" cy="330200"/>
          </a:xfrm>
          <a:prstGeom prst="roundRect">
            <a:avLst/>
          </a:prstGeom>
          <a:solidFill>
            <a:srgbClr val="E9DCE5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it-IT" sz="1200" b="1" dirty="0">
                <a:solidFill>
                  <a:srgbClr val="41002F"/>
                </a:solidFill>
              </a:rPr>
              <a:t>H10</a:t>
            </a:r>
          </a:p>
        </p:txBody>
      </p:sp>
      <p:sp>
        <p:nvSpPr>
          <p:cNvPr id="29" name="Positivo H10"/>
          <p:cNvSpPr/>
          <p:nvPr/>
        </p:nvSpPr>
        <p:spPr>
          <a:xfrm>
            <a:off x="1473200" y="5689600"/>
            <a:ext cx="101092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it-IT" sz="1400" b="0" dirty="0">
                <a:solidFill>
                  <a:srgbClr val="231C21"/>
                </a:solidFill>
              </a:rPr>
              <a:t>La descrizione anticipa le domande: </a:t>
            </a:r>
            <a:r>
              <a:rPr lang="it-IT" sz="1400" b="1" dirty="0">
                <a:solidFill>
                  <a:srgbClr val="231C21"/>
                </a:solidFill>
              </a:rPr>
              <a:t>uso dei fondi</a:t>
            </a:r>
            <a:r>
              <a:rPr lang="it-IT" sz="1400" b="0" dirty="0">
                <a:solidFill>
                  <a:srgbClr val="231C21"/>
                </a:solidFill>
              </a:rPr>
              <a:t>, uso dei dati, ricadute sul territorio, team</a:t>
            </a:r>
          </a:p>
        </p:txBody>
      </p:sp>
      <p:sp>
        <p:nvSpPr>
          <p:cNvPr id="30" name="Pagine e task"/>
          <p:cNvSpPr/>
          <p:nvPr/>
        </p:nvSpPr>
        <p:spPr>
          <a:xfrm>
            <a:off x="609600" y="6273800"/>
            <a:ext cx="109728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it-IT" sz="1000" b="1" dirty="0">
                <a:solidFill>
                  <a:srgbClr val="6B6168"/>
                </a:solidFill>
              </a:rPr>
              <a:t>Pagina:</a:t>
            </a:r>
            <a:r>
              <a:rPr lang="it-IT" sz="1000" b="0" dirty="0">
                <a:solidFill>
                  <a:srgbClr val="6B6168"/>
                </a:solidFill>
              </a:rPr>
              <a:t> Progetto «Mind the Climate» (/progetti/mind-the-climate.html)   </a:t>
            </a:r>
            <a:r>
              <a:rPr lang="it-IT" sz="1000" b="1" dirty="0">
                <a:solidFill>
                  <a:srgbClr val="6B6168"/>
                </a:solidFill>
              </a:rPr>
              <a:t>Task:</a:t>
            </a:r>
            <a:r>
              <a:rPr lang="it-IT" sz="1000" b="0" dirty="0">
                <a:solidFill>
                  <a:srgbClr val="6B6168"/>
                </a:solidFill>
              </a:rPr>
              <a:t> T3, T5, T6</a:t>
            </a:r>
          </a:p>
        </p:txBody>
      </p:sp>
    </p:spTree>
    <p:extLst>
      <p:ext uri="{BB962C8B-B14F-4D97-AF65-F5344CB8AC3E}">
        <p14:creationId xmlns:p14="http://schemas.microsoft.com/office/powerpoint/2010/main" val="64407753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88EACE2-79C9-B89B-5268-E229215382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558800"/>
            <a:ext cx="8991600" cy="889000"/>
          </a:xfrm>
        </p:spPr>
        <p:txBody>
          <a:bodyPr anchor="t"/>
          <a:lstStyle/>
          <a:p>
            <a:pPr>
              <a:lnSpc>
                <a:spcPct val="90000"/>
              </a:lnSpc>
            </a:pPr>
            <a:r>
              <a:rPr lang="it-IT" sz="2600" b="1" dirty="0"/>
              <a:t>«Contatta il progettista» risponde con molto ritardo e sembra non aver preso il clic</a:t>
            </a:r>
          </a:p>
        </p:txBody>
      </p:sp>
      <p:sp>
        <p:nvSpPr>
          <p:cNvPr id="10" name="Euristica"/>
          <p:cNvSpPr txBox="1"/>
          <p:nvPr/>
        </p:nvSpPr>
        <p:spPr>
          <a:xfrm>
            <a:off x="609600" y="254000"/>
            <a:ext cx="88900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200" b="1" dirty="0">
                <a:solidFill>
                  <a:srgbClr val="6C0850"/>
                </a:solidFill>
              </a:rPr>
              <a:t>H1 · VISIBILITÀ DELLO STATO DEL SISTEMA</a:t>
            </a:r>
          </a:p>
        </p:txBody>
      </p:sp>
      <p:sp>
        <p:nvSpPr>
          <p:cNvPr id="11" name="Badge gravità"/>
          <p:cNvSpPr/>
          <p:nvPr/>
        </p:nvSpPr>
        <p:spPr>
          <a:xfrm>
            <a:off x="9855200" y="381000"/>
            <a:ext cx="1727200" cy="736600"/>
          </a:xfrm>
          <a:prstGeom prst="roundRect">
            <a:avLst/>
          </a:prstGeom>
          <a:solidFill>
            <a:srgbClr val="8E2F72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000" b="1" dirty="0">
                <a:solidFill>
                  <a:srgbClr val="FFFFFF"/>
                </a:solidFill>
              </a:rPr>
              <a:t>GRAVITÀ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800" b="1" dirty="0">
                <a:solidFill>
                  <a:srgbClr val="FFFFFF"/>
                </a:solidFill>
              </a:rPr>
              <a:t>3 · importante</a:t>
            </a:r>
          </a:p>
        </p:txBody>
      </p:sp>
      <p:sp>
        <p:nvSpPr>
          <p:cNvPr id="12" name="Problema"/>
          <p:cNvSpPr txBox="1"/>
          <p:nvPr/>
        </p:nvSpPr>
        <p:spPr>
          <a:xfrm>
            <a:off x="609600" y="1625600"/>
            <a:ext cx="5130800" cy="2616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400" b="1" dirty="0">
                <a:solidFill>
                  <a:srgbClr val="6C0850"/>
                </a:solidFill>
              </a:rPr>
              <a:t>Problema</a:t>
            </a:r>
          </a:p>
          <a:p>
            <a:pPr marL="228600" indent="-228600" algn="l">
              <a:lnSpc>
                <a:spcPct val="100000"/>
              </a:lnSpc>
              <a:spcBef>
                <a:spcPts val="500"/>
              </a:spcBef>
              <a:buClr>
                <a:srgbClr val="6C0850"/>
              </a:buClr>
              <a:buFont typeface="Arial"/>
              <a:buChar char="•"/>
            </a:pPr>
            <a:r>
              <a:rPr lang="it-IT" sz="1400" b="0" dirty="0">
                <a:solidFill>
                  <a:srgbClr val="231C21"/>
                </a:solidFill>
              </a:rPr>
              <a:t>Dopo il clic i contatti compaiono </a:t>
            </a:r>
            <a:r>
              <a:rPr lang="it-IT" sz="1400" b="1" dirty="0">
                <a:solidFill>
                  <a:srgbClr val="231C21"/>
                </a:solidFill>
              </a:rPr>
              <a:t>dopo diversi secondi</a:t>
            </a:r>
          </a:p>
          <a:p>
            <a:pPr marL="228600" indent="-228600" algn="l">
              <a:lnSpc>
                <a:spcPct val="100000"/>
              </a:lnSpc>
              <a:spcBef>
                <a:spcPts val="500"/>
              </a:spcBef>
              <a:buClr>
                <a:srgbClr val="6C0850"/>
              </a:buClr>
              <a:buFont typeface="Arial"/>
              <a:buChar char="•"/>
            </a:pPr>
            <a:r>
              <a:rPr lang="it-IT" sz="1400" b="0" dirty="0">
                <a:solidFill>
                  <a:srgbClr val="231C21"/>
                </a:solidFill>
              </a:rPr>
              <a:t>Nel frattempo </a:t>
            </a:r>
            <a:r>
              <a:rPr lang="it-IT" sz="1400" b="1" dirty="0">
                <a:solidFill>
                  <a:srgbClr val="231C21"/>
                </a:solidFill>
              </a:rPr>
              <a:t>nessun indicatore</a:t>
            </a:r>
            <a:r>
              <a:rPr lang="it-IT" sz="1400" b="0" dirty="0">
                <a:solidFill>
                  <a:srgbClr val="231C21"/>
                </a:solidFill>
              </a:rPr>
              <a:t> di caricamento</a:t>
            </a:r>
          </a:p>
          <a:p>
            <a:pPr marL="228600" indent="-228600" algn="l">
              <a:lnSpc>
                <a:spcPct val="100000"/>
              </a:lnSpc>
              <a:spcBef>
                <a:spcPts val="500"/>
              </a:spcBef>
              <a:buClr>
                <a:srgbClr val="6C0850"/>
              </a:buClr>
              <a:buFont typeface="Arial"/>
              <a:buChar char="•"/>
            </a:pPr>
            <a:r>
              <a:rPr lang="it-IT" sz="1400" b="0" dirty="0">
                <a:solidFill>
                  <a:srgbClr val="231C21"/>
                </a:solidFill>
              </a:rPr>
              <a:t>L’utente tende a cliccare di nuovo o a rinunciare a contattare il team</a:t>
            </a:r>
          </a:p>
          <a:p>
            <a:pPr marL="0" indent="0" algn="l">
              <a:lnSpc>
                <a:spcPct val="100000"/>
              </a:lnSpc>
              <a:spcBef>
                <a:spcPts val="900"/>
              </a:spcBef>
              <a:buNone/>
            </a:pPr>
            <a:r>
              <a:rPr lang="it-IT" sz="1100" b="0" dirty="0">
                <a:solidFill>
                  <a:srgbClr val="6B6168"/>
                </a:solidFill>
              </a:rPr>
              <a:t>Gravità 3 dalle note. [ DA VERIFICARE ] il tempo di attesa su più browser e connessioni.</a:t>
            </a:r>
          </a:p>
        </p:txBody>
      </p:sp>
      <p:sp>
        <p:nvSpPr>
          <p:cNvPr id="13" name="Soluzione"/>
          <p:cNvSpPr/>
          <p:nvPr/>
        </p:nvSpPr>
        <p:spPr>
          <a:xfrm>
            <a:off x="609600" y="4394200"/>
            <a:ext cx="5130800" cy="1727200"/>
          </a:xfrm>
          <a:prstGeom prst="rect">
            <a:avLst/>
          </a:prstGeom>
          <a:solidFill>
            <a:srgbClr val="F3EEF1"/>
          </a:solidFill>
          <a:ln>
            <a:noFill/>
          </a:ln>
        </p:spPr>
        <p:txBody>
          <a:bodyPr wrap="square" lIns="152400" tIns="152400" rIns="152400" bIns="15240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400" b="1" dirty="0">
                <a:solidFill>
                  <a:srgbClr val="6C0850"/>
                </a:solidFill>
              </a:rPr>
              <a:t>Possibile soluzione</a:t>
            </a:r>
          </a:p>
          <a:p>
            <a:pPr marL="0" indent="0" algn="l">
              <a:lnSpc>
                <a:spcPct val="100000"/>
              </a:lnSpc>
              <a:spcBef>
                <a:spcPts val="400"/>
              </a:spcBef>
              <a:buNone/>
            </a:pPr>
            <a:r>
              <a:rPr lang="it-IT" sz="1400" b="0" dirty="0">
                <a:solidFill>
                  <a:srgbClr val="231C21"/>
                </a:solidFill>
              </a:rPr>
              <a:t>Feedback immediato al clic (spinner o testo «Caricamento contatti…») e contatti già presenti nella pagina invece di caricarli dopo.</a:t>
            </a:r>
          </a:p>
        </p:txBody>
      </p:sp>
      <p:sp>
        <p:nvSpPr>
          <p:cNvPr id="14" name="Segnaposto immagine 1"/>
          <p:cNvSpPr/>
          <p:nvPr/>
        </p:nvSpPr>
        <p:spPr>
          <a:xfrm>
            <a:off x="6045200" y="1625600"/>
            <a:ext cx="5537200" cy="4495800"/>
          </a:xfrm>
          <a:prstGeom prst="rect">
            <a:avLst/>
          </a:prstGeom>
          <a:solidFill>
            <a:srgbClr val="F7F4F6"/>
          </a:solidFill>
          <a:ln w="15875">
            <a:solidFill>
              <a:srgbClr val="B07A9F"/>
            </a:solidFill>
            <a:prstDash val="dash"/>
          </a:ln>
        </p:spPr>
        <p:txBody>
          <a:bodyPr wrap="square" lIns="127000" tIns="127000" rIns="127000" bIns="12700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200" b="1" dirty="0">
                <a:solidFill>
                  <a:srgbClr val="6C0850"/>
                </a:solidFill>
              </a:rPr>
              <a:t>[ SCREENSHOT DA FARE ]</a:t>
            </a:r>
          </a:p>
          <a:p>
            <a:pPr marL="0" indent="0" algn="ctr">
              <a:lnSpc>
                <a:spcPct val="100000"/>
              </a:lnSpc>
              <a:spcBef>
                <a:spcPts val="400"/>
              </a:spcBef>
              <a:buNone/>
            </a:pPr>
            <a:r>
              <a:rPr lang="it-IT" sz="1400" b="1" dirty="0">
                <a:solidFill>
                  <a:srgbClr val="231C21"/>
                </a:solidFill>
              </a:rPr>
              <a:t>Clic su «Contatta il progettista» durante l’attesa</a:t>
            </a:r>
          </a:p>
          <a:p>
            <a:pPr marL="0" indent="0" algn="ctr">
              <a:lnSpc>
                <a:spcPct val="100000"/>
              </a:lnSpc>
              <a:spcBef>
                <a:spcPts val="300"/>
              </a:spcBef>
              <a:buNone/>
            </a:pPr>
            <a:r>
              <a:rPr lang="it-IT" sz="900" b="0" dirty="0">
                <a:solidFill>
                  <a:srgbClr val="6B6168"/>
                </a:solidFill>
              </a:rPr>
              <a:t>Salvare in /Users/andreock/Desktop/hci_gruppo_a/assignment1/parti/antofallea/src/</a:t>
            </a:r>
          </a:p>
          <a:p>
            <a:pPr marL="0" indent="0" algn="ctr">
              <a:lnSpc>
                <a:spcPct val="100000"/>
              </a:lnSpc>
              <a:spcBef>
                <a:spcPts val="300"/>
              </a:spcBef>
              <a:buNone/>
            </a:pPr>
            <a:r>
              <a:rPr lang="it-IT" sz="1000" b="0" dirty="0">
                <a:solidFill>
                  <a:srgbClr val="6B6168"/>
                </a:solidFill>
              </a:rPr>
              <a:t>Annotare con cerchi e frecce</a:t>
            </a:r>
          </a:p>
        </p:txBody>
      </p:sp>
      <p:sp>
        <p:nvSpPr>
          <p:cNvPr id="15" name="Pagine e task"/>
          <p:cNvSpPr txBox="1"/>
          <p:nvPr/>
        </p:nvSpPr>
        <p:spPr>
          <a:xfrm>
            <a:off x="609600" y="6273800"/>
            <a:ext cx="109728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000" b="1" dirty="0">
                <a:solidFill>
                  <a:srgbClr val="6B6168"/>
                </a:solidFill>
              </a:rPr>
              <a:t>Pagina:</a:t>
            </a:r>
            <a:r>
              <a:rPr lang="it-IT" sz="1000" b="0" dirty="0">
                <a:solidFill>
                  <a:srgbClr val="6B6168"/>
                </a:solidFill>
              </a:rPr>
              <a:t> Progetto «Mind the Climate» (/progetti/mind-the-climate.html)   </a:t>
            </a:r>
            <a:r>
              <a:rPr lang="it-IT" sz="1000" b="1" dirty="0">
                <a:solidFill>
                  <a:srgbClr val="6B6168"/>
                </a:solidFill>
              </a:rPr>
              <a:t>Task:</a:t>
            </a:r>
            <a:r>
              <a:rPr lang="it-IT" sz="1000" b="0" dirty="0">
                <a:solidFill>
                  <a:srgbClr val="6B6168"/>
                </a:solidFill>
              </a:rPr>
              <a:t> T3, T6   </a:t>
            </a:r>
            <a:r>
              <a:rPr lang="it-IT" sz="1000" b="1" dirty="0">
                <a:solidFill>
                  <a:srgbClr val="6B6168"/>
                </a:solidFill>
              </a:rPr>
              <a:t>ID:</a:t>
            </a:r>
            <a:r>
              <a:rPr lang="it-IT" sz="1000" b="0" dirty="0">
                <a:solidFill>
                  <a:srgbClr val="6B6168"/>
                </a:solidFill>
              </a:rPr>
              <a:t> [ da assegnare ]</a:t>
            </a:r>
          </a:p>
        </p:txBody>
      </p:sp>
    </p:spTree>
    <p:extLst>
      <p:ext uri="{BB962C8B-B14F-4D97-AF65-F5344CB8AC3E}">
        <p14:creationId xmlns:p14="http://schemas.microsoft.com/office/powerpoint/2010/main" val="177886868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3C4A97B-CC4E-6A5C-E1DF-E276FA053C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558800"/>
            <a:ext cx="8991600" cy="889000"/>
          </a:xfrm>
        </p:spPr>
        <p:txBody>
          <a:bodyPr anchor="t"/>
          <a:lstStyle/>
          <a:p>
            <a:pPr>
              <a:lnSpc>
                <a:spcPct val="90000"/>
              </a:lnSpc>
            </a:pPr>
            <a:r>
              <a:rPr lang="it-IT" sz="2600" b="1" dirty="0"/>
              <a:t>La versione inglese è incompleta e la scheda News porta lì senza avvisare</a:t>
            </a:r>
          </a:p>
        </p:txBody>
      </p:sp>
      <p:sp>
        <p:nvSpPr>
          <p:cNvPr id="10" name="Euristica"/>
          <p:cNvSpPr txBox="1"/>
          <p:nvPr/>
        </p:nvSpPr>
        <p:spPr>
          <a:xfrm>
            <a:off x="609600" y="254000"/>
            <a:ext cx="88900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200" b="1" dirty="0">
                <a:solidFill>
                  <a:srgbClr val="6C0850"/>
                </a:solidFill>
              </a:rPr>
              <a:t>H4 · COERENZA E STANDARD  ·  H2 CORRISPONDENZA</a:t>
            </a:r>
          </a:p>
        </p:txBody>
      </p:sp>
      <p:sp>
        <p:nvSpPr>
          <p:cNvPr id="11" name="Badge gravità"/>
          <p:cNvSpPr/>
          <p:nvPr/>
        </p:nvSpPr>
        <p:spPr>
          <a:xfrm>
            <a:off x="9855200" y="381000"/>
            <a:ext cx="1727200" cy="7366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07A9F"/>
            </a:solidFill>
            <a:prstDash val="dash"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000" b="1" dirty="0">
                <a:solidFill>
                  <a:srgbClr val="6C0850"/>
                </a:solidFill>
              </a:rPr>
              <a:t>GRAVITÀ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600" b="1" dirty="0">
                <a:solidFill>
                  <a:srgbClr val="6C0850"/>
                </a:solidFill>
              </a:rPr>
              <a:t>? · da decidere</a:t>
            </a:r>
          </a:p>
        </p:txBody>
      </p:sp>
      <p:sp>
        <p:nvSpPr>
          <p:cNvPr id="12" name="Problema"/>
          <p:cNvSpPr txBox="1"/>
          <p:nvPr/>
        </p:nvSpPr>
        <p:spPr>
          <a:xfrm>
            <a:off x="609600" y="1625600"/>
            <a:ext cx="5130800" cy="2616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400" b="1" dirty="0">
                <a:solidFill>
                  <a:srgbClr val="6C0850"/>
                </a:solidFill>
              </a:rPr>
              <a:t>Problema</a:t>
            </a:r>
          </a:p>
          <a:p>
            <a:pPr marL="228600" indent="-228600" algn="l">
              <a:lnSpc>
                <a:spcPct val="100000"/>
              </a:lnSpc>
              <a:spcBef>
                <a:spcPts val="500"/>
              </a:spcBef>
              <a:buClr>
                <a:srgbClr val="6C0850"/>
              </a:buClr>
              <a:buFont typeface="Arial"/>
              <a:buChar char="•"/>
            </a:pPr>
            <a:r>
              <a:rPr lang="it-IT" sz="1400" b="0" dirty="0">
                <a:solidFill>
                  <a:srgbClr val="231C21"/>
                </a:solidFill>
              </a:rPr>
              <a:t>In inglese cambia solo la </a:t>
            </a:r>
            <a:r>
              <a:rPr lang="it-IT" sz="1400" b="1" dirty="0">
                <a:solidFill>
                  <a:srgbClr val="231C21"/>
                </a:solidFill>
              </a:rPr>
              <a:t>panoramica del progetto</a:t>
            </a:r>
            <a:r>
              <a:rPr lang="it-IT" sz="1400" b="0" dirty="0">
                <a:solidFill>
                  <a:srgbClr val="231C21"/>
                </a:solidFill>
              </a:rPr>
              <a:t>: il resto del sito resta in italiano, con testi sovrapposti</a:t>
            </a:r>
          </a:p>
          <a:p>
            <a:pPr marL="228600" indent="-228600" algn="l">
              <a:lnSpc>
                <a:spcPct val="100000"/>
              </a:lnSpc>
              <a:spcBef>
                <a:spcPts val="500"/>
              </a:spcBef>
              <a:buClr>
                <a:srgbClr val="6C0850"/>
              </a:buClr>
              <a:buFont typeface="Arial"/>
              <a:buChar char="•"/>
            </a:pPr>
            <a:r>
              <a:rPr lang="it-IT" sz="1400" b="0" dirty="0">
                <a:solidFill>
                  <a:srgbClr val="231C21"/>
                </a:solidFill>
              </a:rPr>
              <a:t>Mancano parti della versione italiana: </a:t>
            </a:r>
            <a:r>
              <a:rPr lang="it-IT" sz="1400" b="1" dirty="0">
                <a:solidFill>
                  <a:srgbClr val="231C21"/>
                </a:solidFill>
              </a:rPr>
              <a:t>obiettivi di sostenibilità</a:t>
            </a:r>
            <a:r>
              <a:rPr lang="it-IT" sz="1400" b="0" dirty="0">
                <a:solidFill>
                  <a:srgbClr val="231C21"/>
                </a:solidFill>
              </a:rPr>
              <a:t> e formula «tutto o niente»</a:t>
            </a:r>
          </a:p>
          <a:p>
            <a:pPr marL="228600" indent="-228600" algn="l">
              <a:lnSpc>
                <a:spcPct val="100000"/>
              </a:lnSpc>
              <a:spcBef>
                <a:spcPts val="500"/>
              </a:spcBef>
              <a:buClr>
                <a:srgbClr val="6C0850"/>
              </a:buClr>
              <a:buFont typeface="Arial"/>
              <a:buChar char="•"/>
            </a:pPr>
            <a:r>
              <a:rPr lang="it-IT" sz="1400" b="0" dirty="0">
                <a:solidFill>
                  <a:srgbClr val="231C21"/>
                </a:solidFill>
              </a:rPr>
              <a:t>La scheda </a:t>
            </a:r>
            <a:r>
              <a:rPr lang="it-IT" sz="1400" b="1" dirty="0">
                <a:solidFill>
                  <a:srgbClr val="231C21"/>
                </a:solidFill>
              </a:rPr>
              <a:t>News</a:t>
            </a:r>
            <a:r>
              <a:rPr lang="it-IT" sz="1400" b="0" dirty="0">
                <a:solidFill>
                  <a:srgbClr val="231C21"/>
                </a:solidFill>
              </a:rPr>
              <a:t> apre la versione inglese: chi voleva le notizie si ritrova in un’altra lingua</a:t>
            </a:r>
          </a:p>
          <a:p>
            <a:pPr marL="0" indent="0" algn="l">
              <a:lnSpc>
                <a:spcPct val="100000"/>
              </a:lnSpc>
              <a:spcBef>
                <a:spcPts val="900"/>
              </a:spcBef>
              <a:buNone/>
            </a:pPr>
            <a:r>
              <a:rPr lang="it-IT" sz="1100" b="0" dirty="0">
                <a:solidFill>
                  <a:srgbClr val="6B6168"/>
                </a:solidFill>
              </a:rPr>
              <a:t>Nelle note gravità 5 (fuori scala 0–4) per la versione inglese e 3 per News: decidere.</a:t>
            </a:r>
          </a:p>
        </p:txBody>
      </p:sp>
      <p:sp>
        <p:nvSpPr>
          <p:cNvPr id="13" name="Soluzione"/>
          <p:cNvSpPr/>
          <p:nvPr/>
        </p:nvSpPr>
        <p:spPr>
          <a:xfrm>
            <a:off x="609600" y="4394200"/>
            <a:ext cx="5130800" cy="1727200"/>
          </a:xfrm>
          <a:prstGeom prst="rect">
            <a:avLst/>
          </a:prstGeom>
          <a:solidFill>
            <a:srgbClr val="F3EEF1"/>
          </a:solidFill>
          <a:ln>
            <a:noFill/>
          </a:ln>
        </p:spPr>
        <p:txBody>
          <a:bodyPr wrap="square" lIns="152400" tIns="152400" rIns="152400" bIns="15240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400" b="1" dirty="0">
                <a:solidFill>
                  <a:srgbClr val="6C0850"/>
                </a:solidFill>
              </a:rPr>
              <a:t>Possibile soluzione</a:t>
            </a:r>
          </a:p>
          <a:p>
            <a:pPr marL="0" indent="0" algn="l">
              <a:lnSpc>
                <a:spcPct val="100000"/>
              </a:lnSpc>
              <a:spcBef>
                <a:spcPts val="400"/>
              </a:spcBef>
              <a:buNone/>
            </a:pPr>
            <a:r>
              <a:rPr lang="it-IT" sz="1400" b="0" dirty="0">
                <a:solidFill>
                  <a:srgbClr val="231C21"/>
                </a:solidFill>
              </a:rPr>
              <a:t>Versione inglese completa e allineata all’italiana, con selettore di lingua; News nella lingua corrente o con avviso «disponibile solo in inglese».</a:t>
            </a:r>
          </a:p>
        </p:txBody>
      </p:sp>
      <p:sp>
        <p:nvSpPr>
          <p:cNvPr id="14" name="Segnaposto immagine 1"/>
          <p:cNvSpPr/>
          <p:nvPr/>
        </p:nvSpPr>
        <p:spPr>
          <a:xfrm>
            <a:off x="6045200" y="1625600"/>
            <a:ext cx="5537200" cy="4495800"/>
          </a:xfrm>
          <a:prstGeom prst="rect">
            <a:avLst/>
          </a:prstGeom>
          <a:solidFill>
            <a:srgbClr val="F7F4F6"/>
          </a:solidFill>
          <a:ln w="15875">
            <a:solidFill>
              <a:srgbClr val="B07A9F"/>
            </a:solidFill>
            <a:prstDash val="dash"/>
          </a:ln>
        </p:spPr>
        <p:txBody>
          <a:bodyPr wrap="square" lIns="127000" tIns="127000" rIns="127000" bIns="12700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200" b="1" dirty="0">
                <a:solidFill>
                  <a:srgbClr val="6C0850"/>
                </a:solidFill>
              </a:rPr>
              <a:t>[ SCREENSHOT DA INSERIRE ]</a:t>
            </a:r>
          </a:p>
          <a:p>
            <a:pPr marL="0" indent="0" algn="ctr">
              <a:lnSpc>
                <a:spcPct val="100000"/>
              </a:lnSpc>
              <a:spcBef>
                <a:spcPts val="400"/>
              </a:spcBef>
              <a:buNone/>
            </a:pPr>
            <a:r>
              <a:rPr lang="it-IT" sz="1400" b="1" dirty="0">
                <a:solidFill>
                  <a:srgbClr val="231C21"/>
                </a:solidFill>
              </a:rPr>
              <a:t>Screenshot 2026-10-12 alle 23.11.07.png</a:t>
            </a:r>
          </a:p>
          <a:p>
            <a:pPr marL="0" indent="0" algn="ctr">
              <a:lnSpc>
                <a:spcPct val="100000"/>
              </a:lnSpc>
              <a:spcBef>
                <a:spcPts val="300"/>
              </a:spcBef>
              <a:buNone/>
            </a:pPr>
            <a:r>
              <a:rPr lang="it-IT" sz="900" b="0" dirty="0">
                <a:solidFill>
                  <a:srgbClr val="6B6168"/>
                </a:solidFill>
              </a:rPr>
              <a:t>/Users/andreock/Desktop/hci_gruppo_a/assignment1/parti/antofallea/src/Screenshot 2026-10-12 alle 23.11.07.png</a:t>
            </a:r>
          </a:p>
          <a:p>
            <a:pPr marL="0" indent="0" algn="ctr">
              <a:lnSpc>
                <a:spcPct val="100000"/>
              </a:lnSpc>
              <a:spcBef>
                <a:spcPts val="300"/>
              </a:spcBef>
              <a:buNone/>
            </a:pPr>
            <a:r>
              <a:rPr lang="it-IT" sz="1000" b="0" dirty="0">
                <a:solidFill>
                  <a:srgbClr val="6B6168"/>
                </a:solidFill>
              </a:rPr>
              <a:t>Annotare con cerchi e frecce</a:t>
            </a:r>
          </a:p>
        </p:txBody>
      </p:sp>
      <p:sp>
        <p:nvSpPr>
          <p:cNvPr id="15" name="Pagine e task"/>
          <p:cNvSpPr txBox="1"/>
          <p:nvPr/>
        </p:nvSpPr>
        <p:spPr>
          <a:xfrm>
            <a:off x="609600" y="6273800"/>
            <a:ext cx="109728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000" b="1" dirty="0">
                <a:solidFill>
                  <a:srgbClr val="6B6168"/>
                </a:solidFill>
              </a:rPr>
              <a:t>Pagina:</a:t>
            </a:r>
            <a:r>
              <a:rPr lang="it-IT" sz="1000" b="0" dirty="0">
                <a:solidFill>
                  <a:srgbClr val="6B6168"/>
                </a:solidFill>
              </a:rPr>
              <a:t> Progetto «Mind the Climate» (/progetti/mind-the-climate.html), versione EN e scheda News   </a:t>
            </a:r>
            <a:r>
              <a:rPr lang="it-IT" sz="1000" b="1" dirty="0">
                <a:solidFill>
                  <a:srgbClr val="6B6168"/>
                </a:solidFill>
              </a:rPr>
              <a:t>Task:</a:t>
            </a:r>
            <a:r>
              <a:rPr lang="it-IT" sz="1000" b="0" dirty="0">
                <a:solidFill>
                  <a:srgbClr val="6B6168"/>
                </a:solidFill>
              </a:rPr>
              <a:t> T3   </a:t>
            </a:r>
            <a:r>
              <a:rPr lang="it-IT" sz="1000" b="1" dirty="0">
                <a:solidFill>
                  <a:srgbClr val="6B6168"/>
                </a:solidFill>
              </a:rPr>
              <a:t>ID:</a:t>
            </a:r>
            <a:r>
              <a:rPr lang="it-IT" sz="1000" b="0" dirty="0">
                <a:solidFill>
                  <a:srgbClr val="6B6168"/>
                </a:solidFill>
              </a:rPr>
              <a:t> [ da assegnare ]</a:t>
            </a:r>
          </a:p>
        </p:txBody>
      </p:sp>
    </p:spTree>
    <p:extLst>
      <p:ext uri="{BB962C8B-B14F-4D97-AF65-F5344CB8AC3E}">
        <p14:creationId xmlns:p14="http://schemas.microsoft.com/office/powerpoint/2010/main" val="410130096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F09F87C-EEDE-A5F5-2C7F-A4BCB9D4AD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558800"/>
            <a:ext cx="8991600" cy="889000"/>
          </a:xfrm>
        </p:spPr>
        <p:txBody>
          <a:bodyPr anchor="t"/>
          <a:lstStyle/>
          <a:p>
            <a:pPr>
              <a:lnSpc>
                <a:spcPct val="90000"/>
              </a:lnSpc>
            </a:pPr>
            <a:r>
              <a:rPr lang="it-IT" sz="2600" b="1" dirty="0"/>
              <a:t>La lista delle 10 ricompense è lunga e non si può compattare</a:t>
            </a:r>
          </a:p>
        </p:txBody>
      </p:sp>
      <p:sp>
        <p:nvSpPr>
          <p:cNvPr id="10" name="Euristica"/>
          <p:cNvSpPr txBox="1"/>
          <p:nvPr/>
        </p:nvSpPr>
        <p:spPr>
          <a:xfrm>
            <a:off x="609600" y="254000"/>
            <a:ext cx="88900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200" b="1" dirty="0">
                <a:solidFill>
                  <a:srgbClr val="6C0850"/>
                </a:solidFill>
              </a:rPr>
              <a:t>H3 · CONTROLLO E LIBERTÀ DELL’UTENTE</a:t>
            </a:r>
          </a:p>
        </p:txBody>
      </p:sp>
      <p:sp>
        <p:nvSpPr>
          <p:cNvPr id="11" name="Badge gravità"/>
          <p:cNvSpPr/>
          <p:nvPr/>
        </p:nvSpPr>
        <p:spPr>
          <a:xfrm>
            <a:off x="9855200" y="381000"/>
            <a:ext cx="1727200" cy="736600"/>
          </a:xfrm>
          <a:prstGeom prst="roundRect">
            <a:avLst/>
          </a:prstGeom>
          <a:solidFill>
            <a:srgbClr val="8E2F72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000" b="1" dirty="0">
                <a:solidFill>
                  <a:srgbClr val="FFFFFF"/>
                </a:solidFill>
              </a:rPr>
              <a:t>GRAVITÀ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800" b="1" dirty="0">
                <a:solidFill>
                  <a:srgbClr val="FFFFFF"/>
                </a:solidFill>
              </a:rPr>
              <a:t>3 · importante</a:t>
            </a:r>
          </a:p>
        </p:txBody>
      </p:sp>
      <p:sp>
        <p:nvSpPr>
          <p:cNvPr id="12" name="Problema"/>
          <p:cNvSpPr txBox="1"/>
          <p:nvPr/>
        </p:nvSpPr>
        <p:spPr>
          <a:xfrm>
            <a:off x="609600" y="1625600"/>
            <a:ext cx="5130800" cy="2616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400" b="1" dirty="0">
                <a:solidFill>
                  <a:srgbClr val="6C0850"/>
                </a:solidFill>
              </a:rPr>
              <a:t>Problema</a:t>
            </a:r>
          </a:p>
          <a:p>
            <a:pPr marL="228600" indent="-228600" algn="l">
              <a:lnSpc>
                <a:spcPct val="100000"/>
              </a:lnSpc>
              <a:spcBef>
                <a:spcPts val="500"/>
              </a:spcBef>
              <a:buClr>
                <a:srgbClr val="6C0850"/>
              </a:buClr>
              <a:buFont typeface="Arial"/>
              <a:buChar char="•"/>
            </a:pPr>
            <a:r>
              <a:rPr lang="it-IT" sz="1400" b="0" dirty="0">
                <a:solidFill>
                  <a:srgbClr val="231C21"/>
                </a:solidFill>
              </a:rPr>
              <a:t>Le </a:t>
            </a:r>
            <a:r>
              <a:rPr lang="it-IT" sz="1400" b="1" dirty="0">
                <a:solidFill>
                  <a:srgbClr val="231C21"/>
                </a:solidFill>
              </a:rPr>
              <a:t>10 ricompense</a:t>
            </a:r>
            <a:r>
              <a:rPr lang="it-IT" sz="1400" b="0" dirty="0">
                <a:solidFill>
                  <a:srgbClr val="231C21"/>
                </a:solidFill>
              </a:rPr>
              <a:t> (da «FAI TU» a 1.000 €) sono in un unico elenco verticale</a:t>
            </a:r>
          </a:p>
          <a:p>
            <a:pPr marL="228600" indent="-228600" algn="l">
              <a:lnSpc>
                <a:spcPct val="100000"/>
              </a:lnSpc>
              <a:spcBef>
                <a:spcPts val="500"/>
              </a:spcBef>
              <a:buClr>
                <a:srgbClr val="6C0850"/>
              </a:buClr>
              <a:buFont typeface="Arial"/>
              <a:buChar char="•"/>
            </a:pPr>
            <a:r>
              <a:rPr lang="it-IT" sz="1400" b="0" dirty="0">
                <a:solidFill>
                  <a:srgbClr val="231C21"/>
                </a:solidFill>
              </a:rPr>
              <a:t>Ogni blocco ha immagine, testo bilingue e contatori: trovare il livello voluto richiede </a:t>
            </a:r>
            <a:r>
              <a:rPr lang="it-IT" sz="1400" b="1" dirty="0">
                <a:solidFill>
                  <a:srgbClr val="231C21"/>
                </a:solidFill>
              </a:rPr>
              <a:t>molto scorrimento</a:t>
            </a:r>
          </a:p>
          <a:p>
            <a:pPr marL="228600" indent="-228600" algn="l">
              <a:lnSpc>
                <a:spcPct val="100000"/>
              </a:lnSpc>
              <a:spcBef>
                <a:spcPts val="500"/>
              </a:spcBef>
              <a:buClr>
                <a:srgbClr val="6C0850"/>
              </a:buClr>
              <a:buFont typeface="Arial"/>
              <a:buChar char="•"/>
            </a:pPr>
            <a:r>
              <a:rPr lang="it-IT" sz="1400" b="0" dirty="0">
                <a:solidFill>
                  <a:srgbClr val="231C21"/>
                </a:solidFill>
              </a:rPr>
              <a:t>L’utente non può filtrare, comprimere o confrontare i livelli</a:t>
            </a:r>
          </a:p>
          <a:p>
            <a:pPr marL="0" indent="0" algn="l">
              <a:lnSpc>
                <a:spcPct val="100000"/>
              </a:lnSpc>
              <a:spcBef>
                <a:spcPts val="900"/>
              </a:spcBef>
              <a:buNone/>
            </a:pPr>
            <a:r>
              <a:rPr lang="it-IT" sz="1100" b="0" dirty="0">
                <a:solidFill>
                  <a:srgbClr val="6B6168"/>
                </a:solidFill>
              </a:rPr>
              <a:t>Gravità 3 dalle note.</a:t>
            </a:r>
          </a:p>
        </p:txBody>
      </p:sp>
      <p:sp>
        <p:nvSpPr>
          <p:cNvPr id="13" name="Soluzione"/>
          <p:cNvSpPr/>
          <p:nvPr/>
        </p:nvSpPr>
        <p:spPr>
          <a:xfrm>
            <a:off x="609600" y="4394200"/>
            <a:ext cx="5130800" cy="1727200"/>
          </a:xfrm>
          <a:prstGeom prst="rect">
            <a:avLst/>
          </a:prstGeom>
          <a:solidFill>
            <a:srgbClr val="F3EEF1"/>
          </a:solidFill>
          <a:ln>
            <a:noFill/>
          </a:ln>
        </p:spPr>
        <p:txBody>
          <a:bodyPr wrap="square" lIns="152400" tIns="152400" rIns="152400" bIns="15240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400" b="1" dirty="0">
                <a:solidFill>
                  <a:srgbClr val="6C0850"/>
                </a:solidFill>
              </a:rPr>
              <a:t>Possibile soluzione</a:t>
            </a:r>
          </a:p>
          <a:p>
            <a:pPr marL="0" indent="0" algn="l">
              <a:lnSpc>
                <a:spcPct val="100000"/>
              </a:lnSpc>
              <a:spcBef>
                <a:spcPts val="400"/>
              </a:spcBef>
              <a:buNone/>
            </a:pPr>
            <a:r>
              <a:rPr lang="it-IT" sz="1400" b="0" dirty="0">
                <a:solidFill>
                  <a:srgbClr val="231C21"/>
                </a:solidFill>
              </a:rPr>
              <a:t>Elenco compatto con importo e titolo, dettagli che si aprono al clic, oppure tabella di confronto dei livelli.</a:t>
            </a:r>
          </a:p>
        </p:txBody>
      </p:sp>
      <p:sp>
        <p:nvSpPr>
          <p:cNvPr id="14" name="Segnaposto immagine 1"/>
          <p:cNvSpPr/>
          <p:nvPr/>
        </p:nvSpPr>
        <p:spPr>
          <a:xfrm>
            <a:off x="6045200" y="1625600"/>
            <a:ext cx="5537200" cy="4495800"/>
          </a:xfrm>
          <a:prstGeom prst="rect">
            <a:avLst/>
          </a:prstGeom>
          <a:solidFill>
            <a:srgbClr val="F7F4F6"/>
          </a:solidFill>
          <a:ln w="15875">
            <a:solidFill>
              <a:srgbClr val="B07A9F"/>
            </a:solidFill>
            <a:prstDash val="dash"/>
          </a:ln>
        </p:spPr>
        <p:txBody>
          <a:bodyPr wrap="square" lIns="127000" tIns="127000" rIns="127000" bIns="12700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200" b="1" dirty="0">
                <a:solidFill>
                  <a:srgbClr val="6C0850"/>
                </a:solidFill>
              </a:rPr>
              <a:t>[ SCREENSHOT DA FARE ]</a:t>
            </a:r>
          </a:p>
          <a:p>
            <a:pPr marL="0" indent="0" algn="ctr">
              <a:lnSpc>
                <a:spcPct val="100000"/>
              </a:lnSpc>
              <a:spcBef>
                <a:spcPts val="400"/>
              </a:spcBef>
              <a:buNone/>
            </a:pPr>
            <a:r>
              <a:rPr lang="it-IT" sz="1400" b="1" dirty="0">
                <a:solidFill>
                  <a:srgbClr val="231C21"/>
                </a:solidFill>
              </a:rPr>
              <a:t>Elenco delle ricompense</a:t>
            </a:r>
          </a:p>
          <a:p>
            <a:pPr marL="0" indent="0" algn="ctr">
              <a:lnSpc>
                <a:spcPct val="100000"/>
              </a:lnSpc>
              <a:spcBef>
                <a:spcPts val="300"/>
              </a:spcBef>
              <a:buNone/>
            </a:pPr>
            <a:r>
              <a:rPr lang="it-IT" sz="900" b="0" dirty="0">
                <a:solidFill>
                  <a:srgbClr val="6B6168"/>
                </a:solidFill>
              </a:rPr>
              <a:t>Salvare in /Users/andreock/Desktop/hci_gruppo_a/assignment1/parti/antofallea/src/</a:t>
            </a:r>
          </a:p>
          <a:p>
            <a:pPr marL="0" indent="0" algn="ctr">
              <a:lnSpc>
                <a:spcPct val="100000"/>
              </a:lnSpc>
              <a:spcBef>
                <a:spcPts val="300"/>
              </a:spcBef>
              <a:buNone/>
            </a:pPr>
            <a:r>
              <a:rPr lang="it-IT" sz="1000" b="0" dirty="0">
                <a:solidFill>
                  <a:srgbClr val="6B6168"/>
                </a:solidFill>
              </a:rPr>
              <a:t>Annotare con cerchi e frecce</a:t>
            </a:r>
          </a:p>
        </p:txBody>
      </p:sp>
      <p:sp>
        <p:nvSpPr>
          <p:cNvPr id="15" name="Pagine e task"/>
          <p:cNvSpPr txBox="1"/>
          <p:nvPr/>
        </p:nvSpPr>
        <p:spPr>
          <a:xfrm>
            <a:off x="609600" y="6273800"/>
            <a:ext cx="109728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000" b="1" dirty="0">
                <a:solidFill>
                  <a:srgbClr val="6B6168"/>
                </a:solidFill>
              </a:rPr>
              <a:t>Pagina:</a:t>
            </a:r>
            <a:r>
              <a:rPr lang="it-IT" sz="1000" b="0" dirty="0">
                <a:solidFill>
                  <a:srgbClr val="6B6168"/>
                </a:solidFill>
              </a:rPr>
              <a:t> Progetto «Mind the Climate» (/progetti/mind-the-climate.html)   </a:t>
            </a:r>
            <a:r>
              <a:rPr lang="it-IT" sz="1000" b="1" dirty="0">
                <a:solidFill>
                  <a:srgbClr val="6B6168"/>
                </a:solidFill>
              </a:rPr>
              <a:t>Task:</a:t>
            </a:r>
            <a:r>
              <a:rPr lang="it-IT" sz="1000" b="0" dirty="0">
                <a:solidFill>
                  <a:srgbClr val="6B6168"/>
                </a:solidFill>
              </a:rPr>
              <a:t> T5   </a:t>
            </a:r>
            <a:r>
              <a:rPr lang="it-IT" sz="1000" b="1" dirty="0">
                <a:solidFill>
                  <a:srgbClr val="6B6168"/>
                </a:solidFill>
              </a:rPr>
              <a:t>ID:</a:t>
            </a:r>
            <a:r>
              <a:rPr lang="it-IT" sz="1000" b="0" dirty="0">
                <a:solidFill>
                  <a:srgbClr val="6B6168"/>
                </a:solidFill>
              </a:rPr>
              <a:t> [ da assegnare ]</a:t>
            </a:r>
          </a:p>
        </p:txBody>
      </p:sp>
    </p:spTree>
    <p:extLst>
      <p:ext uri="{BB962C8B-B14F-4D97-AF65-F5344CB8AC3E}">
        <p14:creationId xmlns:p14="http://schemas.microsoft.com/office/powerpoint/2010/main" val="251516415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B235101-5A93-0B63-9E1D-51584D7B7B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558800"/>
            <a:ext cx="8991600" cy="889000"/>
          </a:xfrm>
        </p:spPr>
        <p:txBody>
          <a:bodyPr anchor="t"/>
          <a:lstStyle/>
          <a:p>
            <a:pPr>
              <a:lnSpc>
                <a:spcPct val="90000"/>
              </a:lnSpc>
            </a:pPr>
            <a:r>
              <a:rPr lang="it-IT" sz="2600" b="1" dirty="0"/>
              <a:t>I tooltip sembrano link ma non portano da nessuna parte</a:t>
            </a:r>
          </a:p>
        </p:txBody>
      </p:sp>
      <p:sp>
        <p:nvSpPr>
          <p:cNvPr id="10" name="Euristica"/>
          <p:cNvSpPr txBox="1"/>
          <p:nvPr/>
        </p:nvSpPr>
        <p:spPr>
          <a:xfrm>
            <a:off x="609600" y="254000"/>
            <a:ext cx="88900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200" b="1" dirty="0">
                <a:solidFill>
                  <a:srgbClr val="6C0850"/>
                </a:solidFill>
              </a:rPr>
              <a:t>H4 · COERENZA E STANDARD  ·  H10 AIUTO</a:t>
            </a:r>
          </a:p>
        </p:txBody>
      </p:sp>
      <p:sp>
        <p:nvSpPr>
          <p:cNvPr id="11" name="Badge gravità"/>
          <p:cNvSpPr/>
          <p:nvPr/>
        </p:nvSpPr>
        <p:spPr>
          <a:xfrm>
            <a:off x="9855200" y="381000"/>
            <a:ext cx="1727200" cy="736600"/>
          </a:xfrm>
          <a:prstGeom prst="roundRect">
            <a:avLst/>
          </a:prstGeom>
          <a:solidFill>
            <a:srgbClr val="C7A2BB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000" b="1" dirty="0">
                <a:solidFill>
                  <a:srgbClr val="41002F"/>
                </a:solidFill>
              </a:rPr>
              <a:t>GRAVITÀ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800" b="1" dirty="0">
                <a:solidFill>
                  <a:srgbClr val="41002F"/>
                </a:solidFill>
              </a:rPr>
              <a:t>2 · minore</a:t>
            </a:r>
          </a:p>
        </p:txBody>
      </p:sp>
      <p:sp>
        <p:nvSpPr>
          <p:cNvPr id="12" name="Problema"/>
          <p:cNvSpPr txBox="1"/>
          <p:nvPr/>
        </p:nvSpPr>
        <p:spPr>
          <a:xfrm>
            <a:off x="609600" y="1625600"/>
            <a:ext cx="5130800" cy="2616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400" b="1" dirty="0">
                <a:solidFill>
                  <a:srgbClr val="6C0850"/>
                </a:solidFill>
              </a:rPr>
              <a:t>Problema</a:t>
            </a:r>
          </a:p>
          <a:p>
            <a:pPr marL="228600" indent="-228600" algn="l">
              <a:lnSpc>
                <a:spcPct val="100000"/>
              </a:lnSpc>
              <a:spcBef>
                <a:spcPts val="500"/>
              </a:spcBef>
              <a:buClr>
                <a:srgbClr val="6C0850"/>
              </a:buClr>
              <a:buFont typeface="Arial"/>
              <a:buChar char="•"/>
            </a:pPr>
            <a:r>
              <a:rPr lang="it-IT" sz="1400" b="0" dirty="0">
                <a:solidFill>
                  <a:srgbClr val="231C21"/>
                </a:solidFill>
              </a:rPr>
              <a:t>«O tutto o niente!» e gli </a:t>
            </a:r>
            <a:r>
              <a:rPr lang="it-IT" sz="1400" b="1" dirty="0">
                <a:solidFill>
                  <a:srgbClr val="231C21"/>
                </a:solidFill>
              </a:rPr>
              <a:t>obiettivi di sostenibilità</a:t>
            </a:r>
            <a:r>
              <a:rPr lang="it-IT" sz="1400" b="0" dirty="0">
                <a:solidFill>
                  <a:srgbClr val="231C21"/>
                </a:solidFill>
              </a:rPr>
              <a:t> sono resi come link: il browser li tratta come tali</a:t>
            </a:r>
          </a:p>
          <a:p>
            <a:pPr marL="228600" indent="-228600" algn="l">
              <a:lnSpc>
                <a:spcPct val="100000"/>
              </a:lnSpc>
              <a:spcBef>
                <a:spcPts val="500"/>
              </a:spcBef>
              <a:buClr>
                <a:srgbClr val="6C0850"/>
              </a:buClr>
              <a:buFont typeface="Arial"/>
              <a:buChar char="•"/>
            </a:pPr>
            <a:r>
              <a:rPr lang="it-IT" sz="1400" b="0" dirty="0">
                <a:solidFill>
                  <a:srgbClr val="231C21"/>
                </a:solidFill>
              </a:rPr>
              <a:t>Il link punta a «#»: </a:t>
            </a:r>
            <a:r>
              <a:rPr lang="it-IT" sz="1400" b="1" dirty="0">
                <a:solidFill>
                  <a:srgbClr val="231C21"/>
                </a:solidFill>
              </a:rPr>
              <a:t>nessuna pagina</a:t>
            </a:r>
            <a:r>
              <a:rPr lang="it-IT" sz="1400" b="0" dirty="0">
                <a:solidFill>
                  <a:srgbClr val="231C21"/>
                </a:solidFill>
              </a:rPr>
              <a:t> di spiegazione</a:t>
            </a:r>
          </a:p>
          <a:p>
            <a:pPr marL="228600" indent="-228600" algn="l">
              <a:lnSpc>
                <a:spcPct val="100000"/>
              </a:lnSpc>
              <a:spcBef>
                <a:spcPts val="500"/>
              </a:spcBef>
              <a:buClr>
                <a:srgbClr val="6C0850"/>
              </a:buClr>
              <a:buFont typeface="Arial"/>
              <a:buChar char="•"/>
            </a:pPr>
            <a:r>
              <a:rPr lang="it-IT" sz="1400" b="0" dirty="0">
                <a:solidFill>
                  <a:srgbClr val="231C21"/>
                </a:solidFill>
              </a:rPr>
              <a:t>La regola che decide la restituzione del denaro sta </a:t>
            </a:r>
            <a:r>
              <a:rPr lang="it-IT" sz="1400" b="1" dirty="0">
                <a:solidFill>
                  <a:srgbClr val="231C21"/>
                </a:solidFill>
              </a:rPr>
              <a:t>solo nel tooltip</a:t>
            </a:r>
            <a:r>
              <a:rPr lang="it-IT" sz="1400" b="0" dirty="0">
                <a:solidFill>
                  <a:srgbClr val="231C21"/>
                </a:solidFill>
              </a:rPr>
              <a:t> e non è richiamata nel modulo di donazione</a:t>
            </a:r>
          </a:p>
          <a:p>
            <a:pPr marL="0" indent="0" algn="l">
              <a:lnSpc>
                <a:spcPct val="100000"/>
              </a:lnSpc>
              <a:spcBef>
                <a:spcPts val="900"/>
              </a:spcBef>
              <a:buNone/>
            </a:pPr>
            <a:r>
              <a:rPr lang="it-IT" sz="1100" b="0" dirty="0">
                <a:solidFill>
                  <a:srgbClr val="6B6168"/>
                </a:solidFill>
              </a:rPr>
              <a:t>Gravità 2 dal CSV (P21), confermato su Mind the Climate. Le note indicano il tooltip anche come aspetto positivo: è utile, ma è nascosto.</a:t>
            </a:r>
          </a:p>
        </p:txBody>
      </p:sp>
      <p:sp>
        <p:nvSpPr>
          <p:cNvPr id="13" name="Soluzione"/>
          <p:cNvSpPr/>
          <p:nvPr/>
        </p:nvSpPr>
        <p:spPr>
          <a:xfrm>
            <a:off x="609600" y="4394200"/>
            <a:ext cx="5130800" cy="1727200"/>
          </a:xfrm>
          <a:prstGeom prst="rect">
            <a:avLst/>
          </a:prstGeom>
          <a:solidFill>
            <a:srgbClr val="F3EEF1"/>
          </a:solidFill>
          <a:ln>
            <a:noFill/>
          </a:ln>
        </p:spPr>
        <p:txBody>
          <a:bodyPr wrap="square" lIns="152400" tIns="152400" rIns="152400" bIns="15240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400" b="1" dirty="0">
                <a:solidFill>
                  <a:srgbClr val="6C0850"/>
                </a:solidFill>
              </a:rPr>
              <a:t>Possibile soluzione</a:t>
            </a:r>
          </a:p>
          <a:p>
            <a:pPr marL="0" indent="0" algn="l">
              <a:lnSpc>
                <a:spcPct val="100000"/>
              </a:lnSpc>
              <a:spcBef>
                <a:spcPts val="400"/>
              </a:spcBef>
              <a:buNone/>
            </a:pPr>
            <a:r>
              <a:rPr lang="it-IT" sz="1400" b="0" dirty="0">
                <a:solidFill>
                  <a:srgbClr val="231C21"/>
                </a:solidFill>
              </a:rPr>
              <a:t>Icona «?» con pannello che si apre al clic, link alla FAQ, testo adattato allo stato della campagna e richiamo nel modulo di donazione.</a:t>
            </a:r>
          </a:p>
        </p:txBody>
      </p:sp>
      <p:sp>
        <p:nvSpPr>
          <p:cNvPr id="14" name="Segnaposto immagine 1"/>
          <p:cNvSpPr/>
          <p:nvPr/>
        </p:nvSpPr>
        <p:spPr>
          <a:xfrm>
            <a:off x="6045200" y="1625600"/>
            <a:ext cx="5537200" cy="4495800"/>
          </a:xfrm>
          <a:prstGeom prst="rect">
            <a:avLst/>
          </a:prstGeom>
          <a:solidFill>
            <a:srgbClr val="F7F4F6"/>
          </a:solidFill>
          <a:ln w="15875">
            <a:solidFill>
              <a:srgbClr val="B07A9F"/>
            </a:solidFill>
            <a:prstDash val="dash"/>
          </a:ln>
        </p:spPr>
        <p:txBody>
          <a:bodyPr wrap="square" lIns="127000" tIns="127000" rIns="127000" bIns="12700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200" b="1" dirty="0">
                <a:solidFill>
                  <a:srgbClr val="6C0850"/>
                </a:solidFill>
              </a:rPr>
              <a:t>[ SCREENSHOT DA INSERIRE ]</a:t>
            </a:r>
          </a:p>
          <a:p>
            <a:pPr marL="0" indent="0" algn="ctr">
              <a:lnSpc>
                <a:spcPct val="100000"/>
              </a:lnSpc>
              <a:spcBef>
                <a:spcPts val="400"/>
              </a:spcBef>
              <a:buNone/>
            </a:pPr>
            <a:r>
              <a:rPr lang="it-IT" sz="1400" b="1" dirty="0">
                <a:solidFill>
                  <a:srgbClr val="231C21"/>
                </a:solidFill>
              </a:rPr>
              <a:t>bright_tooltip.jpg</a:t>
            </a:r>
          </a:p>
          <a:p>
            <a:pPr marL="0" indent="0" algn="ctr">
              <a:lnSpc>
                <a:spcPct val="100000"/>
              </a:lnSpc>
              <a:spcBef>
                <a:spcPts val="300"/>
              </a:spcBef>
              <a:buNone/>
            </a:pPr>
            <a:r>
              <a:rPr lang="it-IT" sz="900" b="0" dirty="0">
                <a:solidFill>
                  <a:srgbClr val="6B6168"/>
                </a:solidFill>
              </a:rPr>
              <a:t>/Users/andreock/Desktop/hci_gruppo_a/assignment1/parti/antofallea/src/bright_tooltip.jpg</a:t>
            </a:r>
          </a:p>
          <a:p>
            <a:pPr marL="0" indent="0" algn="ctr">
              <a:lnSpc>
                <a:spcPct val="100000"/>
              </a:lnSpc>
              <a:spcBef>
                <a:spcPts val="300"/>
              </a:spcBef>
              <a:buNone/>
            </a:pPr>
            <a:r>
              <a:rPr lang="it-IT" sz="1000" b="0" dirty="0">
                <a:solidFill>
                  <a:srgbClr val="6B6168"/>
                </a:solidFill>
              </a:rPr>
              <a:t>Annotare con cerchi e frecce</a:t>
            </a:r>
          </a:p>
        </p:txBody>
      </p:sp>
      <p:sp>
        <p:nvSpPr>
          <p:cNvPr id="15" name="Pagine e task"/>
          <p:cNvSpPr txBox="1"/>
          <p:nvPr/>
        </p:nvSpPr>
        <p:spPr>
          <a:xfrm>
            <a:off x="609600" y="6273800"/>
            <a:ext cx="109728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000" b="1" dirty="0">
                <a:solidFill>
                  <a:srgbClr val="6B6168"/>
                </a:solidFill>
              </a:rPr>
              <a:t>Pagine:</a:t>
            </a:r>
            <a:r>
              <a:rPr lang="it-IT" sz="1000" b="0" dirty="0">
                <a:solidFill>
                  <a:srgbClr val="6B6168"/>
                </a:solidFill>
              </a:rPr>
              <a:t> Progetti «Mind the Climate», «BRIGHT», «Fai Brillare la Ricerca!», «MILK-ACT»   </a:t>
            </a:r>
            <a:r>
              <a:rPr lang="it-IT" sz="1000" b="1" dirty="0">
                <a:solidFill>
                  <a:srgbClr val="6B6168"/>
                </a:solidFill>
              </a:rPr>
              <a:t>Task:</a:t>
            </a:r>
            <a:r>
              <a:rPr lang="it-IT" sz="1000" b="0" dirty="0">
                <a:solidFill>
                  <a:srgbClr val="6B6168"/>
                </a:solidFill>
              </a:rPr>
              <a:t> T6, T4   </a:t>
            </a:r>
            <a:r>
              <a:rPr lang="it-IT" sz="1000" b="1" dirty="0">
                <a:solidFill>
                  <a:srgbClr val="6B6168"/>
                </a:solidFill>
              </a:rPr>
              <a:t>ID:</a:t>
            </a:r>
            <a:r>
              <a:rPr lang="it-IT" sz="1000" b="0" dirty="0">
                <a:solidFill>
                  <a:srgbClr val="6B6168"/>
                </a:solidFill>
              </a:rPr>
              <a:t> P21</a:t>
            </a:r>
          </a:p>
        </p:txBody>
      </p:sp>
    </p:spTree>
    <p:extLst>
      <p:ext uri="{BB962C8B-B14F-4D97-AF65-F5344CB8AC3E}">
        <p14:creationId xmlns:p14="http://schemas.microsoft.com/office/powerpoint/2010/main" val="209400653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A6E829C-9A53-D7BF-33B9-030C5B7A90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558800"/>
            <a:ext cx="8991600" cy="889000"/>
          </a:xfrm>
        </p:spPr>
        <p:txBody>
          <a:bodyPr anchor="t"/>
          <a:lstStyle/>
          <a:p>
            <a:pPr>
              <a:lnSpc>
                <a:spcPct val="90000"/>
              </a:lnSpc>
            </a:pPr>
            <a:r>
              <a:rPr lang="it-IT" sz="2600" b="1" dirty="0"/>
              <a:t>Le ricompense più alte non mostrano il numero di sostenitori</a:t>
            </a:r>
          </a:p>
        </p:txBody>
      </p:sp>
      <p:sp>
        <p:nvSpPr>
          <p:cNvPr id="10" name="Euristica"/>
          <p:cNvSpPr txBox="1"/>
          <p:nvPr/>
        </p:nvSpPr>
        <p:spPr>
          <a:xfrm>
            <a:off x="609600" y="254000"/>
            <a:ext cx="88900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200" b="1" dirty="0">
                <a:solidFill>
                  <a:srgbClr val="6C0850"/>
                </a:solidFill>
              </a:rPr>
              <a:t>H4 · COERENZA E STANDARD</a:t>
            </a:r>
          </a:p>
        </p:txBody>
      </p:sp>
      <p:sp>
        <p:nvSpPr>
          <p:cNvPr id="11" name="Badge gravità"/>
          <p:cNvSpPr/>
          <p:nvPr/>
        </p:nvSpPr>
        <p:spPr>
          <a:xfrm>
            <a:off x="9855200" y="381000"/>
            <a:ext cx="1727200" cy="736600"/>
          </a:xfrm>
          <a:prstGeom prst="roundRect">
            <a:avLst/>
          </a:prstGeom>
          <a:solidFill>
            <a:srgbClr val="E9DCE5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000" b="1" dirty="0">
                <a:solidFill>
                  <a:srgbClr val="41002F"/>
                </a:solidFill>
              </a:rPr>
              <a:t>GRAVITÀ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800" b="1" dirty="0">
                <a:solidFill>
                  <a:srgbClr val="41002F"/>
                </a:solidFill>
              </a:rPr>
              <a:t>1 · superficiale</a:t>
            </a:r>
          </a:p>
        </p:txBody>
      </p:sp>
      <p:sp>
        <p:nvSpPr>
          <p:cNvPr id="12" name="Problema"/>
          <p:cNvSpPr txBox="1"/>
          <p:nvPr/>
        </p:nvSpPr>
        <p:spPr>
          <a:xfrm>
            <a:off x="609600" y="1625600"/>
            <a:ext cx="5130800" cy="2616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400" b="1" dirty="0">
                <a:solidFill>
                  <a:srgbClr val="6C0850"/>
                </a:solidFill>
              </a:rPr>
              <a:t>Problema</a:t>
            </a:r>
          </a:p>
          <a:p>
            <a:pPr marL="228600" indent="-228600" algn="l">
              <a:lnSpc>
                <a:spcPct val="100000"/>
              </a:lnSpc>
              <a:spcBef>
                <a:spcPts val="500"/>
              </a:spcBef>
              <a:buClr>
                <a:srgbClr val="6C0850"/>
              </a:buClr>
              <a:buFont typeface="Arial"/>
              <a:buChar char="•"/>
            </a:pPr>
            <a:r>
              <a:rPr lang="it-IT" sz="1400" b="0" dirty="0">
                <a:solidFill>
                  <a:srgbClr val="231C21"/>
                </a:solidFill>
              </a:rPr>
              <a:t>Le ricompense basse riportano quanti le hanno scelte e quante ne restano</a:t>
            </a:r>
          </a:p>
          <a:p>
            <a:pPr marL="228600" indent="-228600" algn="l">
              <a:lnSpc>
                <a:spcPct val="100000"/>
              </a:lnSpc>
              <a:spcBef>
                <a:spcPts val="500"/>
              </a:spcBef>
              <a:buClr>
                <a:srgbClr val="6C0850"/>
              </a:buClr>
              <a:buFont typeface="Arial"/>
              <a:buChar char="•"/>
            </a:pPr>
            <a:r>
              <a:rPr lang="it-IT" sz="1400" b="0" dirty="0">
                <a:solidFill>
                  <a:srgbClr val="231C21"/>
                </a:solidFill>
              </a:rPr>
              <a:t>Per quelle più alte il </a:t>
            </a:r>
            <a:r>
              <a:rPr lang="it-IT" sz="1400" b="1" dirty="0">
                <a:solidFill>
                  <a:srgbClr val="231C21"/>
                </a:solidFill>
              </a:rPr>
              <a:t>contatore manca</a:t>
            </a:r>
            <a:r>
              <a:rPr lang="it-IT" sz="1400" b="0" dirty="0">
                <a:solidFill>
                  <a:srgbClr val="231C21"/>
                </a:solidFill>
              </a:rPr>
              <a:t> (probabilmente zero sostenitori)</a:t>
            </a:r>
          </a:p>
          <a:p>
            <a:pPr marL="228600" indent="-228600" algn="l">
              <a:lnSpc>
                <a:spcPct val="100000"/>
              </a:lnSpc>
              <a:spcBef>
                <a:spcPts val="500"/>
              </a:spcBef>
              <a:buClr>
                <a:srgbClr val="6C0850"/>
              </a:buClr>
              <a:buFont typeface="Arial"/>
              <a:buChar char="•"/>
            </a:pPr>
            <a:r>
              <a:rPr lang="it-IT" sz="1400" b="0" dirty="0">
                <a:solidFill>
                  <a:srgbClr val="231C21"/>
                </a:solidFill>
              </a:rPr>
              <a:t>Il formato non è uniforme e l’assenza non si spiega da sola</a:t>
            </a:r>
          </a:p>
          <a:p>
            <a:pPr marL="0" indent="0" algn="l">
              <a:lnSpc>
                <a:spcPct val="100000"/>
              </a:lnSpc>
              <a:spcBef>
                <a:spcPts val="900"/>
              </a:spcBef>
              <a:buNone/>
            </a:pPr>
            <a:r>
              <a:rPr lang="it-IT" sz="1100" b="0" dirty="0">
                <a:solidFill>
                  <a:srgbClr val="6B6168"/>
                </a:solidFill>
              </a:rPr>
              <a:t>Gravità 1 dalle note: l’informazione mancante pesa poco sulla scelta.</a:t>
            </a:r>
          </a:p>
        </p:txBody>
      </p:sp>
      <p:sp>
        <p:nvSpPr>
          <p:cNvPr id="13" name="Soluzione"/>
          <p:cNvSpPr/>
          <p:nvPr/>
        </p:nvSpPr>
        <p:spPr>
          <a:xfrm>
            <a:off x="609600" y="4394200"/>
            <a:ext cx="5130800" cy="1727200"/>
          </a:xfrm>
          <a:prstGeom prst="rect">
            <a:avLst/>
          </a:prstGeom>
          <a:solidFill>
            <a:srgbClr val="F3EEF1"/>
          </a:solidFill>
          <a:ln>
            <a:noFill/>
          </a:ln>
        </p:spPr>
        <p:txBody>
          <a:bodyPr wrap="square" lIns="152400" tIns="152400" rIns="152400" bIns="15240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400" b="1" dirty="0">
                <a:solidFill>
                  <a:srgbClr val="6C0850"/>
                </a:solidFill>
              </a:rPr>
              <a:t>Possibile soluzione</a:t>
            </a:r>
          </a:p>
          <a:p>
            <a:pPr marL="0" indent="0" algn="l">
              <a:lnSpc>
                <a:spcPct val="100000"/>
              </a:lnSpc>
              <a:spcBef>
                <a:spcPts val="400"/>
              </a:spcBef>
              <a:buNone/>
            </a:pPr>
            <a:r>
              <a:rPr lang="it-IT" sz="1400" b="0" dirty="0">
                <a:solidFill>
                  <a:srgbClr val="231C21"/>
                </a:solidFill>
              </a:rPr>
              <a:t>Mostrare sempre il contatore, anche «0 sostenitori · sii il primo».</a:t>
            </a:r>
          </a:p>
        </p:txBody>
      </p:sp>
      <p:sp>
        <p:nvSpPr>
          <p:cNvPr id="14" name="Segnaposto immagine 1"/>
          <p:cNvSpPr/>
          <p:nvPr/>
        </p:nvSpPr>
        <p:spPr>
          <a:xfrm>
            <a:off x="6045200" y="1625600"/>
            <a:ext cx="5537200" cy="4495800"/>
          </a:xfrm>
          <a:prstGeom prst="rect">
            <a:avLst/>
          </a:prstGeom>
          <a:solidFill>
            <a:srgbClr val="F7F4F6"/>
          </a:solidFill>
          <a:ln w="15875">
            <a:solidFill>
              <a:srgbClr val="B07A9F"/>
            </a:solidFill>
            <a:prstDash val="dash"/>
          </a:ln>
        </p:spPr>
        <p:txBody>
          <a:bodyPr wrap="square" lIns="127000" tIns="127000" rIns="127000" bIns="12700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200" b="1" dirty="0">
                <a:solidFill>
                  <a:srgbClr val="6C0850"/>
                </a:solidFill>
              </a:rPr>
              <a:t>[ SCREENSHOT DA FARE ]</a:t>
            </a:r>
          </a:p>
          <a:p>
            <a:pPr marL="0" indent="0" algn="ctr">
              <a:lnSpc>
                <a:spcPct val="100000"/>
              </a:lnSpc>
              <a:spcBef>
                <a:spcPts val="400"/>
              </a:spcBef>
              <a:buNone/>
            </a:pPr>
            <a:r>
              <a:rPr lang="it-IT" sz="1400" b="1" dirty="0">
                <a:solidFill>
                  <a:srgbClr val="231C21"/>
                </a:solidFill>
              </a:rPr>
              <a:t>Ricompensa alta senza contatore accanto a una con contatore</a:t>
            </a:r>
          </a:p>
          <a:p>
            <a:pPr marL="0" indent="0" algn="ctr">
              <a:lnSpc>
                <a:spcPct val="100000"/>
              </a:lnSpc>
              <a:spcBef>
                <a:spcPts val="300"/>
              </a:spcBef>
              <a:buNone/>
            </a:pPr>
            <a:r>
              <a:rPr lang="it-IT" sz="900" b="0" dirty="0">
                <a:solidFill>
                  <a:srgbClr val="6B6168"/>
                </a:solidFill>
              </a:rPr>
              <a:t>Salvare in /Users/andreock/Desktop/hci_gruppo_a/assignment1/parti/antofallea/src/</a:t>
            </a:r>
          </a:p>
          <a:p>
            <a:pPr marL="0" indent="0" algn="ctr">
              <a:lnSpc>
                <a:spcPct val="100000"/>
              </a:lnSpc>
              <a:spcBef>
                <a:spcPts val="300"/>
              </a:spcBef>
              <a:buNone/>
            </a:pPr>
            <a:r>
              <a:rPr lang="it-IT" sz="1000" b="0" dirty="0">
                <a:solidFill>
                  <a:srgbClr val="6B6168"/>
                </a:solidFill>
              </a:rPr>
              <a:t>Annotare con cerchi e frecce</a:t>
            </a:r>
          </a:p>
        </p:txBody>
      </p:sp>
      <p:sp>
        <p:nvSpPr>
          <p:cNvPr id="15" name="Pagine e task"/>
          <p:cNvSpPr txBox="1"/>
          <p:nvPr/>
        </p:nvSpPr>
        <p:spPr>
          <a:xfrm>
            <a:off x="609600" y="6273800"/>
            <a:ext cx="109728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000" b="1" dirty="0">
                <a:solidFill>
                  <a:srgbClr val="6B6168"/>
                </a:solidFill>
              </a:rPr>
              <a:t>Pagina:</a:t>
            </a:r>
            <a:r>
              <a:rPr lang="it-IT" sz="1000" b="0" dirty="0">
                <a:solidFill>
                  <a:srgbClr val="6B6168"/>
                </a:solidFill>
              </a:rPr>
              <a:t> Progetto «Mind the Climate» (/progetti/mind-the-climate.html)   </a:t>
            </a:r>
            <a:r>
              <a:rPr lang="it-IT" sz="1000" b="1" dirty="0">
                <a:solidFill>
                  <a:srgbClr val="6B6168"/>
                </a:solidFill>
              </a:rPr>
              <a:t>Task:</a:t>
            </a:r>
            <a:r>
              <a:rPr lang="it-IT" sz="1000" b="0" dirty="0">
                <a:solidFill>
                  <a:srgbClr val="6B6168"/>
                </a:solidFill>
              </a:rPr>
              <a:t> T5   </a:t>
            </a:r>
            <a:r>
              <a:rPr lang="it-IT" sz="1000" b="1" dirty="0">
                <a:solidFill>
                  <a:srgbClr val="6B6168"/>
                </a:solidFill>
              </a:rPr>
              <a:t>ID:</a:t>
            </a:r>
            <a:r>
              <a:rPr lang="it-IT" sz="1000" b="0" dirty="0">
                <a:solidFill>
                  <a:srgbClr val="6B6168"/>
                </a:solidFill>
              </a:rPr>
              <a:t> [ da assegnare ]</a:t>
            </a:r>
          </a:p>
        </p:txBody>
      </p:sp>
    </p:spTree>
    <p:extLst>
      <p:ext uri="{BB962C8B-B14F-4D97-AF65-F5344CB8AC3E}">
        <p14:creationId xmlns:p14="http://schemas.microsoft.com/office/powerpoint/2010/main" val="57510804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5308EE0-7946-9A4A-DEDA-91CD615557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558800"/>
            <a:ext cx="8991600" cy="889000"/>
          </a:xfrm>
        </p:spPr>
        <p:txBody>
          <a:bodyPr anchor="t"/>
          <a:lstStyle/>
          <a:p>
            <a:pPr>
              <a:lnSpc>
                <a:spcPct val="90000"/>
              </a:lnSpc>
            </a:pPr>
            <a:r>
              <a:rPr lang="it-IT" sz="2600" b="1" dirty="0"/>
              <a:t>Il nome del donatore diventa pubblico se non si spunta «anonimo»</a:t>
            </a:r>
          </a:p>
        </p:txBody>
      </p:sp>
      <p:sp>
        <p:nvSpPr>
          <p:cNvPr id="10" name="Euristica"/>
          <p:cNvSpPr txBox="1"/>
          <p:nvPr/>
        </p:nvSpPr>
        <p:spPr>
          <a:xfrm>
            <a:off x="609600" y="254000"/>
            <a:ext cx="88900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200" b="1" dirty="0">
                <a:solidFill>
                  <a:srgbClr val="6C0850"/>
                </a:solidFill>
              </a:rPr>
              <a:t>H5 · PREVENZIONE DEGLI ERRORI</a:t>
            </a:r>
          </a:p>
        </p:txBody>
      </p:sp>
      <p:sp>
        <p:nvSpPr>
          <p:cNvPr id="11" name="Badge gravità"/>
          <p:cNvSpPr/>
          <p:nvPr/>
        </p:nvSpPr>
        <p:spPr>
          <a:xfrm>
            <a:off x="9855200" y="381000"/>
            <a:ext cx="1727200" cy="736600"/>
          </a:xfrm>
          <a:prstGeom prst="roundRect">
            <a:avLst/>
          </a:prstGeom>
          <a:solidFill>
            <a:srgbClr val="8E2F72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000" b="1" dirty="0">
                <a:solidFill>
                  <a:srgbClr val="FFFFFF"/>
                </a:solidFill>
              </a:rPr>
              <a:t>GRAVITÀ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800" b="1" dirty="0">
                <a:solidFill>
                  <a:srgbClr val="FFFFFF"/>
                </a:solidFill>
              </a:rPr>
              <a:t>3 · importante</a:t>
            </a:r>
          </a:p>
        </p:txBody>
      </p:sp>
      <p:sp>
        <p:nvSpPr>
          <p:cNvPr id="12" name="Problema"/>
          <p:cNvSpPr txBox="1"/>
          <p:nvPr/>
        </p:nvSpPr>
        <p:spPr>
          <a:xfrm>
            <a:off x="609600" y="1625600"/>
            <a:ext cx="5130800" cy="2616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400" b="1" dirty="0">
                <a:solidFill>
                  <a:srgbClr val="6C0850"/>
                </a:solidFill>
              </a:rPr>
              <a:t>Problema</a:t>
            </a:r>
          </a:p>
          <a:p>
            <a:pPr marL="228600" indent="-228600" algn="l">
              <a:lnSpc>
                <a:spcPct val="100000"/>
              </a:lnSpc>
              <a:spcBef>
                <a:spcPts val="500"/>
              </a:spcBef>
              <a:buClr>
                <a:srgbClr val="6C0850"/>
              </a:buClr>
              <a:buFont typeface="Arial"/>
              <a:buChar char="•"/>
            </a:pPr>
            <a:r>
              <a:rPr lang="it-IT" sz="1400" b="0" dirty="0">
                <a:solidFill>
                  <a:srgbClr val="231C21"/>
                </a:solidFill>
              </a:rPr>
              <a:t>Il testo dice che il nome comparirà sul sito </a:t>
            </a:r>
            <a:r>
              <a:rPr lang="it-IT" sz="1400" b="1" dirty="0">
                <a:solidFill>
                  <a:srgbClr val="231C21"/>
                </a:solidFill>
              </a:rPr>
              <a:t>«se lo vorrai»</a:t>
            </a:r>
          </a:p>
          <a:p>
            <a:pPr marL="228600" indent="-228600" algn="l">
              <a:lnSpc>
                <a:spcPct val="100000"/>
              </a:lnSpc>
              <a:spcBef>
                <a:spcPts val="500"/>
              </a:spcBef>
              <a:buClr>
                <a:srgbClr val="6C0850"/>
              </a:buClr>
              <a:buFont typeface="Arial"/>
              <a:buChar char="•"/>
            </a:pPr>
            <a:r>
              <a:rPr lang="it-IT" sz="1400" b="0" dirty="0">
                <a:solidFill>
                  <a:srgbClr val="231C21"/>
                </a:solidFill>
              </a:rPr>
              <a:t>Ma la casella «donatore anonimo» è </a:t>
            </a:r>
            <a:r>
              <a:rPr lang="it-IT" sz="1400" b="1" dirty="0">
                <a:solidFill>
                  <a:srgbClr val="231C21"/>
                </a:solidFill>
              </a:rPr>
              <a:t>non spuntata di default</a:t>
            </a:r>
          </a:p>
          <a:p>
            <a:pPr marL="228600" indent="-228600" algn="l">
              <a:lnSpc>
                <a:spcPct val="100000"/>
              </a:lnSpc>
              <a:spcBef>
                <a:spcPts val="500"/>
              </a:spcBef>
              <a:buClr>
                <a:srgbClr val="6C0850"/>
              </a:buClr>
              <a:buFont typeface="Arial"/>
              <a:buChar char="•"/>
            </a:pPr>
            <a:r>
              <a:rPr lang="it-IT" sz="1400" b="0" dirty="0">
                <a:solidFill>
                  <a:srgbClr val="231C21"/>
                </a:solidFill>
              </a:rPr>
              <a:t>Chi non la nota rende pubblico il proprio nome senza averlo scelto</a:t>
            </a:r>
          </a:p>
          <a:p>
            <a:pPr marL="0" indent="0" algn="l">
              <a:lnSpc>
                <a:spcPct val="100000"/>
              </a:lnSpc>
              <a:spcBef>
                <a:spcPts val="900"/>
              </a:spcBef>
              <a:buNone/>
            </a:pPr>
            <a:r>
              <a:rPr lang="it-IT" sz="1100" b="0" dirty="0">
                <a:solidFill>
                  <a:srgbClr val="6B6168"/>
                </a:solidFill>
              </a:rPr>
              <a:t>Gravità 3 dalle note: tocca la privacy di ogni donatore distratto.</a:t>
            </a:r>
          </a:p>
        </p:txBody>
      </p:sp>
      <p:sp>
        <p:nvSpPr>
          <p:cNvPr id="13" name="Soluzione"/>
          <p:cNvSpPr/>
          <p:nvPr/>
        </p:nvSpPr>
        <p:spPr>
          <a:xfrm>
            <a:off x="609600" y="4394200"/>
            <a:ext cx="5130800" cy="1727200"/>
          </a:xfrm>
          <a:prstGeom prst="rect">
            <a:avLst/>
          </a:prstGeom>
          <a:solidFill>
            <a:srgbClr val="F3EEF1"/>
          </a:solidFill>
          <a:ln>
            <a:noFill/>
          </a:ln>
        </p:spPr>
        <p:txBody>
          <a:bodyPr wrap="square" lIns="152400" tIns="152400" rIns="152400" bIns="15240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400" b="1" dirty="0">
                <a:solidFill>
                  <a:srgbClr val="6C0850"/>
                </a:solidFill>
              </a:rPr>
              <a:t>Possibile soluzione</a:t>
            </a:r>
          </a:p>
          <a:p>
            <a:pPr marL="0" indent="0" algn="l">
              <a:lnSpc>
                <a:spcPct val="100000"/>
              </a:lnSpc>
              <a:spcBef>
                <a:spcPts val="400"/>
              </a:spcBef>
              <a:buNone/>
            </a:pPr>
            <a:r>
              <a:rPr lang="it-IT" sz="1400" b="0" dirty="0">
                <a:solidFill>
                  <a:srgbClr val="231C21"/>
                </a:solidFill>
              </a:rPr>
              <a:t>Due pulsanti radio obbligatori «Mostra il mio nome» / «Dona in forma anonima», senza scelta preimpostata.</a:t>
            </a:r>
          </a:p>
        </p:txBody>
      </p:sp>
      <p:sp>
        <p:nvSpPr>
          <p:cNvPr id="14" name="Segnaposto immagine 1"/>
          <p:cNvSpPr/>
          <p:nvPr/>
        </p:nvSpPr>
        <p:spPr>
          <a:xfrm>
            <a:off x="6045200" y="1625600"/>
            <a:ext cx="5537200" cy="4495800"/>
          </a:xfrm>
          <a:prstGeom prst="rect">
            <a:avLst/>
          </a:prstGeom>
          <a:solidFill>
            <a:srgbClr val="F7F4F6"/>
          </a:solidFill>
          <a:ln w="15875">
            <a:solidFill>
              <a:srgbClr val="B07A9F"/>
            </a:solidFill>
            <a:prstDash val="dash"/>
          </a:ln>
        </p:spPr>
        <p:txBody>
          <a:bodyPr wrap="square" lIns="127000" tIns="127000" rIns="127000" bIns="12700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200" b="1" dirty="0">
                <a:solidFill>
                  <a:srgbClr val="6C0850"/>
                </a:solidFill>
              </a:rPr>
              <a:t>[ SCREENSHOT DA FARE ]</a:t>
            </a:r>
          </a:p>
          <a:p>
            <a:pPr marL="0" indent="0" algn="ctr">
              <a:lnSpc>
                <a:spcPct val="100000"/>
              </a:lnSpc>
              <a:spcBef>
                <a:spcPts val="400"/>
              </a:spcBef>
              <a:buNone/>
            </a:pPr>
            <a:r>
              <a:rPr lang="it-IT" sz="1400" b="1" dirty="0">
                <a:solidFill>
                  <a:srgbClr val="231C21"/>
                </a:solidFill>
              </a:rPr>
              <a:t>Casella «anonimo» nel modulo di donazione</a:t>
            </a:r>
          </a:p>
          <a:p>
            <a:pPr marL="0" indent="0" algn="ctr">
              <a:lnSpc>
                <a:spcPct val="100000"/>
              </a:lnSpc>
              <a:spcBef>
                <a:spcPts val="300"/>
              </a:spcBef>
              <a:buNone/>
            </a:pPr>
            <a:r>
              <a:rPr lang="it-IT" sz="900" b="0" dirty="0">
                <a:solidFill>
                  <a:srgbClr val="6B6168"/>
                </a:solidFill>
              </a:rPr>
              <a:t>Salvare in /Users/andreock/Desktop/hci_gruppo_a/assignment1/parti/antofallea/src/</a:t>
            </a:r>
          </a:p>
          <a:p>
            <a:pPr marL="0" indent="0" algn="ctr">
              <a:lnSpc>
                <a:spcPct val="100000"/>
              </a:lnSpc>
              <a:spcBef>
                <a:spcPts val="300"/>
              </a:spcBef>
              <a:buNone/>
            </a:pPr>
            <a:r>
              <a:rPr lang="it-IT" sz="1000" b="0" dirty="0">
                <a:solidFill>
                  <a:srgbClr val="6B6168"/>
                </a:solidFill>
              </a:rPr>
              <a:t>Annotare con cerchi e frecce</a:t>
            </a:r>
          </a:p>
        </p:txBody>
      </p:sp>
      <p:sp>
        <p:nvSpPr>
          <p:cNvPr id="15" name="Pagine e task"/>
          <p:cNvSpPr txBox="1"/>
          <p:nvPr/>
        </p:nvSpPr>
        <p:spPr>
          <a:xfrm>
            <a:off x="609600" y="6273800"/>
            <a:ext cx="109728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000" b="1" dirty="0">
                <a:solidFill>
                  <a:srgbClr val="6B6168"/>
                </a:solidFill>
              </a:rPr>
              <a:t>Pagine:</a:t>
            </a:r>
            <a:r>
              <a:rPr lang="it-IT" sz="1000" b="0" dirty="0">
                <a:solidFill>
                  <a:srgbClr val="6B6168"/>
                </a:solidFill>
              </a:rPr>
              <a:t> Progetto «Mind the Climate» › modulo di donazione   </a:t>
            </a:r>
            <a:r>
              <a:rPr lang="it-IT" sz="1000" b="1" dirty="0">
                <a:solidFill>
                  <a:srgbClr val="6B6168"/>
                </a:solidFill>
              </a:rPr>
              <a:t>Task:</a:t>
            </a:r>
            <a:r>
              <a:rPr lang="it-IT" sz="1000" b="0" dirty="0">
                <a:solidFill>
                  <a:srgbClr val="6B6168"/>
                </a:solidFill>
              </a:rPr>
              <a:t> T5   </a:t>
            </a:r>
            <a:r>
              <a:rPr lang="it-IT" sz="1000" b="1" dirty="0">
                <a:solidFill>
                  <a:srgbClr val="6B6168"/>
                </a:solidFill>
              </a:rPr>
              <a:t>ID:</a:t>
            </a:r>
            <a:r>
              <a:rPr lang="it-IT" sz="1000" b="0" dirty="0">
                <a:solidFill>
                  <a:srgbClr val="6B6168"/>
                </a:solidFill>
              </a:rPr>
              <a:t> [ da assegnare ]</a:t>
            </a:r>
          </a:p>
        </p:txBody>
      </p:sp>
    </p:spTree>
    <p:extLst>
      <p:ext uri="{BB962C8B-B14F-4D97-AF65-F5344CB8AC3E}">
        <p14:creationId xmlns:p14="http://schemas.microsoft.com/office/powerpoint/2010/main" val="225803234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78B580C-A7C7-E367-0CDE-F5958E24AC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558800"/>
            <a:ext cx="8991600" cy="889000"/>
          </a:xfrm>
        </p:spPr>
        <p:txBody>
          <a:bodyPr anchor="t"/>
          <a:lstStyle/>
          <a:p>
            <a:pPr>
              <a:lnSpc>
                <a:spcPct val="90000"/>
              </a:lnSpc>
            </a:pPr>
            <a:r>
              <a:rPr lang="it-IT" sz="2600" b="1" dirty="0"/>
              <a:t>Le informazioni per decidere di donare sono lontane dal punto in cui si dona</a:t>
            </a:r>
          </a:p>
        </p:txBody>
      </p:sp>
      <p:sp>
        <p:nvSpPr>
          <p:cNvPr id="10" name="Euristica"/>
          <p:cNvSpPr txBox="1"/>
          <p:nvPr/>
        </p:nvSpPr>
        <p:spPr>
          <a:xfrm>
            <a:off x="609600" y="254000"/>
            <a:ext cx="88900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200" b="1" dirty="0">
                <a:solidFill>
                  <a:srgbClr val="6C0850"/>
                </a:solidFill>
              </a:rPr>
              <a:t>H6 · RICONOSCIMENTO  ·  H1 VISIBILITÀ  ·  H7 EFFICIENZA</a:t>
            </a:r>
          </a:p>
        </p:txBody>
      </p:sp>
      <p:sp>
        <p:nvSpPr>
          <p:cNvPr id="11" name="Badge gravità"/>
          <p:cNvSpPr/>
          <p:nvPr/>
        </p:nvSpPr>
        <p:spPr>
          <a:xfrm>
            <a:off x="9855200" y="381000"/>
            <a:ext cx="1727200" cy="736600"/>
          </a:xfrm>
          <a:prstGeom prst="roundRect">
            <a:avLst/>
          </a:prstGeom>
          <a:solidFill>
            <a:srgbClr val="8E2F72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000" b="1" dirty="0">
                <a:solidFill>
                  <a:srgbClr val="FFFFFF"/>
                </a:solidFill>
              </a:rPr>
              <a:t>GRAVITÀ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800" b="1" dirty="0">
                <a:solidFill>
                  <a:srgbClr val="FFFFFF"/>
                </a:solidFill>
              </a:rPr>
              <a:t>3 · importante</a:t>
            </a:r>
          </a:p>
        </p:txBody>
      </p:sp>
      <p:sp>
        <p:nvSpPr>
          <p:cNvPr id="12" name="Problema"/>
          <p:cNvSpPr txBox="1"/>
          <p:nvPr/>
        </p:nvSpPr>
        <p:spPr>
          <a:xfrm>
            <a:off x="609600" y="1625600"/>
            <a:ext cx="5130800" cy="2616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400" b="1" dirty="0">
                <a:solidFill>
                  <a:srgbClr val="6C0850"/>
                </a:solidFill>
              </a:rPr>
              <a:t>Problema</a:t>
            </a:r>
          </a:p>
          <a:p>
            <a:pPr marL="228600" indent="-228600" algn="l">
              <a:lnSpc>
                <a:spcPct val="100000"/>
              </a:lnSpc>
              <a:spcBef>
                <a:spcPts val="500"/>
              </a:spcBef>
              <a:buClr>
                <a:srgbClr val="6C0850"/>
              </a:buClr>
              <a:buFont typeface="Arial"/>
              <a:buChar char="•"/>
            </a:pPr>
            <a:r>
              <a:rPr lang="it-IT" sz="1400" b="0" dirty="0">
                <a:solidFill>
                  <a:srgbClr val="231C21"/>
                </a:solidFill>
              </a:rPr>
              <a:t>Raddoppio UniTo, soglie e uso dei fondi stanno nella descrizione; le </a:t>
            </a:r>
            <a:r>
              <a:rPr lang="it-IT" sz="1400" b="1" dirty="0">
                <a:solidFill>
                  <a:srgbClr val="231C21"/>
                </a:solidFill>
              </a:rPr>
              <a:t>ricompense sono molto più in basso</a:t>
            </a:r>
          </a:p>
          <a:p>
            <a:pPr marL="228600" indent="-228600" algn="l">
              <a:lnSpc>
                <a:spcPct val="100000"/>
              </a:lnSpc>
              <a:spcBef>
                <a:spcPts val="500"/>
              </a:spcBef>
              <a:buClr>
                <a:srgbClr val="6C0850"/>
              </a:buClr>
              <a:buFont typeface="Arial"/>
              <a:buChar char="•"/>
            </a:pPr>
            <a:r>
              <a:rPr lang="it-IT" sz="1400" b="0" dirty="0">
                <a:solidFill>
                  <a:srgbClr val="231C21"/>
                </a:solidFill>
              </a:rPr>
              <a:t>Il box mostra «€ 2.690 su € 7.000» ma </a:t>
            </a:r>
            <a:r>
              <a:rPr lang="it-IT" sz="1400" b="1" dirty="0">
                <a:solidFill>
                  <a:srgbClr val="231C21"/>
                </a:solidFill>
              </a:rPr>
              <a:t>non dice che a 7.000 € UniTo raddoppia</a:t>
            </a:r>
          </a:p>
          <a:p>
            <a:pPr marL="228600" indent="-228600" algn="l">
              <a:lnSpc>
                <a:spcPct val="100000"/>
              </a:lnSpc>
              <a:spcBef>
                <a:spcPts val="500"/>
              </a:spcBef>
              <a:buClr>
                <a:srgbClr val="6C0850"/>
              </a:buClr>
              <a:buFont typeface="Arial"/>
              <a:buChar char="•"/>
            </a:pPr>
            <a:r>
              <a:rPr lang="it-IT" sz="1400" b="0" dirty="0">
                <a:solidFill>
                  <a:srgbClr val="231C21"/>
                </a:solidFill>
              </a:rPr>
              <a:t>Il pulsante «Sostieni» non resta visibile: finita la lettura bisogna risalire o scendere (P15)</a:t>
            </a:r>
          </a:p>
          <a:p>
            <a:pPr marL="0" indent="0" algn="l">
              <a:lnSpc>
                <a:spcPct val="100000"/>
              </a:lnSpc>
              <a:spcBef>
                <a:spcPts val="900"/>
              </a:spcBef>
              <a:buNone/>
            </a:pPr>
            <a:r>
              <a:rPr lang="it-IT" sz="1100" b="0" dirty="0">
                <a:solidFill>
                  <a:srgbClr val="6B6168"/>
                </a:solidFill>
              </a:rPr>
              <a:t>Gravità 3 (H6) e 1 (H1, il testo del progetto spiega il raddoppio) dalle note; 2 nel CSV per P15.</a:t>
            </a:r>
          </a:p>
        </p:txBody>
      </p:sp>
      <p:sp>
        <p:nvSpPr>
          <p:cNvPr id="13" name="Soluzione"/>
          <p:cNvSpPr/>
          <p:nvPr/>
        </p:nvSpPr>
        <p:spPr>
          <a:xfrm>
            <a:off x="609600" y="4394200"/>
            <a:ext cx="5130800" cy="1727200"/>
          </a:xfrm>
          <a:prstGeom prst="rect">
            <a:avLst/>
          </a:prstGeom>
          <a:solidFill>
            <a:srgbClr val="F3EEF1"/>
          </a:solidFill>
          <a:ln>
            <a:noFill/>
          </a:ln>
        </p:spPr>
        <p:txBody>
          <a:bodyPr wrap="square" lIns="152400" tIns="152400" rIns="152400" bIns="15240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400" b="1" dirty="0">
                <a:solidFill>
                  <a:srgbClr val="6C0850"/>
                </a:solidFill>
              </a:rPr>
              <a:t>Possibile soluzione</a:t>
            </a:r>
          </a:p>
          <a:p>
            <a:pPr marL="0" indent="0" algn="l">
              <a:lnSpc>
                <a:spcPct val="100000"/>
              </a:lnSpc>
              <a:spcBef>
                <a:spcPts val="400"/>
              </a:spcBef>
              <a:buNone/>
            </a:pPr>
            <a:r>
              <a:rPr lang="it-IT" sz="1400" b="0" dirty="0">
                <a:solidFill>
                  <a:srgbClr val="231C21"/>
                </a:solidFill>
              </a:rPr>
              <a:t>Nel box di stato: «A 7.000 € UniTo raddoppia» e pulsante «Sostieni» sempre visibile (colonna fissa su desktop, barra in basso su mobile); breve riepilogo sopra le ricompense.</a:t>
            </a:r>
          </a:p>
        </p:txBody>
      </p:sp>
      <p:sp>
        <p:nvSpPr>
          <p:cNvPr id="14" name="Segnaposto immagine 1"/>
          <p:cNvSpPr/>
          <p:nvPr/>
        </p:nvSpPr>
        <p:spPr>
          <a:xfrm>
            <a:off x="6045200" y="1625600"/>
            <a:ext cx="5537200" cy="4495800"/>
          </a:xfrm>
          <a:prstGeom prst="rect">
            <a:avLst/>
          </a:prstGeom>
          <a:solidFill>
            <a:srgbClr val="F7F4F6"/>
          </a:solidFill>
          <a:ln w="15875">
            <a:solidFill>
              <a:srgbClr val="B07A9F"/>
            </a:solidFill>
            <a:prstDash val="dash"/>
          </a:ln>
        </p:spPr>
        <p:txBody>
          <a:bodyPr wrap="square" lIns="127000" tIns="127000" rIns="127000" bIns="12700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200" b="1" dirty="0">
                <a:solidFill>
                  <a:srgbClr val="6C0850"/>
                </a:solidFill>
              </a:rPr>
              <a:t>[ SCREENSHOT DA FARE ]</a:t>
            </a:r>
          </a:p>
          <a:p>
            <a:pPr marL="0" indent="0" algn="ctr">
              <a:lnSpc>
                <a:spcPct val="100000"/>
              </a:lnSpc>
              <a:spcBef>
                <a:spcPts val="400"/>
              </a:spcBef>
              <a:buNone/>
            </a:pPr>
            <a:r>
              <a:rPr lang="it-IT" sz="1400" b="1" dirty="0">
                <a:solidFill>
                  <a:srgbClr val="231C21"/>
                </a:solidFill>
              </a:rPr>
              <a:t>Box di stato di Mind the Climate</a:t>
            </a:r>
          </a:p>
          <a:p>
            <a:pPr marL="0" indent="0" algn="ctr">
              <a:lnSpc>
                <a:spcPct val="100000"/>
              </a:lnSpc>
              <a:spcBef>
                <a:spcPts val="300"/>
              </a:spcBef>
              <a:buNone/>
            </a:pPr>
            <a:r>
              <a:rPr lang="it-IT" sz="900" b="0" dirty="0">
                <a:solidFill>
                  <a:srgbClr val="6B6168"/>
                </a:solidFill>
              </a:rPr>
              <a:t>Salvare in /Users/andreock/Desktop/hci_gruppo_a/assignment1/parti/antofallea/src/</a:t>
            </a:r>
          </a:p>
          <a:p>
            <a:pPr marL="0" indent="0" algn="ctr">
              <a:lnSpc>
                <a:spcPct val="100000"/>
              </a:lnSpc>
              <a:spcBef>
                <a:spcPts val="300"/>
              </a:spcBef>
              <a:buNone/>
            </a:pPr>
            <a:r>
              <a:rPr lang="it-IT" sz="1000" b="0" dirty="0">
                <a:solidFill>
                  <a:srgbClr val="6B6168"/>
                </a:solidFill>
              </a:rPr>
              <a:t>Annotare con cerchi e frecce</a:t>
            </a:r>
          </a:p>
        </p:txBody>
      </p:sp>
      <p:sp>
        <p:nvSpPr>
          <p:cNvPr id="15" name="Pagine e task"/>
          <p:cNvSpPr txBox="1"/>
          <p:nvPr/>
        </p:nvSpPr>
        <p:spPr>
          <a:xfrm>
            <a:off x="609600" y="6273800"/>
            <a:ext cx="109728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000" b="1" dirty="0">
                <a:solidFill>
                  <a:srgbClr val="6B6168"/>
                </a:solidFill>
              </a:rPr>
              <a:t>Pagine:</a:t>
            </a:r>
            <a:r>
              <a:rPr lang="it-IT" sz="1000" b="0" dirty="0">
                <a:solidFill>
                  <a:srgbClr val="6B6168"/>
                </a:solidFill>
              </a:rPr>
              <a:t> Progetti «Mind the Climate» e «MILK-ACT»   </a:t>
            </a:r>
            <a:r>
              <a:rPr lang="it-IT" sz="1000" b="1" dirty="0">
                <a:solidFill>
                  <a:srgbClr val="6B6168"/>
                </a:solidFill>
              </a:rPr>
              <a:t>Task:</a:t>
            </a:r>
            <a:r>
              <a:rPr lang="it-IT" sz="1000" b="0" dirty="0">
                <a:solidFill>
                  <a:srgbClr val="6B6168"/>
                </a:solidFill>
              </a:rPr>
              <a:t> T5, T3   </a:t>
            </a:r>
            <a:r>
              <a:rPr lang="it-IT" sz="1000" b="1" dirty="0">
                <a:solidFill>
                  <a:srgbClr val="6B6168"/>
                </a:solidFill>
              </a:rPr>
              <a:t>ID:</a:t>
            </a:r>
            <a:r>
              <a:rPr lang="it-IT" sz="1000" b="0" dirty="0">
                <a:solidFill>
                  <a:srgbClr val="6B6168"/>
                </a:solidFill>
              </a:rPr>
              <a:t> P15 + [ da assegnare ]</a:t>
            </a:r>
          </a:p>
        </p:txBody>
      </p:sp>
    </p:spTree>
    <p:extLst>
      <p:ext uri="{BB962C8B-B14F-4D97-AF65-F5344CB8AC3E}">
        <p14:creationId xmlns:p14="http://schemas.microsoft.com/office/powerpoint/2010/main" val="231665613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7732589-2EE3-B196-0871-072A3A5FAB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558800"/>
            <a:ext cx="8991600" cy="889000"/>
          </a:xfrm>
        </p:spPr>
        <p:txBody>
          <a:bodyPr anchor="t"/>
          <a:lstStyle/>
          <a:p>
            <a:pPr>
              <a:lnSpc>
                <a:spcPct val="90000"/>
              </a:lnSpc>
            </a:pPr>
            <a:r>
              <a:rPr lang="it-IT" sz="2600" b="1" dirty="0"/>
              <a:t>La pagina è molto lunga e non ha indice né ancore verso le sezioni</a:t>
            </a:r>
          </a:p>
        </p:txBody>
      </p:sp>
      <p:sp>
        <p:nvSpPr>
          <p:cNvPr id="10" name="Euristica"/>
          <p:cNvSpPr txBox="1"/>
          <p:nvPr/>
        </p:nvSpPr>
        <p:spPr>
          <a:xfrm>
            <a:off x="609600" y="254000"/>
            <a:ext cx="88900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200" b="1" dirty="0">
                <a:solidFill>
                  <a:srgbClr val="6C0850"/>
                </a:solidFill>
              </a:rPr>
              <a:t>H7 · FLESSIBILITÀ ED EFFICIENZA  ·  H8 DESIGN MINIMALISTA</a:t>
            </a:r>
          </a:p>
        </p:txBody>
      </p:sp>
      <p:sp>
        <p:nvSpPr>
          <p:cNvPr id="11" name="Badge gravità"/>
          <p:cNvSpPr/>
          <p:nvPr/>
        </p:nvSpPr>
        <p:spPr>
          <a:xfrm>
            <a:off x="9855200" y="381000"/>
            <a:ext cx="1727200" cy="736600"/>
          </a:xfrm>
          <a:prstGeom prst="roundRect">
            <a:avLst/>
          </a:prstGeom>
          <a:solidFill>
            <a:srgbClr val="41002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000" b="1" dirty="0">
                <a:solidFill>
                  <a:srgbClr val="FFFFFF"/>
                </a:solidFill>
              </a:rPr>
              <a:t>GRAVITÀ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800" b="1" dirty="0">
                <a:solidFill>
                  <a:srgbClr val="FFFFFF"/>
                </a:solidFill>
              </a:rPr>
              <a:t>4 · catastrofico</a:t>
            </a:r>
          </a:p>
        </p:txBody>
      </p:sp>
      <p:sp>
        <p:nvSpPr>
          <p:cNvPr id="12" name="Problema"/>
          <p:cNvSpPr txBox="1"/>
          <p:nvPr/>
        </p:nvSpPr>
        <p:spPr>
          <a:xfrm>
            <a:off x="609600" y="1625600"/>
            <a:ext cx="5130800" cy="2616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400" b="1" dirty="0">
                <a:solidFill>
                  <a:srgbClr val="6C0850"/>
                </a:solidFill>
              </a:rPr>
              <a:t>Problema</a:t>
            </a:r>
          </a:p>
          <a:p>
            <a:pPr marL="228600" indent="-228600" algn="l">
              <a:lnSpc>
                <a:spcPct val="100000"/>
              </a:lnSpc>
              <a:spcBef>
                <a:spcPts val="500"/>
              </a:spcBef>
              <a:buClr>
                <a:srgbClr val="6C0850"/>
              </a:buClr>
              <a:buFont typeface="Arial"/>
              <a:buChar char="•"/>
            </a:pPr>
            <a:r>
              <a:rPr lang="it-IT" sz="1400" b="0" dirty="0">
                <a:solidFill>
                  <a:srgbClr val="231C21"/>
                </a:solidFill>
              </a:rPr>
              <a:t>Descrizione di </a:t>
            </a:r>
            <a:r>
              <a:rPr lang="it-IT" sz="1400" b="1" dirty="0">
                <a:solidFill>
                  <a:srgbClr val="231C21"/>
                </a:solidFill>
              </a:rPr>
              <a:t>circa 1.500–1.800 parole</a:t>
            </a:r>
            <a:r>
              <a:rPr lang="it-IT" sz="1400" b="0" dirty="0">
                <a:solidFill>
                  <a:srgbClr val="231C21"/>
                </a:solidFill>
              </a:rPr>
              <a:t> senza riassunto iniziale</a:t>
            </a:r>
          </a:p>
          <a:p>
            <a:pPr marL="228600" indent="-228600" algn="l">
              <a:lnSpc>
                <a:spcPct val="100000"/>
              </a:lnSpc>
              <a:spcBef>
                <a:spcPts val="500"/>
              </a:spcBef>
              <a:buClr>
                <a:srgbClr val="6C0850"/>
              </a:buClr>
              <a:buFont typeface="Arial"/>
              <a:buChar char="•"/>
            </a:pPr>
            <a:r>
              <a:rPr lang="it-IT" sz="1400" b="0" dirty="0">
                <a:solidFill>
                  <a:srgbClr val="231C21"/>
                </a:solidFill>
              </a:rPr>
              <a:t>Nessun indice o ancora verso budget, ricompense e team; </a:t>
            </a:r>
            <a:r>
              <a:rPr lang="it-IT" sz="1400" b="1" dirty="0">
                <a:solidFill>
                  <a:srgbClr val="231C21"/>
                </a:solidFill>
              </a:rPr>
              <a:t>nessuna scorciatoia</a:t>
            </a:r>
            <a:r>
              <a:rPr lang="it-IT" sz="1400" b="0" dirty="0">
                <a:solidFill>
                  <a:srgbClr val="231C21"/>
                </a:solidFill>
              </a:rPr>
              <a:t> per cambiare sezione</a:t>
            </a:r>
          </a:p>
          <a:p>
            <a:pPr marL="228600" indent="-228600" algn="l">
              <a:lnSpc>
                <a:spcPct val="100000"/>
              </a:lnSpc>
              <a:spcBef>
                <a:spcPts val="500"/>
              </a:spcBef>
              <a:buClr>
                <a:srgbClr val="6C0850"/>
              </a:buClr>
              <a:buFont typeface="Arial"/>
              <a:buChar char="•"/>
            </a:pPr>
            <a:r>
              <a:rPr lang="it-IT" sz="1400" b="0" dirty="0">
                <a:solidFill>
                  <a:srgbClr val="231C21"/>
                </a:solidFill>
              </a:rPr>
              <a:t>Le sezioni non hanno una collocazione fissa tra progetti diversi (P09)</a:t>
            </a:r>
          </a:p>
          <a:p>
            <a:pPr marL="0" indent="0" algn="l">
              <a:lnSpc>
                <a:spcPct val="100000"/>
              </a:lnSpc>
              <a:spcBef>
                <a:spcPts val="900"/>
              </a:spcBef>
              <a:buNone/>
            </a:pPr>
            <a:r>
              <a:rPr lang="it-IT" sz="1100" b="0" dirty="0">
                <a:solidFill>
                  <a:srgbClr val="6B6168"/>
                </a:solidFill>
              </a:rPr>
              <a:t>Gravità 4 dalle note (H7 e H8); 2 nel CSV per P09. [ DA DECIDERE ] se 4 è giustificato.</a:t>
            </a:r>
          </a:p>
        </p:txBody>
      </p:sp>
      <p:sp>
        <p:nvSpPr>
          <p:cNvPr id="13" name="Soluzione"/>
          <p:cNvSpPr/>
          <p:nvPr/>
        </p:nvSpPr>
        <p:spPr>
          <a:xfrm>
            <a:off x="609600" y="4394200"/>
            <a:ext cx="5130800" cy="1727200"/>
          </a:xfrm>
          <a:prstGeom prst="rect">
            <a:avLst/>
          </a:prstGeom>
          <a:solidFill>
            <a:srgbClr val="F3EEF1"/>
          </a:solidFill>
          <a:ln>
            <a:noFill/>
          </a:ln>
        </p:spPr>
        <p:txBody>
          <a:bodyPr wrap="square" lIns="152400" tIns="152400" rIns="152400" bIns="15240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400" b="1" dirty="0">
                <a:solidFill>
                  <a:srgbClr val="6C0850"/>
                </a:solidFill>
              </a:rPr>
              <a:t>Possibile soluzione</a:t>
            </a:r>
          </a:p>
          <a:p>
            <a:pPr marL="0" indent="0" algn="l">
              <a:lnSpc>
                <a:spcPct val="100000"/>
              </a:lnSpc>
              <a:spcBef>
                <a:spcPts val="400"/>
              </a:spcBef>
              <a:buNone/>
            </a:pPr>
            <a:r>
              <a:rPr lang="it-IT" sz="1400" b="0" dirty="0">
                <a:solidFill>
                  <a:srgbClr val="231C21"/>
                </a:solidFill>
              </a:rPr>
              <a:t>Modello di pagina con sezioni fisse e indice ancorato («In breve · Il team · Obiettivi · Uso dei fondi · Ricompense»), più un riassunto di 3 righe in cima.</a:t>
            </a:r>
          </a:p>
        </p:txBody>
      </p:sp>
      <p:sp>
        <p:nvSpPr>
          <p:cNvPr id="14" name="Segnaposto immagine 1"/>
          <p:cNvSpPr/>
          <p:nvPr/>
        </p:nvSpPr>
        <p:spPr>
          <a:xfrm>
            <a:off x="6045200" y="1625600"/>
            <a:ext cx="5537200" cy="4495800"/>
          </a:xfrm>
          <a:prstGeom prst="rect">
            <a:avLst/>
          </a:prstGeom>
          <a:solidFill>
            <a:srgbClr val="F7F4F6"/>
          </a:solidFill>
          <a:ln w="15875">
            <a:solidFill>
              <a:srgbClr val="B07A9F"/>
            </a:solidFill>
            <a:prstDash val="dash"/>
          </a:ln>
        </p:spPr>
        <p:txBody>
          <a:bodyPr wrap="square" lIns="127000" tIns="127000" rIns="127000" bIns="12700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200" b="1" dirty="0">
                <a:solidFill>
                  <a:srgbClr val="6C0850"/>
                </a:solidFill>
              </a:rPr>
              <a:t>[ SCREENSHOT DA FARE ]</a:t>
            </a:r>
          </a:p>
          <a:p>
            <a:pPr marL="0" indent="0" algn="ctr">
              <a:lnSpc>
                <a:spcPct val="100000"/>
              </a:lnSpc>
              <a:spcBef>
                <a:spcPts val="400"/>
              </a:spcBef>
              <a:buNone/>
            </a:pPr>
            <a:r>
              <a:rPr lang="it-IT" sz="1400" b="1" dirty="0">
                <a:solidFill>
                  <a:srgbClr val="231C21"/>
                </a:solidFill>
              </a:rPr>
              <a:t>Pagina intera ridotta, con le sezioni evidenziate</a:t>
            </a:r>
          </a:p>
          <a:p>
            <a:pPr marL="0" indent="0" algn="ctr">
              <a:lnSpc>
                <a:spcPct val="100000"/>
              </a:lnSpc>
              <a:spcBef>
                <a:spcPts val="300"/>
              </a:spcBef>
              <a:buNone/>
            </a:pPr>
            <a:r>
              <a:rPr lang="it-IT" sz="900" b="0" dirty="0">
                <a:solidFill>
                  <a:srgbClr val="6B6168"/>
                </a:solidFill>
              </a:rPr>
              <a:t>Salvare in /Users/andreock/Desktop/hci_gruppo_a/assignment1/parti/antofallea/src/</a:t>
            </a:r>
          </a:p>
          <a:p>
            <a:pPr marL="0" indent="0" algn="ctr">
              <a:lnSpc>
                <a:spcPct val="100000"/>
              </a:lnSpc>
              <a:spcBef>
                <a:spcPts val="300"/>
              </a:spcBef>
              <a:buNone/>
            </a:pPr>
            <a:r>
              <a:rPr lang="it-IT" sz="1000" b="0" dirty="0">
                <a:solidFill>
                  <a:srgbClr val="6B6168"/>
                </a:solidFill>
              </a:rPr>
              <a:t>Annotare con cerchi e frecce</a:t>
            </a:r>
          </a:p>
        </p:txBody>
      </p:sp>
      <p:sp>
        <p:nvSpPr>
          <p:cNvPr id="15" name="Pagine e task"/>
          <p:cNvSpPr txBox="1"/>
          <p:nvPr/>
        </p:nvSpPr>
        <p:spPr>
          <a:xfrm>
            <a:off x="609600" y="6273800"/>
            <a:ext cx="109728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000" b="1" dirty="0">
                <a:solidFill>
                  <a:srgbClr val="6B6168"/>
                </a:solidFill>
              </a:rPr>
              <a:t>Pagine:</a:t>
            </a:r>
            <a:r>
              <a:rPr lang="it-IT" sz="1000" b="0" dirty="0">
                <a:solidFill>
                  <a:srgbClr val="6B6168"/>
                </a:solidFill>
              </a:rPr>
              <a:t> Progetti «Mind the Climate», «BRIGHT», «Fai Brillare la Ricerca!»   </a:t>
            </a:r>
            <a:r>
              <a:rPr lang="it-IT" sz="1000" b="1" dirty="0">
                <a:solidFill>
                  <a:srgbClr val="6B6168"/>
                </a:solidFill>
              </a:rPr>
              <a:t>Task:</a:t>
            </a:r>
            <a:r>
              <a:rPr lang="it-IT" sz="1000" b="0" dirty="0">
                <a:solidFill>
                  <a:srgbClr val="6B6168"/>
                </a:solidFill>
              </a:rPr>
              <a:t> T3   </a:t>
            </a:r>
            <a:r>
              <a:rPr lang="it-IT" sz="1000" b="1" dirty="0">
                <a:solidFill>
                  <a:srgbClr val="6B6168"/>
                </a:solidFill>
              </a:rPr>
              <a:t>ID:</a:t>
            </a:r>
            <a:r>
              <a:rPr lang="it-IT" sz="1000" b="0" dirty="0">
                <a:solidFill>
                  <a:srgbClr val="6B6168"/>
                </a:solidFill>
              </a:rPr>
              <a:t> P09 + [ da assegnare ]</a:t>
            </a:r>
          </a:p>
        </p:txBody>
      </p:sp>
    </p:spTree>
    <p:extLst>
      <p:ext uri="{BB962C8B-B14F-4D97-AF65-F5344CB8AC3E}">
        <p14:creationId xmlns:p14="http://schemas.microsoft.com/office/powerpoint/2010/main" val="408875632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FFB259E-0EEB-00ED-34C8-E54AD93A2F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558800"/>
            <a:ext cx="8991600" cy="889000"/>
          </a:xfrm>
        </p:spPr>
        <p:txBody>
          <a:bodyPr anchor="t"/>
          <a:lstStyle/>
          <a:p>
            <a:pPr>
              <a:lnSpc>
                <a:spcPct val="90000"/>
              </a:lnSpc>
            </a:pPr>
            <a:r>
              <a:rPr lang="it-IT" sz="2600" b="1" dirty="0"/>
              <a:t>Il clic sulla barra dell’obiettivo ricarica la stessa pagina</a:t>
            </a:r>
          </a:p>
        </p:txBody>
      </p:sp>
      <p:sp>
        <p:nvSpPr>
          <p:cNvPr id="10" name="Euristica"/>
          <p:cNvSpPr txBox="1"/>
          <p:nvPr/>
        </p:nvSpPr>
        <p:spPr>
          <a:xfrm>
            <a:off x="609600" y="254000"/>
            <a:ext cx="88900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200" b="1" dirty="0">
                <a:solidFill>
                  <a:srgbClr val="6C0850"/>
                </a:solidFill>
              </a:rPr>
              <a:t>H7 · FLESSIBILITÀ ED EFFICIENZA D’USO</a:t>
            </a:r>
          </a:p>
        </p:txBody>
      </p:sp>
      <p:sp>
        <p:nvSpPr>
          <p:cNvPr id="11" name="Badge gravità"/>
          <p:cNvSpPr/>
          <p:nvPr/>
        </p:nvSpPr>
        <p:spPr>
          <a:xfrm>
            <a:off x="9855200" y="381000"/>
            <a:ext cx="1727200" cy="7366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07A9F"/>
            </a:solidFill>
            <a:prstDash val="dash"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000" b="1" dirty="0">
                <a:solidFill>
                  <a:srgbClr val="6C0850"/>
                </a:solidFill>
              </a:rPr>
              <a:t>GRAVITÀ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600" b="1" dirty="0">
                <a:solidFill>
                  <a:srgbClr val="6C0850"/>
                </a:solidFill>
              </a:rPr>
              <a:t>? · da decidere</a:t>
            </a:r>
          </a:p>
        </p:txBody>
      </p:sp>
      <p:sp>
        <p:nvSpPr>
          <p:cNvPr id="12" name="Problema"/>
          <p:cNvSpPr txBox="1"/>
          <p:nvPr/>
        </p:nvSpPr>
        <p:spPr>
          <a:xfrm>
            <a:off x="609600" y="1625600"/>
            <a:ext cx="5130800" cy="2616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400" b="1" dirty="0">
                <a:solidFill>
                  <a:srgbClr val="6C0850"/>
                </a:solidFill>
              </a:rPr>
              <a:t>Problema</a:t>
            </a:r>
          </a:p>
          <a:p>
            <a:pPr marL="228600" indent="-228600" algn="l">
              <a:lnSpc>
                <a:spcPct val="100000"/>
              </a:lnSpc>
              <a:spcBef>
                <a:spcPts val="500"/>
              </a:spcBef>
              <a:buClr>
                <a:srgbClr val="6C0850"/>
              </a:buClr>
              <a:buFont typeface="Arial"/>
              <a:buChar char="•"/>
            </a:pPr>
            <a:r>
              <a:rPr lang="it-IT" sz="1400" b="0" dirty="0">
                <a:solidFill>
                  <a:srgbClr val="231C21"/>
                </a:solidFill>
              </a:rPr>
              <a:t>La barra del raccolto (gauge) è cliccabile</a:t>
            </a:r>
          </a:p>
          <a:p>
            <a:pPr marL="228600" indent="-228600" algn="l">
              <a:lnSpc>
                <a:spcPct val="100000"/>
              </a:lnSpc>
              <a:spcBef>
                <a:spcPts val="500"/>
              </a:spcBef>
              <a:buClr>
                <a:srgbClr val="6C0850"/>
              </a:buClr>
              <a:buFont typeface="Arial"/>
              <a:buChar char="•"/>
            </a:pPr>
            <a:r>
              <a:rPr lang="it-IT" sz="1400" b="0" dirty="0">
                <a:solidFill>
                  <a:srgbClr val="231C21"/>
                </a:solidFill>
              </a:rPr>
              <a:t>Il clic </a:t>
            </a:r>
            <a:r>
              <a:rPr lang="it-IT" sz="1400" b="1" dirty="0">
                <a:solidFill>
                  <a:srgbClr val="231C21"/>
                </a:solidFill>
              </a:rPr>
              <a:t>ricarica la pagina in cui ci si trova</a:t>
            </a:r>
            <a:r>
              <a:rPr lang="it-IT" sz="1400" b="0" dirty="0">
                <a:solidFill>
                  <a:srgbClr val="231C21"/>
                </a:solidFill>
              </a:rPr>
              <a:t>, senza nessun effetto utile</a:t>
            </a:r>
          </a:p>
          <a:p>
            <a:pPr marL="228600" indent="-228600" algn="l">
              <a:lnSpc>
                <a:spcPct val="100000"/>
              </a:lnSpc>
              <a:spcBef>
                <a:spcPts val="500"/>
              </a:spcBef>
              <a:buClr>
                <a:srgbClr val="6C0850"/>
              </a:buClr>
              <a:buFont typeface="Arial"/>
              <a:buChar char="•"/>
            </a:pPr>
            <a:r>
              <a:rPr lang="it-IT" sz="1400" b="0" dirty="0">
                <a:solidFill>
                  <a:srgbClr val="231C21"/>
                </a:solidFill>
              </a:rPr>
              <a:t>L’utente perde la posizione di lettura</a:t>
            </a:r>
          </a:p>
          <a:p>
            <a:pPr marL="0" indent="0" algn="l">
              <a:lnSpc>
                <a:spcPct val="100000"/>
              </a:lnSpc>
              <a:spcBef>
                <a:spcPts val="900"/>
              </a:spcBef>
              <a:buNone/>
            </a:pPr>
            <a:r>
              <a:rPr lang="it-IT" sz="1100" b="0" dirty="0">
                <a:solidFill>
                  <a:srgbClr val="6B6168"/>
                </a:solidFill>
              </a:rPr>
              <a:t>Gravità non indicata nelle note.</a:t>
            </a:r>
          </a:p>
        </p:txBody>
      </p:sp>
      <p:sp>
        <p:nvSpPr>
          <p:cNvPr id="13" name="Soluzione"/>
          <p:cNvSpPr/>
          <p:nvPr/>
        </p:nvSpPr>
        <p:spPr>
          <a:xfrm>
            <a:off x="609600" y="4394200"/>
            <a:ext cx="5130800" cy="1727200"/>
          </a:xfrm>
          <a:prstGeom prst="rect">
            <a:avLst/>
          </a:prstGeom>
          <a:solidFill>
            <a:srgbClr val="F3EEF1"/>
          </a:solidFill>
          <a:ln>
            <a:noFill/>
          </a:ln>
        </p:spPr>
        <p:txBody>
          <a:bodyPr wrap="square" lIns="152400" tIns="152400" rIns="152400" bIns="15240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400" b="1" dirty="0">
                <a:solidFill>
                  <a:srgbClr val="6C0850"/>
                </a:solidFill>
              </a:rPr>
              <a:t>Possibile soluzione</a:t>
            </a:r>
          </a:p>
          <a:p>
            <a:pPr marL="0" indent="0" algn="l">
              <a:lnSpc>
                <a:spcPct val="100000"/>
              </a:lnSpc>
              <a:spcBef>
                <a:spcPts val="400"/>
              </a:spcBef>
              <a:buNone/>
            </a:pPr>
            <a:r>
              <a:rPr lang="it-IT" sz="1400" b="0" dirty="0">
                <a:solidFill>
                  <a:srgbClr val="231C21"/>
                </a:solidFill>
              </a:rPr>
              <a:t>Rendere la barra non cliccabile, oppure collegarla alle ricompense o alla scheda «Sostenitori».</a:t>
            </a:r>
          </a:p>
        </p:txBody>
      </p:sp>
      <p:sp>
        <p:nvSpPr>
          <p:cNvPr id="14" name="Segnaposto immagine 1"/>
          <p:cNvSpPr/>
          <p:nvPr/>
        </p:nvSpPr>
        <p:spPr>
          <a:xfrm>
            <a:off x="6045200" y="1625600"/>
            <a:ext cx="5537200" cy="4495800"/>
          </a:xfrm>
          <a:prstGeom prst="rect">
            <a:avLst/>
          </a:prstGeom>
          <a:solidFill>
            <a:srgbClr val="F7F4F6"/>
          </a:solidFill>
          <a:ln w="15875">
            <a:solidFill>
              <a:srgbClr val="B07A9F"/>
            </a:solidFill>
            <a:prstDash val="dash"/>
          </a:ln>
        </p:spPr>
        <p:txBody>
          <a:bodyPr wrap="square" lIns="127000" tIns="127000" rIns="127000" bIns="12700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200" b="1" dirty="0">
                <a:solidFill>
                  <a:srgbClr val="6C0850"/>
                </a:solidFill>
              </a:rPr>
              <a:t>[ SCREENSHOT DA FARE ]</a:t>
            </a:r>
          </a:p>
          <a:p>
            <a:pPr marL="0" indent="0" algn="ctr">
              <a:lnSpc>
                <a:spcPct val="100000"/>
              </a:lnSpc>
              <a:spcBef>
                <a:spcPts val="400"/>
              </a:spcBef>
              <a:buNone/>
            </a:pPr>
            <a:r>
              <a:rPr lang="it-IT" sz="1400" b="1" dirty="0">
                <a:solidFill>
                  <a:srgbClr val="231C21"/>
                </a:solidFill>
              </a:rPr>
              <a:t>Barra dell’obiettivo nel box di stato</a:t>
            </a:r>
          </a:p>
          <a:p>
            <a:pPr marL="0" indent="0" algn="ctr">
              <a:lnSpc>
                <a:spcPct val="100000"/>
              </a:lnSpc>
              <a:spcBef>
                <a:spcPts val="300"/>
              </a:spcBef>
              <a:buNone/>
            </a:pPr>
            <a:r>
              <a:rPr lang="it-IT" sz="900" b="0" dirty="0">
                <a:solidFill>
                  <a:srgbClr val="6B6168"/>
                </a:solidFill>
              </a:rPr>
              <a:t>Salvare in /Users/andreock/Desktop/hci_gruppo_a/assignment1/parti/antofallea/src/</a:t>
            </a:r>
          </a:p>
          <a:p>
            <a:pPr marL="0" indent="0" algn="ctr">
              <a:lnSpc>
                <a:spcPct val="100000"/>
              </a:lnSpc>
              <a:spcBef>
                <a:spcPts val="300"/>
              </a:spcBef>
              <a:buNone/>
            </a:pPr>
            <a:r>
              <a:rPr lang="it-IT" sz="1000" b="0" dirty="0">
                <a:solidFill>
                  <a:srgbClr val="6B6168"/>
                </a:solidFill>
              </a:rPr>
              <a:t>Annotare con cerchi e frecce</a:t>
            </a:r>
          </a:p>
        </p:txBody>
      </p:sp>
      <p:sp>
        <p:nvSpPr>
          <p:cNvPr id="15" name="Pagine e task"/>
          <p:cNvSpPr txBox="1"/>
          <p:nvPr/>
        </p:nvSpPr>
        <p:spPr>
          <a:xfrm>
            <a:off x="609600" y="6273800"/>
            <a:ext cx="109728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000" b="1" dirty="0">
                <a:solidFill>
                  <a:srgbClr val="6B6168"/>
                </a:solidFill>
              </a:rPr>
              <a:t>Pagina:</a:t>
            </a:r>
            <a:r>
              <a:rPr lang="it-IT" sz="1000" b="0" dirty="0">
                <a:solidFill>
                  <a:srgbClr val="6B6168"/>
                </a:solidFill>
              </a:rPr>
              <a:t> Progetto «Mind the Climate» (/progetti/mind-the-climate.html)   </a:t>
            </a:r>
            <a:r>
              <a:rPr lang="it-IT" sz="1000" b="1" dirty="0">
                <a:solidFill>
                  <a:srgbClr val="6B6168"/>
                </a:solidFill>
              </a:rPr>
              <a:t>Task:</a:t>
            </a:r>
            <a:r>
              <a:rPr lang="it-IT" sz="1000" b="0" dirty="0">
                <a:solidFill>
                  <a:srgbClr val="6B6168"/>
                </a:solidFill>
              </a:rPr>
              <a:t> T4   </a:t>
            </a:r>
            <a:r>
              <a:rPr lang="it-IT" sz="1000" b="1" dirty="0">
                <a:solidFill>
                  <a:srgbClr val="6B6168"/>
                </a:solidFill>
              </a:rPr>
              <a:t>ID:</a:t>
            </a:r>
            <a:r>
              <a:rPr lang="it-IT" sz="1000" b="0" dirty="0">
                <a:solidFill>
                  <a:srgbClr val="6B6168"/>
                </a:solidFill>
              </a:rPr>
              <a:t> [ da assegnare ]</a:t>
            </a:r>
          </a:p>
        </p:txBody>
      </p:sp>
    </p:spTree>
    <p:extLst>
      <p:ext uri="{BB962C8B-B14F-4D97-AF65-F5344CB8AC3E}">
        <p14:creationId xmlns:p14="http://schemas.microsoft.com/office/powerpoint/2010/main" val="90418157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93608D2-6F28-A506-8C43-357C7BB50B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558800"/>
            <a:ext cx="8991600" cy="889000"/>
          </a:xfrm>
        </p:spPr>
        <p:txBody>
          <a:bodyPr anchor="t"/>
          <a:lstStyle/>
          <a:p>
            <a:pPr>
              <a:lnSpc>
                <a:spcPct val="90000"/>
              </a:lnSpc>
            </a:pPr>
            <a:r>
              <a:rPr lang="it-IT" sz="2600" b="1" dirty="0"/>
              <a:t>Le ricompense ripetono ogni testo in italiano e in inglese</a:t>
            </a:r>
          </a:p>
        </p:txBody>
      </p:sp>
      <p:sp>
        <p:nvSpPr>
          <p:cNvPr id="10" name="Euristica"/>
          <p:cNvSpPr txBox="1"/>
          <p:nvPr/>
        </p:nvSpPr>
        <p:spPr>
          <a:xfrm>
            <a:off x="609600" y="254000"/>
            <a:ext cx="88900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200" b="1" dirty="0">
                <a:solidFill>
                  <a:srgbClr val="6C0850"/>
                </a:solidFill>
              </a:rPr>
              <a:t>H8 · DESIGN ESTETICO E MINIMALISTA</a:t>
            </a:r>
          </a:p>
        </p:txBody>
      </p:sp>
      <p:sp>
        <p:nvSpPr>
          <p:cNvPr id="11" name="Badge gravità"/>
          <p:cNvSpPr/>
          <p:nvPr/>
        </p:nvSpPr>
        <p:spPr>
          <a:xfrm>
            <a:off x="9855200" y="381000"/>
            <a:ext cx="1727200" cy="736600"/>
          </a:xfrm>
          <a:prstGeom prst="roundRect">
            <a:avLst/>
          </a:prstGeom>
          <a:solidFill>
            <a:srgbClr val="8E2F72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000" b="1" dirty="0">
                <a:solidFill>
                  <a:srgbClr val="FFFFFF"/>
                </a:solidFill>
              </a:rPr>
              <a:t>GRAVITÀ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800" b="1" dirty="0">
                <a:solidFill>
                  <a:srgbClr val="FFFFFF"/>
                </a:solidFill>
              </a:rPr>
              <a:t>3 · importante</a:t>
            </a:r>
          </a:p>
        </p:txBody>
      </p:sp>
      <p:sp>
        <p:nvSpPr>
          <p:cNvPr id="12" name="Problema"/>
          <p:cNvSpPr txBox="1"/>
          <p:nvPr/>
        </p:nvSpPr>
        <p:spPr>
          <a:xfrm>
            <a:off x="609600" y="1625600"/>
            <a:ext cx="5130800" cy="2616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400" b="1" dirty="0">
                <a:solidFill>
                  <a:srgbClr val="6C0850"/>
                </a:solidFill>
              </a:rPr>
              <a:t>Problema</a:t>
            </a:r>
          </a:p>
          <a:p>
            <a:pPr marL="228600" indent="-228600" algn="l">
              <a:lnSpc>
                <a:spcPct val="100000"/>
              </a:lnSpc>
              <a:spcBef>
                <a:spcPts val="500"/>
              </a:spcBef>
              <a:buClr>
                <a:srgbClr val="6C0850"/>
              </a:buClr>
              <a:buFont typeface="Arial"/>
              <a:buChar char="•"/>
            </a:pPr>
            <a:r>
              <a:rPr lang="it-IT" sz="1400" b="0" dirty="0">
                <a:solidFill>
                  <a:srgbClr val="231C21"/>
                </a:solidFill>
              </a:rPr>
              <a:t>Ogni ricompensa ha il testo </a:t>
            </a:r>
            <a:r>
              <a:rPr lang="it-IT" sz="1400" b="1" dirty="0">
                <a:solidFill>
                  <a:srgbClr val="231C21"/>
                </a:solidFill>
              </a:rPr>
              <a:t>in due lingue</a:t>
            </a:r>
            <a:r>
              <a:rPr lang="it-IT" sz="1400" b="0" dirty="0">
                <a:solidFill>
                  <a:srgbClr val="231C21"/>
                </a:solidFill>
              </a:rPr>
              <a:t>, uno sotto l’altro</a:t>
            </a:r>
          </a:p>
          <a:p>
            <a:pPr marL="228600" indent="-228600" algn="l">
              <a:lnSpc>
                <a:spcPct val="100000"/>
              </a:lnSpc>
              <a:spcBef>
                <a:spcPts val="500"/>
              </a:spcBef>
              <a:buClr>
                <a:srgbClr val="6C0850"/>
              </a:buClr>
              <a:buFont typeface="Arial"/>
              <a:buChar char="•"/>
            </a:pPr>
            <a:r>
              <a:rPr lang="it-IT" sz="1400" b="0" dirty="0">
                <a:solidFill>
                  <a:srgbClr val="231C21"/>
                </a:solidFill>
              </a:rPr>
              <a:t>Ogni blocco </a:t>
            </a:r>
            <a:r>
              <a:rPr lang="it-IT" sz="1400" b="1" dirty="0">
                <a:solidFill>
                  <a:srgbClr val="231C21"/>
                </a:solidFill>
              </a:rPr>
              <a:t>raddoppia di lunghezza</a:t>
            </a:r>
            <a:r>
              <a:rPr lang="it-IT" sz="1400" b="0" dirty="0">
                <a:solidFill>
                  <a:srgbClr val="231C21"/>
                </a:solidFill>
              </a:rPr>
              <a:t> e allunga una lista già lunga</a:t>
            </a:r>
          </a:p>
          <a:p>
            <a:pPr marL="228600" indent="-228600" algn="l">
              <a:lnSpc>
                <a:spcPct val="100000"/>
              </a:lnSpc>
              <a:spcBef>
                <a:spcPts val="500"/>
              </a:spcBef>
              <a:buClr>
                <a:srgbClr val="6C0850"/>
              </a:buClr>
              <a:buFont typeface="Arial"/>
              <a:buChar char="•"/>
            </a:pPr>
            <a:r>
              <a:rPr lang="it-IT" sz="1400" b="0" dirty="0">
                <a:solidFill>
                  <a:srgbClr val="231C21"/>
                </a:solidFill>
              </a:rPr>
              <a:t>Manca invece un’internazionalizzazione completa del sito (vedi slide sulla versione inglese)</a:t>
            </a:r>
          </a:p>
          <a:p>
            <a:pPr marL="0" indent="0" algn="l">
              <a:lnSpc>
                <a:spcPct val="100000"/>
              </a:lnSpc>
              <a:spcBef>
                <a:spcPts val="900"/>
              </a:spcBef>
              <a:buNone/>
            </a:pPr>
            <a:r>
              <a:rPr lang="it-IT" sz="1100" b="0" dirty="0">
                <a:solidFill>
                  <a:srgbClr val="6B6168"/>
                </a:solidFill>
              </a:rPr>
              <a:t>Gravità 3 dalle note. Lo stesso schema riga per riga compare nel modulo di donazione (P17, CSV).</a:t>
            </a:r>
          </a:p>
        </p:txBody>
      </p:sp>
      <p:sp>
        <p:nvSpPr>
          <p:cNvPr id="13" name="Soluzione"/>
          <p:cNvSpPr/>
          <p:nvPr/>
        </p:nvSpPr>
        <p:spPr>
          <a:xfrm>
            <a:off x="609600" y="4394200"/>
            <a:ext cx="5130800" cy="1727200"/>
          </a:xfrm>
          <a:prstGeom prst="rect">
            <a:avLst/>
          </a:prstGeom>
          <a:solidFill>
            <a:srgbClr val="F3EEF1"/>
          </a:solidFill>
          <a:ln>
            <a:noFill/>
          </a:ln>
        </p:spPr>
        <p:txBody>
          <a:bodyPr wrap="square" lIns="152400" tIns="152400" rIns="152400" bIns="15240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400" b="1" dirty="0">
                <a:solidFill>
                  <a:srgbClr val="6C0850"/>
                </a:solidFill>
              </a:rPr>
              <a:t>Possibile soluzione</a:t>
            </a:r>
          </a:p>
          <a:p>
            <a:pPr marL="0" indent="0" algn="l">
              <a:lnSpc>
                <a:spcPct val="100000"/>
              </a:lnSpc>
              <a:spcBef>
                <a:spcPts val="400"/>
              </a:spcBef>
              <a:buNone/>
            </a:pPr>
            <a:r>
              <a:rPr lang="it-IT" sz="1400" b="0" dirty="0">
                <a:solidFill>
                  <a:srgbClr val="231C21"/>
                </a:solidFill>
              </a:rPr>
              <a:t>Selettore di lingua IT/EN, una sola lingua visibile alla volta, in tutta la pagina e nel modulo di donazione.</a:t>
            </a:r>
          </a:p>
        </p:txBody>
      </p:sp>
      <p:sp>
        <p:nvSpPr>
          <p:cNvPr id="14" name="Segnaposto immagine 1"/>
          <p:cNvSpPr/>
          <p:nvPr/>
        </p:nvSpPr>
        <p:spPr>
          <a:xfrm>
            <a:off x="6045200" y="1625600"/>
            <a:ext cx="5537200" cy="4495800"/>
          </a:xfrm>
          <a:prstGeom prst="rect">
            <a:avLst/>
          </a:prstGeom>
          <a:solidFill>
            <a:srgbClr val="F7F4F6"/>
          </a:solidFill>
          <a:ln w="15875">
            <a:solidFill>
              <a:srgbClr val="B07A9F"/>
            </a:solidFill>
            <a:prstDash val="dash"/>
          </a:ln>
        </p:spPr>
        <p:txBody>
          <a:bodyPr wrap="square" lIns="127000" tIns="127000" rIns="127000" bIns="12700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200" b="1" dirty="0">
                <a:solidFill>
                  <a:srgbClr val="6C0850"/>
                </a:solidFill>
              </a:rPr>
              <a:t>[ SCREENSHOT DA FARE ]</a:t>
            </a:r>
          </a:p>
          <a:p>
            <a:pPr marL="0" indent="0" algn="ctr">
              <a:lnSpc>
                <a:spcPct val="100000"/>
              </a:lnSpc>
              <a:spcBef>
                <a:spcPts val="400"/>
              </a:spcBef>
              <a:buNone/>
            </a:pPr>
            <a:r>
              <a:rPr lang="it-IT" sz="1400" b="1" dirty="0">
                <a:solidFill>
                  <a:srgbClr val="231C21"/>
                </a:solidFill>
              </a:rPr>
              <a:t>Una ricompensa con testo IT/EN</a:t>
            </a:r>
          </a:p>
          <a:p>
            <a:pPr marL="0" indent="0" algn="ctr">
              <a:lnSpc>
                <a:spcPct val="100000"/>
              </a:lnSpc>
              <a:spcBef>
                <a:spcPts val="300"/>
              </a:spcBef>
              <a:buNone/>
            </a:pPr>
            <a:r>
              <a:rPr lang="it-IT" sz="900" b="0" dirty="0">
                <a:solidFill>
                  <a:srgbClr val="6B6168"/>
                </a:solidFill>
              </a:rPr>
              <a:t>Salvare in /Users/andreock/Desktop/hci_gruppo_a/assignment1/parti/antofallea/src/</a:t>
            </a:r>
          </a:p>
          <a:p>
            <a:pPr marL="0" indent="0" algn="ctr">
              <a:lnSpc>
                <a:spcPct val="100000"/>
              </a:lnSpc>
              <a:spcBef>
                <a:spcPts val="300"/>
              </a:spcBef>
              <a:buNone/>
            </a:pPr>
            <a:r>
              <a:rPr lang="it-IT" sz="1000" b="0" dirty="0">
                <a:solidFill>
                  <a:srgbClr val="6B6168"/>
                </a:solidFill>
              </a:rPr>
              <a:t>Annotare con cerchi e frecce</a:t>
            </a:r>
          </a:p>
        </p:txBody>
      </p:sp>
      <p:sp>
        <p:nvSpPr>
          <p:cNvPr id="15" name="Pagine e task"/>
          <p:cNvSpPr txBox="1"/>
          <p:nvPr/>
        </p:nvSpPr>
        <p:spPr>
          <a:xfrm>
            <a:off x="609600" y="6273800"/>
            <a:ext cx="109728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000" b="1" dirty="0">
                <a:solidFill>
                  <a:srgbClr val="6B6168"/>
                </a:solidFill>
              </a:rPr>
              <a:t>Pagine:</a:t>
            </a:r>
            <a:r>
              <a:rPr lang="it-IT" sz="1000" b="0" dirty="0">
                <a:solidFill>
                  <a:srgbClr val="6B6168"/>
                </a:solidFill>
              </a:rPr>
              <a:t> Progetto «Mind the Climate» › ricompense · modulo di donazione   </a:t>
            </a:r>
            <a:r>
              <a:rPr lang="it-IT" sz="1000" b="1" dirty="0">
                <a:solidFill>
                  <a:srgbClr val="6B6168"/>
                </a:solidFill>
              </a:rPr>
              <a:t>Task:</a:t>
            </a:r>
            <a:r>
              <a:rPr lang="it-IT" sz="1000" b="0" dirty="0">
                <a:solidFill>
                  <a:srgbClr val="6B6168"/>
                </a:solidFill>
              </a:rPr>
              <a:t> T5   </a:t>
            </a:r>
            <a:r>
              <a:rPr lang="it-IT" sz="1000" b="1" dirty="0">
                <a:solidFill>
                  <a:srgbClr val="6B6168"/>
                </a:solidFill>
              </a:rPr>
              <a:t>ID:</a:t>
            </a:r>
            <a:r>
              <a:rPr lang="it-IT" sz="1000" b="0" dirty="0">
                <a:solidFill>
                  <a:srgbClr val="6B6168"/>
                </a:solidFill>
              </a:rPr>
              <a:t> [ da assegnare ] (vedi P17)</a:t>
            </a:r>
          </a:p>
        </p:txBody>
      </p:sp>
    </p:spTree>
    <p:extLst>
      <p:ext uri="{BB962C8B-B14F-4D97-AF65-F5344CB8AC3E}">
        <p14:creationId xmlns:p14="http://schemas.microsoft.com/office/powerpoint/2010/main" val="285064466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963BE3B-F8A8-240A-4650-3720A92083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558800"/>
            <a:ext cx="8991600" cy="889000"/>
          </a:xfrm>
        </p:spPr>
        <p:txBody>
          <a:bodyPr anchor="t"/>
          <a:lstStyle/>
          <a:p>
            <a:pPr>
              <a:lnSpc>
                <a:spcPct val="90000"/>
              </a:lnSpc>
            </a:pPr>
            <a:r>
              <a:rPr lang="it-IT" sz="2600" b="1" dirty="0"/>
              <a:t>Gli errori del modulo compaiono solo dopo l’invio e solo in italiano</a:t>
            </a:r>
          </a:p>
        </p:txBody>
      </p:sp>
      <p:sp>
        <p:nvSpPr>
          <p:cNvPr id="10" name="Euristica"/>
          <p:cNvSpPr txBox="1"/>
          <p:nvPr/>
        </p:nvSpPr>
        <p:spPr>
          <a:xfrm>
            <a:off x="609600" y="254000"/>
            <a:ext cx="88900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200" b="1" dirty="0">
                <a:solidFill>
                  <a:srgbClr val="6C0850"/>
                </a:solidFill>
              </a:rPr>
              <a:t>H9 · AIUTARE A RICONOSCERE E CORREGGERE GLI ERRORI</a:t>
            </a:r>
          </a:p>
        </p:txBody>
      </p:sp>
      <p:sp>
        <p:nvSpPr>
          <p:cNvPr id="11" name="Badge gravità"/>
          <p:cNvSpPr/>
          <p:nvPr/>
        </p:nvSpPr>
        <p:spPr>
          <a:xfrm>
            <a:off x="9855200" y="381000"/>
            <a:ext cx="1727200" cy="7366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07A9F"/>
            </a:solidFill>
            <a:prstDash val="dash"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000" b="1" dirty="0">
                <a:solidFill>
                  <a:srgbClr val="6C0850"/>
                </a:solidFill>
              </a:rPr>
              <a:t>GRAVITÀ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600" b="1" dirty="0">
                <a:solidFill>
                  <a:srgbClr val="6C0850"/>
                </a:solidFill>
              </a:rPr>
              <a:t>? · da decidere</a:t>
            </a:r>
          </a:p>
        </p:txBody>
      </p:sp>
      <p:sp>
        <p:nvSpPr>
          <p:cNvPr id="12" name="Problema"/>
          <p:cNvSpPr txBox="1"/>
          <p:nvPr/>
        </p:nvSpPr>
        <p:spPr>
          <a:xfrm>
            <a:off x="609600" y="1625600"/>
            <a:ext cx="5130800" cy="2616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400" b="1" dirty="0">
                <a:solidFill>
                  <a:srgbClr val="6C0850"/>
                </a:solidFill>
              </a:rPr>
              <a:t>Problema</a:t>
            </a:r>
          </a:p>
          <a:p>
            <a:pPr marL="228600" indent="-228600" algn="l">
              <a:lnSpc>
                <a:spcPct val="100000"/>
              </a:lnSpc>
              <a:spcBef>
                <a:spcPts val="500"/>
              </a:spcBef>
              <a:buClr>
                <a:srgbClr val="6C0850"/>
              </a:buClr>
              <a:buFont typeface="Arial"/>
              <a:buChar char="•"/>
            </a:pPr>
            <a:r>
              <a:rPr lang="it-IT" sz="1400" b="0" dirty="0">
                <a:solidFill>
                  <a:srgbClr val="231C21"/>
                </a:solidFill>
              </a:rPr>
              <a:t>Il messaggio sull’importo minimo arriva </a:t>
            </a:r>
            <a:r>
              <a:rPr lang="it-IT" sz="1400" b="1" dirty="0">
                <a:solidFill>
                  <a:srgbClr val="231C21"/>
                </a:solidFill>
              </a:rPr>
              <a:t>solo dopo aver premuto invio</a:t>
            </a:r>
            <a:r>
              <a:rPr lang="it-IT" sz="1400" b="0" dirty="0">
                <a:solidFill>
                  <a:srgbClr val="231C21"/>
                </a:solidFill>
              </a:rPr>
              <a:t>, non durante la compilazione</a:t>
            </a:r>
          </a:p>
          <a:p>
            <a:pPr marL="228600" indent="-228600" algn="l">
              <a:lnSpc>
                <a:spcPct val="100000"/>
              </a:lnSpc>
              <a:spcBef>
                <a:spcPts val="500"/>
              </a:spcBef>
              <a:buClr>
                <a:srgbClr val="6C0850"/>
              </a:buClr>
              <a:buFont typeface="Arial"/>
              <a:buChar char="•"/>
            </a:pPr>
            <a:r>
              <a:rPr lang="it-IT" sz="1400" b="0" dirty="0">
                <a:solidFill>
                  <a:srgbClr val="231C21"/>
                </a:solidFill>
              </a:rPr>
              <a:t>I messaggi </a:t>
            </a:r>
            <a:r>
              <a:rPr lang="it-IT" sz="1400" b="1" dirty="0">
                <a:solidFill>
                  <a:srgbClr val="231C21"/>
                </a:solidFill>
              </a:rPr>
              <a:t>non hanno una versione inglese</a:t>
            </a:r>
            <a:r>
              <a:rPr lang="it-IT" sz="1400" b="0" dirty="0">
                <a:solidFill>
                  <a:srgbClr val="231C21"/>
                </a:solidFill>
              </a:rPr>
              <a:t>, mentre il resto del modulo è bilingue</a:t>
            </a:r>
          </a:p>
          <a:p>
            <a:pPr marL="228600" indent="-228600" algn="l">
              <a:lnSpc>
                <a:spcPct val="100000"/>
              </a:lnSpc>
              <a:spcBef>
                <a:spcPts val="500"/>
              </a:spcBef>
              <a:buClr>
                <a:srgbClr val="6C0850"/>
              </a:buClr>
              <a:buFont typeface="Arial"/>
              <a:buChar char="•"/>
            </a:pPr>
            <a:r>
              <a:rPr lang="it-IT" sz="1400" b="0" dirty="0">
                <a:solidFill>
                  <a:srgbClr val="231C21"/>
                </a:solidFill>
              </a:rPr>
              <a:t>Chi dona dall’estero non capisce cosa correggere</a:t>
            </a:r>
          </a:p>
          <a:p>
            <a:pPr marL="0" indent="0" algn="l">
              <a:lnSpc>
                <a:spcPct val="100000"/>
              </a:lnSpc>
              <a:spcBef>
                <a:spcPts val="900"/>
              </a:spcBef>
              <a:buNone/>
            </a:pPr>
            <a:r>
              <a:rPr lang="it-IT" sz="1100" b="0" dirty="0">
                <a:solidFill>
                  <a:srgbClr val="6B6168"/>
                </a:solidFill>
              </a:rPr>
              <a:t>Nelle note gravità 5 (fuori scala 0–4) per la lingua e 1 per il ritardo: decidere. Il testo dell’errore è chiaro (vedi aspetti positivi).</a:t>
            </a:r>
          </a:p>
        </p:txBody>
      </p:sp>
      <p:sp>
        <p:nvSpPr>
          <p:cNvPr id="13" name="Soluzione"/>
          <p:cNvSpPr/>
          <p:nvPr/>
        </p:nvSpPr>
        <p:spPr>
          <a:xfrm>
            <a:off x="609600" y="4394200"/>
            <a:ext cx="5130800" cy="1727200"/>
          </a:xfrm>
          <a:prstGeom prst="rect">
            <a:avLst/>
          </a:prstGeom>
          <a:solidFill>
            <a:srgbClr val="F3EEF1"/>
          </a:solidFill>
          <a:ln>
            <a:noFill/>
          </a:ln>
        </p:spPr>
        <p:txBody>
          <a:bodyPr wrap="square" lIns="152400" tIns="152400" rIns="152400" bIns="15240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400" b="1" dirty="0">
                <a:solidFill>
                  <a:srgbClr val="6C0850"/>
                </a:solidFill>
              </a:rPr>
              <a:t>Possibile soluzione</a:t>
            </a:r>
          </a:p>
          <a:p>
            <a:pPr marL="0" indent="0" algn="l">
              <a:lnSpc>
                <a:spcPct val="100000"/>
              </a:lnSpc>
              <a:spcBef>
                <a:spcPts val="400"/>
              </a:spcBef>
              <a:buNone/>
            </a:pPr>
            <a:r>
              <a:rPr lang="it-IT" sz="1400" b="0" dirty="0">
                <a:solidFill>
                  <a:srgbClr val="231C21"/>
                </a:solidFill>
              </a:rPr>
              <a:t>Validazione in linea accanto al campo, mentre si scrive, con messaggi nella lingua scelta dall’utente.</a:t>
            </a:r>
          </a:p>
        </p:txBody>
      </p:sp>
      <p:sp>
        <p:nvSpPr>
          <p:cNvPr id="14" name="Segnaposto immagine 1"/>
          <p:cNvSpPr/>
          <p:nvPr/>
        </p:nvSpPr>
        <p:spPr>
          <a:xfrm>
            <a:off x="6045200" y="1625600"/>
            <a:ext cx="5537200" cy="4495800"/>
          </a:xfrm>
          <a:prstGeom prst="rect">
            <a:avLst/>
          </a:prstGeom>
          <a:solidFill>
            <a:srgbClr val="F7F4F6"/>
          </a:solidFill>
          <a:ln w="15875">
            <a:solidFill>
              <a:srgbClr val="B07A9F"/>
            </a:solidFill>
            <a:prstDash val="dash"/>
          </a:ln>
        </p:spPr>
        <p:txBody>
          <a:bodyPr wrap="square" lIns="127000" tIns="127000" rIns="127000" bIns="12700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200" b="1" dirty="0">
                <a:solidFill>
                  <a:srgbClr val="6C0850"/>
                </a:solidFill>
              </a:rPr>
              <a:t>[ SCREENSHOT DA INSERIRE ]</a:t>
            </a:r>
          </a:p>
          <a:p>
            <a:pPr marL="0" indent="0" algn="ctr">
              <a:lnSpc>
                <a:spcPct val="100000"/>
              </a:lnSpc>
              <a:spcBef>
                <a:spcPts val="400"/>
              </a:spcBef>
              <a:buNone/>
            </a:pPr>
            <a:r>
              <a:rPr lang="it-IT" sz="1400" b="1" dirty="0">
                <a:solidFill>
                  <a:srgbClr val="231C21"/>
                </a:solidFill>
              </a:rPr>
              <a:t>Screenshot 2026-10-12 alle 23.08.28.png</a:t>
            </a:r>
          </a:p>
          <a:p>
            <a:pPr marL="0" indent="0" algn="ctr">
              <a:lnSpc>
                <a:spcPct val="100000"/>
              </a:lnSpc>
              <a:spcBef>
                <a:spcPts val="300"/>
              </a:spcBef>
              <a:buNone/>
            </a:pPr>
            <a:r>
              <a:rPr lang="it-IT" sz="900" b="0" dirty="0">
                <a:solidFill>
                  <a:srgbClr val="6B6168"/>
                </a:solidFill>
              </a:rPr>
              <a:t>/Users/andreock/Desktop/hci_gruppo_a/assignment1/parti/antofallea/src/Screenshot 2026-10-12 alle 23.08.28.png</a:t>
            </a:r>
          </a:p>
          <a:p>
            <a:pPr marL="0" indent="0" algn="ctr">
              <a:lnSpc>
                <a:spcPct val="100000"/>
              </a:lnSpc>
              <a:spcBef>
                <a:spcPts val="300"/>
              </a:spcBef>
              <a:buNone/>
            </a:pPr>
            <a:r>
              <a:rPr lang="it-IT" sz="1000" b="0" dirty="0">
                <a:solidFill>
                  <a:srgbClr val="6B6168"/>
                </a:solidFill>
              </a:rPr>
              <a:t>Annotare con cerchi e frecce</a:t>
            </a:r>
          </a:p>
        </p:txBody>
      </p:sp>
      <p:sp>
        <p:nvSpPr>
          <p:cNvPr id="15" name="Pagine e task"/>
          <p:cNvSpPr txBox="1"/>
          <p:nvPr/>
        </p:nvSpPr>
        <p:spPr>
          <a:xfrm>
            <a:off x="609600" y="6273800"/>
            <a:ext cx="109728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000" b="1" dirty="0">
                <a:solidFill>
                  <a:srgbClr val="6B6168"/>
                </a:solidFill>
              </a:rPr>
              <a:t>Pagine:</a:t>
            </a:r>
            <a:r>
              <a:rPr lang="it-IT" sz="1000" b="0" dirty="0">
                <a:solidFill>
                  <a:srgbClr val="6B6168"/>
                </a:solidFill>
              </a:rPr>
              <a:t> Progetto «Mind the Climate» › donazione libera «FAI TU»   </a:t>
            </a:r>
            <a:r>
              <a:rPr lang="it-IT" sz="1000" b="1" dirty="0">
                <a:solidFill>
                  <a:srgbClr val="6B6168"/>
                </a:solidFill>
              </a:rPr>
              <a:t>Task:</a:t>
            </a:r>
            <a:r>
              <a:rPr lang="it-IT" sz="1000" b="0" dirty="0">
                <a:solidFill>
                  <a:srgbClr val="6B6168"/>
                </a:solidFill>
              </a:rPr>
              <a:t> T5   </a:t>
            </a:r>
            <a:r>
              <a:rPr lang="it-IT" sz="1000" b="1" dirty="0">
                <a:solidFill>
                  <a:srgbClr val="6B6168"/>
                </a:solidFill>
              </a:rPr>
              <a:t>ID:</a:t>
            </a:r>
            <a:r>
              <a:rPr lang="it-IT" sz="1000" b="0" dirty="0">
                <a:solidFill>
                  <a:srgbClr val="6B6168"/>
                </a:solidFill>
              </a:rPr>
              <a:t> [ da assegnare ] (vedi P11)</a:t>
            </a:r>
          </a:p>
        </p:txBody>
      </p:sp>
    </p:spTree>
    <p:extLst>
      <p:ext uri="{BB962C8B-B14F-4D97-AF65-F5344CB8AC3E}">
        <p14:creationId xmlns:p14="http://schemas.microsoft.com/office/powerpoint/2010/main" val="62940524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B3BD582-0E89-788E-C895-1E940DC827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342900"/>
            <a:ext cx="10972800" cy="1016000"/>
          </a:xfrm>
        </p:spPr>
        <p:txBody>
          <a:bodyPr/>
          <a:lstStyle/>
          <a:p>
            <a:r>
              <a:rPr lang="it-IT" dirty="0"/>
              <a:t>[ DA RIGUARDARE ] Dubbi aperti su Mind the Climate</a:t>
            </a:r>
          </a:p>
        </p:txBody>
      </p:sp>
      <p:sp>
        <p:nvSpPr>
          <p:cNvPr id="10" name="Dubbi gravità"/>
          <p:cNvSpPr/>
          <p:nvPr/>
        </p:nvSpPr>
        <p:spPr>
          <a:xfrm>
            <a:off x="609600" y="1524000"/>
            <a:ext cx="5334000" cy="4622800"/>
          </a:xfrm>
          <a:prstGeom prst="rect">
            <a:avLst/>
          </a:prstGeom>
          <a:solidFill>
            <a:srgbClr val="F7F4F6"/>
          </a:solidFill>
          <a:ln w="15875">
            <a:solidFill>
              <a:srgbClr val="B07A9F"/>
            </a:solidFill>
            <a:prstDash val="dash"/>
          </a:ln>
        </p:spPr>
        <p:txBody>
          <a:bodyPr wrap="square" lIns="177800" tIns="177800" rIns="177800" bIns="17780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it-IT" sz="1400" b="1" dirty="0">
                <a:solidFill>
                  <a:srgbClr val="6C0850"/>
                </a:solidFill>
              </a:rPr>
              <a:t>Gravità da decidere</a:t>
            </a:r>
          </a:p>
          <a:p>
            <a:pPr marL="228600" indent="-228600" algn="l">
              <a:spcBef>
                <a:spcPts val="600"/>
              </a:spcBef>
              <a:buClr>
                <a:srgbClr val="6C0850"/>
              </a:buClr>
              <a:buFont typeface="Arial"/>
              <a:buChar char="•"/>
            </a:pPr>
            <a:r>
              <a:rPr lang="it-IT" sz="1300" b="0" dirty="0">
                <a:solidFill>
                  <a:srgbClr val="231C21"/>
                </a:solidFill>
              </a:rPr>
              <a:t>Note con </a:t>
            </a:r>
            <a:r>
              <a:rPr lang="it-IT" sz="1300" b="1" dirty="0">
                <a:solidFill>
                  <a:srgbClr val="231C21"/>
                </a:solidFill>
              </a:rPr>
              <a:t>gravità 5</a:t>
            </a:r>
            <a:r>
              <a:rPr lang="it-IT" sz="1300" b="0" dirty="0">
                <a:solidFill>
                  <a:srgbClr val="231C21"/>
                </a:solidFill>
              </a:rPr>
              <a:t>: versione inglese incompleta, errori senza inglese</a:t>
            </a:r>
          </a:p>
          <a:p>
            <a:pPr marL="228600" indent="-228600" algn="l">
              <a:spcBef>
                <a:spcPts val="400"/>
              </a:spcBef>
              <a:buClr>
                <a:srgbClr val="6C0850"/>
              </a:buClr>
              <a:buFont typeface="Arial"/>
              <a:buChar char="•"/>
            </a:pPr>
            <a:r>
              <a:rPr lang="it-IT" sz="1300" b="0" dirty="0">
                <a:solidFill>
                  <a:srgbClr val="231C21"/>
                </a:solidFill>
              </a:rPr>
              <a:t>Senza gravità nelle note: clic sul gauge che ricarica la pagina</a:t>
            </a:r>
          </a:p>
          <a:p>
            <a:pPr marL="228600" indent="-228600" algn="l">
              <a:spcBef>
                <a:spcPts val="400"/>
              </a:spcBef>
              <a:buClr>
                <a:srgbClr val="6C0850"/>
              </a:buClr>
              <a:buFont typeface="Arial"/>
              <a:buChar char="•"/>
            </a:pPr>
            <a:r>
              <a:rPr lang="it-IT" sz="1300" b="0" dirty="0">
                <a:solidFill>
                  <a:srgbClr val="231C21"/>
                </a:solidFill>
              </a:rPr>
              <a:t>Valori diversi da CSV: pagina lunga (note 4, P09: 2), info lontane (note 3, P15: 2)</a:t>
            </a:r>
          </a:p>
          <a:p>
            <a:pPr marL="228600" indent="-228600" algn="l">
              <a:spcBef>
                <a:spcPts val="400"/>
              </a:spcBef>
              <a:buClr>
                <a:srgbClr val="6C0850"/>
              </a:buClr>
              <a:buFont typeface="Arial"/>
              <a:buChar char="•"/>
            </a:pPr>
            <a:r>
              <a:rPr lang="it-IT" sz="1300" b="0" dirty="0">
                <a:solidFill>
                  <a:srgbClr val="231C21"/>
                </a:solidFill>
              </a:rPr>
              <a:t>Tooltip: positivo nelle note (H2, H10), problema nel CSV (P21) e nelle note (H4). Ho tenuto il problema</a:t>
            </a:r>
          </a:p>
          <a:p>
            <a:pPr marL="228600" indent="-228600" algn="l">
              <a:spcBef>
                <a:spcPts val="400"/>
              </a:spcBef>
              <a:buClr>
                <a:srgbClr val="6C0850"/>
              </a:buClr>
              <a:buFont typeface="Arial"/>
              <a:buChar char="•"/>
            </a:pPr>
            <a:r>
              <a:rPr lang="it-IT" sz="1300" b="0" dirty="0">
                <a:solidFill>
                  <a:srgbClr val="231C21"/>
                </a:solidFill>
              </a:rPr>
              <a:t>Le note citano un obiettivo di </a:t>
            </a:r>
            <a:r>
              <a:rPr lang="it-IT" sz="1300" b="1" dirty="0">
                <a:solidFill>
                  <a:srgbClr val="231C21"/>
                </a:solidFill>
              </a:rPr>
              <a:t>14.000 € nel testo e 7.000 € nel box</a:t>
            </a:r>
            <a:r>
              <a:rPr lang="it-IT" sz="1300" b="0" dirty="0">
                <a:solidFill>
                  <a:srgbClr val="231C21"/>
                </a:solidFill>
              </a:rPr>
              <a:t>: verificare</a:t>
            </a:r>
          </a:p>
        </p:txBody>
      </p:sp>
      <p:sp>
        <p:nvSpPr>
          <p:cNvPr id="11" name="Verifiche e scelte"/>
          <p:cNvSpPr/>
          <p:nvPr/>
        </p:nvSpPr>
        <p:spPr>
          <a:xfrm>
            <a:off x="6248400" y="1524000"/>
            <a:ext cx="5334000" cy="4622800"/>
          </a:xfrm>
          <a:prstGeom prst="rect">
            <a:avLst/>
          </a:prstGeom>
          <a:solidFill>
            <a:srgbClr val="F7F4F6"/>
          </a:solidFill>
          <a:ln w="15875">
            <a:solidFill>
              <a:srgbClr val="B07A9F"/>
            </a:solidFill>
            <a:prstDash val="dash"/>
          </a:ln>
        </p:spPr>
        <p:txBody>
          <a:bodyPr wrap="square" lIns="177800" tIns="177800" rIns="177800" bIns="17780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it-IT" sz="1400" b="1" dirty="0">
                <a:solidFill>
                  <a:srgbClr val="6C0850"/>
                </a:solidFill>
              </a:rPr>
              <a:t>Verifiche da fare a mano</a:t>
            </a:r>
          </a:p>
          <a:p>
            <a:pPr marL="228600" indent="-228600" algn="l">
              <a:spcBef>
                <a:spcPts val="600"/>
              </a:spcBef>
              <a:buClr>
                <a:srgbClr val="6C0850"/>
              </a:buClr>
              <a:buFont typeface="Arial"/>
              <a:buChar char="•"/>
            </a:pPr>
            <a:r>
              <a:rPr lang="it-IT" sz="1300" b="0" dirty="0">
                <a:solidFill>
                  <a:srgbClr val="231C21"/>
                </a:solidFill>
              </a:rPr>
              <a:t>Mobile: il box di stato e «Sostieni» restano raggiungibili? Schede leggibili? Target touch ≥ 24×24 px</a:t>
            </a:r>
          </a:p>
          <a:p>
            <a:pPr marL="228600" indent="-228600" algn="l">
              <a:spcBef>
                <a:spcPts val="400"/>
              </a:spcBef>
              <a:buClr>
                <a:srgbClr val="6C0850"/>
              </a:buClr>
              <a:buFont typeface="Arial"/>
              <a:buChar char="•"/>
            </a:pPr>
            <a:r>
              <a:rPr lang="it-IT" sz="1300" b="0" dirty="0">
                <a:solidFill>
                  <a:srgbClr val="231C21"/>
                </a:solidFill>
              </a:rPr>
              <a:t>Tempo di attesa di «Contatta il progettista»</a:t>
            </a:r>
          </a:p>
          <a:p>
            <a:pPr marL="0" indent="0" algn="l">
              <a:spcBef>
                <a:spcPts val="1000"/>
              </a:spcBef>
              <a:buNone/>
            </a:pPr>
            <a:r>
              <a:rPr lang="it-IT" sz="1400" b="1" dirty="0">
                <a:solidFill>
                  <a:srgbClr val="6C0850"/>
                </a:solidFill>
              </a:rPr>
              <a:t>Aggiunti a slide esistenti, non duplicati</a:t>
            </a:r>
          </a:p>
          <a:p>
            <a:pPr marL="228600" indent="-228600" algn="l">
              <a:spcBef>
                <a:spcPts val="400"/>
              </a:spcBef>
              <a:buClr>
                <a:srgbClr val="6C0850"/>
              </a:buClr>
              <a:buFont typeface="Arial"/>
              <a:buChar char="•"/>
            </a:pPr>
            <a:r>
              <a:rPr lang="it-IT" sz="1300" b="0" dirty="0">
                <a:solidFill>
                  <a:srgbClr val="231C21"/>
                </a:solidFill>
              </a:rPr>
              <a:t>Termini non spiegati → slide 11 (P06); «Torna su» → slide 23; «-37 giorni» → slide 12 (P04); contrasto titoli e pulsanti verdi → slide 27</a:t>
            </a:r>
          </a:p>
          <a:p>
            <a:pPr marL="228600" indent="-228600" algn="l">
              <a:spcBef>
                <a:spcPts val="400"/>
              </a:spcBef>
              <a:buClr>
                <a:srgbClr val="6C0850"/>
              </a:buClr>
              <a:buFont typeface="Arial"/>
              <a:buChar char="•"/>
            </a:pPr>
            <a:r>
              <a:rPr lang="it-IT" sz="1300" b="0" dirty="0">
                <a:solidFill>
                  <a:srgbClr val="231C21"/>
                </a:solidFill>
              </a:rPr>
              <a:t>Non inseriti: design responsivo (già negli aspetti positivi, slide 8)</a:t>
            </a:r>
          </a:p>
        </p:txBody>
      </p:sp>
    </p:spTree>
    <p:extLst>
      <p:ext uri="{BB962C8B-B14F-4D97-AF65-F5344CB8AC3E}">
        <p14:creationId xmlns:p14="http://schemas.microsoft.com/office/powerpoint/2010/main" val="112017006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D3ECBFD-3A95-CD2C-C3D7-0E486EDEFF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Fase 2 · Linee guida specifiche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CBEFE77E-99F4-F97A-79E8-E75CE1EDA2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/>
              <a:t>[ Da completare: es. NN/g Top 10 Homepage Guidelines, Search guidelines ]</a:t>
            </a:r>
          </a:p>
        </p:txBody>
      </p:sp>
    </p:spTree>
    <p:extLst>
      <p:ext uri="{BB962C8B-B14F-4D97-AF65-F5344CB8AC3E}">
        <p14:creationId xmlns:p14="http://schemas.microsoft.com/office/powerpoint/2010/main" val="245487514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217BB7D-2AD3-2772-B5CC-6ADAA90C14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342900"/>
            <a:ext cx="10972800" cy="1016000"/>
          </a:xfrm>
        </p:spPr>
        <p:txBody>
          <a:bodyPr/>
          <a:lstStyle/>
          <a:p>
            <a:r>
              <a:rPr lang="it-IT" dirty="0"/>
              <a:t>Linee guida scelte e perché</a:t>
            </a:r>
          </a:p>
        </p:txBody>
      </p:sp>
      <p:sp>
        <p:nvSpPr>
          <p:cNvPr id="20" name="Segnaposto linee guida"/>
          <p:cNvSpPr/>
          <p:nvPr/>
        </p:nvSpPr>
        <p:spPr>
          <a:xfrm>
            <a:off x="609600" y="1524000"/>
            <a:ext cx="10972800" cy="4572000"/>
          </a:xfrm>
          <a:prstGeom prst="rect">
            <a:avLst/>
          </a:prstGeom>
          <a:solidFill>
            <a:srgbClr val="F7F4F6"/>
          </a:solidFill>
          <a:ln w="15875">
            <a:solidFill>
              <a:srgbClr val="B07A9F"/>
            </a:solidFill>
            <a:prstDash val="dash"/>
          </a:ln>
        </p:spPr>
        <p:txBody>
          <a:bodyPr wrap="square" lIns="203200" tIns="203200" rIns="203200" bIns="20320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it-IT" sz="1400" b="1" i="0" dirty="0">
                <a:solidFill>
                  <a:srgbClr val="6C0850"/>
                </a:solidFill>
              </a:rPr>
              <a:t>[ DA COMPLETARE ]</a:t>
            </a:r>
          </a:p>
          <a:p>
            <a:pPr marL="0" indent="0" algn="l">
              <a:spcBef>
                <a:spcPts val="800"/>
              </a:spcBef>
              <a:buNone/>
            </a:pPr>
            <a:r>
              <a:rPr lang="it-IT" sz="1600" b="0" i="0" dirty="0">
                <a:solidFill>
                  <a:srgbClr val="231C21"/>
                </a:solidFill>
              </a:rPr>
              <a:t>Quali linee guida e perché si adattano a un sito di crowdfunding universitario.</a:t>
            </a:r>
          </a:p>
          <a:p>
            <a:pPr marL="0" indent="0" algn="l">
              <a:spcBef>
                <a:spcPts val="1400"/>
              </a:spcBef>
              <a:buNone/>
            </a:pPr>
            <a:r>
              <a:rPr lang="it-IT" sz="1400" b="1" i="0" dirty="0">
                <a:solidFill>
                  <a:srgbClr val="6C0850"/>
                </a:solidFill>
              </a:rPr>
              <a:t>Candidate dalle linee guida del corso:</a:t>
            </a:r>
          </a:p>
          <a:p>
            <a:pPr marL="0" indent="0" algn="l">
              <a:spcBef>
                <a:spcPts val="500"/>
              </a:spcBef>
              <a:buNone/>
            </a:pPr>
            <a:r>
              <a:rPr lang="it-IT" sz="1400" b="0" i="0" dirty="0">
                <a:solidFill>
                  <a:srgbClr val="231C21"/>
                </a:solidFill>
              </a:rPr>
              <a:t>NN/g Top 10 Homepage Guidelines</a:t>
            </a:r>
          </a:p>
          <a:p>
            <a:pPr marL="0" indent="0" algn="l">
              <a:spcBef>
                <a:spcPts val="300"/>
              </a:spcBef>
              <a:buNone/>
            </a:pPr>
            <a:r>
              <a:rPr lang="it-IT" sz="1400" b="0" i="0" dirty="0">
                <a:solidFill>
                  <a:srgbClr val="231C21"/>
                </a:solidFill>
              </a:rPr>
              <a:t>NN/g Search guidelines (ricerca progetti)</a:t>
            </a:r>
          </a:p>
          <a:p>
            <a:pPr marL="0" indent="0" algn="l">
              <a:spcBef>
                <a:spcPts val="300"/>
              </a:spcBef>
              <a:buNone/>
            </a:pPr>
            <a:r>
              <a:rPr lang="it-IT" sz="1400" b="0" i="0" dirty="0">
                <a:solidFill>
                  <a:srgbClr val="231C21"/>
                </a:solidFill>
              </a:rPr>
              <a:t>NN/g Ecommerce Product Pages (pagine progetto e donazione)</a:t>
            </a:r>
          </a:p>
          <a:p>
            <a:pPr marL="0" indent="0" algn="l">
              <a:spcBef>
                <a:spcPts val="1400"/>
              </a:spcBef>
              <a:buNone/>
            </a:pPr>
            <a:r>
              <a:rPr lang="it-IT" sz="1200" b="0" i="1" dirty="0">
                <a:solidFill>
                  <a:srgbClr val="6B6168"/>
                </a:solidFill>
              </a:rPr>
              <a:t>Dopo questa slide: una slide per linea guida con osservazione, soluzione e gravità.</a:t>
            </a:r>
          </a:p>
        </p:txBody>
      </p:sp>
    </p:spTree>
    <p:extLst>
      <p:ext uri="{BB962C8B-B14F-4D97-AF65-F5344CB8AC3E}">
        <p14:creationId xmlns:p14="http://schemas.microsoft.com/office/powerpoint/2010/main" val="369117546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988288A-59E8-0CA0-A15A-42E9DF53FD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Fase 3 · Analisi extra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FBACBEE3-A5C5-ABA3-85B7-F8E513A8BCB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/>
              <a:t>[ Da completare: versione mobile e tablet, accessibilità ]</a:t>
            </a:r>
          </a:p>
        </p:txBody>
      </p:sp>
    </p:spTree>
    <p:extLst>
      <p:ext uri="{BB962C8B-B14F-4D97-AF65-F5344CB8AC3E}">
        <p14:creationId xmlns:p14="http://schemas.microsoft.com/office/powerpoint/2010/main" val="86394510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3FF6169-C7DA-AC5F-4ABC-1295BF8BCD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342900"/>
            <a:ext cx="10972800" cy="1016000"/>
          </a:xfrm>
        </p:spPr>
        <p:txBody>
          <a:bodyPr/>
          <a:lstStyle/>
          <a:p>
            <a:r>
              <a:rPr lang="it-IT" dirty="0"/>
              <a:t>Versione mobile e accessibilità</a:t>
            </a:r>
          </a:p>
        </p:txBody>
      </p:sp>
      <p:sp>
        <p:nvSpPr>
          <p:cNvPr id="20" name="Segnaposto mobile"/>
          <p:cNvSpPr/>
          <p:nvPr/>
        </p:nvSpPr>
        <p:spPr>
          <a:xfrm>
            <a:off x="609600" y="1524000"/>
            <a:ext cx="5334000" cy="4572000"/>
          </a:xfrm>
          <a:prstGeom prst="rect">
            <a:avLst/>
          </a:prstGeom>
          <a:solidFill>
            <a:srgbClr val="F7F4F6"/>
          </a:solidFill>
          <a:ln w="15875">
            <a:solidFill>
              <a:srgbClr val="B07A9F"/>
            </a:solidFill>
            <a:prstDash val="dash"/>
          </a:ln>
        </p:spPr>
        <p:txBody>
          <a:bodyPr wrap="square" lIns="203200" tIns="203200" rIns="203200" bIns="20320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it-IT" sz="1400" b="1" i="0" dirty="0">
                <a:solidFill>
                  <a:srgbClr val="6C0850"/>
                </a:solidFill>
              </a:rPr>
              <a:t>[ DA COMPLETARE ] Mobile e tablet</a:t>
            </a:r>
          </a:p>
          <a:p>
            <a:pPr marL="0" indent="0" algn="l">
              <a:spcBef>
                <a:spcPts val="800"/>
              </a:spcBef>
              <a:buNone/>
            </a:pPr>
            <a:r>
              <a:rPr lang="it-IT" sz="1400" b="0" i="0" dirty="0">
                <a:solidFill>
                  <a:srgbClr val="231C21"/>
                </a:solidFill>
              </a:rPr>
              <a:t>Login raggiungibile, menu hamburger, dimensione degli elementi touch, header fissi</a:t>
            </a:r>
          </a:p>
          <a:p>
            <a:pPr marL="0" indent="0" algn="l">
              <a:spcBef>
                <a:spcPts val="1200"/>
              </a:spcBef>
              <a:buNone/>
            </a:pPr>
            <a:r>
              <a:rPr lang="it-IT" sz="1200" b="0" i="0" dirty="0">
                <a:solidFill>
                  <a:srgbClr val="6B6168"/>
                </a:solidFill>
              </a:rPr>
              <a:t>Screenshot disponibili nel CSV (pagine diverse dalla homepage):</a:t>
            </a:r>
          </a:p>
          <a:p>
            <a:pPr marL="0" indent="0" algn="l">
              <a:spcBef>
                <a:spcPts val="300"/>
              </a:spcBef>
              <a:buNone/>
            </a:pPr>
            <a:r>
              <a:rPr lang="it-IT" sz="1400" b="1" i="0" dirty="0">
                <a:solidFill>
                  <a:srgbClr val="231C21"/>
                </a:solidFill>
              </a:rPr>
              <a:t>m_404.jpg · m_milk.jpg</a:t>
            </a:r>
          </a:p>
          <a:p>
            <a:pPr marL="0" indent="0" algn="l">
              <a:spcBef>
                <a:spcPts val="300"/>
              </a:spcBef>
              <a:buNone/>
            </a:pPr>
            <a:r>
              <a:rPr lang="it-IT" sz="900" b="0" i="0" dirty="0">
                <a:solidFill>
                  <a:srgbClr val="6B6168"/>
                </a:solidFill>
              </a:rPr>
              <a:t>/Users/andreock/Desktop/hci_gruppo_a/assignment1/parti/antofallea/src/</a:t>
            </a:r>
          </a:p>
          <a:p>
            <a:pPr marL="0" indent="0" algn="l">
              <a:spcBef>
                <a:spcPts val="1000"/>
              </a:spcBef>
              <a:buNone/>
            </a:pPr>
            <a:r>
              <a:rPr lang="it-IT" sz="1200" b="0" i="1" dirty="0">
                <a:solidFill>
                  <a:srgbClr val="6C0850"/>
                </a:solidFill>
              </a:rPr>
              <a:t>Manca uno screenshot mobile della homepage.</a:t>
            </a:r>
          </a:p>
        </p:txBody>
      </p:sp>
      <p:sp>
        <p:nvSpPr>
          <p:cNvPr id="21" name="Segnaposto accessibilità"/>
          <p:cNvSpPr/>
          <p:nvPr/>
        </p:nvSpPr>
        <p:spPr>
          <a:xfrm>
            <a:off x="6248400" y="1524000"/>
            <a:ext cx="5334000" cy="4572000"/>
          </a:xfrm>
          <a:prstGeom prst="rect">
            <a:avLst/>
          </a:prstGeom>
          <a:solidFill>
            <a:srgbClr val="F7F4F6"/>
          </a:solidFill>
          <a:ln w="15875">
            <a:solidFill>
              <a:srgbClr val="B07A9F"/>
            </a:solidFill>
            <a:prstDash val="dash"/>
          </a:ln>
        </p:spPr>
        <p:txBody>
          <a:bodyPr wrap="square" lIns="203200" tIns="203200" rIns="203200" bIns="20320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it-IT" sz="1400" b="1" i="0" dirty="0">
                <a:solidFill>
                  <a:srgbClr val="6C0850"/>
                </a:solidFill>
              </a:rPr>
              <a:t>[ DA COMPLETARE ] Accessibilità</a:t>
            </a:r>
          </a:p>
          <a:p>
            <a:pPr marL="0" indent="0" algn="l">
              <a:spcBef>
                <a:spcPts val="800"/>
              </a:spcBef>
              <a:buNone/>
            </a:pPr>
            <a:r>
              <a:rPr lang="it-IT" sz="1400" b="0" i="0" dirty="0">
                <a:solidFill>
                  <a:srgbClr val="231C21"/>
                </a:solidFill>
              </a:rPr>
              <a:t>Navigazione con Tab</a:t>
            </a:r>
          </a:p>
          <a:p>
            <a:pPr marL="0" indent="0" algn="l">
              <a:spcBef>
                <a:spcPts val="300"/>
              </a:spcBef>
              <a:buNone/>
            </a:pPr>
            <a:r>
              <a:rPr lang="it-IT" sz="1400" b="0" i="0" dirty="0">
                <a:solidFill>
                  <a:srgbClr val="231C21"/>
                </a:solidFill>
              </a:rPr>
              <a:t>Zoom al 200–400%</a:t>
            </a:r>
          </a:p>
          <a:p>
            <a:pPr marL="0" indent="0" algn="l">
              <a:spcBef>
                <a:spcPts val="300"/>
              </a:spcBef>
              <a:buNone/>
            </a:pPr>
            <a:r>
              <a:rPr lang="it-IT" sz="1400" b="0" i="0" dirty="0">
                <a:solidFill>
                  <a:srgbClr val="231C21"/>
                </a:solidFill>
              </a:rPr>
              <a:t>Contrasto dei colori</a:t>
            </a:r>
          </a:p>
          <a:p>
            <a:pPr marL="0" indent="0" algn="l">
              <a:spcBef>
                <a:spcPts val="300"/>
              </a:spcBef>
              <a:buNone/>
            </a:pPr>
            <a:r>
              <a:rPr lang="it-IT" sz="1400" b="0" i="0" dirty="0">
                <a:solidFill>
                  <a:srgbClr val="231C21"/>
                </a:solidFill>
              </a:rPr>
              <a:t>Icone senza etichetta</a:t>
            </a:r>
          </a:p>
          <a:p>
            <a:pPr marL="0" indent="0" algn="l">
              <a:spcBef>
                <a:spcPts val="1200"/>
              </a:spcBef>
              <a:buNone/>
            </a:pPr>
            <a:r>
              <a:rPr lang="it-IT" sz="1200" b="0" i="1" dirty="0">
                <a:solidFill>
                  <a:srgbClr val="6B6168"/>
                </a:solidFill>
              </a:rPr>
              <a:t>Una slide per osservazione, con gravità e screenshot.</a:t>
            </a:r>
          </a:p>
        </p:txBody>
      </p:sp>
    </p:spTree>
    <p:extLst>
      <p:ext uri="{BB962C8B-B14F-4D97-AF65-F5344CB8AC3E}">
        <p14:creationId xmlns:p14="http://schemas.microsoft.com/office/powerpoint/2010/main" val="422170238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2D2CEBA-54DA-F0A1-FC20-66D2C2D82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Fase 4 · Risultati e conclusioni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F3E51DF5-36FA-9A7C-613D-EAA08047763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/>
              <a:t>Distribuzione delle gravità, problemi principali, priorità di intervento</a:t>
            </a:r>
          </a:p>
        </p:txBody>
      </p:sp>
    </p:spTree>
    <p:extLst>
      <p:ext uri="{BB962C8B-B14F-4D97-AF65-F5344CB8AC3E}">
        <p14:creationId xmlns:p14="http://schemas.microsoft.com/office/powerpoint/2010/main" val="331855140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6664694-5748-AA70-78E3-D73C3EBD70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342900"/>
            <a:ext cx="10972800" cy="1016000"/>
          </a:xfrm>
        </p:spPr>
        <p:txBody>
          <a:bodyPr/>
          <a:lstStyle/>
          <a:p>
            <a:r>
              <a:rPr lang="it-IT" dirty="0"/>
              <a:t>Risultati: [ N ] problemi, distribuzione delle gravità</a:t>
            </a:r>
          </a:p>
        </p:txBody>
      </p:sp>
      <p:sp>
        <p:nvSpPr>
          <p:cNvPr id="20" name="Segnaposto grafico"/>
          <p:cNvSpPr/>
          <p:nvPr/>
        </p:nvSpPr>
        <p:spPr>
          <a:xfrm>
            <a:off x="609600" y="1524000"/>
            <a:ext cx="10972800" cy="4572000"/>
          </a:xfrm>
          <a:prstGeom prst="rect">
            <a:avLst/>
          </a:prstGeom>
          <a:solidFill>
            <a:srgbClr val="F7F4F6"/>
          </a:solidFill>
          <a:ln w="15875">
            <a:solidFill>
              <a:srgbClr val="B07A9F"/>
            </a:solidFill>
            <a:prstDash val="dash"/>
          </a:ln>
        </p:spPr>
        <p:txBody>
          <a:bodyPr wrap="square" lIns="203200" tIns="203200" rIns="203200" bIns="20320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it-IT" sz="1400" b="1" i="0" dirty="0">
                <a:solidFill>
                  <a:srgbClr val="6C0850"/>
                </a:solidFill>
              </a:rPr>
              <a:t>[ GRAFICO DA GENERARE ]</a:t>
            </a:r>
          </a:p>
          <a:p>
            <a:pPr marL="0" indent="0" algn="ctr">
              <a:spcBef>
                <a:spcPts val="800"/>
              </a:spcBef>
              <a:buNone/>
            </a:pPr>
            <a:r>
              <a:rPr lang="it-IT" sz="1600" b="0" i="0" dirty="0">
                <a:solidFill>
                  <a:srgbClr val="231C21"/>
                </a:solidFill>
              </a:rPr>
              <a:t>Numero di problemi per gravità (0–4), da costruire quando tutte le pagine sono inserite</a:t>
            </a:r>
          </a:p>
          <a:p>
            <a:pPr marL="0" indent="0" algn="ctr">
              <a:spcBef>
                <a:spcPts val="1200"/>
              </a:spcBef>
              <a:buNone/>
            </a:pPr>
            <a:r>
              <a:rPr lang="it-IT" sz="1400" b="0" i="0" dirty="0">
                <a:solidFill>
                  <a:srgbClr val="231C21"/>
                </a:solidFill>
              </a:rPr>
              <a:t>Finora in presentazione: 32 problemi (pagina partner UniTo: 21, Mind the Climate: 11) · gravità 1: 2 · gravità 2: 9 · gravità 3: 11 · gravità 4: 4 · da decidere: 6 (più 2 slide di aspetti positivi)</a:t>
            </a:r>
          </a:p>
          <a:p>
            <a:pPr marL="0" indent="0" algn="ctr">
              <a:spcBef>
                <a:spcPts val="600"/>
              </a:spcBef>
              <a:buNone/>
            </a:pPr>
            <a:r>
              <a:rPr lang="it-IT" sz="1200" b="0" i="1" dirty="0">
                <a:solidFill>
                  <a:srgbClr val="6B6168"/>
                </a:solidFill>
              </a:rPr>
              <a:t>Il CSV di antofallea ne contiene 22 in totale; mancano quelli degli altri componenti.</a:t>
            </a:r>
          </a:p>
          <a:p>
            <a:pPr marL="0" indent="0" algn="ctr">
              <a:spcBef>
                <a:spcPts val="300"/>
              </a:spcBef>
              <a:buNone/>
            </a:pPr>
            <a:r>
              <a:rPr lang="it-IT" sz="1200" b="0" i="1" dirty="0">
                <a:solidFill>
                  <a:srgbClr val="6B6168"/>
                </a:solidFill>
              </a:rPr>
              <a:t>Facoltativo: tabella euristica × gravità.</a:t>
            </a:r>
          </a:p>
        </p:txBody>
      </p:sp>
    </p:spTree>
    <p:extLst>
      <p:ext uri="{BB962C8B-B14F-4D97-AF65-F5344CB8AC3E}">
        <p14:creationId xmlns:p14="http://schemas.microsoft.com/office/powerpoint/2010/main" val="144612129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6C459D4-D8FB-852D-EFFA-AF223B4496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342900"/>
            <a:ext cx="10972800" cy="1016000"/>
          </a:xfrm>
        </p:spPr>
        <p:txBody>
          <a:bodyPr/>
          <a:lstStyle/>
          <a:p>
            <a:r>
              <a:rPr lang="it-IT" dirty="0"/>
              <a:t>Problemi principali e suggerimenti</a:t>
            </a:r>
          </a:p>
        </p:txBody>
      </p:sp>
      <p:sp>
        <p:nvSpPr>
          <p:cNvPr id="20" name="Segnaposto categoria 1"/>
          <p:cNvSpPr/>
          <p:nvPr/>
        </p:nvSpPr>
        <p:spPr>
          <a:xfrm>
            <a:off x="609600" y="1524000"/>
            <a:ext cx="2514600" cy="4572000"/>
          </a:xfrm>
          <a:prstGeom prst="rect">
            <a:avLst/>
          </a:prstGeom>
          <a:solidFill>
            <a:srgbClr val="F7F4F6"/>
          </a:solidFill>
          <a:ln w="15875">
            <a:solidFill>
              <a:srgbClr val="B07A9F"/>
            </a:solidFill>
            <a:prstDash val="dash"/>
          </a:ln>
        </p:spPr>
        <p:txBody>
          <a:bodyPr wrap="square" lIns="177800" tIns="177800" rIns="177800" bIns="17780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it-IT" sz="1400" b="1" i="0" dirty="0">
                <a:solidFill>
                  <a:srgbClr val="6C0850"/>
                </a:solidFill>
              </a:rPr>
              <a:t>[ Macro-categoria 1 ]</a:t>
            </a:r>
          </a:p>
          <a:p>
            <a:pPr marL="0" indent="0" algn="l">
              <a:spcBef>
                <a:spcPts val="600"/>
              </a:spcBef>
              <a:buNone/>
            </a:pPr>
            <a:r>
              <a:rPr lang="it-IT" sz="1400" b="0" i="0" dirty="0">
                <a:solidFill>
                  <a:srgbClr val="231C21"/>
                </a:solidFill>
              </a:rPr>
              <a:t>Candidato: stato e date dell’iniziativa (P01, gravità 3)</a:t>
            </a:r>
          </a:p>
          <a:p>
            <a:pPr marL="0" indent="0" algn="l">
              <a:spcBef>
                <a:spcPts val="1400"/>
              </a:spcBef>
              <a:buNone/>
            </a:pPr>
            <a:r>
              <a:rPr lang="it-IT" sz="1200" b="1" i="0" dirty="0">
                <a:solidFill>
                  <a:srgbClr val="6B6168"/>
                </a:solidFill>
              </a:rPr>
              <a:t>Dove</a:t>
            </a:r>
          </a:p>
          <a:p>
            <a:pPr marL="0" indent="0" algn="l">
              <a:spcBef>
                <a:spcPts val="1400"/>
              </a:spcBef>
              <a:buNone/>
            </a:pPr>
            <a:r>
              <a:rPr lang="it-IT" sz="1200" b="1" i="0" dirty="0">
                <a:solidFill>
                  <a:srgbClr val="6B6168"/>
                </a:solidFill>
              </a:rPr>
              <a:t>Perché è grave</a:t>
            </a:r>
          </a:p>
          <a:p>
            <a:pPr marL="0" indent="0" algn="l">
              <a:spcBef>
                <a:spcPts val="1400"/>
              </a:spcBef>
              <a:buNone/>
            </a:pPr>
            <a:r>
              <a:rPr lang="it-IT" sz="1200" b="1" i="0" dirty="0">
                <a:solidFill>
                  <a:srgbClr val="6B6168"/>
                </a:solidFill>
              </a:rPr>
              <a:t>Suggerimento</a:t>
            </a:r>
          </a:p>
        </p:txBody>
      </p:sp>
      <p:sp>
        <p:nvSpPr>
          <p:cNvPr id="21" name="Segnaposto categoria 2"/>
          <p:cNvSpPr/>
          <p:nvPr/>
        </p:nvSpPr>
        <p:spPr>
          <a:xfrm>
            <a:off x="3429000" y="1524000"/>
            <a:ext cx="2514600" cy="4572000"/>
          </a:xfrm>
          <a:prstGeom prst="rect">
            <a:avLst/>
          </a:prstGeom>
          <a:solidFill>
            <a:srgbClr val="F7F4F6"/>
          </a:solidFill>
          <a:ln w="15875">
            <a:solidFill>
              <a:srgbClr val="B07A9F"/>
            </a:solidFill>
            <a:prstDash val="dash"/>
          </a:ln>
        </p:spPr>
        <p:txBody>
          <a:bodyPr wrap="square" lIns="177800" tIns="177800" rIns="177800" bIns="17780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it-IT" sz="1400" b="1" i="0" dirty="0">
                <a:solidFill>
                  <a:srgbClr val="6C0850"/>
                </a:solidFill>
              </a:rPr>
              <a:t>[ Macro-categoria 2 ]</a:t>
            </a:r>
          </a:p>
          <a:p>
            <a:pPr marL="0" indent="0" algn="l">
              <a:spcBef>
                <a:spcPts val="600"/>
              </a:spcBef>
              <a:buNone/>
            </a:pPr>
            <a:r>
              <a:rPr lang="it-IT" sz="1400" b="0" i="0" dirty="0">
                <a:solidFill>
                  <a:srgbClr val="231C21"/>
                </a:solidFill>
              </a:rPr>
              <a:t>Candidato: guida alla candidatura per i ricercatori (P20, gravità 3)</a:t>
            </a:r>
          </a:p>
          <a:p>
            <a:pPr marL="0" indent="0" algn="l">
              <a:spcBef>
                <a:spcPts val="1400"/>
              </a:spcBef>
              <a:buNone/>
            </a:pPr>
            <a:r>
              <a:rPr lang="it-IT" sz="1200" b="1" i="0" dirty="0">
                <a:solidFill>
                  <a:srgbClr val="6B6168"/>
                </a:solidFill>
              </a:rPr>
              <a:t>Dove</a:t>
            </a:r>
          </a:p>
          <a:p>
            <a:pPr marL="0" indent="0" algn="l">
              <a:spcBef>
                <a:spcPts val="1400"/>
              </a:spcBef>
              <a:buNone/>
            </a:pPr>
            <a:r>
              <a:rPr lang="it-IT" sz="1200" b="1" i="0" dirty="0">
                <a:solidFill>
                  <a:srgbClr val="6B6168"/>
                </a:solidFill>
              </a:rPr>
              <a:t>Perché è grave</a:t>
            </a:r>
          </a:p>
          <a:p>
            <a:pPr marL="0" indent="0" algn="l">
              <a:spcBef>
                <a:spcPts val="1400"/>
              </a:spcBef>
              <a:buNone/>
            </a:pPr>
            <a:r>
              <a:rPr lang="it-IT" sz="1200" b="1" i="0" dirty="0">
                <a:solidFill>
                  <a:srgbClr val="6B6168"/>
                </a:solidFill>
              </a:rPr>
              <a:t>Suggerimento</a:t>
            </a:r>
          </a:p>
        </p:txBody>
      </p:sp>
      <p:sp>
        <p:nvSpPr>
          <p:cNvPr id="22" name="Segnaposto categoria 3"/>
          <p:cNvSpPr/>
          <p:nvPr/>
        </p:nvSpPr>
        <p:spPr>
          <a:xfrm>
            <a:off x="6248400" y="1524000"/>
            <a:ext cx="2514600" cy="4572000"/>
          </a:xfrm>
          <a:prstGeom prst="rect">
            <a:avLst/>
          </a:prstGeom>
          <a:solidFill>
            <a:srgbClr val="F7F4F6"/>
          </a:solidFill>
          <a:ln w="15875">
            <a:solidFill>
              <a:srgbClr val="B07A9F"/>
            </a:solidFill>
            <a:prstDash val="dash"/>
          </a:ln>
        </p:spPr>
        <p:txBody>
          <a:bodyPr wrap="square" lIns="177800" tIns="177800" rIns="177800" bIns="17780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it-IT" sz="1400" b="1" i="0" dirty="0">
                <a:solidFill>
                  <a:srgbClr val="6C0850"/>
                </a:solidFill>
              </a:rPr>
              <a:t>[ Macro-categoria 3 ]</a:t>
            </a:r>
          </a:p>
          <a:p>
            <a:pPr marL="0" indent="0" algn="l">
              <a:spcBef>
                <a:spcPts val="600"/>
              </a:spcBef>
              <a:buNone/>
            </a:pPr>
            <a:r>
              <a:rPr lang="it-IT" sz="1400" b="0" i="0" dirty="0">
                <a:solidFill>
                  <a:srgbClr val="231C21"/>
                </a:solidFill>
              </a:rPr>
              <a:t>Da definire con i problemi di gravità 3–4 delle altre pagine</a:t>
            </a:r>
          </a:p>
          <a:p>
            <a:pPr marL="0" indent="0" algn="l">
              <a:spcBef>
                <a:spcPts val="1400"/>
              </a:spcBef>
              <a:buNone/>
            </a:pPr>
            <a:r>
              <a:rPr lang="it-IT" sz="1200" b="1" i="0" dirty="0">
                <a:solidFill>
                  <a:srgbClr val="6B6168"/>
                </a:solidFill>
              </a:rPr>
              <a:t>Dove</a:t>
            </a:r>
          </a:p>
          <a:p>
            <a:pPr marL="0" indent="0" algn="l">
              <a:spcBef>
                <a:spcPts val="1400"/>
              </a:spcBef>
              <a:buNone/>
            </a:pPr>
            <a:r>
              <a:rPr lang="it-IT" sz="1200" b="1" i="0" dirty="0">
                <a:solidFill>
                  <a:srgbClr val="6B6168"/>
                </a:solidFill>
              </a:rPr>
              <a:t>Perché è grave</a:t>
            </a:r>
          </a:p>
          <a:p>
            <a:pPr marL="0" indent="0" algn="l">
              <a:spcBef>
                <a:spcPts val="1400"/>
              </a:spcBef>
              <a:buNone/>
            </a:pPr>
            <a:r>
              <a:rPr lang="it-IT" sz="1200" b="1" i="0" dirty="0">
                <a:solidFill>
                  <a:srgbClr val="6B6168"/>
                </a:solidFill>
              </a:rPr>
              <a:t>Suggerimento</a:t>
            </a:r>
          </a:p>
        </p:txBody>
      </p:sp>
      <p:sp>
        <p:nvSpPr>
          <p:cNvPr id="23" name="Segnaposto categoria 4"/>
          <p:cNvSpPr/>
          <p:nvPr/>
        </p:nvSpPr>
        <p:spPr>
          <a:xfrm>
            <a:off x="9067800" y="1524000"/>
            <a:ext cx="2514600" cy="4572000"/>
          </a:xfrm>
          <a:prstGeom prst="rect">
            <a:avLst/>
          </a:prstGeom>
          <a:solidFill>
            <a:srgbClr val="F7F4F6"/>
          </a:solidFill>
          <a:ln w="15875">
            <a:solidFill>
              <a:srgbClr val="B07A9F"/>
            </a:solidFill>
            <a:prstDash val="dash"/>
          </a:ln>
        </p:spPr>
        <p:txBody>
          <a:bodyPr wrap="square" lIns="177800" tIns="177800" rIns="177800" bIns="17780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it-IT" sz="1400" b="1" i="0" dirty="0">
                <a:solidFill>
                  <a:srgbClr val="6C0850"/>
                </a:solidFill>
              </a:rPr>
              <a:t>[ Macro-categoria 4 ]</a:t>
            </a:r>
          </a:p>
          <a:p>
            <a:pPr marL="0" indent="0" algn="l">
              <a:spcBef>
                <a:spcPts val="600"/>
              </a:spcBef>
              <a:buNone/>
            </a:pPr>
            <a:r>
              <a:rPr lang="it-IT" sz="1400" b="0" i="0" dirty="0">
                <a:solidFill>
                  <a:srgbClr val="231C21"/>
                </a:solidFill>
              </a:rPr>
              <a:t>Da definire con i problemi di gravità 3–4 delle altre pagine</a:t>
            </a:r>
          </a:p>
          <a:p>
            <a:pPr marL="0" indent="0" algn="l">
              <a:spcBef>
                <a:spcPts val="1400"/>
              </a:spcBef>
              <a:buNone/>
            </a:pPr>
            <a:r>
              <a:rPr lang="it-IT" sz="1200" b="1" i="0" dirty="0">
                <a:solidFill>
                  <a:srgbClr val="6B6168"/>
                </a:solidFill>
              </a:rPr>
              <a:t>Dove</a:t>
            </a:r>
          </a:p>
          <a:p>
            <a:pPr marL="0" indent="0" algn="l">
              <a:spcBef>
                <a:spcPts val="1400"/>
              </a:spcBef>
              <a:buNone/>
            </a:pPr>
            <a:r>
              <a:rPr lang="it-IT" sz="1200" b="1" i="0" dirty="0">
                <a:solidFill>
                  <a:srgbClr val="6B6168"/>
                </a:solidFill>
              </a:rPr>
              <a:t>Perché è grave</a:t>
            </a:r>
          </a:p>
          <a:p>
            <a:pPr marL="0" indent="0" algn="l">
              <a:spcBef>
                <a:spcPts val="1400"/>
              </a:spcBef>
              <a:buNone/>
            </a:pPr>
            <a:r>
              <a:rPr lang="it-IT" sz="1200" b="1" i="0" dirty="0">
                <a:solidFill>
                  <a:srgbClr val="6B6168"/>
                </a:solidFill>
              </a:rPr>
              <a:t>Suggerimento</a:t>
            </a:r>
          </a:p>
        </p:txBody>
      </p:sp>
    </p:spTree>
    <p:extLst>
      <p:ext uri="{BB962C8B-B14F-4D97-AF65-F5344CB8AC3E}">
        <p14:creationId xmlns:p14="http://schemas.microsoft.com/office/powerpoint/2010/main" val="3566679054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4BF269A-43AC-161E-3455-857EDB3775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342900"/>
            <a:ext cx="10972800" cy="1016000"/>
          </a:xfrm>
        </p:spPr>
        <p:txBody>
          <a:bodyPr/>
          <a:lstStyle/>
          <a:p>
            <a:r>
              <a:rPr lang="it-IT" dirty="0"/>
              <a:t>Conclusioni</a:t>
            </a:r>
          </a:p>
        </p:txBody>
      </p:sp>
      <p:sp>
        <p:nvSpPr>
          <p:cNvPr id="20" name="Segnaposto giudizio"/>
          <p:cNvSpPr/>
          <p:nvPr/>
        </p:nvSpPr>
        <p:spPr>
          <a:xfrm>
            <a:off x="609600" y="1524000"/>
            <a:ext cx="5334000" cy="4572000"/>
          </a:xfrm>
          <a:prstGeom prst="rect">
            <a:avLst/>
          </a:prstGeom>
          <a:solidFill>
            <a:srgbClr val="F7F4F6"/>
          </a:solidFill>
          <a:ln w="15875">
            <a:solidFill>
              <a:srgbClr val="B07A9F"/>
            </a:solidFill>
            <a:prstDash val="dash"/>
          </a:ln>
        </p:spPr>
        <p:txBody>
          <a:bodyPr wrap="square" lIns="203200" tIns="203200" rIns="203200" bIns="20320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it-IT" sz="1400" b="1" i="0" dirty="0">
                <a:solidFill>
                  <a:srgbClr val="6C0850"/>
                </a:solidFill>
              </a:rPr>
              <a:t>[ DA COMPLETARE ] Giudizio complessivo</a:t>
            </a:r>
          </a:p>
          <a:p>
            <a:pPr marL="0" indent="0" algn="l">
              <a:spcBef>
                <a:spcPts val="800"/>
              </a:spcBef>
              <a:buNone/>
            </a:pPr>
            <a:r>
              <a:rPr lang="it-IT" sz="1400" b="0" i="0" dirty="0">
                <a:solidFill>
                  <a:srgbClr val="231C21"/>
                </a:solidFill>
              </a:rPr>
              <a:t>Una o due frasi sull’usabilità del sito nel suo insieme, a partire dai risultati.</a:t>
            </a:r>
          </a:p>
        </p:txBody>
      </p:sp>
      <p:sp>
        <p:nvSpPr>
          <p:cNvPr id="21" name="Segnaposto priorità"/>
          <p:cNvSpPr/>
          <p:nvPr/>
        </p:nvSpPr>
        <p:spPr>
          <a:xfrm>
            <a:off x="6248400" y="1524000"/>
            <a:ext cx="5334000" cy="4572000"/>
          </a:xfrm>
          <a:prstGeom prst="rect">
            <a:avLst/>
          </a:prstGeom>
          <a:solidFill>
            <a:srgbClr val="F7F4F6"/>
          </a:solidFill>
          <a:ln w="15875">
            <a:solidFill>
              <a:srgbClr val="B07A9F"/>
            </a:solidFill>
            <a:prstDash val="dash"/>
          </a:ln>
        </p:spPr>
        <p:txBody>
          <a:bodyPr wrap="square" lIns="203200" tIns="203200" rIns="203200" bIns="20320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it-IT" sz="1400" b="1" i="0" dirty="0">
                <a:solidFill>
                  <a:srgbClr val="6C0850"/>
                </a:solidFill>
              </a:rPr>
              <a:t>[ DA COMPLETARE ] Priorità di intervento</a:t>
            </a:r>
          </a:p>
          <a:p>
            <a:pPr marL="0" indent="0" algn="l">
              <a:spcBef>
                <a:spcPts val="800"/>
              </a:spcBef>
              <a:buNone/>
            </a:pPr>
            <a:r>
              <a:rPr lang="it-IT" sz="1400" b="0" i="0" dirty="0">
                <a:solidFill>
                  <a:srgbClr val="231C21"/>
                </a:solidFill>
              </a:rPr>
              <a:t>1. [ intervento più urgente ]</a:t>
            </a:r>
          </a:p>
          <a:p>
            <a:pPr marL="0" indent="0" algn="l">
              <a:spcBef>
                <a:spcPts val="400"/>
              </a:spcBef>
              <a:buNone/>
            </a:pPr>
            <a:r>
              <a:rPr lang="it-IT" sz="1400" b="0" i="0" dirty="0">
                <a:solidFill>
                  <a:srgbClr val="231C21"/>
                </a:solidFill>
              </a:rPr>
              <a:t>2. [ … ]</a:t>
            </a:r>
          </a:p>
          <a:p>
            <a:pPr marL="0" indent="0" algn="l">
              <a:spcBef>
                <a:spcPts val="400"/>
              </a:spcBef>
              <a:buNone/>
            </a:pPr>
            <a:r>
              <a:rPr lang="it-IT" sz="1400" b="0" i="0" dirty="0">
                <a:solidFill>
                  <a:srgbClr val="231C21"/>
                </a:solidFill>
              </a:rPr>
              <a:t>3. [ … ]</a:t>
            </a:r>
          </a:p>
          <a:p>
            <a:pPr marL="0" indent="0" algn="l">
              <a:spcBef>
                <a:spcPts val="1200"/>
              </a:spcBef>
              <a:buNone/>
            </a:pPr>
            <a:r>
              <a:rPr lang="it-IT" sz="1200" b="0" i="1" dirty="0">
                <a:solidFill>
                  <a:srgbClr val="6B6168"/>
                </a:solidFill>
              </a:rPr>
              <a:t>Ordinare per gravità e numero di task coinvolti.</a:t>
            </a:r>
          </a:p>
        </p:txBody>
      </p:sp>
    </p:spTree>
    <p:extLst>
      <p:ext uri="{BB962C8B-B14F-4D97-AF65-F5344CB8AC3E}">
        <p14:creationId xmlns:p14="http://schemas.microsoft.com/office/powerpoint/2010/main" val="255487213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i Office [1791879955423]">
  <a:themeElements>
    <a:clrScheme name="Office">
      <a:dk1>
        <a:srgbClr val="231C21"/>
      </a:dk1>
      <a:lt1>
        <a:srgbClr val="FFFFFF"/>
      </a:lt1>
      <a:dk2>
        <a:srgbClr val="41002F"/>
      </a:dk2>
      <a:lt2>
        <a:srgbClr val="F3EEF1"/>
      </a:lt2>
      <a:accent1>
        <a:srgbClr val="6C0850"/>
      </a:accent1>
      <a:accent2>
        <a:srgbClr val="B07A9F"/>
      </a:accent2>
      <a:accent3>
        <a:srgbClr val="8A8A8A"/>
      </a:accent3>
      <a:accent4>
        <a:srgbClr val="C7B4C2"/>
      </a:accent4>
      <a:accent5>
        <a:srgbClr val="41002F"/>
      </a:accent5>
      <a:accent6>
        <a:srgbClr val="5E5E5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83383D6-D6D0-2240-923B-4538DC505DCF}">
  <we:reference id="wa200010725" version="1.0.0.1" store="it-IT" storeType="OMEX"/>
  <we:alternateReferences>
    <we:reference id="WA200010725" version="1.0.0.1" store="WA200010725" storeType="OMEX"/>
  </we:alternateReferences>
  <we:properties>
    <we:property name="claude.fileId" value="&quot;5d353c9f-2ba6-4f06-849e-e67e78f02a57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128</TotalTime>
  <Words>7906</Words>
  <Application>Microsoft Macintosh PowerPoint</Application>
  <PresentationFormat>Widescreen</PresentationFormat>
  <Paragraphs>781</Paragraphs>
  <Slides>52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3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52</vt:i4>
      </vt:variant>
    </vt:vector>
  </HeadingPairs>
  <TitlesOfParts>
    <vt:vector size="56" baseType="lpstr">
      <vt:lpstr>Aptos</vt:lpstr>
      <vt:lpstr>Aptos Display</vt:lpstr>
      <vt:lpstr>Arial</vt:lpstr>
      <vt:lpstr>Tema di Office [1791879955423]</vt:lpstr>
      <vt:lpstr>Funds TOgether: analisi di usabilità</vt:lpstr>
      <vt:lpstr>Il sito analizzato: Funds TOgether</vt:lpstr>
      <vt:lpstr>Metodologia</vt:lpstr>
      <vt:lpstr>Scala di gravità</vt:lpstr>
      <vt:lpstr>Utenti target e task: 8 task su due tipi di utente</vt:lpstr>
      <vt:lpstr>Fase 1 · Euristiche di Nielsen</vt:lpstr>
      <vt:lpstr>La pagina partner UniTo ha due schede: Partnership descrive l’iniziativa, Progetti elenca le campagne</vt:lpstr>
      <vt:lpstr>Struttura coerente e stato delle campagne leggibile in entrambe le schede</vt:lpstr>
      <vt:lpstr>Non si capisce se la call 2026 è aperta, chiusa o in corso</vt:lpstr>
      <vt:lpstr>I progetti in corso oltre il 100% non dicono di aver raggiunto l’obiettivo</vt:lpstr>
      <vt:lpstr>Termini inglesi e gergo di piattaforma in un sito in italiano</vt:lpstr>
      <vt:lpstr>I giorni rimanenti sono scritti come numero negativo («-36 giorni»)</vt:lpstr>
      <vt:lpstr>I contatori non spiegano cosa misurano e non tornano con le card</vt:lpstr>
      <vt:lpstr>Dagli autori dei progetti non si capisce che sono gruppi di ricerca UniTo</vt:lpstr>
      <vt:lpstr>I pulsanti aprono nuove schede e non avvisano quando si esce dal sito</vt:lpstr>
      <vt:lpstr>Tornando da un progetto si perdono posizione e progetti caricati</vt:lpstr>
      <vt:lpstr>Le barre di avanzamento usano blu e rosso invece dei colori attesi</vt:lpstr>
      <vt:lpstr>Al passaggio del mouse le card non sembrano cliccabili</vt:lpstr>
      <vt:lpstr>Su mobile i caroselli di contatori e progetti non mostrano di poter scorrere</vt:lpstr>
      <vt:lpstr>La pagina non mostra in modo chiaro che i progetti sono dell’Università di Torino</vt:lpstr>
      <vt:lpstr>Dalla card non si capisce di cosa si occupa il progetto</vt:lpstr>
      <vt:lpstr>Un’icona senza testo nel menu duplica il logo che porta alla home</vt:lpstr>
      <vt:lpstr>Dal fondo della pagina non c’è un modo rapido per tornare all’inizio</vt:lpstr>
      <vt:lpstr>Non si possono filtrare né ordinare i progetti UniTo</vt:lpstr>
      <vt:lpstr>«ALTRI» carica pochi progetti alla volta e non dice quanti ne restano</vt:lpstr>
      <vt:lpstr>Nessuna delle due schede spiega subito che cos’è Funds TOgether</vt:lpstr>
      <vt:lpstr>Titoli arancioni, «ALTRI» e footer hanno un contrasto troppo basso</vt:lpstr>
      <vt:lpstr>Nessuna indicazione operativa su come candidare un progetto</vt:lpstr>
      <vt:lpstr>La pagina non riporta nessun contatto UniTo</vt:lpstr>
      <vt:lpstr>[ DA RIGUARDARE ] Dubbi aperti sulla pagina partner UniTo</vt:lpstr>
      <vt:lpstr>Dalla scheda Progetti si apre la pagina di un progetto attivo: Mind the Climate</vt:lpstr>
      <vt:lpstr>Mind the Climate spiega bene il progetto e guida la scelta della ricompensa</vt:lpstr>
      <vt:lpstr>«Contatta il progettista» risponde con molto ritardo e sembra non aver preso il clic</vt:lpstr>
      <vt:lpstr>La versione inglese è incompleta e la scheda News porta lì senza avvisare</vt:lpstr>
      <vt:lpstr>La lista delle 10 ricompense è lunga e non si può compattare</vt:lpstr>
      <vt:lpstr>I tooltip sembrano link ma non portano da nessuna parte</vt:lpstr>
      <vt:lpstr>Le ricompense più alte non mostrano il numero di sostenitori</vt:lpstr>
      <vt:lpstr>Il nome del donatore diventa pubblico se non si spunta «anonimo»</vt:lpstr>
      <vt:lpstr>Le informazioni per decidere di donare sono lontane dal punto in cui si dona</vt:lpstr>
      <vt:lpstr>La pagina è molto lunga e non ha indice né ancore verso le sezioni</vt:lpstr>
      <vt:lpstr>Il clic sulla barra dell’obiettivo ricarica la stessa pagina</vt:lpstr>
      <vt:lpstr>Le ricompense ripetono ogni testo in italiano e in inglese</vt:lpstr>
      <vt:lpstr>Gli errori del modulo compaiono solo dopo l’invio e solo in italiano</vt:lpstr>
      <vt:lpstr>[ DA RIGUARDARE ] Dubbi aperti su Mind the Climate</vt:lpstr>
      <vt:lpstr>Fase 2 · Linee guida specifiche</vt:lpstr>
      <vt:lpstr>Linee guida scelte e perché</vt:lpstr>
      <vt:lpstr>Fase 3 · Analisi extra</vt:lpstr>
      <vt:lpstr>Versione mobile e accessibilità</vt:lpstr>
      <vt:lpstr>Fase 4 · Risultati e conclusioni</vt:lpstr>
      <vt:lpstr>Risultati: [ N ] problemi, distribuzione delle gravità</vt:lpstr>
      <vt:lpstr>Problemi principali e suggerimenti</vt:lpstr>
      <vt:lpstr>Conclusioni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Andrea Canale</dc:creator>
  <cp:lastModifiedBy>Andrea Canale</cp:lastModifiedBy>
  <cp:revision>21</cp:revision>
  <dcterms:created xsi:type="dcterms:W3CDTF">2026-10-13T08:01:12Z</dcterms:created>
  <dcterms:modified xsi:type="dcterms:W3CDTF">2026-10-13T10:09:28Z</dcterms:modified>
</cp:coreProperties>
</file>